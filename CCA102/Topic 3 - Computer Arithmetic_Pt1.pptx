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ink/ink3.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4.xml" ContentType="application/inkml+xml"/>
  <Override PartName="/ppt/notesSlides/notesSlide14.xml" ContentType="application/vnd.openxmlformats-officedocument.presentationml.notesSlide+xml"/>
  <Override PartName="/ppt/ink/ink5.xml" ContentType="application/inkml+xml"/>
  <Override PartName="/ppt/notesSlides/notesSlide15.xml" ContentType="application/vnd.openxmlformats-officedocument.presentationml.notesSlide+xml"/>
  <Override PartName="/ppt/ink/ink6.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188" r:id="rId1"/>
  </p:sldMasterIdLst>
  <p:notesMasterIdLst>
    <p:notesMasterId r:id="rId74"/>
  </p:notesMasterIdLst>
  <p:handoutMasterIdLst>
    <p:handoutMasterId r:id="rId75"/>
  </p:handoutMasterIdLst>
  <p:sldIdLst>
    <p:sldId id="256" r:id="rId2"/>
    <p:sldId id="545" r:id="rId3"/>
    <p:sldId id="668" r:id="rId4"/>
    <p:sldId id="480" r:id="rId5"/>
    <p:sldId id="552" r:id="rId6"/>
    <p:sldId id="481" r:id="rId7"/>
    <p:sldId id="595" r:id="rId8"/>
    <p:sldId id="554" r:id="rId9"/>
    <p:sldId id="596" r:id="rId10"/>
    <p:sldId id="482" r:id="rId11"/>
    <p:sldId id="603" r:id="rId12"/>
    <p:sldId id="670" r:id="rId13"/>
    <p:sldId id="671" r:id="rId14"/>
    <p:sldId id="684" r:id="rId15"/>
    <p:sldId id="672" r:id="rId16"/>
    <p:sldId id="673" r:id="rId17"/>
    <p:sldId id="483" r:id="rId18"/>
    <p:sldId id="597" r:id="rId19"/>
    <p:sldId id="598" r:id="rId20"/>
    <p:sldId id="674" r:id="rId21"/>
    <p:sldId id="599" r:id="rId22"/>
    <p:sldId id="600" r:id="rId23"/>
    <p:sldId id="669" r:id="rId24"/>
    <p:sldId id="675" r:id="rId25"/>
    <p:sldId id="685" r:id="rId26"/>
    <p:sldId id="604" r:id="rId27"/>
    <p:sldId id="676" r:id="rId28"/>
    <p:sldId id="605" r:id="rId29"/>
    <p:sldId id="606" r:id="rId30"/>
    <p:sldId id="607" r:id="rId31"/>
    <p:sldId id="613" r:id="rId32"/>
    <p:sldId id="614" r:id="rId33"/>
    <p:sldId id="646" r:id="rId34"/>
    <p:sldId id="647" r:id="rId35"/>
    <p:sldId id="648" r:id="rId36"/>
    <p:sldId id="609" r:id="rId37"/>
    <p:sldId id="611" r:id="rId38"/>
    <p:sldId id="677" r:id="rId39"/>
    <p:sldId id="612" r:id="rId40"/>
    <p:sldId id="615" r:id="rId41"/>
    <p:sldId id="641" r:id="rId42"/>
    <p:sldId id="616" r:id="rId43"/>
    <p:sldId id="679" r:id="rId44"/>
    <p:sldId id="619" r:id="rId45"/>
    <p:sldId id="620" r:id="rId46"/>
    <p:sldId id="650" r:id="rId47"/>
    <p:sldId id="644" r:id="rId48"/>
    <p:sldId id="621" r:id="rId49"/>
    <p:sldId id="622" r:id="rId50"/>
    <p:sldId id="623" r:id="rId51"/>
    <p:sldId id="652" r:id="rId52"/>
    <p:sldId id="624" r:id="rId53"/>
    <p:sldId id="655" r:id="rId54"/>
    <p:sldId id="687" r:id="rId55"/>
    <p:sldId id="689" r:id="rId56"/>
    <p:sldId id="688" r:id="rId57"/>
    <p:sldId id="690" r:id="rId58"/>
    <p:sldId id="691" r:id="rId59"/>
    <p:sldId id="649" r:id="rId60"/>
    <p:sldId id="699" r:id="rId61"/>
    <p:sldId id="645" r:id="rId62"/>
    <p:sldId id="629" r:id="rId63"/>
    <p:sldId id="692" r:id="rId64"/>
    <p:sldId id="698" r:id="rId65"/>
    <p:sldId id="694" r:id="rId66"/>
    <p:sldId id="700" r:id="rId67"/>
    <p:sldId id="701" r:id="rId68"/>
    <p:sldId id="702" r:id="rId69"/>
    <p:sldId id="703" r:id="rId70"/>
    <p:sldId id="667" r:id="rId71"/>
    <p:sldId id="492" r:id="rId72"/>
    <p:sldId id="643" r:id="rId73"/>
  </p:sldIdLst>
  <p:sldSz cx="9144000" cy="6858000" type="screen4x3"/>
  <p:notesSz cx="6858000" cy="9144000"/>
  <p:defaultTextStyle>
    <a:defPPr>
      <a:defRPr lang="en-US"/>
    </a:defPPr>
    <a:lvl1pPr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5pPr>
    <a:lvl6pPr marL="2286000" algn="l" defTabSz="914400" rtl="0" eaLnBrk="1" latinLnBrk="0" hangingPunct="1">
      <a:defRPr kumimoji="1" sz="2000" kern="1200">
        <a:solidFill>
          <a:schemeClr val="tx1"/>
        </a:solidFill>
        <a:latin typeface="Tahoma" panose="020B0604030504040204" pitchFamily="34" charset="0"/>
        <a:ea typeface="+mn-ea"/>
        <a:cs typeface="+mn-cs"/>
      </a:defRPr>
    </a:lvl6pPr>
    <a:lvl7pPr marL="2743200" algn="l" defTabSz="914400" rtl="0" eaLnBrk="1" latinLnBrk="0" hangingPunct="1">
      <a:defRPr kumimoji="1" sz="2000" kern="1200">
        <a:solidFill>
          <a:schemeClr val="tx1"/>
        </a:solidFill>
        <a:latin typeface="Tahoma" panose="020B0604030504040204" pitchFamily="34" charset="0"/>
        <a:ea typeface="+mn-ea"/>
        <a:cs typeface="+mn-cs"/>
      </a:defRPr>
    </a:lvl7pPr>
    <a:lvl8pPr marL="3200400" algn="l" defTabSz="914400" rtl="0" eaLnBrk="1" latinLnBrk="0" hangingPunct="1">
      <a:defRPr kumimoji="1" sz="2000" kern="1200">
        <a:solidFill>
          <a:schemeClr val="tx1"/>
        </a:solidFill>
        <a:latin typeface="Tahoma" panose="020B0604030504040204" pitchFamily="34" charset="0"/>
        <a:ea typeface="+mn-ea"/>
        <a:cs typeface="+mn-cs"/>
      </a:defRPr>
    </a:lvl8pPr>
    <a:lvl9pPr marL="3657600" algn="l" defTabSz="914400" rtl="0" eaLnBrk="1" latinLnBrk="0" hangingPunct="1">
      <a:defRPr kumimoji="1" sz="2000" kern="1200">
        <a:solidFill>
          <a:schemeClr val="tx1"/>
        </a:solidFill>
        <a:latin typeface="Tahoma" panose="020B0604030504040204" pitchFamily="34" charset="0"/>
        <a:ea typeface="+mn-ea"/>
        <a:cs typeface="+mn-cs"/>
      </a:defRPr>
    </a:lvl9pPr>
  </p:defaultTextStyle>
  <p:extLst>
    <p:ext uri="{521415D9-36F7-43E2-AB2F-B90AF26B5E84}">
      <p14:sectionLst xmlns:p14="http://schemas.microsoft.com/office/powerpoint/2010/main">
        <p14:section name="Default Section" id="{09455B10-8DED-4979-AB02-A5C30437DB65}">
          <p14:sldIdLst>
            <p14:sldId id="256"/>
            <p14:sldId id="545"/>
            <p14:sldId id="668"/>
          </p14:sldIdLst>
        </p14:section>
        <p14:section name="Arithmetic &amp; Logic Unit" id="{AD17B6D8-51C1-4B29-AB66-B2C49D178D1B}">
          <p14:sldIdLst>
            <p14:sldId id="480"/>
            <p14:sldId id="552"/>
            <p14:sldId id="481"/>
          </p14:sldIdLst>
        </p14:section>
        <p14:section name="Integer Arithmetic" id="{31E6F3B2-CDA7-41DC-93EF-4215A5C4E1D4}">
          <p14:sldIdLst>
            <p14:sldId id="595"/>
            <p14:sldId id="554"/>
            <p14:sldId id="596"/>
            <p14:sldId id="482"/>
          </p14:sldIdLst>
        </p14:section>
        <p14:section name="Sign-magnitude" id="{E1BA6D25-A1B9-4AEA-9B0B-ED457892924B}">
          <p14:sldIdLst>
            <p14:sldId id="603"/>
            <p14:sldId id="670"/>
            <p14:sldId id="671"/>
            <p14:sldId id="684"/>
            <p14:sldId id="672"/>
            <p14:sldId id="673"/>
            <p14:sldId id="483"/>
            <p14:sldId id="597"/>
            <p14:sldId id="598"/>
            <p14:sldId id="674"/>
            <p14:sldId id="599"/>
            <p14:sldId id="600"/>
            <p14:sldId id="669"/>
            <p14:sldId id="675"/>
            <p14:sldId id="685"/>
          </p14:sldIdLst>
        </p14:section>
        <p14:section name="twos complement" id="{2BEC70A7-BDED-4824-A82D-9ED5F8D4FBA0}">
          <p14:sldIdLst>
            <p14:sldId id="604"/>
            <p14:sldId id="676"/>
            <p14:sldId id="605"/>
            <p14:sldId id="606"/>
            <p14:sldId id="607"/>
            <p14:sldId id="613"/>
            <p14:sldId id="614"/>
            <p14:sldId id="646"/>
            <p14:sldId id="647"/>
            <p14:sldId id="648"/>
            <p14:sldId id="609"/>
            <p14:sldId id="611"/>
            <p14:sldId id="677"/>
          </p14:sldIdLst>
        </p14:section>
        <p14:section name="Converting 2s complement binary to decimal" id="{FA2DA067-8B86-4892-A888-636DD486FE6A}">
          <p14:sldIdLst>
            <p14:sldId id="612"/>
            <p14:sldId id="615"/>
            <p14:sldId id="641"/>
            <p14:sldId id="616"/>
            <p14:sldId id="679"/>
          </p14:sldIdLst>
        </p14:section>
        <p14:section name="Negation" id="{DEC04684-A9E3-4A2C-A2C6-6D8E030D27DE}">
          <p14:sldIdLst>
            <p14:sldId id="619"/>
            <p14:sldId id="620"/>
            <p14:sldId id="650"/>
          </p14:sldIdLst>
        </p14:section>
        <p14:section name="Addition in 2s complement" id="{8BC2EA20-6701-4394-B58D-37D6FBE172FD}">
          <p14:sldIdLst>
            <p14:sldId id="644"/>
            <p14:sldId id="621"/>
            <p14:sldId id="622"/>
            <p14:sldId id="623"/>
            <p14:sldId id="652"/>
            <p14:sldId id="624"/>
            <p14:sldId id="655"/>
            <p14:sldId id="687"/>
            <p14:sldId id="689"/>
            <p14:sldId id="688"/>
            <p14:sldId id="690"/>
            <p14:sldId id="691"/>
            <p14:sldId id="649"/>
            <p14:sldId id="699"/>
          </p14:sldIdLst>
        </p14:section>
        <p14:section name="Subtraction in 2s complement" id="{75E4DD15-B3F5-4A00-9C96-6C1691CFC13D}">
          <p14:sldIdLst>
            <p14:sldId id="645"/>
            <p14:sldId id="629"/>
            <p14:sldId id="692"/>
            <p14:sldId id="698"/>
            <p14:sldId id="694"/>
            <p14:sldId id="700"/>
            <p14:sldId id="701"/>
            <p14:sldId id="702"/>
            <p14:sldId id="703"/>
            <p14:sldId id="667"/>
            <p14:sldId id="492"/>
            <p14:sldId id="6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FDD"/>
    <a:srgbClr val="660066"/>
    <a:srgbClr val="FF6699"/>
    <a:srgbClr val="FF0000"/>
    <a:srgbClr val="660033"/>
    <a:srgbClr val="0099FF"/>
    <a:srgbClr val="FFFFFF"/>
    <a:srgbClr val="00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50" autoAdjust="0"/>
    <p:restoredTop sz="95706" autoAdjust="0"/>
  </p:normalViewPr>
  <p:slideViewPr>
    <p:cSldViewPr>
      <p:cViewPr>
        <p:scale>
          <a:sx n="75" d="100"/>
          <a:sy n="75" d="100"/>
        </p:scale>
        <p:origin x="2532" y="85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8" Type="http://schemas.openxmlformats.org/officeDocument/2006/relationships/slide" Target="slides/slide21.xml"/><Relationship Id="rId3" Type="http://schemas.openxmlformats.org/officeDocument/2006/relationships/slide" Target="slides/slide8.xml"/><Relationship Id="rId7" Type="http://schemas.openxmlformats.org/officeDocument/2006/relationships/slide" Target="slides/slide19.xml"/><Relationship Id="rId2" Type="http://schemas.openxmlformats.org/officeDocument/2006/relationships/slide" Target="slides/slide5.xml"/><Relationship Id="rId1" Type="http://schemas.openxmlformats.org/officeDocument/2006/relationships/slide" Target="slides/slide4.xml"/><Relationship Id="rId6" Type="http://schemas.openxmlformats.org/officeDocument/2006/relationships/slide" Target="slides/slide18.xml"/><Relationship Id="rId5" Type="http://schemas.openxmlformats.org/officeDocument/2006/relationships/slide" Target="slides/slide17.xml"/><Relationship Id="rId4" Type="http://schemas.openxmlformats.org/officeDocument/2006/relationships/slide" Target="slides/slide10.xml"/><Relationship Id="rId9"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f84698cea26ccaf4" providerId="LiveId" clId="{6E071153-FEB8-45E8-936A-B2A6B75D037B}"/>
    <pc:docChg chg="delSld modSection">
      <pc:chgData name="Nursakirah Ab Rahman Muton" userId="f84698cea26ccaf4" providerId="LiveId" clId="{6E071153-FEB8-45E8-936A-B2A6B75D037B}" dt="2025-10-29T09:38:45.605" v="1" actId="47"/>
      <pc:docMkLst>
        <pc:docMk/>
      </pc:docMkLst>
      <pc:sldChg chg="del">
        <pc:chgData name="Nursakirah Ab Rahman Muton" userId="f84698cea26ccaf4" providerId="LiveId" clId="{6E071153-FEB8-45E8-936A-B2A6B75D037B}" dt="2025-10-29T09:38:45.605" v="1" actId="47"/>
        <pc:sldMkLst>
          <pc:docMk/>
          <pc:sldMk cId="2434002052" sldId="704"/>
        </pc:sldMkLst>
      </pc:sldChg>
      <pc:sldChg chg="del">
        <pc:chgData name="Nursakirah Ab Rahman Muton" userId="f84698cea26ccaf4" providerId="LiveId" clId="{6E071153-FEB8-45E8-936A-B2A6B75D037B}" dt="2025-10-29T09:38:40.459" v="0" actId="47"/>
        <pc:sldMkLst>
          <pc:docMk/>
          <pc:sldMk cId="1625192950" sldId="70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1C327E-B7FC-4902-A7AC-D12C506AF139}"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en-MY"/>
        </a:p>
      </dgm:t>
    </dgm:pt>
    <dgm:pt modelId="{0ED2489B-9392-4660-BBE6-1515FBBEE3FE}">
      <dgm:prSet/>
      <dgm:spPr/>
      <dgm:t>
        <a:bodyPr/>
        <a:lstStyle/>
        <a:p>
          <a:r>
            <a:rPr lang="en-GB" baseline="0"/>
            <a:t>Understand the distinction between the way in which numbers are represented (the binary format) and the algorithms used for the basic arithmetic operations.</a:t>
          </a:r>
          <a:endParaRPr lang="en-MY"/>
        </a:p>
      </dgm:t>
    </dgm:pt>
    <dgm:pt modelId="{B6B0F074-4D36-4FA7-A0D9-F424F3CB949E}" type="parTrans" cxnId="{D460F0ED-1D83-4462-BC33-CBC005AAACCE}">
      <dgm:prSet/>
      <dgm:spPr/>
      <dgm:t>
        <a:bodyPr/>
        <a:lstStyle/>
        <a:p>
          <a:endParaRPr lang="en-MY"/>
        </a:p>
      </dgm:t>
    </dgm:pt>
    <dgm:pt modelId="{64C98CB0-3C07-45C9-B29B-69DD0F78C1B2}" type="sibTrans" cxnId="{D460F0ED-1D83-4462-BC33-CBC005AAACCE}">
      <dgm:prSet/>
      <dgm:spPr/>
      <dgm:t>
        <a:bodyPr/>
        <a:lstStyle/>
        <a:p>
          <a:endParaRPr lang="en-MY"/>
        </a:p>
      </dgm:t>
    </dgm:pt>
    <dgm:pt modelId="{981A3525-6F3B-4B3F-A54C-E5A853AEFFD5}">
      <dgm:prSet/>
      <dgm:spPr/>
      <dgm:t>
        <a:bodyPr/>
        <a:lstStyle/>
        <a:p>
          <a:r>
            <a:rPr lang="en-GB" baseline="0"/>
            <a:t>Explain twos complement representation.</a:t>
          </a:r>
          <a:endParaRPr lang="en-MY"/>
        </a:p>
      </dgm:t>
    </dgm:pt>
    <dgm:pt modelId="{7FBA8247-4292-405A-8279-6371E4900C30}" type="parTrans" cxnId="{A00253D2-90FF-4565-BE47-DD83FDB44628}">
      <dgm:prSet/>
      <dgm:spPr/>
      <dgm:t>
        <a:bodyPr/>
        <a:lstStyle/>
        <a:p>
          <a:endParaRPr lang="en-MY"/>
        </a:p>
      </dgm:t>
    </dgm:pt>
    <dgm:pt modelId="{18920CF4-4938-4E93-9D8B-E04D8BB87315}" type="sibTrans" cxnId="{A00253D2-90FF-4565-BE47-DD83FDB44628}">
      <dgm:prSet/>
      <dgm:spPr/>
      <dgm:t>
        <a:bodyPr/>
        <a:lstStyle/>
        <a:p>
          <a:endParaRPr lang="en-MY"/>
        </a:p>
      </dgm:t>
    </dgm:pt>
    <dgm:pt modelId="{A36656A1-9055-4B9E-AB09-E0E7ABD8ACB5}">
      <dgm:prSet/>
      <dgm:spPr/>
      <dgm:t>
        <a:bodyPr/>
        <a:lstStyle/>
        <a:p>
          <a:r>
            <a:rPr lang="en-GB" baseline="0"/>
            <a:t>Present an overview of the techniques for doing basic arithmetic operations in twos complement notation.</a:t>
          </a:r>
          <a:endParaRPr lang="en-MY"/>
        </a:p>
      </dgm:t>
    </dgm:pt>
    <dgm:pt modelId="{62499C47-5250-47C0-AE9F-AFAB3B6C935A}" type="parTrans" cxnId="{03546CCB-142E-4A38-93E6-01F597324445}">
      <dgm:prSet/>
      <dgm:spPr/>
      <dgm:t>
        <a:bodyPr/>
        <a:lstStyle/>
        <a:p>
          <a:endParaRPr lang="en-MY"/>
        </a:p>
      </dgm:t>
    </dgm:pt>
    <dgm:pt modelId="{4C08E7F8-5594-4A67-8245-01E5FE5C3B45}" type="sibTrans" cxnId="{03546CCB-142E-4A38-93E6-01F597324445}">
      <dgm:prSet/>
      <dgm:spPr/>
      <dgm:t>
        <a:bodyPr/>
        <a:lstStyle/>
        <a:p>
          <a:endParaRPr lang="en-MY"/>
        </a:p>
      </dgm:t>
    </dgm:pt>
    <dgm:pt modelId="{CD684086-DCAA-4837-80CB-AE8832A23CE7}">
      <dgm:prSet/>
      <dgm:spPr/>
      <dgm:t>
        <a:bodyPr/>
        <a:lstStyle/>
        <a:p>
          <a:r>
            <a:rPr lang="en-GB" baseline="0"/>
            <a:t>Understand the use of significand, base, and exponent in the representation of floating-point numbers.</a:t>
          </a:r>
          <a:endParaRPr lang="en-MY"/>
        </a:p>
      </dgm:t>
    </dgm:pt>
    <dgm:pt modelId="{D9C0E709-11C3-41F2-8DFD-695F19C4A829}" type="parTrans" cxnId="{F611CEBF-DB4C-404F-9018-DC64D1A753A4}">
      <dgm:prSet/>
      <dgm:spPr/>
      <dgm:t>
        <a:bodyPr/>
        <a:lstStyle/>
        <a:p>
          <a:endParaRPr lang="en-MY"/>
        </a:p>
      </dgm:t>
    </dgm:pt>
    <dgm:pt modelId="{3DB36D30-D7CB-493F-8357-CAA0588EBFB5}" type="sibTrans" cxnId="{F611CEBF-DB4C-404F-9018-DC64D1A753A4}">
      <dgm:prSet/>
      <dgm:spPr/>
      <dgm:t>
        <a:bodyPr/>
        <a:lstStyle/>
        <a:p>
          <a:endParaRPr lang="en-MY"/>
        </a:p>
      </dgm:t>
    </dgm:pt>
    <dgm:pt modelId="{9A55F698-2008-46DD-A066-F61B128FB9DE}" type="pres">
      <dgm:prSet presAssocID="{881C327E-B7FC-4902-A7AC-D12C506AF139}" presName="Name0" presStyleCnt="0">
        <dgm:presLayoutVars>
          <dgm:chMax val="7"/>
          <dgm:chPref val="7"/>
          <dgm:dir/>
        </dgm:presLayoutVars>
      </dgm:prSet>
      <dgm:spPr/>
    </dgm:pt>
    <dgm:pt modelId="{7A6DEBD8-EB26-4170-A6E7-F5100FC39B51}" type="pres">
      <dgm:prSet presAssocID="{881C327E-B7FC-4902-A7AC-D12C506AF139}" presName="Name1" presStyleCnt="0"/>
      <dgm:spPr/>
    </dgm:pt>
    <dgm:pt modelId="{730848C8-4D48-4535-93EC-2895D59FE67F}" type="pres">
      <dgm:prSet presAssocID="{881C327E-B7FC-4902-A7AC-D12C506AF139}" presName="cycle" presStyleCnt="0"/>
      <dgm:spPr/>
    </dgm:pt>
    <dgm:pt modelId="{6218005C-6D2F-4308-B934-21C7DDCF7C06}" type="pres">
      <dgm:prSet presAssocID="{881C327E-B7FC-4902-A7AC-D12C506AF139}" presName="srcNode" presStyleLbl="node1" presStyleIdx="0" presStyleCnt="4"/>
      <dgm:spPr/>
    </dgm:pt>
    <dgm:pt modelId="{4907F1B5-66F6-488A-98C8-E35043F513B4}" type="pres">
      <dgm:prSet presAssocID="{881C327E-B7FC-4902-A7AC-D12C506AF139}" presName="conn" presStyleLbl="parChTrans1D2" presStyleIdx="0" presStyleCnt="1"/>
      <dgm:spPr/>
    </dgm:pt>
    <dgm:pt modelId="{393A95F1-E7E3-4E97-891D-AD7646B45CAD}" type="pres">
      <dgm:prSet presAssocID="{881C327E-B7FC-4902-A7AC-D12C506AF139}" presName="extraNode" presStyleLbl="node1" presStyleIdx="0" presStyleCnt="4"/>
      <dgm:spPr/>
    </dgm:pt>
    <dgm:pt modelId="{11AC50BA-599D-42EB-9075-0990E42CDDF3}" type="pres">
      <dgm:prSet presAssocID="{881C327E-B7FC-4902-A7AC-D12C506AF139}" presName="dstNode" presStyleLbl="node1" presStyleIdx="0" presStyleCnt="4"/>
      <dgm:spPr/>
    </dgm:pt>
    <dgm:pt modelId="{4F5BD0B1-3600-4D3B-A694-2091D3DB9C78}" type="pres">
      <dgm:prSet presAssocID="{0ED2489B-9392-4660-BBE6-1515FBBEE3FE}" presName="text_1" presStyleLbl="node1" presStyleIdx="0" presStyleCnt="4">
        <dgm:presLayoutVars>
          <dgm:bulletEnabled val="1"/>
        </dgm:presLayoutVars>
      </dgm:prSet>
      <dgm:spPr/>
    </dgm:pt>
    <dgm:pt modelId="{949483B2-3132-43C7-90AB-2B3374B40E1D}" type="pres">
      <dgm:prSet presAssocID="{0ED2489B-9392-4660-BBE6-1515FBBEE3FE}" presName="accent_1" presStyleCnt="0"/>
      <dgm:spPr/>
    </dgm:pt>
    <dgm:pt modelId="{FC22A30D-DF4B-4C33-8D3F-24B849231CDF}" type="pres">
      <dgm:prSet presAssocID="{0ED2489B-9392-4660-BBE6-1515FBBEE3FE}" presName="accentRepeatNode" presStyleLbl="solidFgAcc1" presStyleIdx="0" presStyleCnt="4"/>
      <dgm:spPr/>
    </dgm:pt>
    <dgm:pt modelId="{5125D6CE-1255-49F5-9BE1-CF70FBC562CF}" type="pres">
      <dgm:prSet presAssocID="{981A3525-6F3B-4B3F-A54C-E5A853AEFFD5}" presName="text_2" presStyleLbl="node1" presStyleIdx="1" presStyleCnt="4">
        <dgm:presLayoutVars>
          <dgm:bulletEnabled val="1"/>
        </dgm:presLayoutVars>
      </dgm:prSet>
      <dgm:spPr/>
    </dgm:pt>
    <dgm:pt modelId="{EA08D068-7560-4A10-8FAF-E6649976DDB2}" type="pres">
      <dgm:prSet presAssocID="{981A3525-6F3B-4B3F-A54C-E5A853AEFFD5}" presName="accent_2" presStyleCnt="0"/>
      <dgm:spPr/>
    </dgm:pt>
    <dgm:pt modelId="{E713C796-AB37-4389-AE31-B7F8D3BE0C3F}" type="pres">
      <dgm:prSet presAssocID="{981A3525-6F3B-4B3F-A54C-E5A853AEFFD5}" presName="accentRepeatNode" presStyleLbl="solidFgAcc1" presStyleIdx="1" presStyleCnt="4"/>
      <dgm:spPr/>
    </dgm:pt>
    <dgm:pt modelId="{7DDEA487-8A74-4B73-8D7D-7EADF3880622}" type="pres">
      <dgm:prSet presAssocID="{A36656A1-9055-4B9E-AB09-E0E7ABD8ACB5}" presName="text_3" presStyleLbl="node1" presStyleIdx="2" presStyleCnt="4">
        <dgm:presLayoutVars>
          <dgm:bulletEnabled val="1"/>
        </dgm:presLayoutVars>
      </dgm:prSet>
      <dgm:spPr/>
    </dgm:pt>
    <dgm:pt modelId="{C143187B-51EA-461B-B8C7-C35BD9891C40}" type="pres">
      <dgm:prSet presAssocID="{A36656A1-9055-4B9E-AB09-E0E7ABD8ACB5}" presName="accent_3" presStyleCnt="0"/>
      <dgm:spPr/>
    </dgm:pt>
    <dgm:pt modelId="{CCD513FD-79DA-44B1-B922-86B3F98568C0}" type="pres">
      <dgm:prSet presAssocID="{A36656A1-9055-4B9E-AB09-E0E7ABD8ACB5}" presName="accentRepeatNode" presStyleLbl="solidFgAcc1" presStyleIdx="2" presStyleCnt="4"/>
      <dgm:spPr/>
    </dgm:pt>
    <dgm:pt modelId="{9481A768-DCC8-495E-81F3-FD6D4CF5AB17}" type="pres">
      <dgm:prSet presAssocID="{CD684086-DCAA-4837-80CB-AE8832A23CE7}" presName="text_4" presStyleLbl="node1" presStyleIdx="3" presStyleCnt="4">
        <dgm:presLayoutVars>
          <dgm:bulletEnabled val="1"/>
        </dgm:presLayoutVars>
      </dgm:prSet>
      <dgm:spPr/>
    </dgm:pt>
    <dgm:pt modelId="{260AA96E-0E29-4C47-B244-7B4C9B27F8A2}" type="pres">
      <dgm:prSet presAssocID="{CD684086-DCAA-4837-80CB-AE8832A23CE7}" presName="accent_4" presStyleCnt="0"/>
      <dgm:spPr/>
    </dgm:pt>
    <dgm:pt modelId="{DD1D25C3-39F7-4647-BE48-C394ED319ECC}" type="pres">
      <dgm:prSet presAssocID="{CD684086-DCAA-4837-80CB-AE8832A23CE7}" presName="accentRepeatNode" presStyleLbl="solidFgAcc1" presStyleIdx="3" presStyleCnt="4"/>
      <dgm:spPr/>
    </dgm:pt>
  </dgm:ptLst>
  <dgm:cxnLst>
    <dgm:cxn modelId="{9B008C1B-8746-4005-ACE2-A3C60A870C30}" type="presOf" srcId="{0ED2489B-9392-4660-BBE6-1515FBBEE3FE}" destId="{4F5BD0B1-3600-4D3B-A694-2091D3DB9C78}" srcOrd="0" destOrd="0" presId="urn:microsoft.com/office/officeart/2008/layout/VerticalCurvedList"/>
    <dgm:cxn modelId="{9EB9AA99-73FB-4A42-96AF-83E0A54EC16B}" type="presOf" srcId="{881C327E-B7FC-4902-A7AC-D12C506AF139}" destId="{9A55F698-2008-46DD-A066-F61B128FB9DE}" srcOrd="0" destOrd="0" presId="urn:microsoft.com/office/officeart/2008/layout/VerticalCurvedList"/>
    <dgm:cxn modelId="{5FEF5EBC-ED18-420D-83C6-6C0BC257702B}" type="presOf" srcId="{A36656A1-9055-4B9E-AB09-E0E7ABD8ACB5}" destId="{7DDEA487-8A74-4B73-8D7D-7EADF3880622}" srcOrd="0" destOrd="0" presId="urn:microsoft.com/office/officeart/2008/layout/VerticalCurvedList"/>
    <dgm:cxn modelId="{F611CEBF-DB4C-404F-9018-DC64D1A753A4}" srcId="{881C327E-B7FC-4902-A7AC-D12C506AF139}" destId="{CD684086-DCAA-4837-80CB-AE8832A23CE7}" srcOrd="3" destOrd="0" parTransId="{D9C0E709-11C3-41F2-8DFD-695F19C4A829}" sibTransId="{3DB36D30-D7CB-493F-8357-CAA0588EBFB5}"/>
    <dgm:cxn modelId="{03546CCB-142E-4A38-93E6-01F597324445}" srcId="{881C327E-B7FC-4902-A7AC-D12C506AF139}" destId="{A36656A1-9055-4B9E-AB09-E0E7ABD8ACB5}" srcOrd="2" destOrd="0" parTransId="{62499C47-5250-47C0-AE9F-AFAB3B6C935A}" sibTransId="{4C08E7F8-5594-4A67-8245-01E5FE5C3B45}"/>
    <dgm:cxn modelId="{A00253D2-90FF-4565-BE47-DD83FDB44628}" srcId="{881C327E-B7FC-4902-A7AC-D12C506AF139}" destId="{981A3525-6F3B-4B3F-A54C-E5A853AEFFD5}" srcOrd="1" destOrd="0" parTransId="{7FBA8247-4292-405A-8279-6371E4900C30}" sibTransId="{18920CF4-4938-4E93-9D8B-E04D8BB87315}"/>
    <dgm:cxn modelId="{D331CCE9-A4E8-4939-B1A4-DCD64D62DFE1}" type="presOf" srcId="{981A3525-6F3B-4B3F-A54C-E5A853AEFFD5}" destId="{5125D6CE-1255-49F5-9BE1-CF70FBC562CF}" srcOrd="0" destOrd="0" presId="urn:microsoft.com/office/officeart/2008/layout/VerticalCurvedList"/>
    <dgm:cxn modelId="{D460F0ED-1D83-4462-BC33-CBC005AAACCE}" srcId="{881C327E-B7FC-4902-A7AC-D12C506AF139}" destId="{0ED2489B-9392-4660-BBE6-1515FBBEE3FE}" srcOrd="0" destOrd="0" parTransId="{B6B0F074-4D36-4FA7-A0D9-F424F3CB949E}" sibTransId="{64C98CB0-3C07-45C9-B29B-69DD0F78C1B2}"/>
    <dgm:cxn modelId="{3C7118F3-E698-4ADC-9C05-C9EDB2CE2F29}" type="presOf" srcId="{CD684086-DCAA-4837-80CB-AE8832A23CE7}" destId="{9481A768-DCC8-495E-81F3-FD6D4CF5AB17}" srcOrd="0" destOrd="0" presId="urn:microsoft.com/office/officeart/2008/layout/VerticalCurvedList"/>
    <dgm:cxn modelId="{0C670CFF-EA1F-46BB-9B60-8F85848E4030}" type="presOf" srcId="{64C98CB0-3C07-45C9-B29B-69DD0F78C1B2}" destId="{4907F1B5-66F6-488A-98C8-E35043F513B4}" srcOrd="0" destOrd="0" presId="urn:microsoft.com/office/officeart/2008/layout/VerticalCurvedList"/>
    <dgm:cxn modelId="{519D1AC1-FAEA-48ED-9F25-508C4D39414A}" type="presParOf" srcId="{9A55F698-2008-46DD-A066-F61B128FB9DE}" destId="{7A6DEBD8-EB26-4170-A6E7-F5100FC39B51}" srcOrd="0" destOrd="0" presId="urn:microsoft.com/office/officeart/2008/layout/VerticalCurvedList"/>
    <dgm:cxn modelId="{5116DCBB-9DDD-4DB8-84C5-C4028CD2AC00}" type="presParOf" srcId="{7A6DEBD8-EB26-4170-A6E7-F5100FC39B51}" destId="{730848C8-4D48-4535-93EC-2895D59FE67F}" srcOrd="0" destOrd="0" presId="urn:microsoft.com/office/officeart/2008/layout/VerticalCurvedList"/>
    <dgm:cxn modelId="{3C13BF73-5187-4E4D-9393-65B3230371E6}" type="presParOf" srcId="{730848C8-4D48-4535-93EC-2895D59FE67F}" destId="{6218005C-6D2F-4308-B934-21C7DDCF7C06}" srcOrd="0" destOrd="0" presId="urn:microsoft.com/office/officeart/2008/layout/VerticalCurvedList"/>
    <dgm:cxn modelId="{CF36B7FB-E29B-4410-9C9B-CFB6B19BC92D}" type="presParOf" srcId="{730848C8-4D48-4535-93EC-2895D59FE67F}" destId="{4907F1B5-66F6-488A-98C8-E35043F513B4}" srcOrd="1" destOrd="0" presId="urn:microsoft.com/office/officeart/2008/layout/VerticalCurvedList"/>
    <dgm:cxn modelId="{AC3DABEA-419A-41EF-99C5-79A22E564FD8}" type="presParOf" srcId="{730848C8-4D48-4535-93EC-2895D59FE67F}" destId="{393A95F1-E7E3-4E97-891D-AD7646B45CAD}" srcOrd="2" destOrd="0" presId="urn:microsoft.com/office/officeart/2008/layout/VerticalCurvedList"/>
    <dgm:cxn modelId="{05049977-F711-43FF-A573-FD2423DA4A70}" type="presParOf" srcId="{730848C8-4D48-4535-93EC-2895D59FE67F}" destId="{11AC50BA-599D-42EB-9075-0990E42CDDF3}" srcOrd="3" destOrd="0" presId="urn:microsoft.com/office/officeart/2008/layout/VerticalCurvedList"/>
    <dgm:cxn modelId="{F4310754-C003-49D6-B174-93B4726F9A88}" type="presParOf" srcId="{7A6DEBD8-EB26-4170-A6E7-F5100FC39B51}" destId="{4F5BD0B1-3600-4D3B-A694-2091D3DB9C78}" srcOrd="1" destOrd="0" presId="urn:microsoft.com/office/officeart/2008/layout/VerticalCurvedList"/>
    <dgm:cxn modelId="{7EBC6EB9-7577-4684-B66B-0D86881B17F2}" type="presParOf" srcId="{7A6DEBD8-EB26-4170-A6E7-F5100FC39B51}" destId="{949483B2-3132-43C7-90AB-2B3374B40E1D}" srcOrd="2" destOrd="0" presId="urn:microsoft.com/office/officeart/2008/layout/VerticalCurvedList"/>
    <dgm:cxn modelId="{31C131B7-4EBC-4CBB-B525-EC0274B0B0F7}" type="presParOf" srcId="{949483B2-3132-43C7-90AB-2B3374B40E1D}" destId="{FC22A30D-DF4B-4C33-8D3F-24B849231CDF}" srcOrd="0" destOrd="0" presId="urn:microsoft.com/office/officeart/2008/layout/VerticalCurvedList"/>
    <dgm:cxn modelId="{E8EFE454-217F-4BFD-AC79-FFD2D19A30C1}" type="presParOf" srcId="{7A6DEBD8-EB26-4170-A6E7-F5100FC39B51}" destId="{5125D6CE-1255-49F5-9BE1-CF70FBC562CF}" srcOrd="3" destOrd="0" presId="urn:microsoft.com/office/officeart/2008/layout/VerticalCurvedList"/>
    <dgm:cxn modelId="{A7AF43CA-61EA-477A-A22B-7CC8E711D057}" type="presParOf" srcId="{7A6DEBD8-EB26-4170-A6E7-F5100FC39B51}" destId="{EA08D068-7560-4A10-8FAF-E6649976DDB2}" srcOrd="4" destOrd="0" presId="urn:microsoft.com/office/officeart/2008/layout/VerticalCurvedList"/>
    <dgm:cxn modelId="{0E0F8CF7-B0B7-44C3-90CD-A2D15334192D}" type="presParOf" srcId="{EA08D068-7560-4A10-8FAF-E6649976DDB2}" destId="{E713C796-AB37-4389-AE31-B7F8D3BE0C3F}" srcOrd="0" destOrd="0" presId="urn:microsoft.com/office/officeart/2008/layout/VerticalCurvedList"/>
    <dgm:cxn modelId="{748BCC56-CA1A-44EF-A0BA-0371DA2F4E31}" type="presParOf" srcId="{7A6DEBD8-EB26-4170-A6E7-F5100FC39B51}" destId="{7DDEA487-8A74-4B73-8D7D-7EADF3880622}" srcOrd="5" destOrd="0" presId="urn:microsoft.com/office/officeart/2008/layout/VerticalCurvedList"/>
    <dgm:cxn modelId="{9F16C789-9A03-4142-8AD4-D56DD63EEDED}" type="presParOf" srcId="{7A6DEBD8-EB26-4170-A6E7-F5100FC39B51}" destId="{C143187B-51EA-461B-B8C7-C35BD9891C40}" srcOrd="6" destOrd="0" presId="urn:microsoft.com/office/officeart/2008/layout/VerticalCurvedList"/>
    <dgm:cxn modelId="{DFD73370-166E-49A2-821A-38E7D2383B31}" type="presParOf" srcId="{C143187B-51EA-461B-B8C7-C35BD9891C40}" destId="{CCD513FD-79DA-44B1-B922-86B3F98568C0}" srcOrd="0" destOrd="0" presId="urn:microsoft.com/office/officeart/2008/layout/VerticalCurvedList"/>
    <dgm:cxn modelId="{6F7DF666-7F05-44E0-8F2E-77AB716FE2B1}" type="presParOf" srcId="{7A6DEBD8-EB26-4170-A6E7-F5100FC39B51}" destId="{9481A768-DCC8-495E-81F3-FD6D4CF5AB17}" srcOrd="7" destOrd="0" presId="urn:microsoft.com/office/officeart/2008/layout/VerticalCurvedList"/>
    <dgm:cxn modelId="{C371E5EB-E5A2-4332-A9FC-C0322C0EF0E1}" type="presParOf" srcId="{7A6DEBD8-EB26-4170-A6E7-F5100FC39B51}" destId="{260AA96E-0E29-4C47-B244-7B4C9B27F8A2}" srcOrd="8" destOrd="0" presId="urn:microsoft.com/office/officeart/2008/layout/VerticalCurvedList"/>
    <dgm:cxn modelId="{5CDC785B-595B-43FD-A165-DA7AC2E5865A}" type="presParOf" srcId="{260AA96E-0E29-4C47-B244-7B4C9B27F8A2}" destId="{DD1D25C3-39F7-4647-BE48-C394ED319EC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814378-F837-4D88-9566-D7CCFA2BF300}" type="doc">
      <dgm:prSet loTypeId="urn:microsoft.com/office/officeart/2005/8/layout/hProcess9" loCatId="process" qsTypeId="urn:microsoft.com/office/officeart/2005/8/quickstyle/simple1" qsCatId="simple" csTypeId="urn:microsoft.com/office/officeart/2005/8/colors/accent2_1" csCatId="accent2"/>
      <dgm:spPr/>
      <dgm:t>
        <a:bodyPr/>
        <a:lstStyle/>
        <a:p>
          <a:endParaRPr lang="en-MY"/>
        </a:p>
      </dgm:t>
    </dgm:pt>
    <dgm:pt modelId="{472C9B43-BD04-4787-BE3D-2D73DB913D13}">
      <dgm:prSet/>
      <dgm:spPr/>
      <dgm:t>
        <a:bodyPr/>
        <a:lstStyle/>
        <a:p>
          <a:r>
            <a:rPr kumimoji="1" lang="en-GB"/>
            <a:t>Signed magnitude notation</a:t>
          </a:r>
          <a:endParaRPr lang="en-MY"/>
        </a:p>
      </dgm:t>
    </dgm:pt>
    <dgm:pt modelId="{DFA869F5-2907-4B0C-8774-57FFFB98F712}" type="parTrans" cxnId="{032CAD8D-B4C0-41A9-94F9-6A3833C40825}">
      <dgm:prSet/>
      <dgm:spPr/>
      <dgm:t>
        <a:bodyPr/>
        <a:lstStyle/>
        <a:p>
          <a:endParaRPr lang="en-MY"/>
        </a:p>
      </dgm:t>
    </dgm:pt>
    <dgm:pt modelId="{457A7B32-AE93-4750-91D2-88C552277AEE}" type="sibTrans" cxnId="{032CAD8D-B4C0-41A9-94F9-6A3833C40825}">
      <dgm:prSet/>
      <dgm:spPr/>
      <dgm:t>
        <a:bodyPr/>
        <a:lstStyle/>
        <a:p>
          <a:endParaRPr lang="en-MY"/>
        </a:p>
      </dgm:t>
    </dgm:pt>
    <dgm:pt modelId="{E5477D6A-FEDA-4844-906A-6816A3772095}">
      <dgm:prSet/>
      <dgm:spPr/>
      <dgm:t>
        <a:bodyPr/>
        <a:lstStyle/>
        <a:p>
          <a:r>
            <a:rPr kumimoji="1" lang="en-GB"/>
            <a:t>1s complement notation</a:t>
          </a:r>
          <a:endParaRPr lang="en-MY"/>
        </a:p>
      </dgm:t>
    </dgm:pt>
    <dgm:pt modelId="{58AAC25E-E722-4534-8B15-85526ACDDA27}" type="parTrans" cxnId="{93EBC22E-345F-4360-ADD2-71D33A74E34B}">
      <dgm:prSet/>
      <dgm:spPr/>
      <dgm:t>
        <a:bodyPr/>
        <a:lstStyle/>
        <a:p>
          <a:endParaRPr lang="en-MY"/>
        </a:p>
      </dgm:t>
    </dgm:pt>
    <dgm:pt modelId="{23FC2F34-BFBA-4B98-A93A-C34E5BE59248}" type="sibTrans" cxnId="{93EBC22E-345F-4360-ADD2-71D33A74E34B}">
      <dgm:prSet/>
      <dgm:spPr/>
      <dgm:t>
        <a:bodyPr/>
        <a:lstStyle/>
        <a:p>
          <a:endParaRPr lang="en-MY"/>
        </a:p>
      </dgm:t>
    </dgm:pt>
    <dgm:pt modelId="{2C285C96-031E-4583-8C8F-0D783E40EA48}">
      <dgm:prSet/>
      <dgm:spPr/>
      <dgm:t>
        <a:bodyPr/>
        <a:lstStyle/>
        <a:p>
          <a:r>
            <a:rPr kumimoji="1" lang="en-GB"/>
            <a:t>2s complement notation</a:t>
          </a:r>
          <a:endParaRPr lang="en-MY"/>
        </a:p>
      </dgm:t>
    </dgm:pt>
    <dgm:pt modelId="{95ECA339-6A18-4C06-9C39-38D0051A1CE5}" type="parTrans" cxnId="{B8C529AA-E4E1-4FD2-8BDC-592CCBB14C09}">
      <dgm:prSet/>
      <dgm:spPr/>
      <dgm:t>
        <a:bodyPr/>
        <a:lstStyle/>
        <a:p>
          <a:endParaRPr lang="en-MY"/>
        </a:p>
      </dgm:t>
    </dgm:pt>
    <dgm:pt modelId="{B8F69487-E49E-4A9C-88EE-D96B2D954632}" type="sibTrans" cxnId="{B8C529AA-E4E1-4FD2-8BDC-592CCBB14C09}">
      <dgm:prSet/>
      <dgm:spPr/>
      <dgm:t>
        <a:bodyPr/>
        <a:lstStyle/>
        <a:p>
          <a:endParaRPr lang="en-MY"/>
        </a:p>
      </dgm:t>
    </dgm:pt>
    <dgm:pt modelId="{9B5E1CD8-649A-492C-AFFC-B59A563B4B38}" type="pres">
      <dgm:prSet presAssocID="{19814378-F837-4D88-9566-D7CCFA2BF300}" presName="CompostProcess" presStyleCnt="0">
        <dgm:presLayoutVars>
          <dgm:dir/>
          <dgm:resizeHandles val="exact"/>
        </dgm:presLayoutVars>
      </dgm:prSet>
      <dgm:spPr/>
    </dgm:pt>
    <dgm:pt modelId="{759544B8-EC74-4C3A-B2A1-8D860BFF0F0F}" type="pres">
      <dgm:prSet presAssocID="{19814378-F837-4D88-9566-D7CCFA2BF300}" presName="arrow" presStyleLbl="bgShp" presStyleIdx="0" presStyleCnt="1"/>
      <dgm:spPr/>
    </dgm:pt>
    <dgm:pt modelId="{D73F66FA-2CEB-4FF6-8CA9-38CCB3CBBB9C}" type="pres">
      <dgm:prSet presAssocID="{19814378-F837-4D88-9566-D7CCFA2BF300}" presName="linearProcess" presStyleCnt="0"/>
      <dgm:spPr/>
    </dgm:pt>
    <dgm:pt modelId="{3CF14CB2-6825-408C-9F4A-CDD4410054AD}" type="pres">
      <dgm:prSet presAssocID="{472C9B43-BD04-4787-BE3D-2D73DB913D13}" presName="textNode" presStyleLbl="node1" presStyleIdx="0" presStyleCnt="3">
        <dgm:presLayoutVars>
          <dgm:bulletEnabled val="1"/>
        </dgm:presLayoutVars>
      </dgm:prSet>
      <dgm:spPr/>
    </dgm:pt>
    <dgm:pt modelId="{7900630A-5DE1-41AC-B73A-A79DAF7BFB1A}" type="pres">
      <dgm:prSet presAssocID="{457A7B32-AE93-4750-91D2-88C552277AEE}" presName="sibTrans" presStyleCnt="0"/>
      <dgm:spPr/>
    </dgm:pt>
    <dgm:pt modelId="{820C7BAD-4E83-4404-9F4A-E9FB4D1327D8}" type="pres">
      <dgm:prSet presAssocID="{E5477D6A-FEDA-4844-906A-6816A3772095}" presName="textNode" presStyleLbl="node1" presStyleIdx="1" presStyleCnt="3">
        <dgm:presLayoutVars>
          <dgm:bulletEnabled val="1"/>
        </dgm:presLayoutVars>
      </dgm:prSet>
      <dgm:spPr/>
    </dgm:pt>
    <dgm:pt modelId="{0D9BA7D1-5D3F-4104-9041-0DCF8B2EFDA8}" type="pres">
      <dgm:prSet presAssocID="{23FC2F34-BFBA-4B98-A93A-C34E5BE59248}" presName="sibTrans" presStyleCnt="0"/>
      <dgm:spPr/>
    </dgm:pt>
    <dgm:pt modelId="{EF53A887-EA1F-4C85-9BB3-585958F10B56}" type="pres">
      <dgm:prSet presAssocID="{2C285C96-031E-4583-8C8F-0D783E40EA48}" presName="textNode" presStyleLbl="node1" presStyleIdx="2" presStyleCnt="3">
        <dgm:presLayoutVars>
          <dgm:bulletEnabled val="1"/>
        </dgm:presLayoutVars>
      </dgm:prSet>
      <dgm:spPr/>
    </dgm:pt>
  </dgm:ptLst>
  <dgm:cxnLst>
    <dgm:cxn modelId="{3641C11B-C2E0-4287-8CE9-1DC6ED5D63DB}" type="presOf" srcId="{472C9B43-BD04-4787-BE3D-2D73DB913D13}" destId="{3CF14CB2-6825-408C-9F4A-CDD4410054AD}" srcOrd="0" destOrd="0" presId="urn:microsoft.com/office/officeart/2005/8/layout/hProcess9"/>
    <dgm:cxn modelId="{93EBC22E-345F-4360-ADD2-71D33A74E34B}" srcId="{19814378-F837-4D88-9566-D7CCFA2BF300}" destId="{E5477D6A-FEDA-4844-906A-6816A3772095}" srcOrd="1" destOrd="0" parTransId="{58AAC25E-E722-4534-8B15-85526ACDDA27}" sibTransId="{23FC2F34-BFBA-4B98-A93A-C34E5BE59248}"/>
    <dgm:cxn modelId="{A55E1856-9B5F-49DB-AE3C-D4993A9D3249}" type="presOf" srcId="{E5477D6A-FEDA-4844-906A-6816A3772095}" destId="{820C7BAD-4E83-4404-9F4A-E9FB4D1327D8}" srcOrd="0" destOrd="0" presId="urn:microsoft.com/office/officeart/2005/8/layout/hProcess9"/>
    <dgm:cxn modelId="{032CAD8D-B4C0-41A9-94F9-6A3833C40825}" srcId="{19814378-F837-4D88-9566-D7CCFA2BF300}" destId="{472C9B43-BD04-4787-BE3D-2D73DB913D13}" srcOrd="0" destOrd="0" parTransId="{DFA869F5-2907-4B0C-8774-57FFFB98F712}" sibTransId="{457A7B32-AE93-4750-91D2-88C552277AEE}"/>
    <dgm:cxn modelId="{EDCCF8A5-D9B6-4990-B9E3-EC42D2DE0B35}" type="presOf" srcId="{2C285C96-031E-4583-8C8F-0D783E40EA48}" destId="{EF53A887-EA1F-4C85-9BB3-585958F10B56}" srcOrd="0" destOrd="0" presId="urn:microsoft.com/office/officeart/2005/8/layout/hProcess9"/>
    <dgm:cxn modelId="{B8C529AA-E4E1-4FD2-8BDC-592CCBB14C09}" srcId="{19814378-F837-4D88-9566-D7CCFA2BF300}" destId="{2C285C96-031E-4583-8C8F-0D783E40EA48}" srcOrd="2" destOrd="0" parTransId="{95ECA339-6A18-4C06-9C39-38D0051A1CE5}" sibTransId="{B8F69487-E49E-4A9C-88EE-D96B2D954632}"/>
    <dgm:cxn modelId="{793BCDE3-F803-446C-8D6D-12406A63C43A}" type="presOf" srcId="{19814378-F837-4D88-9566-D7CCFA2BF300}" destId="{9B5E1CD8-649A-492C-AFFC-B59A563B4B38}" srcOrd="0" destOrd="0" presId="urn:microsoft.com/office/officeart/2005/8/layout/hProcess9"/>
    <dgm:cxn modelId="{63F77D74-3296-4BFD-8984-B9FFC0865577}" type="presParOf" srcId="{9B5E1CD8-649A-492C-AFFC-B59A563B4B38}" destId="{759544B8-EC74-4C3A-B2A1-8D860BFF0F0F}" srcOrd="0" destOrd="0" presId="urn:microsoft.com/office/officeart/2005/8/layout/hProcess9"/>
    <dgm:cxn modelId="{B979BC9E-9978-444B-9449-B296BD105860}" type="presParOf" srcId="{9B5E1CD8-649A-492C-AFFC-B59A563B4B38}" destId="{D73F66FA-2CEB-4FF6-8CA9-38CCB3CBBB9C}" srcOrd="1" destOrd="0" presId="urn:microsoft.com/office/officeart/2005/8/layout/hProcess9"/>
    <dgm:cxn modelId="{4A2FDB1E-358B-4673-8DA0-F91563F74C92}" type="presParOf" srcId="{D73F66FA-2CEB-4FF6-8CA9-38CCB3CBBB9C}" destId="{3CF14CB2-6825-408C-9F4A-CDD4410054AD}" srcOrd="0" destOrd="0" presId="urn:microsoft.com/office/officeart/2005/8/layout/hProcess9"/>
    <dgm:cxn modelId="{B6AFB5AC-39C9-40F2-8434-22A9E4F915C7}" type="presParOf" srcId="{D73F66FA-2CEB-4FF6-8CA9-38CCB3CBBB9C}" destId="{7900630A-5DE1-41AC-B73A-A79DAF7BFB1A}" srcOrd="1" destOrd="0" presId="urn:microsoft.com/office/officeart/2005/8/layout/hProcess9"/>
    <dgm:cxn modelId="{0424C36A-D416-47AD-83F1-5CC9AB4AE454}" type="presParOf" srcId="{D73F66FA-2CEB-4FF6-8CA9-38CCB3CBBB9C}" destId="{820C7BAD-4E83-4404-9F4A-E9FB4D1327D8}" srcOrd="2" destOrd="0" presId="urn:microsoft.com/office/officeart/2005/8/layout/hProcess9"/>
    <dgm:cxn modelId="{D1160552-8DDD-4A55-9555-BFEF7AF9ACE2}" type="presParOf" srcId="{D73F66FA-2CEB-4FF6-8CA9-38CCB3CBBB9C}" destId="{0D9BA7D1-5D3F-4104-9041-0DCF8B2EFDA8}" srcOrd="3" destOrd="0" presId="urn:microsoft.com/office/officeart/2005/8/layout/hProcess9"/>
    <dgm:cxn modelId="{02F66C14-5E45-48BB-85D1-78235368CBED}" type="presParOf" srcId="{D73F66FA-2CEB-4FF6-8CA9-38CCB3CBBB9C}" destId="{EF53A887-EA1F-4C85-9BB3-585958F10B56}"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FA38D9-3C49-4A1C-B5B6-74743DB88C0A}"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GB"/>
        </a:p>
      </dgm:t>
    </dgm:pt>
    <dgm:pt modelId="{11E8A543-018B-4B58-BE54-19637C38419D}">
      <dgm:prSet/>
      <dgm:spPr/>
      <dgm:t>
        <a:bodyPr/>
        <a:lstStyle/>
        <a:p>
          <a:r>
            <a:rPr lang="en-GB" baseline="0"/>
            <a:t>Subtraction can be easily performed</a:t>
          </a:r>
          <a:endParaRPr lang="en-GB"/>
        </a:p>
      </dgm:t>
    </dgm:pt>
    <dgm:pt modelId="{A8FFD418-9E2B-4E17-AB61-78E200A0D433}" type="parTrans" cxnId="{DB2E4AE6-5756-4A68-A6EA-B2B2939B6E7B}">
      <dgm:prSet/>
      <dgm:spPr/>
      <dgm:t>
        <a:bodyPr/>
        <a:lstStyle/>
        <a:p>
          <a:endParaRPr lang="en-GB"/>
        </a:p>
      </dgm:t>
    </dgm:pt>
    <dgm:pt modelId="{833C394B-FC01-462F-82E1-1A13C1DD8E89}" type="sibTrans" cxnId="{DB2E4AE6-5756-4A68-A6EA-B2B2939B6E7B}">
      <dgm:prSet/>
      <dgm:spPr/>
      <dgm:t>
        <a:bodyPr/>
        <a:lstStyle/>
        <a:p>
          <a:endParaRPr lang="en-GB"/>
        </a:p>
      </dgm:t>
    </dgm:pt>
    <dgm:pt modelId="{38E8CD3E-C94F-4AA2-AA5F-526311261501}">
      <dgm:prSet/>
      <dgm:spPr/>
      <dgm:t>
        <a:bodyPr/>
        <a:lstStyle/>
        <a:p>
          <a:r>
            <a:rPr lang="en-GB" baseline="0"/>
            <a:t>Multiplication is just a repeated addition</a:t>
          </a:r>
          <a:endParaRPr lang="en-GB"/>
        </a:p>
      </dgm:t>
    </dgm:pt>
    <dgm:pt modelId="{080DE42F-A375-4D95-A8A6-29A86DACCF78}" type="parTrans" cxnId="{57B1F284-B63B-4208-9C39-8ECC911ECF9F}">
      <dgm:prSet/>
      <dgm:spPr/>
      <dgm:t>
        <a:bodyPr/>
        <a:lstStyle/>
        <a:p>
          <a:endParaRPr lang="en-GB"/>
        </a:p>
      </dgm:t>
    </dgm:pt>
    <dgm:pt modelId="{45448EAA-278E-42E4-9A0F-BA31B068C0ED}" type="sibTrans" cxnId="{57B1F284-B63B-4208-9C39-8ECC911ECF9F}">
      <dgm:prSet/>
      <dgm:spPr/>
      <dgm:t>
        <a:bodyPr/>
        <a:lstStyle/>
        <a:p>
          <a:endParaRPr lang="en-GB"/>
        </a:p>
      </dgm:t>
    </dgm:pt>
    <dgm:pt modelId="{D9230E26-1457-45E7-8D7B-4AD256F688C3}">
      <dgm:prSet/>
      <dgm:spPr/>
      <dgm:t>
        <a:bodyPr/>
        <a:lstStyle/>
        <a:p>
          <a:r>
            <a:rPr lang="en-GB" baseline="0"/>
            <a:t>Division is just a repeated subtraction</a:t>
          </a:r>
          <a:endParaRPr lang="en-GB"/>
        </a:p>
      </dgm:t>
    </dgm:pt>
    <dgm:pt modelId="{1AE4775F-935C-420D-8EEB-ACFD3E54EDA1}" type="parTrans" cxnId="{46B9A6CD-6CCF-499D-844E-E9A83396B9D1}">
      <dgm:prSet/>
      <dgm:spPr/>
      <dgm:t>
        <a:bodyPr/>
        <a:lstStyle/>
        <a:p>
          <a:endParaRPr lang="en-GB"/>
        </a:p>
      </dgm:t>
    </dgm:pt>
    <dgm:pt modelId="{6419A5A2-6211-4129-B9CC-B85CE748205B}" type="sibTrans" cxnId="{46B9A6CD-6CCF-499D-844E-E9A83396B9D1}">
      <dgm:prSet/>
      <dgm:spPr/>
      <dgm:t>
        <a:bodyPr/>
        <a:lstStyle/>
        <a:p>
          <a:endParaRPr lang="en-GB"/>
        </a:p>
      </dgm:t>
    </dgm:pt>
    <dgm:pt modelId="{CA783A7B-99AA-45C8-9A75-191BE57A5481}">
      <dgm:prSet/>
      <dgm:spPr/>
      <dgm:t>
        <a:bodyPr/>
        <a:lstStyle/>
        <a:p>
          <a:r>
            <a:rPr lang="en-GB" baseline="0"/>
            <a:t>2s complement is widely used in ALU</a:t>
          </a:r>
          <a:endParaRPr lang="en-GB"/>
        </a:p>
      </dgm:t>
    </dgm:pt>
    <dgm:pt modelId="{520BFC67-00C9-4BFF-8B18-B0F3ECCE20FC}" type="parTrans" cxnId="{CA890EEB-E8ED-4AAA-AE75-C06BF3868E73}">
      <dgm:prSet/>
      <dgm:spPr/>
      <dgm:t>
        <a:bodyPr/>
        <a:lstStyle/>
        <a:p>
          <a:endParaRPr lang="en-GB"/>
        </a:p>
      </dgm:t>
    </dgm:pt>
    <dgm:pt modelId="{2B1931AB-4533-4F89-B091-5384A30EEA61}" type="sibTrans" cxnId="{CA890EEB-E8ED-4AAA-AE75-C06BF3868E73}">
      <dgm:prSet/>
      <dgm:spPr/>
      <dgm:t>
        <a:bodyPr/>
        <a:lstStyle/>
        <a:p>
          <a:endParaRPr lang="en-GB"/>
        </a:p>
      </dgm:t>
    </dgm:pt>
    <dgm:pt modelId="{582A04F9-807A-4ACF-A6AC-51B8E36B06B1}" type="pres">
      <dgm:prSet presAssocID="{ECFA38D9-3C49-4A1C-B5B6-74743DB88C0A}" presName="diagram" presStyleCnt="0">
        <dgm:presLayoutVars>
          <dgm:dir/>
          <dgm:resizeHandles val="exact"/>
        </dgm:presLayoutVars>
      </dgm:prSet>
      <dgm:spPr/>
    </dgm:pt>
    <dgm:pt modelId="{7D8ECD6E-5943-42C8-8213-4B97CFCF9777}" type="pres">
      <dgm:prSet presAssocID="{11E8A543-018B-4B58-BE54-19637C38419D}" presName="node" presStyleLbl="node1" presStyleIdx="0" presStyleCnt="4">
        <dgm:presLayoutVars>
          <dgm:bulletEnabled val="1"/>
        </dgm:presLayoutVars>
      </dgm:prSet>
      <dgm:spPr/>
    </dgm:pt>
    <dgm:pt modelId="{F55C2173-8F99-4A9C-8CB4-24706A141ACC}" type="pres">
      <dgm:prSet presAssocID="{833C394B-FC01-462F-82E1-1A13C1DD8E89}" presName="sibTrans" presStyleCnt="0"/>
      <dgm:spPr/>
    </dgm:pt>
    <dgm:pt modelId="{DCA8AE08-90B9-4A5B-B2F1-10B0FE194BF7}" type="pres">
      <dgm:prSet presAssocID="{38E8CD3E-C94F-4AA2-AA5F-526311261501}" presName="node" presStyleLbl="node1" presStyleIdx="1" presStyleCnt="4">
        <dgm:presLayoutVars>
          <dgm:bulletEnabled val="1"/>
        </dgm:presLayoutVars>
      </dgm:prSet>
      <dgm:spPr/>
    </dgm:pt>
    <dgm:pt modelId="{C08668BE-7E92-463E-8DB3-9921A9D1ED5D}" type="pres">
      <dgm:prSet presAssocID="{45448EAA-278E-42E4-9A0F-BA31B068C0ED}" presName="sibTrans" presStyleCnt="0"/>
      <dgm:spPr/>
    </dgm:pt>
    <dgm:pt modelId="{81E78ACA-99FA-4BD8-9075-DAA1EDEC9D7B}" type="pres">
      <dgm:prSet presAssocID="{D9230E26-1457-45E7-8D7B-4AD256F688C3}" presName="node" presStyleLbl="node1" presStyleIdx="2" presStyleCnt="4">
        <dgm:presLayoutVars>
          <dgm:bulletEnabled val="1"/>
        </dgm:presLayoutVars>
      </dgm:prSet>
      <dgm:spPr/>
    </dgm:pt>
    <dgm:pt modelId="{00C101DD-8BC3-415C-9437-A795D55F87AB}" type="pres">
      <dgm:prSet presAssocID="{6419A5A2-6211-4129-B9CC-B85CE748205B}" presName="sibTrans" presStyleCnt="0"/>
      <dgm:spPr/>
    </dgm:pt>
    <dgm:pt modelId="{1619BA88-61D3-4F02-A645-19C246AFCDC7}" type="pres">
      <dgm:prSet presAssocID="{CA783A7B-99AA-45C8-9A75-191BE57A5481}" presName="node" presStyleLbl="node1" presStyleIdx="3" presStyleCnt="4">
        <dgm:presLayoutVars>
          <dgm:bulletEnabled val="1"/>
        </dgm:presLayoutVars>
      </dgm:prSet>
      <dgm:spPr/>
    </dgm:pt>
  </dgm:ptLst>
  <dgm:cxnLst>
    <dgm:cxn modelId="{2B50E108-D0B5-4BDD-B588-4C02397701C5}" type="presOf" srcId="{38E8CD3E-C94F-4AA2-AA5F-526311261501}" destId="{DCA8AE08-90B9-4A5B-B2F1-10B0FE194BF7}" srcOrd="0" destOrd="0" presId="urn:microsoft.com/office/officeart/2005/8/layout/default"/>
    <dgm:cxn modelId="{A25BFF1F-CFF9-4115-AA64-D50C0D9B0B51}" type="presOf" srcId="{11E8A543-018B-4B58-BE54-19637C38419D}" destId="{7D8ECD6E-5943-42C8-8213-4B97CFCF9777}" srcOrd="0" destOrd="0" presId="urn:microsoft.com/office/officeart/2005/8/layout/default"/>
    <dgm:cxn modelId="{821A2E63-7A04-4947-8ED7-DACE719FB7CC}" type="presOf" srcId="{D9230E26-1457-45E7-8D7B-4AD256F688C3}" destId="{81E78ACA-99FA-4BD8-9075-DAA1EDEC9D7B}" srcOrd="0" destOrd="0" presId="urn:microsoft.com/office/officeart/2005/8/layout/default"/>
    <dgm:cxn modelId="{703F826D-727E-4E12-AB84-B5CA4E5A54D3}" type="presOf" srcId="{ECFA38D9-3C49-4A1C-B5B6-74743DB88C0A}" destId="{582A04F9-807A-4ACF-A6AC-51B8E36B06B1}" srcOrd="0" destOrd="0" presId="urn:microsoft.com/office/officeart/2005/8/layout/default"/>
    <dgm:cxn modelId="{57B1F284-B63B-4208-9C39-8ECC911ECF9F}" srcId="{ECFA38D9-3C49-4A1C-B5B6-74743DB88C0A}" destId="{38E8CD3E-C94F-4AA2-AA5F-526311261501}" srcOrd="1" destOrd="0" parTransId="{080DE42F-A375-4D95-A8A6-29A86DACCF78}" sibTransId="{45448EAA-278E-42E4-9A0F-BA31B068C0ED}"/>
    <dgm:cxn modelId="{46B9A6CD-6CCF-499D-844E-E9A83396B9D1}" srcId="{ECFA38D9-3C49-4A1C-B5B6-74743DB88C0A}" destId="{D9230E26-1457-45E7-8D7B-4AD256F688C3}" srcOrd="2" destOrd="0" parTransId="{1AE4775F-935C-420D-8EEB-ACFD3E54EDA1}" sibTransId="{6419A5A2-6211-4129-B9CC-B85CE748205B}"/>
    <dgm:cxn modelId="{934B6AE4-D138-4852-922D-3E837D0C0960}" type="presOf" srcId="{CA783A7B-99AA-45C8-9A75-191BE57A5481}" destId="{1619BA88-61D3-4F02-A645-19C246AFCDC7}" srcOrd="0" destOrd="0" presId="urn:microsoft.com/office/officeart/2005/8/layout/default"/>
    <dgm:cxn modelId="{DB2E4AE6-5756-4A68-A6EA-B2B2939B6E7B}" srcId="{ECFA38D9-3C49-4A1C-B5B6-74743DB88C0A}" destId="{11E8A543-018B-4B58-BE54-19637C38419D}" srcOrd="0" destOrd="0" parTransId="{A8FFD418-9E2B-4E17-AB61-78E200A0D433}" sibTransId="{833C394B-FC01-462F-82E1-1A13C1DD8E89}"/>
    <dgm:cxn modelId="{CA890EEB-E8ED-4AAA-AE75-C06BF3868E73}" srcId="{ECFA38D9-3C49-4A1C-B5B6-74743DB88C0A}" destId="{CA783A7B-99AA-45C8-9A75-191BE57A5481}" srcOrd="3" destOrd="0" parTransId="{520BFC67-00C9-4BFF-8B18-B0F3ECCE20FC}" sibTransId="{2B1931AB-4533-4F89-B091-5384A30EEA61}"/>
    <dgm:cxn modelId="{33A3BAEF-686F-403E-BB8B-C0B7CBE1090C}" type="presParOf" srcId="{582A04F9-807A-4ACF-A6AC-51B8E36B06B1}" destId="{7D8ECD6E-5943-42C8-8213-4B97CFCF9777}" srcOrd="0" destOrd="0" presId="urn:microsoft.com/office/officeart/2005/8/layout/default"/>
    <dgm:cxn modelId="{DA81FF18-A09C-471E-829C-F6CF1CA13336}" type="presParOf" srcId="{582A04F9-807A-4ACF-A6AC-51B8E36B06B1}" destId="{F55C2173-8F99-4A9C-8CB4-24706A141ACC}" srcOrd="1" destOrd="0" presId="urn:microsoft.com/office/officeart/2005/8/layout/default"/>
    <dgm:cxn modelId="{10808220-976E-430E-B1E8-0BEE9DC46ED5}" type="presParOf" srcId="{582A04F9-807A-4ACF-A6AC-51B8E36B06B1}" destId="{DCA8AE08-90B9-4A5B-B2F1-10B0FE194BF7}" srcOrd="2" destOrd="0" presId="urn:microsoft.com/office/officeart/2005/8/layout/default"/>
    <dgm:cxn modelId="{6EF78C26-8588-4065-8C78-B5C15689EE43}" type="presParOf" srcId="{582A04F9-807A-4ACF-A6AC-51B8E36B06B1}" destId="{C08668BE-7E92-463E-8DB3-9921A9D1ED5D}" srcOrd="3" destOrd="0" presId="urn:microsoft.com/office/officeart/2005/8/layout/default"/>
    <dgm:cxn modelId="{C16412D1-F29B-4761-A0D6-65A70188880F}" type="presParOf" srcId="{582A04F9-807A-4ACF-A6AC-51B8E36B06B1}" destId="{81E78ACA-99FA-4BD8-9075-DAA1EDEC9D7B}" srcOrd="4" destOrd="0" presId="urn:microsoft.com/office/officeart/2005/8/layout/default"/>
    <dgm:cxn modelId="{C4487659-7637-4E4A-8919-FA6452D45EA1}" type="presParOf" srcId="{582A04F9-807A-4ACF-A6AC-51B8E36B06B1}" destId="{00C101DD-8BC3-415C-9437-A795D55F87AB}" srcOrd="5" destOrd="0" presId="urn:microsoft.com/office/officeart/2005/8/layout/default"/>
    <dgm:cxn modelId="{3C244358-A284-4B67-AAD5-520D5A41353E}" type="presParOf" srcId="{582A04F9-807A-4ACF-A6AC-51B8E36B06B1}" destId="{1619BA88-61D3-4F02-A645-19C246AFCDC7}"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7F1B5-66F6-488A-98C8-E35043F513B4}">
      <dsp:nvSpPr>
        <dsp:cNvPr id="0" name=""/>
        <dsp:cNvSpPr/>
      </dsp:nvSpPr>
      <dsp:spPr>
        <a:xfrm>
          <a:off x="-4919423" y="-753829"/>
          <a:ext cx="5858996" cy="5858996"/>
        </a:xfrm>
        <a:prstGeom prst="blockArc">
          <a:avLst>
            <a:gd name="adj1" fmla="val 18900000"/>
            <a:gd name="adj2" fmla="val 2700000"/>
            <a:gd name="adj3" fmla="val 369"/>
          </a:avLst>
        </a:prstGeom>
        <a:noFill/>
        <a:ln w="1397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5BD0B1-3600-4D3B-A694-2091D3DB9C78}">
      <dsp:nvSpPr>
        <dsp:cNvPr id="0" name=""/>
        <dsp:cNvSpPr/>
      </dsp:nvSpPr>
      <dsp:spPr>
        <a:xfrm>
          <a:off x="492024" y="334530"/>
          <a:ext cx="7335255" cy="669409"/>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baseline="0"/>
            <a:t>Understand the distinction between the way in which numbers are represented (the binary format) and the algorithms used for the basic arithmetic operations.</a:t>
          </a:r>
          <a:endParaRPr lang="en-MY" sz="1400" kern="1200"/>
        </a:p>
      </dsp:txBody>
      <dsp:txXfrm>
        <a:off x="492024" y="334530"/>
        <a:ext cx="7335255" cy="669409"/>
      </dsp:txXfrm>
    </dsp:sp>
    <dsp:sp modelId="{FC22A30D-DF4B-4C33-8D3F-24B849231CDF}">
      <dsp:nvSpPr>
        <dsp:cNvPr id="0" name=""/>
        <dsp:cNvSpPr/>
      </dsp:nvSpPr>
      <dsp:spPr>
        <a:xfrm>
          <a:off x="73643" y="250854"/>
          <a:ext cx="836762" cy="836762"/>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125D6CE-1255-49F5-9BE1-CF70FBC562CF}">
      <dsp:nvSpPr>
        <dsp:cNvPr id="0" name=""/>
        <dsp:cNvSpPr/>
      </dsp:nvSpPr>
      <dsp:spPr>
        <a:xfrm>
          <a:off x="875812" y="1338819"/>
          <a:ext cx="6951467" cy="669409"/>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baseline="0"/>
            <a:t>Explain twos complement representation.</a:t>
          </a:r>
          <a:endParaRPr lang="en-MY" sz="1400" kern="1200"/>
        </a:p>
      </dsp:txBody>
      <dsp:txXfrm>
        <a:off x="875812" y="1338819"/>
        <a:ext cx="6951467" cy="669409"/>
      </dsp:txXfrm>
    </dsp:sp>
    <dsp:sp modelId="{E713C796-AB37-4389-AE31-B7F8D3BE0C3F}">
      <dsp:nvSpPr>
        <dsp:cNvPr id="0" name=""/>
        <dsp:cNvSpPr/>
      </dsp:nvSpPr>
      <dsp:spPr>
        <a:xfrm>
          <a:off x="457431" y="1255143"/>
          <a:ext cx="836762" cy="836762"/>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DEA487-8A74-4B73-8D7D-7EADF3880622}">
      <dsp:nvSpPr>
        <dsp:cNvPr id="0" name=""/>
        <dsp:cNvSpPr/>
      </dsp:nvSpPr>
      <dsp:spPr>
        <a:xfrm>
          <a:off x="875812" y="2343107"/>
          <a:ext cx="6951467" cy="669409"/>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baseline="0"/>
            <a:t>Present an overview of the techniques for doing basic arithmetic operations in twos complement notation.</a:t>
          </a:r>
          <a:endParaRPr lang="en-MY" sz="1400" kern="1200"/>
        </a:p>
      </dsp:txBody>
      <dsp:txXfrm>
        <a:off x="875812" y="2343107"/>
        <a:ext cx="6951467" cy="669409"/>
      </dsp:txXfrm>
    </dsp:sp>
    <dsp:sp modelId="{CCD513FD-79DA-44B1-B922-86B3F98568C0}">
      <dsp:nvSpPr>
        <dsp:cNvPr id="0" name=""/>
        <dsp:cNvSpPr/>
      </dsp:nvSpPr>
      <dsp:spPr>
        <a:xfrm>
          <a:off x="457431" y="2259431"/>
          <a:ext cx="836762" cy="836762"/>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81A768-DCC8-495E-81F3-FD6D4CF5AB17}">
      <dsp:nvSpPr>
        <dsp:cNvPr id="0" name=""/>
        <dsp:cNvSpPr/>
      </dsp:nvSpPr>
      <dsp:spPr>
        <a:xfrm>
          <a:off x="492024" y="3347396"/>
          <a:ext cx="7335255" cy="669409"/>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1344"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baseline="0"/>
            <a:t>Understand the use of significand, base, and exponent in the representation of floating-point numbers.</a:t>
          </a:r>
          <a:endParaRPr lang="en-MY" sz="1400" kern="1200"/>
        </a:p>
      </dsp:txBody>
      <dsp:txXfrm>
        <a:off x="492024" y="3347396"/>
        <a:ext cx="7335255" cy="669409"/>
      </dsp:txXfrm>
    </dsp:sp>
    <dsp:sp modelId="{DD1D25C3-39F7-4647-BE48-C394ED319ECC}">
      <dsp:nvSpPr>
        <dsp:cNvPr id="0" name=""/>
        <dsp:cNvSpPr/>
      </dsp:nvSpPr>
      <dsp:spPr>
        <a:xfrm>
          <a:off x="73643" y="3263720"/>
          <a:ext cx="836762" cy="836762"/>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9544B8-EC74-4C3A-B2A1-8D860BFF0F0F}">
      <dsp:nvSpPr>
        <dsp:cNvPr id="0" name=""/>
        <dsp:cNvSpPr/>
      </dsp:nvSpPr>
      <dsp:spPr>
        <a:xfrm>
          <a:off x="580850" y="0"/>
          <a:ext cx="6582971" cy="2304256"/>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F14CB2-6825-408C-9F4A-CDD4410054AD}">
      <dsp:nvSpPr>
        <dsp:cNvPr id="0" name=""/>
        <dsp:cNvSpPr/>
      </dsp:nvSpPr>
      <dsp:spPr>
        <a:xfrm>
          <a:off x="8319" y="691276"/>
          <a:ext cx="2492816" cy="921702"/>
        </a:xfrm>
        <a:prstGeom prst="roundRect">
          <a:avLst/>
        </a:prstGeom>
        <a:solidFill>
          <a:schemeClr val="lt1">
            <a:hueOff val="0"/>
            <a:satOff val="0"/>
            <a:lumOff val="0"/>
            <a:alphaOff val="0"/>
          </a:schemeClr>
        </a:solidFill>
        <a:ln w="1397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GB" sz="2000" kern="1200"/>
            <a:t>Signed magnitude notation</a:t>
          </a:r>
          <a:endParaRPr lang="en-MY" sz="2000" kern="1200"/>
        </a:p>
      </dsp:txBody>
      <dsp:txXfrm>
        <a:off x="53313" y="736270"/>
        <a:ext cx="2402828" cy="831714"/>
      </dsp:txXfrm>
    </dsp:sp>
    <dsp:sp modelId="{820C7BAD-4E83-4404-9F4A-E9FB4D1327D8}">
      <dsp:nvSpPr>
        <dsp:cNvPr id="0" name=""/>
        <dsp:cNvSpPr/>
      </dsp:nvSpPr>
      <dsp:spPr>
        <a:xfrm>
          <a:off x="2625927" y="691276"/>
          <a:ext cx="2492816" cy="921702"/>
        </a:xfrm>
        <a:prstGeom prst="roundRect">
          <a:avLst/>
        </a:prstGeom>
        <a:solidFill>
          <a:schemeClr val="lt1">
            <a:hueOff val="0"/>
            <a:satOff val="0"/>
            <a:lumOff val="0"/>
            <a:alphaOff val="0"/>
          </a:schemeClr>
        </a:solidFill>
        <a:ln w="1397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GB" sz="2000" kern="1200"/>
            <a:t>1s complement notation</a:t>
          </a:r>
          <a:endParaRPr lang="en-MY" sz="2000" kern="1200"/>
        </a:p>
      </dsp:txBody>
      <dsp:txXfrm>
        <a:off x="2670921" y="736270"/>
        <a:ext cx="2402828" cy="831714"/>
      </dsp:txXfrm>
    </dsp:sp>
    <dsp:sp modelId="{EF53A887-EA1F-4C85-9BB3-585958F10B56}">
      <dsp:nvSpPr>
        <dsp:cNvPr id="0" name=""/>
        <dsp:cNvSpPr/>
      </dsp:nvSpPr>
      <dsp:spPr>
        <a:xfrm>
          <a:off x="5243536" y="691276"/>
          <a:ext cx="2492816" cy="921702"/>
        </a:xfrm>
        <a:prstGeom prst="roundRect">
          <a:avLst/>
        </a:prstGeom>
        <a:solidFill>
          <a:schemeClr val="lt1">
            <a:hueOff val="0"/>
            <a:satOff val="0"/>
            <a:lumOff val="0"/>
            <a:alphaOff val="0"/>
          </a:schemeClr>
        </a:solidFill>
        <a:ln w="1397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GB" sz="2000" kern="1200"/>
            <a:t>2s complement notation</a:t>
          </a:r>
          <a:endParaRPr lang="en-MY" sz="2000" kern="1200"/>
        </a:p>
      </dsp:txBody>
      <dsp:txXfrm>
        <a:off x="5288530" y="736270"/>
        <a:ext cx="2402828" cy="831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8ECD6E-5943-42C8-8213-4B97CFCF9777}">
      <dsp:nvSpPr>
        <dsp:cNvPr id="0" name=""/>
        <dsp:cNvSpPr/>
      </dsp:nvSpPr>
      <dsp:spPr>
        <a:xfrm>
          <a:off x="429587" y="387"/>
          <a:ext cx="3346585" cy="2007951"/>
        </a:xfrm>
        <a:prstGeom prst="rect">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baseline="0"/>
            <a:t>Subtraction can be easily performed</a:t>
          </a:r>
          <a:endParaRPr lang="en-GB" sz="3200" kern="1200"/>
        </a:p>
      </dsp:txBody>
      <dsp:txXfrm>
        <a:off x="429587" y="387"/>
        <a:ext cx="3346585" cy="2007951"/>
      </dsp:txXfrm>
    </dsp:sp>
    <dsp:sp modelId="{DCA8AE08-90B9-4A5B-B2F1-10B0FE194BF7}">
      <dsp:nvSpPr>
        <dsp:cNvPr id="0" name=""/>
        <dsp:cNvSpPr/>
      </dsp:nvSpPr>
      <dsp:spPr>
        <a:xfrm>
          <a:off x="4110831" y="387"/>
          <a:ext cx="3346585" cy="2007951"/>
        </a:xfrm>
        <a:prstGeom prst="rect">
          <a:avLst/>
        </a:prstGeom>
        <a:solidFill>
          <a:schemeClr val="accent5">
            <a:hueOff val="-6356385"/>
            <a:satOff val="1676"/>
            <a:lumOff val="85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baseline="0"/>
            <a:t>Multiplication is just a repeated addition</a:t>
          </a:r>
          <a:endParaRPr lang="en-GB" sz="3200" kern="1200"/>
        </a:p>
      </dsp:txBody>
      <dsp:txXfrm>
        <a:off x="4110831" y="387"/>
        <a:ext cx="3346585" cy="2007951"/>
      </dsp:txXfrm>
    </dsp:sp>
    <dsp:sp modelId="{81E78ACA-99FA-4BD8-9075-DAA1EDEC9D7B}">
      <dsp:nvSpPr>
        <dsp:cNvPr id="0" name=""/>
        <dsp:cNvSpPr/>
      </dsp:nvSpPr>
      <dsp:spPr>
        <a:xfrm>
          <a:off x="429587" y="2342997"/>
          <a:ext cx="3346585" cy="2007951"/>
        </a:xfrm>
        <a:prstGeom prst="rect">
          <a:avLst/>
        </a:prstGeom>
        <a:solidFill>
          <a:schemeClr val="accent5">
            <a:hueOff val="-12712771"/>
            <a:satOff val="3353"/>
            <a:lumOff val="169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baseline="0"/>
            <a:t>Division is just a repeated subtraction</a:t>
          </a:r>
          <a:endParaRPr lang="en-GB" sz="3200" kern="1200"/>
        </a:p>
      </dsp:txBody>
      <dsp:txXfrm>
        <a:off x="429587" y="2342997"/>
        <a:ext cx="3346585" cy="2007951"/>
      </dsp:txXfrm>
    </dsp:sp>
    <dsp:sp modelId="{1619BA88-61D3-4F02-A645-19C246AFCDC7}">
      <dsp:nvSpPr>
        <dsp:cNvPr id="0" name=""/>
        <dsp:cNvSpPr/>
      </dsp:nvSpPr>
      <dsp:spPr>
        <a:xfrm>
          <a:off x="4110831" y="2342997"/>
          <a:ext cx="3346585" cy="2007951"/>
        </a:xfrm>
        <a:prstGeom prst="rect">
          <a:avLst/>
        </a:prstGeom>
        <a:solidFill>
          <a:schemeClr val="accent5">
            <a:hueOff val="-19069156"/>
            <a:satOff val="5029"/>
            <a:lumOff val="254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baseline="0"/>
            <a:t>2s complement is widely used in ALU</a:t>
          </a:r>
          <a:endParaRPr lang="en-GB" sz="3200" kern="1200"/>
        </a:p>
      </dsp:txBody>
      <dsp:txXfrm>
        <a:off x="4110831" y="2342997"/>
        <a:ext cx="3346585" cy="2007951"/>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394A4AD-B308-98AA-C771-A050EA10624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19" name="Rectangle 3">
            <a:extLst>
              <a:ext uri="{FF2B5EF4-FFF2-40B4-BE49-F238E27FC236}">
                <a16:creationId xmlns:a16="http://schemas.microsoft.com/office/drawing/2014/main" id="{20EE1E11-8E05-4AB9-3BA5-ED343CA6ADA3}"/>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60420" name="Rectangle 4">
            <a:extLst>
              <a:ext uri="{FF2B5EF4-FFF2-40B4-BE49-F238E27FC236}">
                <a16:creationId xmlns:a16="http://schemas.microsoft.com/office/drawing/2014/main" id="{B6CEE3E9-FC9A-A556-9342-A69E4A7C9649}"/>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21" name="Rectangle 5">
            <a:extLst>
              <a:ext uri="{FF2B5EF4-FFF2-40B4-BE49-F238E27FC236}">
                <a16:creationId xmlns:a16="http://schemas.microsoft.com/office/drawing/2014/main" id="{DB1AAF99-C55F-AA81-E54C-C0FFC8495F70}"/>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7D0F66F3-EBBF-4AA0-ACC5-AC3C279AD91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42:47.288"/>
    </inkml:context>
    <inkml:brush xml:id="br0">
      <inkml:brushProperty name="width" value="0.05292" units="cm"/>
      <inkml:brushProperty name="height" value="0.05292" units="cm"/>
      <inkml:brushProperty name="color" value="#FF0000"/>
    </inkml:brush>
  </inkml:definitions>
  <inkml:trace contextRef="#ctx0" brushRef="#br0">1604 4747 0,'15'0'281,"1"0"-265,16 0 0,-16 0-1,0 0 1,16 0 0,-17 0-1,17-16 1,32 16-1,-33 0 1,1 0 0,-16 0-16,32 0 15,15 0 17,-31 0-32,16 0 15,15 0 1,-31 0-16,15 0 15,17 0 1,-1 0 0,17 0-1,31 0 1,48 0 0,-80 0-1,32 0-15,-31 0 16,142 0-1,-32 0 1,-31 0 0,0 0-1,15 0 17,-15 0-17,0 0 1,16 0-1,-96 0 1,0 0-16,1 0 16,78 0-1,-62 0-15,-17 0 16,80 0 0,0 0-1,15 0 1,-15 0-1,0 0 1,-16 0 0,-1 0-1,-62 0 17,63 0-17,-96 0-15,1 0 16,0 0-1,31 0 1,-31 0 0,-1 0-1,1 0 1,15 0 0,64 0-1,-79 0 1,79 0-1,-79 0-15,-33 0 16,49 0 0,-32 0-1,-16 0 17,-1 0-17,1 0 1,-16-16 15,16 16 32,0 0-48,0 0 16,0 0-15,0 0 0,0 0 31,-1-16-32,1 16 1,16-16-1,0 16 17,15 0-17,-31 0 1,0 0 15</inkml:trace>
  <inkml:trace contextRef="#ctx0" brushRef="#br0" timeOffset="3924.79">5191 6001 0,'16'0'125,"64"-16"-94,-80 0-31,111 16 32,-64 0-17,-31 0-15,32-16 16,31 0-1,-15 0 1,15 16 0,-31 0-1,-1 0 1,17 0 0,-17 0-1,-15 0-15,0 0 16,79 0-1,-63 0 1,47 0 0,32 0-1,-16 0 17,16 0-17,-16 0 1,16 0-1,-95 0 1,0 0-16,15 0 16,49 0-1,15 0 1,0 0 0,-48 0-1,64 0 1,0 0-1,-47 0 1,-1 0 0,32 0-1,-47 0 17,47 0-17,-95 0-15,31 0 16,1 0-1,31 0 1,1 0 0,-33 0-1,49 0 1,31 0 0,-64 0-1,-15 0 1,63 0-1,-48 0-15,-15 0 16,79 0 0,-32 0-1,-47 0 1,15 0 15,-15 0-15,15 0-1,17 0 1,-33 0 0,17 0-1,-1 0-15,1 0 16,63 0 0,0 0-1,-32 0 1,-47 0-1,15 0 1,-15 0 0,0 0-1,-17 0 17,17 0-17,-32 0 1,16 0-1,-17 0-15,1 0 16,32 0 0,0 0-1,-1 0 1,1 0 0,-1 0-1,-15 0 1,32 0-1,-17 0 17,-31 0-17,0 0 1,16 0 15,-16 0-15,0 0-1,-1 0 1,17 0 0,-16 0-1,0 0 1,0 0 0,0 0-1,0 0 1,-1 0-16,1 0 94</inkml:trace>
  <inkml:trace contextRef="#ctx0" brushRef="#br0" timeOffset="-190244.61">1516 14504 0,'-24'0'187,"48"0"-156,0 0-15,0 0 0,0 0-1,0 0 17,0 0-17,0 0 16,0 0-15,0 0 15,0 0-15,0 0 0,0 0-1,0 0 1,0 0-1,0 0 1,1 0 0,-1 0-1,0 0 1,0 0 0,0 0-1,0 0 16,0 0-15,0 0 0,0 0-1,0 0 1,0 0-16,0 0 31,0 0-15,0 0-1,0 0 1,0 0 0,0 0-1,0 0 1,0 0 0,1 0-16,-1 0 31,0 0-16,0 0 17,0 0-32,0 0 62</inkml:trace>
  <inkml:trace contextRef="#ctx0" brushRef="#br0" timeOffset="-186667.72">7649 842 0,'-24'0'78,"-24"24"-78,0 24 15,-48 25-15,0 23 16,-49 0-16,-23 0 16,24 24-1,-1-23-15,1-1 16,0 0-16,-1 0 16,-23 0-16,24 1 15,23-1-15,1 0 16,24-24-1,-24-24-15,71 25 16,1-73-16,24 48 16,0-24-16,-24-24 15,48 24 1,-24-24-16,0 24 16,0 0-1,0 0 16</inkml:trace>
  <inkml:trace contextRef="#ctx0" brushRef="#br0" timeOffset="-185650.06">5316 1804 0,'-24'24'78,"0"-24"-62,0 48 0,-24 1-16,0-1 15,0 0-15,24-24 16,0 48-1,-25-24-15,49-24 16,-48 48-16,24-48 16,0 0-16,0 25 15,0-25-15,0 24 16,0-24-16,0 0 16,0 0-1,24 0-15,-24 0 16,24 0-1,0 0 48,24-24-47,0 0-1,24 0-15,0 0 16,24 0-1,25 0-15,23 0 16,72 0-16,1 0 16,-1 0-16,0 0 15,1 0 1,-25 0-16,1 0 16,-49 0-16,-72 0 15,-24 0 1</inkml:trace>
  <inkml:trace contextRef="#ctx0" brushRef="#br0" timeOffset="-183415.25">14264 14552 0,'24'0'125,"24"0"-110,-24 0 1,24 0-16,0 0 31,0 0-31,25 0 16,-1 0-16,0 0 16,0 0-16,0 0 15,0 0-15,25 0 16,-25 0-16,24 0 15,-24 0 1,24 0-16,-24 0 16,1 0-16,-1 0 15,-24 0-15,-24 0 16,0 0 0,0 0-1,0 0 1</inkml:trace>
</inkml:ink>
</file>

<file path=ppt/ink/ink2.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43:19.620"/>
    </inkml:context>
    <inkml:brush xml:id="br0">
      <inkml:brushProperty name="width" value="0.05292" units="cm"/>
      <inkml:brushProperty name="height" value="0.05292" units="cm"/>
      <inkml:brushProperty name="color" value="#FF0000"/>
    </inkml:brush>
  </inkml:definitions>
  <inkml:trace contextRef="#ctx0" brushRef="#br0">4667 9827 0,'-15'15'203,"-1"1"-188,16 16 1,-16 32 0,0-17-1,0 1 1,0-1 0,0 1-1,16 0 1,0 15-1,0-31 1,0 31 0,0 17-1,0-33 1,0 1 15,0 0-15,0-1-1,0 1 1,0-32 0,0 63-1,0-47-15,0 0 16,0 47 0,0-47-16,0 31 15,0 48 1,0 16-1,0-15 1,0 15 0,0-80-1,0 33 1,0-17 0,0 64 15,0-63-16,0-17 1,0 1-16,0-16 16,0 15-1,0 1 1,0-1 0,0 1-1,0-32 1,0 16-1,0-16-15,0-1 16,0 17 0,0 0-16,0-16 15,0 16 1,0-17-16,0 33 31,0 0-15,0-1-1,0 1 1,0 0 0,0-1-1,0 1 1,0-1 0,0-15-1,0-16-15,0 0 16,0 16-1,0-1 1,0-15 0,0 16-1,0-16 1,0 16 0,0-1 30,0-15-30,0 0 0,0 0-1,0 16 1,0 15 15,0-31-15,0 16-1,0-16 1,0 0-16,0 0 16,0 15-1,0 1 1,0-16-16,0 16 16,0-16 15,0 15-16,0 1 1,0-16 0,0 0-1,0 0 1,0 0 15,0 0-15,0-1-1,0 1 95</inkml:trace>
</inkml:ink>
</file>

<file path=ppt/ink/ink3.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45:58.327"/>
    </inkml:context>
    <inkml:brush xml:id="br0">
      <inkml:brushProperty name="width" value="0.05292" units="cm"/>
      <inkml:brushProperty name="height" value="0.05292" units="cm"/>
      <inkml:brushProperty name="color" value="#FF0000"/>
    </inkml:brush>
  </inkml:definitions>
  <inkml:trace contextRef="#ctx0" brushRef="#br0">5287 15161 0,'31'0'63,"1"0"-32,32 0-15,-17 0-1,-31 0-15,32 0 16,63 0-1,-64 0-15,-31 0 16,16 0 0,-16 0-1,16 0 1,-16 0 0,15 0-1,-15 0 1</inkml:trace>
  <inkml:trace contextRef="#ctx0" brushRef="#br0" timeOffset="2837.08">16447 15192 0,'31'0'188,"17"0"-173,0 0 1,-1 0-1,-15 0 1,-16-16 0,0 16 15,0 0 0</inkml:trace>
  <inkml:trace contextRef="#ctx0" brushRef="#br0" timeOffset="4937.75">6160 15256 0,'63'0'141,"32"0"-126,48 0 17,16 0-17,0 0 1,15 0-1,-31 0 1,-95 0 0,15 0-16,1 0 15,-1 0 1,-15 0-16,-16 0 16,47 0-1,1 0 1,-17 0-1,16 0 1,33 0 0,46 0-1,65 0 17,-144 0-17,80 0 1,-96 0-16,-15 0 15,-1 0 1,-31 0 0,16 0-1,0 0 1,-16 0 0,15 0-1,-15 0 32,0 0 16</inkml:trace>
</inkml:ink>
</file>

<file path=ppt/ink/ink4.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48:49.360"/>
    </inkml:context>
    <inkml:brush xml:id="br0">
      <inkml:brushProperty name="width" value="0.05292" units="cm"/>
      <inkml:brushProperty name="height" value="0.05292" units="cm"/>
      <inkml:brushProperty name="color" value="#FF0000"/>
    </inkml:brush>
  </inkml:definitions>
  <inkml:trace contextRef="#ctx0" brushRef="#br0">8160 6175 0,'16'0'234,"301"0"-202,-190 0-17,191 0 1,-159 0-16,-1 0 16,112 0-1,-48 0 1,-63 0-1,-16 0 1,16 0 0,-16 0-1,63 0 1,-63 0 0,111 0-1,-143 0 1,0 0-16,111 0 31,-142 0-31,-1 0 16,80 0-1,-96 0 1,1 0 0,-16 0-1,-1 0 1,96 0-1,-32 0 1,-16 0-16,48 0 16,127 0-1,-143 0-15,0 0 16,127 0 0,-79 0-1,-64 0 1,-63 0-1,-17 0 17,1 0-17,-16 0 1,0 0 15,16 0-15,-17 0-16,17 0 31,-16 0-15,0 0-1,0 0 32</inkml:trace>
  <inkml:trace contextRef="#ctx0" brushRef="#br0" timeOffset="7492.98">4255 6001 0,'16'-16'219,"31"16"-188,-31 0-15,0-16-1,16 0 1,-16 16-1,15 0 1,1 0 15,-16 0-15,16 0 0,-16 0-1,15 0 1,-15 0-1,0 0 1,16 0 15,-16 0 1,0 0-17,-1 0 1</inkml:trace>
  <inkml:trace contextRef="#ctx0" brushRef="#br0" timeOffset="10905.77">16113 7398 0,'48'0'125,"-32"0"-125,47 0 16,33 0-1,94 0 1,32 0-1,16 0 1,1 0 15,-1 0-15,-48 0 0,-110 0-1,62 0 1,-78 0-16,-1 0 15,64 0 1,-47 0 0,31 0-1,79 0 1,17 0 0,-33 0-1,-15 0 1,-79 0-1,31 0 17,-64 0-17,-31 0 1,16 0 0,-16 0 15,0 0 109</inkml:trace>
  <inkml:trace contextRef="#ctx0" brushRef="#br0" timeOffset="65217.92">6033 10620 0,'16'0'250,"31"0"-235,1 0 16,-32 0-15,15 0-16,1 0 31,0 0-15,-16 0 0,31 0-1,-31 0 1,16 0-1,-16 0 1,0 0 0,16 0-1,-17 0 17,17 0-17,-16 0 1,0 0-1,32 0 1,-33 0 0,17 0-1,-16 0 17,0 0-17,0 0 16,0 0-15,0 0 0</inkml:trace>
  <inkml:trace contextRef="#ctx0" brushRef="#br0" timeOffset="85001.6">15748 15796 0,'80'0'141,"189"-64"-110,-46 32-15,15 32-1,-79 0 1,-112 0-1,-31 0 32,0 0-31,16 0 0,-16 0-1,-1 0 1,1 0-1</inkml:trace>
  <inkml:trace contextRef="#ctx0" brushRef="#br0" timeOffset="86217.75">15986 15970 0,'32'0'94,"79"0"-78,0-16-1,223 0 1,-17 16 0,-31 0 15,-238 0-15,-33 0-1</inkml:trace>
  <inkml:trace contextRef="#ctx0" brushRef="#br0" timeOffset="87742.37">11954 15542 0,'16'0'188,"0"0"-172,16 0-1,15 0 16,-31 0-15,0 0 0,0 0-1,0 0 1,0 0 0,-1 0-16,1 0 15,-16 15 1</inkml:trace>
  <inkml:trace contextRef="#ctx0" brushRef="#br0" timeOffset="88528.07">11922 15748 0,'32'0'78,"47"0"-46,-47 0-1,0 0-16,-16 0 1,0 0 0,0 0-1,15 0 32,-15 0 0</inkml:trace>
</inkml:ink>
</file>

<file path=ppt/ink/ink5.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51:03.772"/>
    </inkml:context>
    <inkml:brush xml:id="br0">
      <inkml:brushProperty name="width" value="0.05292" units="cm"/>
      <inkml:brushProperty name="height" value="0.05292" units="cm"/>
      <inkml:brushProperty name="color" value="#FF0000"/>
    </inkml:brush>
  </inkml:definitions>
  <inkml:trace contextRef="#ctx0" brushRef="#br0">13303 15494 0,'16'0'78,"16"0"-62,16 0 0,47 0-1,127 0 1,-127 0 0,48 0-16,-16 0 15,143 0 1,-159 0-16,16 0 15,16 0-15,-48 0 16,159 0 0,-79 0-1,0 0 1,-48 0 0,-64 0 15,-15 0-16,63 0 1,-48 0-16,1 0 16,47 0-1,0 0 1,64 0 0,15 0-1,-15 0 1,47 0-1,0 0 1,-31 0 0,-112 0-1,1 0-15,-1 0 16,80 0 0,-80 0-1,16 0 1,32 0-1,0 0 1,16 0 0,-32 0-1,-31 0 1,-1 0 0,-31 0-1,-1 0 1,1 0-1,47 0 1,-31 0-16,-1 0 16,48 0-1,1 0 1,-33 0 0,32 0 15,16 0-16,16 0 1,-95 0 0,63 0-1,-95 0-15,15 0 16,65 0 0,15 0-1,-48 0 1,32 0-1,80 0 1,-64 0 0,-31 0-1,-17 0 1,-15 0 0,-17 0-1,33 0 1,63 0-1,-79 0-15,15 0 16,80 0 0,-80 0-1,33 0 1,31 0 0,31 0-1,1 0 1,-95 0-1,15 0-15,0 0 16,48 0 0,-79 0-16,16 0 15,63 0 1,-64 0 0,16 0 15,1 0-16,-17 0 1,-15 0 0,0 0-1,-1 0 1,-15 0 0,-16 0-1,0 0-15,0 0 16,-1 0-1,17 0 1,-16 0 0,0 0-1,0 0 32,0 0-31,0 0-16,-1 0 47,1 0 0,0 0-1,0 0-30,0 0 0,0 0 15,0 0-15,0 0 15,-1 0-16,1 0 1,16 0 0,-16 0 15,0 0 0</inkml:trace>
</inkml:ink>
</file>

<file path=ppt/ink/ink6.xml><?xml version="1.0" encoding="utf-8"?>
<inkml:ink xmlns:inkml="http://www.w3.org/2003/InkML">
  <inkml:definitions>
    <inkml:context xml:id="ctx0">
      <inkml:inkSource xml:id="inkSrc0">
        <inkml:traceFormat>
          <inkml:channel name="X" type="integer" min="-1920" max="1920" units="cm"/>
          <inkml:channel name="Y" type="integer" min="-51" max="1149" units="cm"/>
          <inkml:channel name="T" type="integer" max="2.14748E9" units="dev"/>
        </inkml:traceFormat>
        <inkml:channelProperties>
          <inkml:channelProperty channel="X" name="resolution" value="80.50314" units="1/cm"/>
          <inkml:channelProperty channel="Y" name="resolution" value="44.77612" units="1/cm"/>
          <inkml:channelProperty channel="T" name="resolution" value="1" units="1/dev"/>
        </inkml:channelProperties>
      </inkml:inkSource>
      <inkml:timestamp xml:id="ts0" timeString="2025-10-24T01:53:18.935"/>
    </inkml:context>
    <inkml:brush xml:id="br0">
      <inkml:brushProperty name="width" value="0.05292" units="cm"/>
      <inkml:brushProperty name="height" value="0.05292" units="cm"/>
      <inkml:brushProperty name="color" value="#FF0000"/>
    </inkml:brush>
  </inkml:definitions>
  <inkml:trace contextRef="#ctx0" brushRef="#br0">7120 11474 0,'24'0'1265,"48"0"-1249,0 0-16,25 0 16,-1 0-16,0 0 15,0 0-15,-24 0 16,1 0 0,-1 0-16,0 0 15,-24 0 1,-24 0-16,0 0 15,24 0 1,0 0 0,0 0-16,1 0 15,-1 0 1,-24 0-16,24 0 0,0 0 16,24 0-16,24 0 15,49 0 1,-25 0-16,24 0 15,-24 0-15,1 0 16,23 0-16,-24 0 16,-23 0-1,23 0-15,-24 0 16,0 0-16,-24 0 16,25 0-16,-1 0 15,0 0 1,0 0-16,0 0 15,49 0-15,-49 0 16,24 0-16,-24 0 16,49 0-16,-49 0 15,24 0 1,-24 0-16,25 0 16,-25 0-16,0 0 15,0 0-15,1 0 16,-1 0-16,0 0 15,-24 0 1,0 0-16,25 0 16,-25 0-16,0 0 15,0 0-15,-24 0 16,-24 0-16,24 0 16,0 0-1,-24 0 1,0 0-16,1 0 15,-1 0-15,0 0 16,0 0 15</inkml:trace>
  <inkml:trace contextRef="#ctx0" brushRef="#br0" timeOffset="2694">7264 12869 0,'24'0'125,"0"0"-110,25-24 1,23 24-16,48-24 15,0 24-15,49 0 16,-25 0-16,24 0 16,-23 0-16,-1 0 15,0 0 1,-23 0-16,-25 0 16,0 0-16,0 0 15,24 0-15,-23 0 16,-25 0-16,0 0 15,0 0 1,24 0-16,1 0 16,-25 0-1,-24 0-15,0 0 0,48 0 16,0 0 0,-23 0-16,-1 0 15,0 0-15,24 0 16,24 0-16,-72 0 15,-23 0-15,23 0 16,24 0 0,0 0-16,0 0 15,0 0-15,-24 0 16,-24 0-16,25 0 16,-1 0-1,24 0-15,-24 0 16,0 0-1,0 0-15,-24 0 16,24 0-16,0 0 16,0 0-1,1 0-15,-1 0 16,-24 0-16,24 0 16,24 0-16,0 0 15,24 0-15,1 0 16,-1 0-1,24 0-15,-48 0 16,0 0 0,-48 0-16,0 0 0,25 0 15,-25 0-15,0 0 32,0 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4A0BA85-7D74-8DDD-D8A7-52887D98F7C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5" name="Rectangle 3">
            <a:extLst>
              <a:ext uri="{FF2B5EF4-FFF2-40B4-BE49-F238E27FC236}">
                <a16:creationId xmlns:a16="http://schemas.microsoft.com/office/drawing/2014/main" id="{914527F9-8C83-22D2-0227-CC05A66E3BFD}"/>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5124" name="Rectangle 4">
            <a:extLst>
              <a:ext uri="{FF2B5EF4-FFF2-40B4-BE49-F238E27FC236}">
                <a16:creationId xmlns:a16="http://schemas.microsoft.com/office/drawing/2014/main" id="{C59FC307-713F-B1C2-050B-1FB1A84B94B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52B55EF3-C869-EE57-40A2-7B6F6D70AA14}"/>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93ECA057-8E50-EAEA-5D26-761AF3A4B35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9" name="Rectangle 7">
            <a:extLst>
              <a:ext uri="{FF2B5EF4-FFF2-40B4-BE49-F238E27FC236}">
                <a16:creationId xmlns:a16="http://schemas.microsoft.com/office/drawing/2014/main" id="{347D95C4-3AE1-8B19-F36F-F9B283C2AEF1}"/>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46D13347-E52A-4BDD-A810-7C276D794ED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33659605-81F1-5F84-085F-E4DA7BEC2A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800AFD20-ADC9-410F-8F62-EEF565C4C433}" type="slidenum">
              <a:rPr kumimoji="0" lang="en-US" altLang="en-US" sz="1200" smtClean="0">
                <a:latin typeface="Times New Roman" panose="02020603050405020304" pitchFamily="18" charset="0"/>
              </a:rPr>
              <a:pPr/>
              <a:t>1</a:t>
            </a:fld>
            <a:endParaRPr kumimoji="0" lang="en-US" altLang="en-US" sz="1200">
              <a:latin typeface="Times New Roman" panose="02020603050405020304" pitchFamily="18" charset="0"/>
            </a:endParaRPr>
          </a:p>
        </p:txBody>
      </p:sp>
      <p:sp>
        <p:nvSpPr>
          <p:cNvPr id="10243" name="Rectangle 2">
            <a:extLst>
              <a:ext uri="{FF2B5EF4-FFF2-40B4-BE49-F238E27FC236}">
                <a16:creationId xmlns:a16="http://schemas.microsoft.com/office/drawing/2014/main" id="{B78522F1-E115-D4D1-FDF1-3C8764CBE7F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4F3886E4-6949-9220-F3A2-5B7BD93EA8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924B7D1-5EFD-2CEF-88DF-5AE4FEA768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3430ED1-3FAF-440B-BE5E-1521AE990233}" type="slidenum">
              <a:rPr kumimoji="0" lang="en-US" altLang="en-US" sz="1200" smtClean="0">
                <a:latin typeface="Times New Roman" panose="02020603050405020304" pitchFamily="18" charset="0"/>
              </a:rPr>
              <a:pPr/>
              <a:t>4</a:t>
            </a:fld>
            <a:endParaRPr kumimoji="0" lang="en-US" altLang="en-US" sz="1200">
              <a:latin typeface="Times New Roman" panose="02020603050405020304" pitchFamily="18" charset="0"/>
            </a:endParaRPr>
          </a:p>
        </p:txBody>
      </p:sp>
      <p:sp>
        <p:nvSpPr>
          <p:cNvPr id="13315" name="Rectangle 7">
            <a:extLst>
              <a:ext uri="{FF2B5EF4-FFF2-40B4-BE49-F238E27FC236}">
                <a16:creationId xmlns:a16="http://schemas.microsoft.com/office/drawing/2014/main" id="{A8881673-1C74-3587-EAA6-6C85DB95BDC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28FA2B43-9D8A-4647-B7A8-39E409284BF6}" type="slidenum">
              <a:rPr kumimoji="0" lang="en-US" altLang="en-US" sz="1200">
                <a:latin typeface="Times New Roman" panose="02020603050405020304" pitchFamily="18" charset="0"/>
              </a:rPr>
              <a:pPr algn="r"/>
              <a:t>4</a:t>
            </a:fld>
            <a:endParaRPr kumimoji="0" lang="en-US" altLang="en-US" sz="1200">
              <a:latin typeface="Times New Roman" panose="02020603050405020304" pitchFamily="18" charset="0"/>
            </a:endParaRPr>
          </a:p>
        </p:txBody>
      </p:sp>
      <p:sp>
        <p:nvSpPr>
          <p:cNvPr id="13316" name="Rectangle 2">
            <a:extLst>
              <a:ext uri="{FF2B5EF4-FFF2-40B4-BE49-F238E27FC236}">
                <a16:creationId xmlns:a16="http://schemas.microsoft.com/office/drawing/2014/main" id="{7A6ECDD0-7513-39F9-2664-14883AD684A6}"/>
              </a:ext>
            </a:extLst>
          </p:cNvPr>
          <p:cNvSpPr>
            <a:spLocks noGrp="1" noRot="1" noChangeAspect="1" noChangeArrowheads="1" noTextEdit="1"/>
          </p:cNvSpPr>
          <p:nvPr>
            <p:ph type="sldImg"/>
          </p:nvPr>
        </p:nvSpPr>
        <p:spPr>
          <a:ln/>
        </p:spPr>
      </p:sp>
      <p:sp>
        <p:nvSpPr>
          <p:cNvPr id="13317" name="Rectangle 3">
            <a:extLst>
              <a:ext uri="{FF2B5EF4-FFF2-40B4-BE49-F238E27FC236}">
                <a16:creationId xmlns:a16="http://schemas.microsoft.com/office/drawing/2014/main" id="{E57E0F21-5154-F428-087E-CEB0A84484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pPr marL="285750" indent="-285750">
              <a:buFont typeface="Arial" panose="020B0604020202020204" pitchFamily="34" charset="0"/>
              <a:buChar char="•"/>
            </a:pPr>
            <a:r>
              <a:rPr lang="en-GB" sz="1800" b="0" i="0" dirty="0">
                <a:solidFill>
                  <a:srgbClr val="242021"/>
                </a:solidFill>
                <a:effectLst/>
                <a:latin typeface="TimesTenLTStd-Roman"/>
              </a:rPr>
              <a:t>Computer arithmetic is commonly performed on two very different types of numbers: integer and floating point. </a:t>
            </a:r>
          </a:p>
          <a:p>
            <a:pPr marL="285750" indent="-285750">
              <a:buFont typeface="Arial" panose="020B0604020202020204" pitchFamily="34" charset="0"/>
              <a:buChar char="•"/>
            </a:pPr>
            <a:r>
              <a:rPr lang="en-GB" sz="1800" b="0" i="0" dirty="0">
                <a:solidFill>
                  <a:srgbClr val="242021"/>
                </a:solidFill>
                <a:effectLst/>
                <a:latin typeface="TimesTenLTStd-Roman"/>
              </a:rPr>
              <a:t>In both cases, the representation chosen is a crucial design issue and is treated first, followed by a discussion of arithmetic operations</a:t>
            </a:r>
          </a:p>
          <a:p>
            <a:pPr marL="171450" indent="-171450">
              <a:buFont typeface="Arial" panose="020B0604020202020204" pitchFamily="34" charset="0"/>
              <a:buChar char="•"/>
            </a:pPr>
            <a:r>
              <a:rPr lang="en-GB" altLang="en-US" dirty="0"/>
              <a:t>All of the other elements of the computer system—control unit, registers, memory, I/O—are there mainly to bring data into the ALU for it to process</a:t>
            </a:r>
          </a:p>
          <a:p>
            <a:pPr marL="171450" indent="-171450">
              <a:buFont typeface="Arial" panose="020B0604020202020204" pitchFamily="34" charset="0"/>
              <a:buChar char="•"/>
            </a:pPr>
            <a:r>
              <a:rPr lang="en-GB" altLang="en-US" dirty="0"/>
              <a:t>and then to take the results back out. We have, in a sense, reached the core or essence of a computer when we consider the ALU.</a:t>
            </a:r>
          </a:p>
          <a:p>
            <a:pPr marL="171450" indent="-171450">
              <a:buFont typeface="Arial" panose="020B0604020202020204" pitchFamily="34" charset="0"/>
              <a:buChar char="•"/>
            </a:pPr>
            <a:r>
              <a:rPr lang="en-GB" altLang="en-US" dirty="0"/>
              <a:t>An ALU and indeed, all electronic components in the computer, are based on the use of simple digital logic devices that can store binary digits and perform simple Boolean logic operations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487D093D-3D98-C57A-9DE5-99F4CFF60F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A1F8E01-441E-408B-A9D0-B9D4C04E5635}" type="slidenum">
              <a:rPr kumimoji="0" lang="en-US" altLang="en-US" sz="1200" smtClean="0">
                <a:latin typeface="Times New Roman" panose="02020603050405020304" pitchFamily="18" charset="0"/>
              </a:rPr>
              <a:pPr/>
              <a:t>5</a:t>
            </a:fld>
            <a:endParaRPr kumimoji="0" lang="en-US" altLang="en-US" sz="1200">
              <a:latin typeface="Times New Roman" panose="02020603050405020304" pitchFamily="18" charset="0"/>
            </a:endParaRPr>
          </a:p>
        </p:txBody>
      </p:sp>
      <p:sp>
        <p:nvSpPr>
          <p:cNvPr id="15363" name="Rectangle 7">
            <a:extLst>
              <a:ext uri="{FF2B5EF4-FFF2-40B4-BE49-F238E27FC236}">
                <a16:creationId xmlns:a16="http://schemas.microsoft.com/office/drawing/2014/main" id="{895C9B08-4DB3-0A1F-1E47-FBB406509CC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0F09FB97-89E8-4186-9E7D-9909E24D2CCE}" type="slidenum">
              <a:rPr kumimoji="0" lang="en-US" altLang="en-US" sz="1200">
                <a:latin typeface="Times New Roman" panose="02020603050405020304" pitchFamily="18" charset="0"/>
              </a:rPr>
              <a:pPr algn="r"/>
              <a:t>5</a:t>
            </a:fld>
            <a:endParaRPr kumimoji="0" lang="en-US" altLang="en-US" sz="1200">
              <a:latin typeface="Times New Roman" panose="02020603050405020304" pitchFamily="18" charset="0"/>
            </a:endParaRPr>
          </a:p>
        </p:txBody>
      </p:sp>
      <p:sp>
        <p:nvSpPr>
          <p:cNvPr id="15364" name="Rectangle 2">
            <a:extLst>
              <a:ext uri="{FF2B5EF4-FFF2-40B4-BE49-F238E27FC236}">
                <a16:creationId xmlns:a16="http://schemas.microsoft.com/office/drawing/2014/main" id="{6A7109A3-D4D0-0559-5A1F-FDB892B88DBA}"/>
              </a:ext>
            </a:extLst>
          </p:cNvPr>
          <p:cNvSpPr>
            <a:spLocks noGrp="1" noRot="1" noChangeAspect="1" noChangeArrowheads="1" noTextEdit="1"/>
          </p:cNvSpPr>
          <p:nvPr>
            <p:ph type="sldImg"/>
          </p:nvPr>
        </p:nvSpPr>
        <p:spPr>
          <a:ln/>
        </p:spPr>
      </p:sp>
      <p:sp>
        <p:nvSpPr>
          <p:cNvPr id="15365" name="Rectangle 3">
            <a:extLst>
              <a:ext uri="{FF2B5EF4-FFF2-40B4-BE49-F238E27FC236}">
                <a16:creationId xmlns:a16="http://schemas.microsoft.com/office/drawing/2014/main" id="{B16D7B55-5A02-37DF-6AF4-6BB4E762B5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868E0718-22F8-31CB-23BC-A0317E00A6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4E2F6CA-CFD3-4AD8-A28E-24968032D5E7}" type="slidenum">
              <a:rPr kumimoji="0" lang="en-US" altLang="en-US" sz="1200" smtClean="0">
                <a:latin typeface="Times New Roman" panose="02020603050405020304" pitchFamily="18" charset="0"/>
              </a:rPr>
              <a:pPr/>
              <a:t>6</a:t>
            </a:fld>
            <a:endParaRPr kumimoji="0" lang="en-US" altLang="en-US" sz="1200">
              <a:latin typeface="Times New Roman" panose="02020603050405020304" pitchFamily="18" charset="0"/>
            </a:endParaRPr>
          </a:p>
        </p:txBody>
      </p:sp>
      <p:sp>
        <p:nvSpPr>
          <p:cNvPr id="19459" name="Rectangle 7">
            <a:extLst>
              <a:ext uri="{FF2B5EF4-FFF2-40B4-BE49-F238E27FC236}">
                <a16:creationId xmlns:a16="http://schemas.microsoft.com/office/drawing/2014/main" id="{2480013F-BAEB-F7B7-AD65-33B21F98E24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91B69382-B356-4D1D-8E81-6FA8C29016ED}" type="slidenum">
              <a:rPr kumimoji="0" lang="en-US" altLang="en-US" sz="1200">
                <a:latin typeface="Times New Roman" panose="02020603050405020304" pitchFamily="18" charset="0"/>
              </a:rPr>
              <a:pPr algn="r"/>
              <a:t>6</a:t>
            </a:fld>
            <a:endParaRPr kumimoji="0" lang="en-US" altLang="en-US" sz="1200">
              <a:latin typeface="Times New Roman" panose="02020603050405020304" pitchFamily="18" charset="0"/>
            </a:endParaRPr>
          </a:p>
        </p:txBody>
      </p:sp>
      <p:sp>
        <p:nvSpPr>
          <p:cNvPr id="19460" name="Rectangle 2">
            <a:extLst>
              <a:ext uri="{FF2B5EF4-FFF2-40B4-BE49-F238E27FC236}">
                <a16:creationId xmlns:a16="http://schemas.microsoft.com/office/drawing/2014/main" id="{8DF426D8-B421-1031-FA19-714365AEC40F}"/>
              </a:ext>
            </a:extLst>
          </p:cNvPr>
          <p:cNvSpPr>
            <a:spLocks noGrp="1" noRot="1" noChangeAspect="1" noChangeArrowheads="1" noTextEdit="1"/>
          </p:cNvSpPr>
          <p:nvPr>
            <p:ph type="sldImg"/>
          </p:nvPr>
        </p:nvSpPr>
        <p:spPr>
          <a:ln/>
        </p:spPr>
      </p:sp>
      <p:sp>
        <p:nvSpPr>
          <p:cNvPr id="19461" name="Rectangle 3">
            <a:extLst>
              <a:ext uri="{FF2B5EF4-FFF2-40B4-BE49-F238E27FC236}">
                <a16:creationId xmlns:a16="http://schemas.microsoft.com/office/drawing/2014/main" id="{0F030964-5DA9-0143-AF9B-D21192BAB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r>
              <a:rPr lang="en-US" sz="1800" b="0" i="0" dirty="0">
                <a:solidFill>
                  <a:srgbClr val="242021"/>
                </a:solidFill>
                <a:effectLst/>
                <a:latin typeface="TimesTenLTStd-Roman"/>
              </a:rPr>
              <a:t>how the ALU is interconnected with the rest of the processor. Operands for arithmetic and logic operations are presented to the ALU in registers, and the results of an operation are stored in registers. </a:t>
            </a:r>
            <a:br>
              <a:rPr lang="en-US" dirty="0"/>
            </a:br>
            <a:r>
              <a:rPr lang="en-US" sz="1800" b="0" i="0" dirty="0">
                <a:solidFill>
                  <a:srgbClr val="242021"/>
                </a:solidFill>
                <a:effectLst/>
                <a:latin typeface="TimesTenLTStd-Roman"/>
              </a:rPr>
              <a:t>These registers are temporary storage locations within the processor that are connected by signal paths to the ALU</a:t>
            </a:r>
            <a:r>
              <a:rPr lang="en-US" dirty="0"/>
              <a:t> </a:t>
            </a:r>
          </a:p>
          <a:p>
            <a:r>
              <a:rPr lang="en-US" sz="1800" b="0" i="0" dirty="0">
                <a:solidFill>
                  <a:srgbClr val="242021"/>
                </a:solidFill>
                <a:effectLst/>
                <a:latin typeface="TimesTenLTStd-Roman"/>
              </a:rPr>
              <a:t>The ALU may also set flags as the result of an operation. For example, an overflow flag is set to 1 if the result of a computation exceeds the length of the register into which it is to be stored</a:t>
            </a:r>
            <a:r>
              <a:rPr lang="en-US" dirty="0"/>
              <a:t> </a:t>
            </a:r>
          </a:p>
          <a:p>
            <a:r>
              <a:rPr lang="en-US" sz="1800" b="0" i="0" dirty="0">
                <a:solidFill>
                  <a:srgbClr val="242021"/>
                </a:solidFill>
                <a:effectLst/>
                <a:latin typeface="TimesTenLTStd-Roman"/>
              </a:rPr>
              <a:t>The flag values are also stored in registers within the processor. The processor provides signals that control the operation of the ALU and the movement of the data into and out of the ALU</a:t>
            </a:r>
            <a:r>
              <a:rPr lang="en-US" dirty="0"/>
              <a:t> </a:t>
            </a:r>
            <a:br>
              <a:rPr lang="en-US" dirty="0"/>
            </a:br>
            <a:br>
              <a:rPr lang="en-US" dirty="0"/>
            </a:br>
            <a:br>
              <a:rPr lang="en-US" dirty="0"/>
            </a:br>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7</a:t>
            </a:fld>
            <a:endParaRPr lang="en-US" altLang="en-US"/>
          </a:p>
        </p:txBody>
      </p:sp>
    </p:spTree>
    <p:extLst>
      <p:ext uri="{BB962C8B-B14F-4D97-AF65-F5344CB8AC3E}">
        <p14:creationId xmlns:p14="http://schemas.microsoft.com/office/powerpoint/2010/main" val="1061051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3ED72F52-01D0-6965-DAF9-1EF8463AE8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3C77651-B684-4FB1-8985-C2C8DAE2E515}" type="slidenum">
              <a:rPr kumimoji="0" lang="en-US" altLang="en-US" sz="1200" smtClean="0">
                <a:latin typeface="Times New Roman" panose="02020603050405020304" pitchFamily="18" charset="0"/>
              </a:rPr>
              <a:pPr/>
              <a:t>8</a:t>
            </a:fld>
            <a:endParaRPr kumimoji="0" lang="en-US" altLang="en-US" sz="1200">
              <a:latin typeface="Times New Roman" panose="02020603050405020304" pitchFamily="18" charset="0"/>
            </a:endParaRPr>
          </a:p>
        </p:txBody>
      </p:sp>
      <p:sp>
        <p:nvSpPr>
          <p:cNvPr id="22531" name="Rectangle 7">
            <a:extLst>
              <a:ext uri="{FF2B5EF4-FFF2-40B4-BE49-F238E27FC236}">
                <a16:creationId xmlns:a16="http://schemas.microsoft.com/office/drawing/2014/main" id="{2A389E5C-3BAB-9255-2D5C-D1F8D1F9F90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49B12779-A49D-4147-B0B4-930A5CC79C74}" type="slidenum">
              <a:rPr kumimoji="0" lang="en-US" altLang="en-US" sz="1200">
                <a:latin typeface="Times New Roman" panose="02020603050405020304" pitchFamily="18" charset="0"/>
              </a:rPr>
              <a:pPr algn="r"/>
              <a:t>8</a:t>
            </a:fld>
            <a:endParaRPr kumimoji="0" lang="en-US" altLang="en-US" sz="1200">
              <a:latin typeface="Times New Roman" panose="02020603050405020304" pitchFamily="18" charset="0"/>
            </a:endParaRPr>
          </a:p>
        </p:txBody>
      </p:sp>
      <p:sp>
        <p:nvSpPr>
          <p:cNvPr id="22532" name="Rectangle 2">
            <a:extLst>
              <a:ext uri="{FF2B5EF4-FFF2-40B4-BE49-F238E27FC236}">
                <a16:creationId xmlns:a16="http://schemas.microsoft.com/office/drawing/2014/main" id="{3D5D1CA8-AF1C-9571-7ED8-D82E421CFE4C}"/>
              </a:ext>
            </a:extLst>
          </p:cNvPr>
          <p:cNvSpPr>
            <a:spLocks noGrp="1" noRot="1" noChangeAspect="1" noChangeArrowheads="1" noTextEdit="1"/>
          </p:cNvSpPr>
          <p:nvPr>
            <p:ph type="sldImg"/>
          </p:nvPr>
        </p:nvSpPr>
        <p:spPr>
          <a:ln/>
        </p:spPr>
      </p:sp>
      <p:sp>
        <p:nvSpPr>
          <p:cNvPr id="22533" name="Rectangle 3">
            <a:extLst>
              <a:ext uri="{FF2B5EF4-FFF2-40B4-BE49-F238E27FC236}">
                <a16:creationId xmlns:a16="http://schemas.microsoft.com/office/drawing/2014/main" id="{6E8864F4-CC5E-E847-4542-97AFC01460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r>
              <a:rPr lang="en-GB" altLang="en-US" dirty="0"/>
              <a:t>In the binary number system,1 arbitrary numbers can be represented with just the digits zero and one, the minus sign (for negative numbers), and the period, or radix</a:t>
            </a:r>
          </a:p>
          <a:p>
            <a:r>
              <a:rPr lang="en-GB" altLang="en-US" dirty="0"/>
              <a:t>point (for numbers with a fractional component).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65A4C01A-BB86-F142-5418-33A1C1FB41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092B6467-6F24-43A5-A306-F15D6619F95D}" type="slidenum">
              <a:rPr kumimoji="0" lang="en-US" altLang="en-US" sz="1200" smtClean="0">
                <a:latin typeface="Times New Roman" panose="02020603050405020304" pitchFamily="18" charset="0"/>
              </a:rPr>
              <a:pPr/>
              <a:t>10</a:t>
            </a:fld>
            <a:endParaRPr kumimoji="0" lang="en-US" altLang="en-US" sz="1200">
              <a:latin typeface="Times New Roman" panose="02020603050405020304" pitchFamily="18" charset="0"/>
            </a:endParaRPr>
          </a:p>
        </p:txBody>
      </p:sp>
      <p:sp>
        <p:nvSpPr>
          <p:cNvPr id="24579" name="Rectangle 7">
            <a:extLst>
              <a:ext uri="{FF2B5EF4-FFF2-40B4-BE49-F238E27FC236}">
                <a16:creationId xmlns:a16="http://schemas.microsoft.com/office/drawing/2014/main" id="{56A386B6-8004-7A4C-67E8-F4B0315DB9B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6CE8E98A-EC86-46D5-9CFA-CAE18BDFFBA4}" type="slidenum">
              <a:rPr kumimoji="0" lang="en-US" altLang="en-US" sz="1200">
                <a:latin typeface="Times New Roman" panose="02020603050405020304" pitchFamily="18" charset="0"/>
              </a:rPr>
              <a:pPr algn="r"/>
              <a:t>10</a:t>
            </a:fld>
            <a:endParaRPr kumimoji="0" lang="en-US" altLang="en-US" sz="1200">
              <a:latin typeface="Times New Roman" panose="02020603050405020304" pitchFamily="18" charset="0"/>
            </a:endParaRPr>
          </a:p>
        </p:txBody>
      </p:sp>
      <p:sp>
        <p:nvSpPr>
          <p:cNvPr id="24580" name="Rectangle 2">
            <a:extLst>
              <a:ext uri="{FF2B5EF4-FFF2-40B4-BE49-F238E27FC236}">
                <a16:creationId xmlns:a16="http://schemas.microsoft.com/office/drawing/2014/main" id="{E078B3AA-254F-3C1F-05ED-BC79DC58E6AF}"/>
              </a:ext>
            </a:extLst>
          </p:cNvPr>
          <p:cNvSpPr>
            <a:spLocks noGrp="1" noRot="1" noChangeAspect="1" noChangeArrowheads="1" noTextEdit="1"/>
          </p:cNvSpPr>
          <p:nvPr>
            <p:ph type="sldImg"/>
          </p:nvPr>
        </p:nvSpPr>
        <p:spPr>
          <a:ln/>
        </p:spPr>
      </p:sp>
      <p:sp>
        <p:nvSpPr>
          <p:cNvPr id="24581" name="Rectangle 3">
            <a:extLst>
              <a:ext uri="{FF2B5EF4-FFF2-40B4-BE49-F238E27FC236}">
                <a16:creationId xmlns:a16="http://schemas.microsoft.com/office/drawing/2014/main" id="{C2515543-5A15-7500-88B5-A4A1F55BA2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r>
              <a:rPr lang="en-GB" altLang="en-US" dirty="0"/>
              <a:t>For purposes of computer storage and processing, however, we do not have the benefit of special symbols for the minus sign and radix point. Only binary digits (0 and</a:t>
            </a:r>
          </a:p>
          <a:p>
            <a:r>
              <a:rPr lang="en-GB" altLang="en-US" dirty="0"/>
              <a:t>1) may be used to represent numbers. If we are limited to nonnegative integers, the representation is straightforward.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1" i="0" dirty="0">
                <a:solidFill>
                  <a:srgbClr val="007367"/>
                </a:solidFill>
                <a:effectLst/>
                <a:latin typeface="BemboMTPro-Bold"/>
              </a:rPr>
              <a:t>Sign-Magnitude Representation</a:t>
            </a:r>
          </a:p>
          <a:p>
            <a:pPr marL="285750" indent="-285750">
              <a:buFont typeface="Arial" panose="020B0604020202020204" pitchFamily="34" charset="0"/>
              <a:buChar char="•"/>
            </a:pPr>
            <a:r>
              <a:rPr lang="en-GB" sz="1800" b="0" i="0" dirty="0">
                <a:solidFill>
                  <a:srgbClr val="242021"/>
                </a:solidFill>
                <a:effectLst/>
                <a:latin typeface="TimesTenLTStd-Roman"/>
              </a:rPr>
              <a:t>There are several alternative conventions used to represent negative as well as positive integers, all of which involve treating the most significant (leftmost) bit in the word as a sign bit. </a:t>
            </a:r>
          </a:p>
          <a:p>
            <a:pPr marL="285750" indent="-285750">
              <a:buFont typeface="Arial" panose="020B0604020202020204" pitchFamily="34" charset="0"/>
              <a:buChar char="•"/>
            </a:pPr>
            <a:r>
              <a:rPr lang="en-GB" sz="1800" b="0" i="0" dirty="0">
                <a:solidFill>
                  <a:srgbClr val="242021"/>
                </a:solidFill>
                <a:effectLst/>
                <a:latin typeface="TimesTenLTStd-Roman"/>
              </a:rPr>
              <a:t>If the sign bit is 0, the number is positive; if the sign bit is 1, the number is negative.</a:t>
            </a:r>
          </a:p>
          <a:p>
            <a:pPr marL="285750" indent="-285750">
              <a:buFont typeface="Arial" panose="020B0604020202020204" pitchFamily="34" charset="0"/>
              <a:buChar char="•"/>
            </a:pPr>
            <a:r>
              <a:rPr lang="en-GB" sz="1800" b="0" i="0" dirty="0">
                <a:solidFill>
                  <a:srgbClr val="242021"/>
                </a:solidFill>
                <a:effectLst/>
                <a:latin typeface="TimesTenLTStd-Roman"/>
              </a:rPr>
              <a:t>The simplest form of representation that employs a sign bit is the sign-magnitude representation.</a:t>
            </a:r>
            <a:r>
              <a:rPr lang="en-GB" dirty="0"/>
              <a:t> </a:t>
            </a:r>
            <a:br>
              <a:rPr lang="en-GB" dirty="0"/>
            </a:b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11</a:t>
            </a:fld>
            <a:endParaRPr lang="en-US" altLang="en-US"/>
          </a:p>
        </p:txBody>
      </p:sp>
    </p:spTree>
    <p:extLst>
      <p:ext uri="{BB962C8B-B14F-4D97-AF65-F5344CB8AC3E}">
        <p14:creationId xmlns:p14="http://schemas.microsoft.com/office/powerpoint/2010/main" val="4146511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13</a:t>
            </a:fld>
            <a:endParaRPr lang="en-US" altLang="en-US"/>
          </a:p>
        </p:txBody>
      </p:sp>
    </p:spTree>
    <p:extLst>
      <p:ext uri="{BB962C8B-B14F-4D97-AF65-F5344CB8AC3E}">
        <p14:creationId xmlns:p14="http://schemas.microsoft.com/office/powerpoint/2010/main" val="2382047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14</a:t>
            </a:fld>
            <a:endParaRPr lang="en-US" altLang="en-US"/>
          </a:p>
        </p:txBody>
      </p:sp>
    </p:spTree>
    <p:extLst>
      <p:ext uri="{BB962C8B-B14F-4D97-AF65-F5344CB8AC3E}">
        <p14:creationId xmlns:p14="http://schemas.microsoft.com/office/powerpoint/2010/main" val="1484346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4E0303F-0AB5-3DCF-69D7-D26B8D092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1D659FD-D576-463F-B647-091DD0BCD0C5}" type="slidenum">
              <a:rPr kumimoji="0" lang="en-US" altLang="en-US" sz="1200" smtClean="0">
                <a:latin typeface="Times New Roman" panose="02020603050405020304" pitchFamily="18" charset="0"/>
              </a:rPr>
              <a:pPr/>
              <a:t>17</a:t>
            </a:fld>
            <a:endParaRPr kumimoji="0" lang="en-US" altLang="en-US" sz="1200">
              <a:latin typeface="Times New Roman" panose="02020603050405020304" pitchFamily="18" charset="0"/>
            </a:endParaRPr>
          </a:p>
        </p:txBody>
      </p:sp>
      <p:sp>
        <p:nvSpPr>
          <p:cNvPr id="26627" name="Rectangle 7">
            <a:extLst>
              <a:ext uri="{FF2B5EF4-FFF2-40B4-BE49-F238E27FC236}">
                <a16:creationId xmlns:a16="http://schemas.microsoft.com/office/drawing/2014/main" id="{86E641E1-290E-EB8C-DB07-32D9E13E22F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4176C23-BA77-4700-B3C3-ADD8F8807959}" type="slidenum">
              <a:rPr kumimoji="0" lang="en-US" altLang="en-US" sz="1200">
                <a:latin typeface="Times New Roman" panose="02020603050405020304" pitchFamily="18" charset="0"/>
              </a:rPr>
              <a:pPr algn="r"/>
              <a:t>17</a:t>
            </a:fld>
            <a:endParaRPr kumimoji="0" lang="en-US" altLang="en-US" sz="1200">
              <a:latin typeface="Times New Roman" panose="02020603050405020304" pitchFamily="18" charset="0"/>
            </a:endParaRPr>
          </a:p>
        </p:txBody>
      </p:sp>
      <p:sp>
        <p:nvSpPr>
          <p:cNvPr id="26628" name="Rectangle 2">
            <a:extLst>
              <a:ext uri="{FF2B5EF4-FFF2-40B4-BE49-F238E27FC236}">
                <a16:creationId xmlns:a16="http://schemas.microsoft.com/office/drawing/2014/main" id="{545CE81A-7258-CEDD-A432-4D7D27AEE988}"/>
              </a:ext>
            </a:extLst>
          </p:cNvPr>
          <p:cNvSpPr>
            <a:spLocks noGrp="1" noRot="1" noChangeAspect="1" noChangeArrowheads="1" noTextEdit="1"/>
          </p:cNvSpPr>
          <p:nvPr>
            <p:ph type="sldImg"/>
          </p:nvPr>
        </p:nvSpPr>
        <p:spPr>
          <a:ln/>
        </p:spPr>
      </p:sp>
      <p:sp>
        <p:nvSpPr>
          <p:cNvPr id="26629" name="Rectangle 3">
            <a:extLst>
              <a:ext uri="{FF2B5EF4-FFF2-40B4-BE49-F238E27FC236}">
                <a16:creationId xmlns:a16="http://schemas.microsoft.com/office/drawing/2014/main" id="{6B3E9CFB-4DC0-4392-118B-98B20FD922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r>
              <a:rPr lang="en-US" b="0" i="0" dirty="0">
                <a:solidFill>
                  <a:srgbClr val="374151"/>
                </a:solidFill>
                <a:effectLst/>
                <a:latin typeface="Söhne"/>
              </a:rPr>
              <a:t>In signed magnitude representation, a number is represented by two parts: a sign bit and a magnitude (or absolute value) part. The sign bit indicates whether the number is positive or negative, with 0 typically representing positive and 1 representing negative. The magnitude part represents the absolute value of the number.</a:t>
            </a:r>
            <a:endParaRPr lang="en-GB"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4E0303F-0AB5-3DCF-69D7-D26B8D092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1D659FD-D576-463F-B647-091DD0BCD0C5}" type="slidenum">
              <a:rPr kumimoji="0" lang="en-US" altLang="en-US" sz="1200" smtClean="0">
                <a:latin typeface="Times New Roman" panose="02020603050405020304" pitchFamily="18" charset="0"/>
              </a:rPr>
              <a:pPr/>
              <a:t>18</a:t>
            </a:fld>
            <a:endParaRPr kumimoji="0" lang="en-US" altLang="en-US" sz="1200">
              <a:latin typeface="Times New Roman" panose="02020603050405020304" pitchFamily="18" charset="0"/>
            </a:endParaRPr>
          </a:p>
        </p:txBody>
      </p:sp>
      <p:sp>
        <p:nvSpPr>
          <p:cNvPr id="26627" name="Rectangle 7">
            <a:extLst>
              <a:ext uri="{FF2B5EF4-FFF2-40B4-BE49-F238E27FC236}">
                <a16:creationId xmlns:a16="http://schemas.microsoft.com/office/drawing/2014/main" id="{86E641E1-290E-EB8C-DB07-32D9E13E22F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4176C23-BA77-4700-B3C3-ADD8F8807959}" type="slidenum">
              <a:rPr kumimoji="0" lang="en-US" altLang="en-US" sz="1200">
                <a:latin typeface="Times New Roman" panose="02020603050405020304" pitchFamily="18" charset="0"/>
              </a:rPr>
              <a:pPr algn="r"/>
              <a:t>18</a:t>
            </a:fld>
            <a:endParaRPr kumimoji="0" lang="en-US" altLang="en-US" sz="1200">
              <a:latin typeface="Times New Roman" panose="02020603050405020304" pitchFamily="18" charset="0"/>
            </a:endParaRPr>
          </a:p>
        </p:txBody>
      </p:sp>
      <p:sp>
        <p:nvSpPr>
          <p:cNvPr id="26628" name="Rectangle 2">
            <a:extLst>
              <a:ext uri="{FF2B5EF4-FFF2-40B4-BE49-F238E27FC236}">
                <a16:creationId xmlns:a16="http://schemas.microsoft.com/office/drawing/2014/main" id="{545CE81A-7258-CEDD-A432-4D7D27AEE988}"/>
              </a:ext>
            </a:extLst>
          </p:cNvPr>
          <p:cNvSpPr>
            <a:spLocks noGrp="1" noRot="1" noChangeAspect="1" noChangeArrowheads="1" noTextEdit="1"/>
          </p:cNvSpPr>
          <p:nvPr>
            <p:ph type="sldImg"/>
          </p:nvPr>
        </p:nvSpPr>
        <p:spPr>
          <a:ln/>
        </p:spPr>
      </p:sp>
      <p:sp>
        <p:nvSpPr>
          <p:cNvPr id="26629" name="Rectangle 3">
            <a:extLst>
              <a:ext uri="{FF2B5EF4-FFF2-40B4-BE49-F238E27FC236}">
                <a16:creationId xmlns:a16="http://schemas.microsoft.com/office/drawing/2014/main" id="{6B3E9CFB-4DC0-4392-118B-98B20FD922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endParaRPr lang="en-GB" altLang="en-US"/>
          </a:p>
        </p:txBody>
      </p:sp>
    </p:spTree>
    <p:extLst>
      <p:ext uri="{BB962C8B-B14F-4D97-AF65-F5344CB8AC3E}">
        <p14:creationId xmlns:p14="http://schemas.microsoft.com/office/powerpoint/2010/main" val="3980794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4E0303F-0AB5-3DCF-69D7-D26B8D092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1D659FD-D576-463F-B647-091DD0BCD0C5}" type="slidenum">
              <a:rPr kumimoji="0" lang="en-US" altLang="en-US" sz="1200" smtClean="0">
                <a:latin typeface="Times New Roman" panose="02020603050405020304" pitchFamily="18" charset="0"/>
              </a:rPr>
              <a:pPr/>
              <a:t>19</a:t>
            </a:fld>
            <a:endParaRPr kumimoji="0" lang="en-US" altLang="en-US" sz="1200">
              <a:latin typeface="Times New Roman" panose="02020603050405020304" pitchFamily="18" charset="0"/>
            </a:endParaRPr>
          </a:p>
        </p:txBody>
      </p:sp>
      <p:sp>
        <p:nvSpPr>
          <p:cNvPr id="26627" name="Rectangle 7">
            <a:extLst>
              <a:ext uri="{FF2B5EF4-FFF2-40B4-BE49-F238E27FC236}">
                <a16:creationId xmlns:a16="http://schemas.microsoft.com/office/drawing/2014/main" id="{86E641E1-290E-EB8C-DB07-32D9E13E22F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4176C23-BA77-4700-B3C3-ADD8F8807959}" type="slidenum">
              <a:rPr kumimoji="0" lang="en-US" altLang="en-US" sz="1200">
                <a:latin typeface="Times New Roman" panose="02020603050405020304" pitchFamily="18" charset="0"/>
              </a:rPr>
              <a:pPr algn="r"/>
              <a:t>19</a:t>
            </a:fld>
            <a:endParaRPr kumimoji="0" lang="en-US" altLang="en-US" sz="1200">
              <a:latin typeface="Times New Roman" panose="02020603050405020304" pitchFamily="18" charset="0"/>
            </a:endParaRPr>
          </a:p>
        </p:txBody>
      </p:sp>
      <p:sp>
        <p:nvSpPr>
          <p:cNvPr id="26628" name="Rectangle 2">
            <a:extLst>
              <a:ext uri="{FF2B5EF4-FFF2-40B4-BE49-F238E27FC236}">
                <a16:creationId xmlns:a16="http://schemas.microsoft.com/office/drawing/2014/main" id="{545CE81A-7258-CEDD-A432-4D7D27AEE988}"/>
              </a:ext>
            </a:extLst>
          </p:cNvPr>
          <p:cNvSpPr>
            <a:spLocks noGrp="1" noRot="1" noChangeAspect="1" noChangeArrowheads="1" noTextEdit="1"/>
          </p:cNvSpPr>
          <p:nvPr>
            <p:ph type="sldImg"/>
          </p:nvPr>
        </p:nvSpPr>
        <p:spPr>
          <a:ln/>
        </p:spPr>
      </p:sp>
      <p:sp>
        <p:nvSpPr>
          <p:cNvPr id="26629" name="Rectangle 3">
            <a:extLst>
              <a:ext uri="{FF2B5EF4-FFF2-40B4-BE49-F238E27FC236}">
                <a16:creationId xmlns:a16="http://schemas.microsoft.com/office/drawing/2014/main" id="{6B3E9CFB-4DC0-4392-118B-98B20FD922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endParaRPr lang="en-GB" altLang="en-US" dirty="0"/>
          </a:p>
        </p:txBody>
      </p:sp>
    </p:spTree>
    <p:extLst>
      <p:ext uri="{BB962C8B-B14F-4D97-AF65-F5344CB8AC3E}">
        <p14:creationId xmlns:p14="http://schemas.microsoft.com/office/powerpoint/2010/main" val="3961474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4E0303F-0AB5-3DCF-69D7-D26B8D092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1D659FD-D576-463F-B647-091DD0BCD0C5}" type="slidenum">
              <a:rPr kumimoji="0" lang="en-US" altLang="en-US" sz="1200" smtClean="0">
                <a:latin typeface="Times New Roman" panose="02020603050405020304" pitchFamily="18" charset="0"/>
              </a:rPr>
              <a:pPr/>
              <a:t>21</a:t>
            </a:fld>
            <a:endParaRPr kumimoji="0" lang="en-US" altLang="en-US" sz="1200">
              <a:latin typeface="Times New Roman" panose="02020603050405020304" pitchFamily="18" charset="0"/>
            </a:endParaRPr>
          </a:p>
        </p:txBody>
      </p:sp>
      <p:sp>
        <p:nvSpPr>
          <p:cNvPr id="26627" name="Rectangle 7">
            <a:extLst>
              <a:ext uri="{FF2B5EF4-FFF2-40B4-BE49-F238E27FC236}">
                <a16:creationId xmlns:a16="http://schemas.microsoft.com/office/drawing/2014/main" id="{86E641E1-290E-EB8C-DB07-32D9E13E22F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4176C23-BA77-4700-B3C3-ADD8F8807959}" type="slidenum">
              <a:rPr kumimoji="0" lang="en-US" altLang="en-US" sz="1200">
                <a:latin typeface="Times New Roman" panose="02020603050405020304" pitchFamily="18" charset="0"/>
              </a:rPr>
              <a:pPr algn="r"/>
              <a:t>21</a:t>
            </a:fld>
            <a:endParaRPr kumimoji="0" lang="en-US" altLang="en-US" sz="1200">
              <a:latin typeface="Times New Roman" panose="02020603050405020304" pitchFamily="18" charset="0"/>
            </a:endParaRPr>
          </a:p>
        </p:txBody>
      </p:sp>
      <p:sp>
        <p:nvSpPr>
          <p:cNvPr id="26628" name="Rectangle 2">
            <a:extLst>
              <a:ext uri="{FF2B5EF4-FFF2-40B4-BE49-F238E27FC236}">
                <a16:creationId xmlns:a16="http://schemas.microsoft.com/office/drawing/2014/main" id="{545CE81A-7258-CEDD-A432-4D7D27AEE988}"/>
              </a:ext>
            </a:extLst>
          </p:cNvPr>
          <p:cNvSpPr>
            <a:spLocks noGrp="1" noRot="1" noChangeAspect="1" noChangeArrowheads="1" noTextEdit="1"/>
          </p:cNvSpPr>
          <p:nvPr>
            <p:ph type="sldImg"/>
          </p:nvPr>
        </p:nvSpPr>
        <p:spPr>
          <a:ln/>
        </p:spPr>
      </p:sp>
      <p:sp>
        <p:nvSpPr>
          <p:cNvPr id="26629" name="Rectangle 3">
            <a:extLst>
              <a:ext uri="{FF2B5EF4-FFF2-40B4-BE49-F238E27FC236}">
                <a16:creationId xmlns:a16="http://schemas.microsoft.com/office/drawing/2014/main" id="{6B3E9CFB-4DC0-4392-118B-98B20FD922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endParaRPr lang="en-GB" altLang="en-US" dirty="0"/>
          </a:p>
        </p:txBody>
      </p:sp>
    </p:spTree>
    <p:extLst>
      <p:ext uri="{BB962C8B-B14F-4D97-AF65-F5344CB8AC3E}">
        <p14:creationId xmlns:p14="http://schemas.microsoft.com/office/powerpoint/2010/main" val="678190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4E0303F-0AB5-3DCF-69D7-D26B8D092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1D659FD-D576-463F-B647-091DD0BCD0C5}" type="slidenum">
              <a:rPr kumimoji="0" lang="en-US" altLang="en-US" sz="1200" smtClean="0">
                <a:latin typeface="Times New Roman" panose="02020603050405020304" pitchFamily="18" charset="0"/>
              </a:rPr>
              <a:pPr/>
              <a:t>22</a:t>
            </a:fld>
            <a:endParaRPr kumimoji="0" lang="en-US" altLang="en-US" sz="1200">
              <a:latin typeface="Times New Roman" panose="02020603050405020304" pitchFamily="18" charset="0"/>
            </a:endParaRPr>
          </a:p>
        </p:txBody>
      </p:sp>
      <p:sp>
        <p:nvSpPr>
          <p:cNvPr id="26627" name="Rectangle 7">
            <a:extLst>
              <a:ext uri="{FF2B5EF4-FFF2-40B4-BE49-F238E27FC236}">
                <a16:creationId xmlns:a16="http://schemas.microsoft.com/office/drawing/2014/main" id="{86E641E1-290E-EB8C-DB07-32D9E13E22F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4176C23-BA77-4700-B3C3-ADD8F8807959}" type="slidenum">
              <a:rPr kumimoji="0" lang="en-US" altLang="en-US" sz="1200">
                <a:latin typeface="Times New Roman" panose="02020603050405020304" pitchFamily="18" charset="0"/>
              </a:rPr>
              <a:pPr algn="r"/>
              <a:t>22</a:t>
            </a:fld>
            <a:endParaRPr kumimoji="0" lang="en-US" altLang="en-US" sz="1200">
              <a:latin typeface="Times New Roman" panose="02020603050405020304" pitchFamily="18" charset="0"/>
            </a:endParaRPr>
          </a:p>
        </p:txBody>
      </p:sp>
      <p:sp>
        <p:nvSpPr>
          <p:cNvPr id="26628" name="Rectangle 2">
            <a:extLst>
              <a:ext uri="{FF2B5EF4-FFF2-40B4-BE49-F238E27FC236}">
                <a16:creationId xmlns:a16="http://schemas.microsoft.com/office/drawing/2014/main" id="{545CE81A-7258-CEDD-A432-4D7D27AEE988}"/>
              </a:ext>
            </a:extLst>
          </p:cNvPr>
          <p:cNvSpPr>
            <a:spLocks noGrp="1" noRot="1" noChangeAspect="1" noChangeArrowheads="1" noTextEdit="1"/>
          </p:cNvSpPr>
          <p:nvPr>
            <p:ph type="sldImg"/>
          </p:nvPr>
        </p:nvSpPr>
        <p:spPr>
          <a:ln/>
        </p:spPr>
      </p:sp>
      <p:sp>
        <p:nvSpPr>
          <p:cNvPr id="26629" name="Rectangle 3">
            <a:extLst>
              <a:ext uri="{FF2B5EF4-FFF2-40B4-BE49-F238E27FC236}">
                <a16:creationId xmlns:a16="http://schemas.microsoft.com/office/drawing/2014/main" id="{6B3E9CFB-4DC0-4392-118B-98B20FD922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endParaRPr lang="en-GB" altLang="en-US" dirty="0"/>
          </a:p>
        </p:txBody>
      </p:sp>
    </p:spTree>
    <p:extLst>
      <p:ext uri="{BB962C8B-B14F-4D97-AF65-F5344CB8AC3E}">
        <p14:creationId xmlns:p14="http://schemas.microsoft.com/office/powerpoint/2010/main" val="3319283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26</a:t>
            </a:fld>
            <a:endParaRPr lang="en-US" altLang="en-US"/>
          </a:p>
        </p:txBody>
      </p:sp>
    </p:spTree>
    <p:extLst>
      <p:ext uri="{BB962C8B-B14F-4D97-AF65-F5344CB8AC3E}">
        <p14:creationId xmlns:p14="http://schemas.microsoft.com/office/powerpoint/2010/main" val="1991793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kumimoji="0" lang="en-MY" sz="1200" dirty="0">
                <a:solidFill>
                  <a:srgbClr val="00B050"/>
                </a:solidFill>
              </a:rPr>
              <a:t>10111</a:t>
            </a:r>
            <a:r>
              <a:rPr kumimoji="0" lang="en-MY" sz="1200" baseline="-25000" dirty="0">
                <a:solidFill>
                  <a:srgbClr val="00B050"/>
                </a:solidFill>
              </a:rPr>
              <a:t>2</a:t>
            </a:r>
          </a:p>
          <a:p>
            <a:pPr fontAlgn="auto"/>
            <a:r>
              <a:rPr kumimoji="0" lang="en-MY" sz="1200" dirty="0">
                <a:solidFill>
                  <a:srgbClr val="00B050"/>
                </a:solidFill>
              </a:rPr>
              <a:t>10101</a:t>
            </a:r>
            <a:r>
              <a:rPr kumimoji="0" lang="en-MY" sz="1200" baseline="-25000" dirty="0">
                <a:solidFill>
                  <a:srgbClr val="00B050"/>
                </a:solidFill>
              </a:rPr>
              <a:t>2</a:t>
            </a:r>
          </a:p>
          <a:p>
            <a:pPr fontAlgn="auto"/>
            <a:r>
              <a:rPr kumimoji="0" lang="en-MY" sz="1200" dirty="0">
                <a:solidFill>
                  <a:srgbClr val="00B050"/>
                </a:solidFill>
              </a:rPr>
              <a:t>11001</a:t>
            </a:r>
            <a:r>
              <a:rPr kumimoji="0" lang="en-MY" sz="1200" baseline="-25000" dirty="0">
                <a:solidFill>
                  <a:srgbClr val="00B050"/>
                </a:solidFill>
              </a:rPr>
              <a:t>2</a:t>
            </a:r>
          </a:p>
          <a:p>
            <a:pPr fontAlgn="auto"/>
            <a:r>
              <a:rPr kumimoji="0" lang="en-MY" sz="1200" dirty="0">
                <a:solidFill>
                  <a:srgbClr val="00B050"/>
                </a:solidFill>
              </a:rPr>
              <a:t>11111</a:t>
            </a:r>
            <a:r>
              <a:rPr kumimoji="0" lang="en-MY" sz="1200" baseline="-25000" dirty="0">
                <a:solidFill>
                  <a:srgbClr val="00B050"/>
                </a:solidFill>
              </a:rPr>
              <a:t>2</a:t>
            </a:r>
          </a:p>
          <a:p>
            <a:endParaRPr lang="en-GB"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35</a:t>
            </a:fld>
            <a:endParaRPr lang="en-US" altLang="en-US"/>
          </a:p>
        </p:txBody>
      </p:sp>
    </p:spTree>
    <p:extLst>
      <p:ext uri="{BB962C8B-B14F-4D97-AF65-F5344CB8AC3E}">
        <p14:creationId xmlns:p14="http://schemas.microsoft.com/office/powerpoint/2010/main" val="1915847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36</a:t>
            </a:fld>
            <a:endParaRPr lang="en-US" altLang="en-US"/>
          </a:p>
        </p:txBody>
      </p:sp>
    </p:spTree>
    <p:extLst>
      <p:ext uri="{BB962C8B-B14F-4D97-AF65-F5344CB8AC3E}">
        <p14:creationId xmlns:p14="http://schemas.microsoft.com/office/powerpoint/2010/main" val="3885631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MY" dirty="0"/>
              <a:t>The most negative 2s complement range is  -(2</a:t>
            </a:r>
            <a:r>
              <a:rPr lang="en-MY" baseline="30000" dirty="0"/>
              <a:t>n-1</a:t>
            </a:r>
            <a:r>
              <a:rPr lang="en-MY" dirty="0"/>
              <a:t>)</a:t>
            </a:r>
          </a:p>
          <a:p>
            <a:pPr marL="0" indent="0">
              <a:buNone/>
            </a:pPr>
            <a:endParaRPr lang="en-MY" dirty="0"/>
          </a:p>
          <a:p>
            <a:pPr marL="0" indent="0">
              <a:buNone/>
            </a:pPr>
            <a:r>
              <a:rPr lang="en-MY" dirty="0"/>
              <a:t>-(2</a:t>
            </a:r>
            <a:r>
              <a:rPr lang="en-MY" baseline="30000" dirty="0"/>
              <a:t>8-1</a:t>
            </a:r>
            <a:r>
              <a:rPr lang="en-MY" baseline="0"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a:t>
            </a:r>
            <a:r>
              <a:rPr lang="en-MY" baseline="30000" dirty="0"/>
              <a:t>7</a:t>
            </a:r>
            <a:r>
              <a:rPr lang="en-MY"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-(128)</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 </a:t>
            </a:r>
            <a:r>
              <a:rPr lang="en-US" sz="1800" b="0" i="0" dirty="0">
                <a:solidFill>
                  <a:srgbClr val="242021"/>
                </a:solidFill>
                <a:effectLst/>
                <a:latin typeface="TimesTenLTStd-Roman"/>
              </a:rPr>
              <a:t>If any of the bits other than the sign bit is one, it adds a positive amount to the number</a:t>
            </a:r>
            <a:r>
              <a:rPr lang="en-US"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3. A </a:t>
            </a:r>
            <a:r>
              <a:rPr lang="en-US" sz="1800" b="0" i="0" dirty="0">
                <a:solidFill>
                  <a:srgbClr val="242021"/>
                </a:solidFill>
                <a:effectLst/>
                <a:latin typeface="TimesTenLTStd-Roman"/>
              </a:rPr>
              <a:t>negative number must have a 1 at its leftmost position and a positive number must have a 0 in that position.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dirty="0">
                <a:solidFill>
                  <a:srgbClr val="242021"/>
                </a:solidFill>
                <a:effectLst/>
                <a:latin typeface="TimesTenLTStd-Roman"/>
              </a:rPr>
              <a:t>4. Thus, the largest positive number is a 0 followed by all 1s, which equals 2</a:t>
            </a:r>
            <a:r>
              <a:rPr lang="en-US" sz="1800" b="0" i="1" dirty="0">
                <a:solidFill>
                  <a:srgbClr val="242021"/>
                </a:solidFill>
                <a:effectLst/>
                <a:latin typeface="TimesTenLTStd-Italic"/>
              </a:rPr>
              <a:t>n </a:t>
            </a:r>
            <a:r>
              <a:rPr lang="en-US" sz="1800" b="0" i="0" dirty="0">
                <a:solidFill>
                  <a:srgbClr val="242021"/>
                </a:solidFill>
                <a:effectLst/>
                <a:latin typeface="PearsonMATHPRO02"/>
              </a:rPr>
              <a:t>- </a:t>
            </a:r>
            <a:r>
              <a:rPr lang="en-US" sz="1800" b="0" i="0" dirty="0">
                <a:solidFill>
                  <a:srgbClr val="242021"/>
                </a:solidFill>
                <a:effectLst/>
                <a:latin typeface="TimesTenLTStd-Roman"/>
              </a:rPr>
              <a:t>1 </a:t>
            </a:r>
            <a:r>
              <a:rPr lang="en-US" sz="1800" b="0" i="0" dirty="0">
                <a:solidFill>
                  <a:srgbClr val="242021"/>
                </a:solidFill>
                <a:effectLst/>
                <a:latin typeface="PearsonMATHPRO02"/>
              </a:rPr>
              <a:t>- </a:t>
            </a:r>
            <a:r>
              <a:rPr lang="en-US" sz="1800" b="0" i="0" dirty="0">
                <a:solidFill>
                  <a:srgbClr val="242021"/>
                </a:solidFill>
                <a:effectLst/>
                <a:latin typeface="TimesTenLTStd-Roman"/>
              </a:rPr>
              <a:t>1.</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39</a:t>
            </a:fld>
            <a:endParaRPr lang="en-US" altLang="en-US"/>
          </a:p>
        </p:txBody>
      </p:sp>
    </p:spTree>
    <p:extLst>
      <p:ext uri="{BB962C8B-B14F-4D97-AF65-F5344CB8AC3E}">
        <p14:creationId xmlns:p14="http://schemas.microsoft.com/office/powerpoint/2010/main" val="3451856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MY" dirty="0"/>
              <a:t>The most negative 2s complement range is  -(2</a:t>
            </a:r>
            <a:r>
              <a:rPr lang="en-MY" baseline="30000" dirty="0"/>
              <a:t>n-1</a:t>
            </a:r>
            <a:r>
              <a:rPr lang="en-MY" dirty="0"/>
              <a:t>)</a:t>
            </a:r>
          </a:p>
          <a:p>
            <a:pPr marL="0" indent="0">
              <a:buNone/>
            </a:pPr>
            <a:endParaRPr lang="en-MY" dirty="0"/>
          </a:p>
          <a:p>
            <a:pPr marL="0" indent="0">
              <a:buNone/>
            </a:pPr>
            <a:r>
              <a:rPr lang="en-MY" dirty="0"/>
              <a:t>-(2</a:t>
            </a:r>
            <a:r>
              <a:rPr lang="en-MY" baseline="30000" dirty="0"/>
              <a:t>8-1</a:t>
            </a:r>
            <a:r>
              <a:rPr lang="en-MY" baseline="0"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a:t>
            </a:r>
            <a:r>
              <a:rPr lang="en-MY" baseline="30000" dirty="0"/>
              <a:t>7</a:t>
            </a:r>
            <a:r>
              <a:rPr lang="en-MY"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-(128)</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 </a:t>
            </a:r>
            <a:r>
              <a:rPr lang="en-US" sz="1800" b="0" i="0" dirty="0">
                <a:solidFill>
                  <a:srgbClr val="242021"/>
                </a:solidFill>
                <a:effectLst/>
                <a:latin typeface="TimesTenLTStd-Roman"/>
              </a:rPr>
              <a:t>If any of the bits other than the sign bit is one, it adds a positive amount to the number</a:t>
            </a:r>
            <a:r>
              <a:rPr lang="en-US"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3. A </a:t>
            </a:r>
            <a:r>
              <a:rPr lang="en-US" sz="1800" b="0" i="0" dirty="0">
                <a:solidFill>
                  <a:srgbClr val="242021"/>
                </a:solidFill>
                <a:effectLst/>
                <a:latin typeface="TimesTenLTStd-Roman"/>
              </a:rPr>
              <a:t>negative number must have a 1 at its leftmost position and a positive number must have a 0 in that position.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dirty="0">
                <a:solidFill>
                  <a:srgbClr val="242021"/>
                </a:solidFill>
                <a:effectLst/>
                <a:latin typeface="TimesTenLTStd-Roman"/>
              </a:rPr>
              <a:t>4. Thus, the largest positive number is a 0 followed by all 1s, which equals 2</a:t>
            </a:r>
            <a:r>
              <a:rPr lang="en-US" sz="1800" b="0" i="1" dirty="0">
                <a:solidFill>
                  <a:srgbClr val="242021"/>
                </a:solidFill>
                <a:effectLst/>
                <a:latin typeface="TimesTenLTStd-Italic"/>
              </a:rPr>
              <a:t>n </a:t>
            </a:r>
            <a:r>
              <a:rPr lang="en-US" sz="1800" b="0" i="0" dirty="0">
                <a:solidFill>
                  <a:srgbClr val="242021"/>
                </a:solidFill>
                <a:effectLst/>
                <a:latin typeface="PearsonMATHPRO02"/>
              </a:rPr>
              <a:t>- </a:t>
            </a:r>
            <a:r>
              <a:rPr lang="en-US" sz="1800" b="0" i="0" dirty="0">
                <a:solidFill>
                  <a:srgbClr val="242021"/>
                </a:solidFill>
                <a:effectLst/>
                <a:latin typeface="TimesTenLTStd-Roman"/>
              </a:rPr>
              <a:t>1 </a:t>
            </a:r>
            <a:r>
              <a:rPr lang="en-US" sz="1800" b="0" i="0" dirty="0">
                <a:solidFill>
                  <a:srgbClr val="242021"/>
                </a:solidFill>
                <a:effectLst/>
                <a:latin typeface="PearsonMATHPRO02"/>
              </a:rPr>
              <a:t>- </a:t>
            </a:r>
            <a:r>
              <a:rPr lang="en-US" sz="1800" b="0" i="0" dirty="0">
                <a:solidFill>
                  <a:srgbClr val="242021"/>
                </a:solidFill>
                <a:effectLst/>
                <a:latin typeface="TimesTenLTStd-Roman"/>
              </a:rPr>
              <a:t>1.</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40</a:t>
            </a:fld>
            <a:endParaRPr lang="en-US" altLang="en-US"/>
          </a:p>
        </p:txBody>
      </p:sp>
    </p:spTree>
    <p:extLst>
      <p:ext uri="{BB962C8B-B14F-4D97-AF65-F5344CB8AC3E}">
        <p14:creationId xmlns:p14="http://schemas.microsoft.com/office/powerpoint/2010/main" val="3672771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MY" dirty="0"/>
              <a:t>The most negative 2s complement range is  -(2</a:t>
            </a:r>
            <a:r>
              <a:rPr lang="en-MY" baseline="30000" dirty="0"/>
              <a:t>n-1</a:t>
            </a:r>
            <a:r>
              <a:rPr lang="en-MY" dirty="0"/>
              <a:t>)</a:t>
            </a:r>
          </a:p>
          <a:p>
            <a:pPr marL="0" indent="0">
              <a:buNone/>
            </a:pPr>
            <a:endParaRPr lang="en-MY" dirty="0"/>
          </a:p>
          <a:p>
            <a:pPr marL="0" indent="0">
              <a:buNone/>
            </a:pPr>
            <a:r>
              <a:rPr lang="en-MY" dirty="0"/>
              <a:t>-(2</a:t>
            </a:r>
            <a:r>
              <a:rPr lang="en-MY" baseline="30000" dirty="0"/>
              <a:t>8-1</a:t>
            </a:r>
            <a:r>
              <a:rPr lang="en-MY" baseline="0"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a:t>
            </a:r>
            <a:r>
              <a:rPr lang="en-MY" baseline="30000" dirty="0"/>
              <a:t>7</a:t>
            </a:r>
            <a:r>
              <a:rPr lang="en-MY"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-(128)</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 </a:t>
            </a:r>
            <a:r>
              <a:rPr lang="en-US" sz="1800" b="0" i="0" dirty="0">
                <a:solidFill>
                  <a:srgbClr val="242021"/>
                </a:solidFill>
                <a:effectLst/>
                <a:latin typeface="TimesTenLTStd-Roman"/>
              </a:rPr>
              <a:t>If any of the bits other than the sign bit is one, it adds a positive amount to the number</a:t>
            </a:r>
            <a:r>
              <a:rPr lang="en-US"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3. A </a:t>
            </a:r>
            <a:r>
              <a:rPr lang="en-US" sz="1800" b="0" i="0" dirty="0">
                <a:solidFill>
                  <a:srgbClr val="242021"/>
                </a:solidFill>
                <a:effectLst/>
                <a:latin typeface="TimesTenLTStd-Roman"/>
              </a:rPr>
              <a:t>negative number must have a 1 at its leftmost position and a positive number must have a 0 in that position.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dirty="0">
                <a:solidFill>
                  <a:srgbClr val="242021"/>
                </a:solidFill>
                <a:effectLst/>
                <a:latin typeface="TimesTenLTStd-Roman"/>
              </a:rPr>
              <a:t>4. Thus, the largest positive number is a 0 followed by all 1s, which equals 2</a:t>
            </a:r>
            <a:r>
              <a:rPr lang="en-US" sz="1800" b="0" i="1" dirty="0">
                <a:solidFill>
                  <a:srgbClr val="242021"/>
                </a:solidFill>
                <a:effectLst/>
                <a:latin typeface="TimesTenLTStd-Italic"/>
              </a:rPr>
              <a:t>n </a:t>
            </a:r>
            <a:r>
              <a:rPr lang="en-US" sz="1800" b="0" i="0" dirty="0">
                <a:solidFill>
                  <a:srgbClr val="242021"/>
                </a:solidFill>
                <a:effectLst/>
                <a:latin typeface="PearsonMATHPRO02"/>
              </a:rPr>
              <a:t>- </a:t>
            </a:r>
            <a:r>
              <a:rPr lang="en-US" sz="1800" b="0" i="0" dirty="0">
                <a:solidFill>
                  <a:srgbClr val="242021"/>
                </a:solidFill>
                <a:effectLst/>
                <a:latin typeface="TimesTenLTStd-Roman"/>
              </a:rPr>
              <a:t>1 </a:t>
            </a:r>
            <a:r>
              <a:rPr lang="en-US" sz="1800" b="0" i="0" dirty="0">
                <a:solidFill>
                  <a:srgbClr val="242021"/>
                </a:solidFill>
                <a:effectLst/>
                <a:latin typeface="PearsonMATHPRO02"/>
              </a:rPr>
              <a:t>- </a:t>
            </a:r>
            <a:r>
              <a:rPr lang="en-US" sz="1800" b="0" i="0" dirty="0">
                <a:solidFill>
                  <a:srgbClr val="242021"/>
                </a:solidFill>
                <a:effectLst/>
                <a:latin typeface="TimesTenLTStd-Roman"/>
              </a:rPr>
              <a:t>1.</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41</a:t>
            </a:fld>
            <a:endParaRPr lang="en-US" altLang="en-US"/>
          </a:p>
        </p:txBody>
      </p:sp>
    </p:spTree>
    <p:extLst>
      <p:ext uri="{BB962C8B-B14F-4D97-AF65-F5344CB8AC3E}">
        <p14:creationId xmlns:p14="http://schemas.microsoft.com/office/powerpoint/2010/main" val="2682107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MY" dirty="0"/>
              <a:t>The most negative 2s complement range is  -(2</a:t>
            </a:r>
            <a:r>
              <a:rPr lang="en-MY" baseline="30000" dirty="0"/>
              <a:t>n-1</a:t>
            </a:r>
            <a:r>
              <a:rPr lang="en-MY" dirty="0"/>
              <a:t>)</a:t>
            </a:r>
          </a:p>
          <a:p>
            <a:pPr marL="0" indent="0">
              <a:buNone/>
            </a:pPr>
            <a:endParaRPr lang="en-MY" dirty="0"/>
          </a:p>
          <a:p>
            <a:pPr marL="0" indent="0">
              <a:buNone/>
            </a:pPr>
            <a:r>
              <a:rPr lang="en-MY" dirty="0"/>
              <a:t>-(2</a:t>
            </a:r>
            <a:r>
              <a:rPr lang="en-MY" baseline="30000" dirty="0"/>
              <a:t>8-1</a:t>
            </a:r>
            <a:r>
              <a:rPr lang="en-MY" baseline="0"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a:t>
            </a:r>
            <a:r>
              <a:rPr lang="en-MY" baseline="30000" dirty="0"/>
              <a:t>7</a:t>
            </a:r>
            <a:r>
              <a:rPr lang="en-MY" dirty="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-(128)</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MY"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2. </a:t>
            </a:r>
            <a:r>
              <a:rPr lang="en-US" sz="1800" b="0" i="0" dirty="0">
                <a:solidFill>
                  <a:srgbClr val="242021"/>
                </a:solidFill>
                <a:effectLst/>
                <a:latin typeface="TimesTenLTStd-Roman"/>
              </a:rPr>
              <a:t>If any of the bits other than the sign bit is one, it adds a positive amount to the number</a:t>
            </a:r>
            <a:r>
              <a:rPr lang="en-US"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3. A </a:t>
            </a:r>
            <a:r>
              <a:rPr lang="en-US" sz="1800" b="0" i="0" dirty="0">
                <a:solidFill>
                  <a:srgbClr val="242021"/>
                </a:solidFill>
                <a:effectLst/>
                <a:latin typeface="TimesTenLTStd-Roman"/>
              </a:rPr>
              <a:t>negative number must have a 1 at its leftmost position and a positive number must have a 0 in that position.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dirty="0">
                <a:solidFill>
                  <a:srgbClr val="242021"/>
                </a:solidFill>
                <a:effectLst/>
                <a:latin typeface="TimesTenLTStd-Roman"/>
              </a:rPr>
              <a:t>4. Thus, the largest positive number is a 0 followed by all 1s, which equals 2</a:t>
            </a:r>
            <a:r>
              <a:rPr lang="en-US" sz="1800" b="0" i="1" dirty="0">
                <a:solidFill>
                  <a:srgbClr val="242021"/>
                </a:solidFill>
                <a:effectLst/>
                <a:latin typeface="TimesTenLTStd-Italic"/>
              </a:rPr>
              <a:t>n </a:t>
            </a:r>
            <a:r>
              <a:rPr lang="en-US" sz="1800" b="0" i="0" dirty="0">
                <a:solidFill>
                  <a:srgbClr val="242021"/>
                </a:solidFill>
                <a:effectLst/>
                <a:latin typeface="PearsonMATHPRO02"/>
              </a:rPr>
              <a:t>- </a:t>
            </a:r>
            <a:r>
              <a:rPr lang="en-US" sz="1800" b="0" i="0" dirty="0">
                <a:solidFill>
                  <a:srgbClr val="242021"/>
                </a:solidFill>
                <a:effectLst/>
                <a:latin typeface="TimesTenLTStd-Roman"/>
              </a:rPr>
              <a:t>1 </a:t>
            </a:r>
            <a:r>
              <a:rPr lang="en-US" sz="1800" b="0" i="0" dirty="0">
                <a:solidFill>
                  <a:srgbClr val="242021"/>
                </a:solidFill>
                <a:effectLst/>
                <a:latin typeface="PearsonMATHPRO02"/>
              </a:rPr>
              <a:t>- </a:t>
            </a:r>
            <a:r>
              <a:rPr lang="en-US" sz="1800" b="0" i="0" dirty="0">
                <a:solidFill>
                  <a:srgbClr val="242021"/>
                </a:solidFill>
                <a:effectLst/>
                <a:latin typeface="TimesTenLTStd-Roman"/>
              </a:rPr>
              <a:t>1.</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42</a:t>
            </a:fld>
            <a:endParaRPr lang="en-US" altLang="en-US"/>
          </a:p>
        </p:txBody>
      </p:sp>
    </p:spTree>
    <p:extLst>
      <p:ext uri="{BB962C8B-B14F-4D97-AF65-F5344CB8AC3E}">
        <p14:creationId xmlns:p14="http://schemas.microsoft.com/office/powerpoint/2010/main" val="581946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To subtract B from A, take the 2s complement of B and add it to A. </a:t>
            </a:r>
          </a:p>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53</a:t>
            </a:fld>
            <a:endParaRPr lang="en-US" altLang="en-US"/>
          </a:p>
        </p:txBody>
      </p:sp>
    </p:spTree>
    <p:extLst>
      <p:ext uri="{BB962C8B-B14F-4D97-AF65-F5344CB8AC3E}">
        <p14:creationId xmlns:p14="http://schemas.microsoft.com/office/powerpoint/2010/main" val="25529783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13A7-D892-0109-16D9-E8612A353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4E584-4FB7-FAAD-74ED-FB8D4CA53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E808A3-E8DB-8901-7C34-308E8DB6660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To subtract B from A, take the 2s complement of B and add it to A. </a:t>
            </a:r>
          </a:p>
          <a:p>
            <a:endParaRPr lang="en-MY" dirty="0"/>
          </a:p>
        </p:txBody>
      </p:sp>
      <p:sp>
        <p:nvSpPr>
          <p:cNvPr id="4" name="Slide Number Placeholder 3">
            <a:extLst>
              <a:ext uri="{FF2B5EF4-FFF2-40B4-BE49-F238E27FC236}">
                <a16:creationId xmlns:a16="http://schemas.microsoft.com/office/drawing/2014/main" id="{68102B4D-4892-4996-E248-C1607F87E029}"/>
              </a:ext>
            </a:extLst>
          </p:cNvPr>
          <p:cNvSpPr>
            <a:spLocks noGrp="1"/>
          </p:cNvSpPr>
          <p:nvPr>
            <p:ph type="sldNum" sz="quarter" idx="5"/>
          </p:nvPr>
        </p:nvSpPr>
        <p:spPr/>
        <p:txBody>
          <a:bodyPr/>
          <a:lstStyle/>
          <a:p>
            <a:pPr>
              <a:defRPr/>
            </a:pPr>
            <a:fld id="{46D13347-E52A-4BDD-A810-7C276D794ED3}" type="slidenum">
              <a:rPr lang="en-US" altLang="en-US" smtClean="0"/>
              <a:pPr>
                <a:defRPr/>
              </a:pPr>
              <a:t>54</a:t>
            </a:fld>
            <a:endParaRPr lang="en-US" altLang="en-US"/>
          </a:p>
        </p:txBody>
      </p:sp>
    </p:spTree>
    <p:extLst>
      <p:ext uri="{BB962C8B-B14F-4D97-AF65-F5344CB8AC3E}">
        <p14:creationId xmlns:p14="http://schemas.microsoft.com/office/powerpoint/2010/main" val="3847097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5F09E-865E-410D-60E2-73B265798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17291-5360-11DD-9614-C4863B5FB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ADF3B-781E-564B-2733-DBBCAA86B20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To subtract B from A, take the 2s complement of B and add it to A. </a:t>
            </a:r>
          </a:p>
          <a:p>
            <a:endParaRPr lang="en-MY" dirty="0"/>
          </a:p>
        </p:txBody>
      </p:sp>
      <p:sp>
        <p:nvSpPr>
          <p:cNvPr id="4" name="Slide Number Placeholder 3">
            <a:extLst>
              <a:ext uri="{FF2B5EF4-FFF2-40B4-BE49-F238E27FC236}">
                <a16:creationId xmlns:a16="http://schemas.microsoft.com/office/drawing/2014/main" id="{1DE5E0FE-5AF2-EBB0-A644-15185D9AD624}"/>
              </a:ext>
            </a:extLst>
          </p:cNvPr>
          <p:cNvSpPr>
            <a:spLocks noGrp="1"/>
          </p:cNvSpPr>
          <p:nvPr>
            <p:ph type="sldNum" sz="quarter" idx="5"/>
          </p:nvPr>
        </p:nvSpPr>
        <p:spPr/>
        <p:txBody>
          <a:bodyPr/>
          <a:lstStyle/>
          <a:p>
            <a:pPr>
              <a:defRPr/>
            </a:pPr>
            <a:fld id="{46D13347-E52A-4BDD-A810-7C276D794ED3}" type="slidenum">
              <a:rPr lang="en-US" altLang="en-US" smtClean="0"/>
              <a:pPr>
                <a:defRPr/>
              </a:pPr>
              <a:t>55</a:t>
            </a:fld>
            <a:endParaRPr lang="en-US" altLang="en-US"/>
          </a:p>
        </p:txBody>
      </p:sp>
    </p:spTree>
    <p:extLst>
      <p:ext uri="{BB962C8B-B14F-4D97-AF65-F5344CB8AC3E}">
        <p14:creationId xmlns:p14="http://schemas.microsoft.com/office/powerpoint/2010/main" val="27536410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8D9E-2D6D-384A-8BB0-9EC1F3331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CD330-08E9-C4B5-DFF1-FCAC49CF3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1456B-6F1D-3CC4-0643-9EEFCBCE992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To subtract B from A, take the 2s complement of B and add it to A. </a:t>
            </a:r>
          </a:p>
          <a:p>
            <a:endParaRPr lang="en-MY" dirty="0"/>
          </a:p>
        </p:txBody>
      </p:sp>
      <p:sp>
        <p:nvSpPr>
          <p:cNvPr id="4" name="Slide Number Placeholder 3">
            <a:extLst>
              <a:ext uri="{FF2B5EF4-FFF2-40B4-BE49-F238E27FC236}">
                <a16:creationId xmlns:a16="http://schemas.microsoft.com/office/drawing/2014/main" id="{BF9C9A51-D6B2-E0A9-A89D-32A094C1C1D4}"/>
              </a:ext>
            </a:extLst>
          </p:cNvPr>
          <p:cNvSpPr>
            <a:spLocks noGrp="1"/>
          </p:cNvSpPr>
          <p:nvPr>
            <p:ph type="sldNum" sz="quarter" idx="5"/>
          </p:nvPr>
        </p:nvSpPr>
        <p:spPr/>
        <p:txBody>
          <a:bodyPr/>
          <a:lstStyle/>
          <a:p>
            <a:pPr>
              <a:defRPr/>
            </a:pPr>
            <a:fld id="{46D13347-E52A-4BDD-A810-7C276D794ED3}" type="slidenum">
              <a:rPr lang="en-US" altLang="en-US" smtClean="0"/>
              <a:pPr>
                <a:defRPr/>
              </a:pPr>
              <a:t>56</a:t>
            </a:fld>
            <a:endParaRPr lang="en-US" altLang="en-US"/>
          </a:p>
        </p:txBody>
      </p:sp>
    </p:spTree>
    <p:extLst>
      <p:ext uri="{BB962C8B-B14F-4D97-AF65-F5344CB8AC3E}">
        <p14:creationId xmlns:p14="http://schemas.microsoft.com/office/powerpoint/2010/main" val="3224985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CD7C8-B4C9-31A1-135C-CA22A5691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B217B-9252-F5FE-89C4-744060172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25AD1-9473-49ED-83B6-8ECFBBB58C82}"/>
              </a:ext>
            </a:extLst>
          </p:cNvPr>
          <p:cNvSpPr>
            <a:spLocks noGrp="1"/>
          </p:cNvSpPr>
          <p:nvPr>
            <p:ph type="body" idx="1"/>
          </p:nvPr>
        </p:nvSpPr>
        <p:spPr/>
        <p:txBody>
          <a:bodyPr/>
          <a:lstStyle/>
          <a:p>
            <a:r>
              <a:rPr lang="en-MY" dirty="0">
                <a:solidFill>
                  <a:srgbClr val="00B050"/>
                </a:solidFill>
              </a:rPr>
              <a:t>104 + 45 = 149 = </a:t>
            </a:r>
            <a:r>
              <a:rPr lang="en-MY" b="1" i="0" dirty="0">
                <a:solidFill>
                  <a:srgbClr val="333333"/>
                </a:solidFill>
                <a:effectLst/>
                <a:latin typeface="Untitled Sans"/>
              </a:rPr>
              <a:t>10010101</a:t>
            </a:r>
            <a:endParaRPr lang="en-MY" dirty="0"/>
          </a:p>
        </p:txBody>
      </p:sp>
      <p:sp>
        <p:nvSpPr>
          <p:cNvPr id="4" name="Slide Number Placeholder 3">
            <a:extLst>
              <a:ext uri="{FF2B5EF4-FFF2-40B4-BE49-F238E27FC236}">
                <a16:creationId xmlns:a16="http://schemas.microsoft.com/office/drawing/2014/main" id="{82160649-8414-B245-A977-66581488C569}"/>
              </a:ext>
            </a:extLst>
          </p:cNvPr>
          <p:cNvSpPr>
            <a:spLocks noGrp="1"/>
          </p:cNvSpPr>
          <p:nvPr>
            <p:ph type="sldNum" sz="quarter" idx="5"/>
          </p:nvPr>
        </p:nvSpPr>
        <p:spPr/>
        <p:txBody>
          <a:bodyPr/>
          <a:lstStyle/>
          <a:p>
            <a:pPr>
              <a:defRPr/>
            </a:pPr>
            <a:fld id="{46D13347-E52A-4BDD-A810-7C276D794ED3}" type="slidenum">
              <a:rPr lang="en-US" altLang="en-US" smtClean="0"/>
              <a:pPr>
                <a:defRPr/>
              </a:pPr>
              <a:t>57</a:t>
            </a:fld>
            <a:endParaRPr lang="en-US" altLang="en-US"/>
          </a:p>
        </p:txBody>
      </p:sp>
    </p:spTree>
    <p:extLst>
      <p:ext uri="{BB962C8B-B14F-4D97-AF65-F5344CB8AC3E}">
        <p14:creationId xmlns:p14="http://schemas.microsoft.com/office/powerpoint/2010/main" val="2802334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carry bit is not produced, then the result is negative and in its 2s complement form </a:t>
            </a:r>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62</a:t>
            </a:fld>
            <a:endParaRPr lang="en-US" altLang="en-US"/>
          </a:p>
        </p:txBody>
      </p:sp>
    </p:spTree>
    <p:extLst>
      <p:ext uri="{BB962C8B-B14F-4D97-AF65-F5344CB8AC3E}">
        <p14:creationId xmlns:p14="http://schemas.microsoft.com/office/powerpoint/2010/main" val="2320587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38F95-1993-62D4-9C5C-77A06D31D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CB789-EEBF-5181-1CA7-140747981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3A451-610A-ACD2-A1F7-13FC1F5C3033}"/>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3222B4C1-8A45-138F-E3A3-76F49EB7A687}"/>
              </a:ext>
            </a:extLst>
          </p:cNvPr>
          <p:cNvSpPr>
            <a:spLocks noGrp="1"/>
          </p:cNvSpPr>
          <p:nvPr>
            <p:ph type="sldNum" sz="quarter" idx="5"/>
          </p:nvPr>
        </p:nvSpPr>
        <p:spPr/>
        <p:txBody>
          <a:bodyPr/>
          <a:lstStyle/>
          <a:p>
            <a:pPr>
              <a:defRPr/>
            </a:pPr>
            <a:fld id="{46D13347-E52A-4BDD-A810-7C276D794ED3}" type="slidenum">
              <a:rPr lang="en-US" altLang="en-US" smtClean="0"/>
              <a:pPr>
                <a:defRPr/>
              </a:pPr>
              <a:t>63</a:t>
            </a:fld>
            <a:endParaRPr lang="en-US" altLang="en-US"/>
          </a:p>
        </p:txBody>
      </p:sp>
    </p:spTree>
    <p:extLst>
      <p:ext uri="{BB962C8B-B14F-4D97-AF65-F5344CB8AC3E}">
        <p14:creationId xmlns:p14="http://schemas.microsoft.com/office/powerpoint/2010/main" val="1044464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99CE4-DADF-8513-B03D-F7E4F9A62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07959-4636-349C-7706-1D62DE0BF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F3CF6-F1B9-D0B7-4C25-4994E5ED4F35}"/>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BB3E1B80-B586-EA8C-1F8A-906A1B3CC98D}"/>
              </a:ext>
            </a:extLst>
          </p:cNvPr>
          <p:cNvSpPr>
            <a:spLocks noGrp="1"/>
          </p:cNvSpPr>
          <p:nvPr>
            <p:ph type="sldNum" sz="quarter" idx="5"/>
          </p:nvPr>
        </p:nvSpPr>
        <p:spPr/>
        <p:txBody>
          <a:bodyPr/>
          <a:lstStyle/>
          <a:p>
            <a:pPr>
              <a:defRPr/>
            </a:pPr>
            <a:fld id="{46D13347-E52A-4BDD-A810-7C276D794ED3}" type="slidenum">
              <a:rPr lang="en-US" altLang="en-US" smtClean="0"/>
              <a:pPr>
                <a:defRPr/>
              </a:pPr>
              <a:t>64</a:t>
            </a:fld>
            <a:endParaRPr lang="en-US" altLang="en-US"/>
          </a:p>
        </p:txBody>
      </p:sp>
    </p:spTree>
    <p:extLst>
      <p:ext uri="{BB962C8B-B14F-4D97-AF65-F5344CB8AC3E}">
        <p14:creationId xmlns:p14="http://schemas.microsoft.com/office/powerpoint/2010/main" val="3361154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3AF00-DD91-ED25-DFD3-450F1D16F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EC48B-5A7E-7806-E0D2-AD4A267DB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8DBD6-208C-1495-D14F-0BA76BD3894D}"/>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842A6FDB-7711-917A-65D7-C1C756CFB1FB}"/>
              </a:ext>
            </a:extLst>
          </p:cNvPr>
          <p:cNvSpPr>
            <a:spLocks noGrp="1"/>
          </p:cNvSpPr>
          <p:nvPr>
            <p:ph type="sldNum" sz="quarter" idx="5"/>
          </p:nvPr>
        </p:nvSpPr>
        <p:spPr/>
        <p:txBody>
          <a:bodyPr/>
          <a:lstStyle/>
          <a:p>
            <a:pPr>
              <a:defRPr/>
            </a:pPr>
            <a:fld id="{46D13347-E52A-4BDD-A810-7C276D794ED3}" type="slidenum">
              <a:rPr lang="en-US" altLang="en-US" smtClean="0"/>
              <a:pPr>
                <a:defRPr/>
              </a:pPr>
              <a:t>65</a:t>
            </a:fld>
            <a:endParaRPr lang="en-US" altLang="en-US"/>
          </a:p>
        </p:txBody>
      </p:sp>
    </p:spTree>
    <p:extLst>
      <p:ext uri="{BB962C8B-B14F-4D97-AF65-F5344CB8AC3E}">
        <p14:creationId xmlns:p14="http://schemas.microsoft.com/office/powerpoint/2010/main" val="42242054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9F638-42FE-A1E6-CD68-D7A8ECFE7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A2DEB-3956-BD9C-6169-CCFD091BE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6CBD9-D62A-D29C-4340-271E46C68336}"/>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EAC50723-93C6-AAD7-F384-052F42DD1CE4}"/>
              </a:ext>
            </a:extLst>
          </p:cNvPr>
          <p:cNvSpPr>
            <a:spLocks noGrp="1"/>
          </p:cNvSpPr>
          <p:nvPr>
            <p:ph type="sldNum" sz="quarter" idx="5"/>
          </p:nvPr>
        </p:nvSpPr>
        <p:spPr/>
        <p:txBody>
          <a:bodyPr/>
          <a:lstStyle/>
          <a:p>
            <a:pPr>
              <a:defRPr/>
            </a:pPr>
            <a:fld id="{46D13347-E52A-4BDD-A810-7C276D794ED3}" type="slidenum">
              <a:rPr lang="en-US" altLang="en-US" smtClean="0"/>
              <a:pPr>
                <a:defRPr/>
              </a:pPr>
              <a:t>66</a:t>
            </a:fld>
            <a:endParaRPr lang="en-US" altLang="en-US"/>
          </a:p>
        </p:txBody>
      </p:sp>
    </p:spTree>
    <p:extLst>
      <p:ext uri="{BB962C8B-B14F-4D97-AF65-F5344CB8AC3E}">
        <p14:creationId xmlns:p14="http://schemas.microsoft.com/office/powerpoint/2010/main" val="27883416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45B9-719F-474E-199B-5AEDFBBC1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4FB41-841B-3D40-E969-3DF7BA0E2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99DEC-91C7-7909-7E1C-1E6E76F75F3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To subtract B from A, take the 2s complement of B and add it to A. </a:t>
            </a:r>
          </a:p>
          <a:p>
            <a:endParaRPr lang="en-MY" dirty="0"/>
          </a:p>
        </p:txBody>
      </p:sp>
      <p:sp>
        <p:nvSpPr>
          <p:cNvPr id="4" name="Slide Number Placeholder 3">
            <a:extLst>
              <a:ext uri="{FF2B5EF4-FFF2-40B4-BE49-F238E27FC236}">
                <a16:creationId xmlns:a16="http://schemas.microsoft.com/office/drawing/2014/main" id="{66176FB6-874D-C390-266F-5AD1A58244EE}"/>
              </a:ext>
            </a:extLst>
          </p:cNvPr>
          <p:cNvSpPr>
            <a:spLocks noGrp="1"/>
          </p:cNvSpPr>
          <p:nvPr>
            <p:ph type="sldNum" sz="quarter" idx="5"/>
          </p:nvPr>
        </p:nvSpPr>
        <p:spPr/>
        <p:txBody>
          <a:bodyPr/>
          <a:lstStyle/>
          <a:p>
            <a:pPr>
              <a:defRPr/>
            </a:pPr>
            <a:fld id="{46D13347-E52A-4BDD-A810-7C276D794ED3}" type="slidenum">
              <a:rPr lang="en-US" altLang="en-US" smtClean="0"/>
              <a:pPr>
                <a:defRPr/>
              </a:pPr>
              <a:t>67</a:t>
            </a:fld>
            <a:endParaRPr lang="en-US" altLang="en-US"/>
          </a:p>
        </p:txBody>
      </p:sp>
    </p:spTree>
    <p:extLst>
      <p:ext uri="{BB962C8B-B14F-4D97-AF65-F5344CB8AC3E}">
        <p14:creationId xmlns:p14="http://schemas.microsoft.com/office/powerpoint/2010/main" val="40793104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56E29-CC95-7CD4-2F6D-6366B94E8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39B95-DD21-4A46-6B28-18578A7C1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63F5F2-CC6E-96AE-8D75-362D7000ED56}"/>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EA1AE9F0-B081-6436-215B-3BE0AB76D858}"/>
              </a:ext>
            </a:extLst>
          </p:cNvPr>
          <p:cNvSpPr>
            <a:spLocks noGrp="1"/>
          </p:cNvSpPr>
          <p:nvPr>
            <p:ph type="sldNum" sz="quarter" idx="5"/>
          </p:nvPr>
        </p:nvSpPr>
        <p:spPr/>
        <p:txBody>
          <a:bodyPr/>
          <a:lstStyle/>
          <a:p>
            <a:pPr>
              <a:defRPr/>
            </a:pPr>
            <a:fld id="{46D13347-E52A-4BDD-A810-7C276D794ED3}" type="slidenum">
              <a:rPr lang="en-US" altLang="en-US" smtClean="0"/>
              <a:pPr>
                <a:defRPr/>
              </a:pPr>
              <a:t>68</a:t>
            </a:fld>
            <a:endParaRPr lang="en-US" altLang="en-US"/>
          </a:p>
        </p:txBody>
      </p:sp>
    </p:spTree>
    <p:extLst>
      <p:ext uri="{BB962C8B-B14F-4D97-AF65-F5344CB8AC3E}">
        <p14:creationId xmlns:p14="http://schemas.microsoft.com/office/powerpoint/2010/main" val="23543311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1AA4C-DC19-D196-5FCD-F3C52BFF2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1DF0C-322F-4AD5-0259-0DF11CCF8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E8925-1068-6A5C-B0B4-9CC2F6044A66}"/>
              </a:ext>
            </a:extLst>
          </p:cNvPr>
          <p:cNvSpPr>
            <a:spLocks noGrp="1"/>
          </p:cNvSpPr>
          <p:nvPr>
            <p:ph type="body" idx="1"/>
          </p:nvPr>
        </p:nvSpPr>
        <p:spPr/>
        <p:txBody>
          <a:bodyPr/>
          <a:lstStyle/>
          <a:p>
            <a:pPr marL="0" indent="0" fontAlgn="auto">
              <a:buNone/>
            </a:pPr>
            <a:r>
              <a:rPr kumimoji="0" lang="en-US" sz="1200" b="1" dirty="0"/>
              <a:t>If the carry bit is generated and the result is positive, and in its true form</a:t>
            </a:r>
          </a:p>
          <a:p>
            <a:pPr marL="0" indent="0" fontAlgn="auto">
              <a:buNone/>
            </a:pPr>
            <a:r>
              <a:rPr kumimoji="0" lang="en-US" sz="1200" b="1" dirty="0"/>
              <a:t>If the carry bit is generated and the result is negative, we ignore the carry bit </a:t>
            </a:r>
          </a:p>
          <a:p>
            <a:pPr marL="0" indent="0" fontAlgn="auto">
              <a:buNone/>
            </a:pPr>
            <a:r>
              <a:rPr kumimoji="0" lang="en-US" sz="1200" b="1" dirty="0"/>
              <a:t>If carry bit is not produced, then the result is negative and in its 2s complement form </a:t>
            </a:r>
            <a:endParaRPr lang="en-MY" dirty="0"/>
          </a:p>
          <a:p>
            <a:endParaRPr lang="en-MY" dirty="0"/>
          </a:p>
        </p:txBody>
      </p:sp>
      <p:sp>
        <p:nvSpPr>
          <p:cNvPr id="4" name="Slide Number Placeholder 3">
            <a:extLst>
              <a:ext uri="{FF2B5EF4-FFF2-40B4-BE49-F238E27FC236}">
                <a16:creationId xmlns:a16="http://schemas.microsoft.com/office/drawing/2014/main" id="{F7A0C299-7973-4B9C-8AB4-CECADAADA40D}"/>
              </a:ext>
            </a:extLst>
          </p:cNvPr>
          <p:cNvSpPr>
            <a:spLocks noGrp="1"/>
          </p:cNvSpPr>
          <p:nvPr>
            <p:ph type="sldNum" sz="quarter" idx="5"/>
          </p:nvPr>
        </p:nvSpPr>
        <p:spPr/>
        <p:txBody>
          <a:bodyPr/>
          <a:lstStyle/>
          <a:p>
            <a:pPr>
              <a:defRPr/>
            </a:pPr>
            <a:fld id="{46D13347-E52A-4BDD-A810-7C276D794ED3}" type="slidenum">
              <a:rPr lang="en-US" altLang="en-US" smtClean="0"/>
              <a:pPr>
                <a:defRPr/>
              </a:pPr>
              <a:t>69</a:t>
            </a:fld>
            <a:endParaRPr lang="en-US" altLang="en-US"/>
          </a:p>
        </p:txBody>
      </p:sp>
    </p:spTree>
    <p:extLst>
      <p:ext uri="{BB962C8B-B14F-4D97-AF65-F5344CB8AC3E}">
        <p14:creationId xmlns:p14="http://schemas.microsoft.com/office/powerpoint/2010/main" val="3975613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70</a:t>
            </a:fld>
            <a:endParaRPr lang="en-US" altLang="en-US"/>
          </a:p>
        </p:txBody>
      </p:sp>
    </p:spTree>
    <p:extLst>
      <p:ext uri="{BB962C8B-B14F-4D97-AF65-F5344CB8AC3E}">
        <p14:creationId xmlns:p14="http://schemas.microsoft.com/office/powerpoint/2010/main" val="40899857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5EB986BB-308A-1CED-C794-4B6796BEF2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E3AD5551-8565-4A2B-B4AD-F0721AA05315}" type="slidenum">
              <a:rPr kumimoji="0" lang="en-US" altLang="en-US" sz="1200" smtClean="0">
                <a:latin typeface="Times New Roman" panose="02020603050405020304" pitchFamily="18" charset="0"/>
              </a:rPr>
              <a:pPr/>
              <a:t>71</a:t>
            </a:fld>
            <a:endParaRPr kumimoji="0" lang="en-US" altLang="en-US" sz="1200">
              <a:latin typeface="Times New Roman" panose="02020603050405020304" pitchFamily="18" charset="0"/>
            </a:endParaRPr>
          </a:p>
        </p:txBody>
      </p:sp>
      <p:sp>
        <p:nvSpPr>
          <p:cNvPr id="67587" name="Rectangle 7">
            <a:extLst>
              <a:ext uri="{FF2B5EF4-FFF2-40B4-BE49-F238E27FC236}">
                <a16:creationId xmlns:a16="http://schemas.microsoft.com/office/drawing/2014/main" id="{09D26138-1DFA-6060-409A-B10D73D9EE2F}"/>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62867424-9246-4B3F-961D-49D6325B4F17}" type="slidenum">
              <a:rPr kumimoji="0" lang="en-US" altLang="en-US" sz="1200">
                <a:latin typeface="Times New Roman" panose="02020603050405020304" pitchFamily="18" charset="0"/>
              </a:rPr>
              <a:pPr algn="r"/>
              <a:t>71</a:t>
            </a:fld>
            <a:endParaRPr kumimoji="0" lang="en-US" altLang="en-US" sz="1200">
              <a:latin typeface="Times New Roman" panose="02020603050405020304" pitchFamily="18" charset="0"/>
            </a:endParaRPr>
          </a:p>
        </p:txBody>
      </p:sp>
      <p:sp>
        <p:nvSpPr>
          <p:cNvPr id="67588" name="Rectangle 2">
            <a:extLst>
              <a:ext uri="{FF2B5EF4-FFF2-40B4-BE49-F238E27FC236}">
                <a16:creationId xmlns:a16="http://schemas.microsoft.com/office/drawing/2014/main" id="{ABFCE4E7-9D09-647E-4AB5-B629AF6904AF}"/>
              </a:ext>
            </a:extLst>
          </p:cNvPr>
          <p:cNvSpPr>
            <a:spLocks noGrp="1" noRot="1" noChangeAspect="1" noChangeArrowheads="1" noTextEdit="1"/>
          </p:cNvSpPr>
          <p:nvPr>
            <p:ph type="sldImg"/>
          </p:nvPr>
        </p:nvSpPr>
        <p:spPr>
          <a:ln/>
        </p:spPr>
      </p:sp>
      <p:sp>
        <p:nvSpPr>
          <p:cNvPr id="67589" name="Rectangle 3">
            <a:extLst>
              <a:ext uri="{FF2B5EF4-FFF2-40B4-BE49-F238E27FC236}">
                <a16:creationId xmlns:a16="http://schemas.microsoft.com/office/drawing/2014/main" id="{56466405-AF58-1194-5336-68285ED6A3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lstStyle/>
          <a:p>
            <a:pPr marL="285750" indent="-285750">
              <a:buFont typeface="Arial" panose="020B0604020202020204" pitchFamily="34" charset="0"/>
              <a:buChar char="•"/>
            </a:pPr>
            <a:r>
              <a:rPr lang="en-US" sz="1800" b="0" i="0" dirty="0">
                <a:solidFill>
                  <a:srgbClr val="242021"/>
                </a:solidFill>
                <a:effectLst/>
                <a:latin typeface="TimesTenLTStd-Roman"/>
              </a:rPr>
              <a:t>Figure suggests the data paths and hardware elements needed to accomplish addition and subtraction. </a:t>
            </a:r>
          </a:p>
          <a:p>
            <a:pPr marL="285750" indent="-285750">
              <a:buFont typeface="Arial" panose="020B0604020202020204" pitchFamily="34" charset="0"/>
              <a:buChar char="•"/>
            </a:pPr>
            <a:r>
              <a:rPr lang="en-US" sz="1800" b="0" i="0" dirty="0">
                <a:solidFill>
                  <a:srgbClr val="242021"/>
                </a:solidFill>
                <a:effectLst/>
                <a:latin typeface="TimesTenLTStd-Roman"/>
              </a:rPr>
              <a:t>The central element is a binary adder, which is presented two numbers for addition and produces a sum and an overflow indication. </a:t>
            </a:r>
          </a:p>
          <a:p>
            <a:pPr marL="285750" indent="-285750">
              <a:buFont typeface="Arial" panose="020B0604020202020204" pitchFamily="34" charset="0"/>
              <a:buChar char="•"/>
            </a:pPr>
            <a:r>
              <a:rPr lang="en-US" sz="1800" b="0" i="0" dirty="0">
                <a:solidFill>
                  <a:srgbClr val="242021"/>
                </a:solidFill>
                <a:effectLst/>
                <a:latin typeface="TimesTenLTStd-Roman"/>
              </a:rPr>
              <a:t>The binary adder treats the two numbers as unsigned integers. </a:t>
            </a:r>
          </a:p>
          <a:p>
            <a:pPr marL="285750" indent="-285750">
              <a:buFont typeface="Arial" panose="020B0604020202020204" pitchFamily="34" charset="0"/>
              <a:buChar char="•"/>
            </a:pPr>
            <a:r>
              <a:rPr lang="en-US" sz="1800" b="0" i="0" dirty="0">
                <a:solidFill>
                  <a:srgbClr val="242021"/>
                </a:solidFill>
                <a:effectLst/>
                <a:latin typeface="TimesTenLTStd-Roman"/>
              </a:rPr>
              <a:t>For addition, the two numbers are presented to the adder from two registers, designated in this case as </a:t>
            </a:r>
            <a:r>
              <a:rPr lang="en-US" sz="1800" b="1" i="0" dirty="0">
                <a:solidFill>
                  <a:srgbClr val="242021"/>
                </a:solidFill>
                <a:effectLst/>
                <a:latin typeface="TimesTenLTStd-Bold"/>
              </a:rPr>
              <a:t>A </a:t>
            </a:r>
            <a:r>
              <a:rPr lang="en-US" sz="1800" b="0" i="0" dirty="0">
                <a:solidFill>
                  <a:srgbClr val="242021"/>
                </a:solidFill>
                <a:effectLst/>
                <a:latin typeface="TimesTenLTStd-Roman"/>
              </a:rPr>
              <a:t>and </a:t>
            </a:r>
            <a:r>
              <a:rPr lang="en-US" sz="1800" b="1" i="0" dirty="0">
                <a:solidFill>
                  <a:srgbClr val="242021"/>
                </a:solidFill>
                <a:effectLst/>
                <a:latin typeface="TimesTenLTStd-Bold"/>
              </a:rPr>
              <a:t>B </a:t>
            </a:r>
            <a:r>
              <a:rPr lang="en-US" sz="1800" b="0" i="0" dirty="0">
                <a:solidFill>
                  <a:srgbClr val="242021"/>
                </a:solidFill>
                <a:effectLst/>
                <a:latin typeface="TimesTenLTStd-Roman"/>
              </a:rPr>
              <a:t>registers. </a:t>
            </a:r>
          </a:p>
          <a:p>
            <a:pPr marL="285750" indent="-285750">
              <a:buFont typeface="Arial" panose="020B0604020202020204" pitchFamily="34" charset="0"/>
              <a:buChar char="•"/>
            </a:pPr>
            <a:r>
              <a:rPr lang="en-US" sz="1800" b="0" i="0" dirty="0">
                <a:solidFill>
                  <a:srgbClr val="242021"/>
                </a:solidFill>
                <a:effectLst/>
                <a:latin typeface="TimesTenLTStd-Roman"/>
              </a:rPr>
              <a:t>The result may be stored in one of these registers or in a third. </a:t>
            </a:r>
          </a:p>
          <a:p>
            <a:pPr marL="285750" indent="-285750">
              <a:buFont typeface="Arial" panose="020B0604020202020204" pitchFamily="34" charset="0"/>
              <a:buChar char="•"/>
            </a:pPr>
            <a:r>
              <a:rPr lang="en-US" sz="1800" b="0" i="0" dirty="0">
                <a:solidFill>
                  <a:srgbClr val="242021"/>
                </a:solidFill>
                <a:effectLst/>
                <a:latin typeface="TimesTenLTStd-Roman"/>
              </a:rPr>
              <a:t>The overflow indication is stored in a 1-bit overflow flag (0 </a:t>
            </a:r>
            <a:r>
              <a:rPr lang="en-US" sz="1800" b="0" i="0" dirty="0">
                <a:solidFill>
                  <a:srgbClr val="242021"/>
                </a:solidFill>
                <a:effectLst/>
                <a:latin typeface="PearsonMATHPRO08"/>
              </a:rPr>
              <a:t>= </a:t>
            </a:r>
            <a:r>
              <a:rPr lang="en-US" sz="1800" b="0" i="0" dirty="0">
                <a:solidFill>
                  <a:srgbClr val="242021"/>
                </a:solidFill>
                <a:effectLst/>
                <a:latin typeface="TimesTenLTStd-Roman"/>
              </a:rPr>
              <a:t>no overflow; 1 </a:t>
            </a:r>
            <a:r>
              <a:rPr lang="en-US" sz="1800" b="0" i="0" dirty="0">
                <a:solidFill>
                  <a:srgbClr val="242021"/>
                </a:solidFill>
                <a:effectLst/>
                <a:latin typeface="PearsonMATHPRO08"/>
              </a:rPr>
              <a:t>= </a:t>
            </a:r>
            <a:r>
              <a:rPr lang="en-US" sz="1800" b="0" i="0" dirty="0">
                <a:solidFill>
                  <a:srgbClr val="242021"/>
                </a:solidFill>
                <a:effectLst/>
                <a:latin typeface="TimesTenLTStd-Roman"/>
              </a:rPr>
              <a:t>overflow). For subtraction, the subtrahend (</a:t>
            </a:r>
            <a:r>
              <a:rPr lang="en-US" sz="1800" b="1" i="0" dirty="0">
                <a:solidFill>
                  <a:srgbClr val="242021"/>
                </a:solidFill>
                <a:effectLst/>
                <a:latin typeface="TimesTenLTStd-Bold"/>
              </a:rPr>
              <a:t>B </a:t>
            </a:r>
            <a:r>
              <a:rPr lang="en-US" sz="1800" b="0" i="0" dirty="0">
                <a:solidFill>
                  <a:srgbClr val="242021"/>
                </a:solidFill>
                <a:effectLst/>
                <a:latin typeface="TimesTenLTStd-Roman"/>
              </a:rPr>
              <a:t>register) is passed through a twos </a:t>
            </a:r>
            <a:r>
              <a:rPr lang="en-US" sz="1800" b="0" i="0" dirty="0" err="1">
                <a:solidFill>
                  <a:srgbClr val="242021"/>
                </a:solidFill>
                <a:effectLst/>
                <a:latin typeface="TimesTenLTStd-Roman"/>
              </a:rPr>
              <a:t>complementer</a:t>
            </a:r>
            <a:r>
              <a:rPr lang="en-US" sz="1800" b="0" i="0" dirty="0">
                <a:solidFill>
                  <a:srgbClr val="242021"/>
                </a:solidFill>
                <a:effectLst/>
                <a:latin typeface="TimesTenLTStd-Roman"/>
              </a:rPr>
              <a:t> so that its twos complement is presented to the adder. </a:t>
            </a:r>
          </a:p>
          <a:p>
            <a:pPr marL="285750" indent="-285750">
              <a:buFont typeface="Arial" panose="020B0604020202020204" pitchFamily="34" charset="0"/>
              <a:buChar char="•"/>
            </a:pPr>
            <a:r>
              <a:rPr lang="en-US" sz="1800" b="0" i="0" dirty="0">
                <a:solidFill>
                  <a:srgbClr val="242021"/>
                </a:solidFill>
                <a:effectLst/>
                <a:latin typeface="TimesTenLTStd-Roman"/>
              </a:rPr>
              <a:t>Control signals are needed to control whether or not the </a:t>
            </a:r>
            <a:r>
              <a:rPr lang="en-US" sz="1800" b="0" i="0" dirty="0" err="1">
                <a:solidFill>
                  <a:srgbClr val="242021"/>
                </a:solidFill>
                <a:effectLst/>
                <a:latin typeface="TimesTenLTStd-Roman"/>
              </a:rPr>
              <a:t>complementer</a:t>
            </a:r>
            <a:r>
              <a:rPr lang="en-US" sz="1800" b="0" i="0" dirty="0">
                <a:solidFill>
                  <a:srgbClr val="242021"/>
                </a:solidFill>
                <a:effectLst/>
                <a:latin typeface="TimesTenLTStd-Roman"/>
              </a:rPr>
              <a:t> is used, depending on whether the operation is addition or subtraction.</a:t>
            </a:r>
            <a:r>
              <a:rPr lang="en-US" dirty="0"/>
              <a:t> </a:t>
            </a:r>
            <a:br>
              <a:rPr lang="en-US" dirty="0"/>
            </a:br>
            <a:br>
              <a:rPr lang="en-US" dirty="0"/>
            </a:br>
            <a:br>
              <a:rPr lang="en-US" dirty="0"/>
            </a:br>
            <a:endParaRPr lang="en-GB"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Arithmetic Unit:</a:t>
            </a:r>
            <a:r>
              <a:rPr lang="en-US" b="0" i="0" dirty="0">
                <a:solidFill>
                  <a:srgbClr val="374151"/>
                </a:solidFill>
                <a:effectLst/>
                <a:latin typeface="Söhne"/>
              </a:rPr>
              <a:t> This is the main processing unit responsible for performing addition and subtraction operations. It consists of both an adder and a subtractor.</a:t>
            </a:r>
          </a:p>
          <a:p>
            <a:pPr algn="l">
              <a:buFont typeface="+mj-lt"/>
              <a:buAutoNum type="arabicPeriod"/>
            </a:pPr>
            <a:r>
              <a:rPr lang="en-US" b="1" i="0" dirty="0">
                <a:solidFill>
                  <a:srgbClr val="374151"/>
                </a:solidFill>
                <a:effectLst/>
                <a:latin typeface="Söhne"/>
              </a:rPr>
              <a:t>Adder:</a:t>
            </a:r>
            <a:r>
              <a:rPr lang="en-US" b="0" i="0" dirty="0">
                <a:solidFill>
                  <a:srgbClr val="374151"/>
                </a:solidFill>
                <a:effectLst/>
                <a:latin typeface="Söhne"/>
              </a:rPr>
              <a:t> The adder is a component that performs addition operations. It takes input from input ports and produces the sum as output.</a:t>
            </a:r>
          </a:p>
          <a:p>
            <a:pPr algn="l">
              <a:buFont typeface="+mj-lt"/>
              <a:buAutoNum type="arabicPeriod"/>
            </a:pPr>
            <a:r>
              <a:rPr lang="en-US" b="1" i="0" dirty="0">
                <a:solidFill>
                  <a:srgbClr val="374151"/>
                </a:solidFill>
                <a:effectLst/>
                <a:latin typeface="Söhne"/>
              </a:rPr>
              <a:t>Subtractor:</a:t>
            </a:r>
            <a:r>
              <a:rPr lang="en-US" b="0" i="0" dirty="0">
                <a:solidFill>
                  <a:srgbClr val="374151"/>
                </a:solidFill>
                <a:effectLst/>
                <a:latin typeface="Söhne"/>
              </a:rPr>
              <a:t> The subtractor is a component that performs subtraction operations. It also takes input from input ports and produces the difference as output.</a:t>
            </a:r>
          </a:p>
          <a:p>
            <a:pPr algn="l">
              <a:buFont typeface="+mj-lt"/>
              <a:buAutoNum type="arabicPeriod"/>
            </a:pPr>
            <a:r>
              <a:rPr lang="en-US" b="1" i="0" dirty="0">
                <a:solidFill>
                  <a:srgbClr val="374151"/>
                </a:solidFill>
                <a:effectLst/>
                <a:latin typeface="Söhne"/>
              </a:rPr>
              <a:t>Input Ports:</a:t>
            </a:r>
            <a:r>
              <a:rPr lang="en-US" b="0" i="0" dirty="0">
                <a:solidFill>
                  <a:srgbClr val="374151"/>
                </a:solidFill>
                <a:effectLst/>
                <a:latin typeface="Söhne"/>
              </a:rPr>
              <a:t> These are the interfaces through which the numbers to be added or subtracted are provided to the arithmetic unit.</a:t>
            </a:r>
          </a:p>
          <a:p>
            <a:pPr algn="l">
              <a:buFont typeface="+mj-lt"/>
              <a:buAutoNum type="arabicPeriod"/>
            </a:pPr>
            <a:r>
              <a:rPr lang="en-US" b="1" i="0" dirty="0">
                <a:solidFill>
                  <a:srgbClr val="374151"/>
                </a:solidFill>
                <a:effectLst/>
                <a:latin typeface="Söhne"/>
              </a:rPr>
              <a:t>Multiplexer:</a:t>
            </a:r>
            <a:r>
              <a:rPr lang="en-US" b="0" i="0" dirty="0">
                <a:solidFill>
                  <a:srgbClr val="374151"/>
                </a:solidFill>
                <a:effectLst/>
                <a:latin typeface="Söhne"/>
              </a:rPr>
              <a:t> The multiplexer is used to select whether to perform addition or subtraction based on the control signals. It directs the input to either the adder or the subtractor.</a:t>
            </a:r>
          </a:p>
          <a:p>
            <a:pPr algn="l">
              <a:buFont typeface="+mj-lt"/>
              <a:buAutoNum type="arabicPeriod"/>
            </a:pPr>
            <a:r>
              <a:rPr lang="en-US" b="1" i="0" dirty="0">
                <a:solidFill>
                  <a:srgbClr val="374151"/>
                </a:solidFill>
                <a:effectLst/>
                <a:latin typeface="Söhne"/>
              </a:rPr>
              <a:t>Output Port:</a:t>
            </a:r>
            <a:r>
              <a:rPr lang="en-US" b="0" i="0" dirty="0">
                <a:solidFill>
                  <a:srgbClr val="374151"/>
                </a:solidFill>
                <a:effectLst/>
                <a:latin typeface="Söhne"/>
              </a:rPr>
              <a:t> This is the interface through which the result of the addition or subtraction operation is outputted.</a:t>
            </a:r>
          </a:p>
          <a:p>
            <a:endParaRPr lang="en-MY" dirty="0"/>
          </a:p>
        </p:txBody>
      </p:sp>
      <p:sp>
        <p:nvSpPr>
          <p:cNvPr id="4" name="Slide Number Placeholder 3"/>
          <p:cNvSpPr>
            <a:spLocks noGrp="1"/>
          </p:cNvSpPr>
          <p:nvPr>
            <p:ph type="sldNum" sz="quarter" idx="5"/>
          </p:nvPr>
        </p:nvSpPr>
        <p:spPr/>
        <p:txBody>
          <a:bodyPr/>
          <a:lstStyle/>
          <a:p>
            <a:pPr>
              <a:defRPr/>
            </a:pPr>
            <a:fld id="{46D13347-E52A-4BDD-A810-7C276D794ED3}" type="slidenum">
              <a:rPr lang="en-US" altLang="en-US" smtClean="0"/>
              <a:pPr>
                <a:defRPr/>
              </a:pPr>
              <a:t>72</a:t>
            </a:fld>
            <a:endParaRPr lang="en-US" altLang="en-US"/>
          </a:p>
        </p:txBody>
      </p:sp>
    </p:spTree>
    <p:extLst>
      <p:ext uri="{BB962C8B-B14F-4D97-AF65-F5344CB8AC3E}">
        <p14:creationId xmlns:p14="http://schemas.microsoft.com/office/powerpoint/2010/main" val="3038766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pPr>
              <a:defRPr/>
            </a:pPr>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pPr>
              <a:defRPr/>
            </a:pPr>
            <a:endParaRPr lang="en-GB"/>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pPr>
              <a:defRPr/>
            </a:pPr>
            <a:fld id="{9359C2FD-1AE1-477E-ABCE-607FA7A29ADA}" type="slidenum">
              <a:rPr lang="en-US" altLang="en-US" smtClean="0"/>
              <a:pPr>
                <a:defRPr/>
              </a:pPr>
              <a:t>‹#›</a:t>
            </a:fld>
            <a:endParaRPr lang="en-US" altLang="en-US"/>
          </a:p>
        </p:txBody>
      </p:sp>
    </p:spTree>
    <p:extLst>
      <p:ext uri="{BB962C8B-B14F-4D97-AF65-F5344CB8AC3E}">
        <p14:creationId xmlns:p14="http://schemas.microsoft.com/office/powerpoint/2010/main" val="34202948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15F286D-88BF-4C85-84EF-53248539BE74}" type="slidenum">
              <a:rPr lang="en-US" altLang="en-US" smtClean="0"/>
              <a:pPr>
                <a:defRPr/>
              </a:pPr>
              <a:t>‹#›</a:t>
            </a:fld>
            <a:endParaRPr lang="en-US" altLang="en-US"/>
          </a:p>
        </p:txBody>
      </p:sp>
    </p:spTree>
    <p:extLst>
      <p:ext uri="{BB962C8B-B14F-4D97-AF65-F5344CB8AC3E}">
        <p14:creationId xmlns:p14="http://schemas.microsoft.com/office/powerpoint/2010/main" val="257486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48DFCCC-80A8-4DB7-A5A9-6FAB236F5274}" type="slidenum">
              <a:rPr lang="en-US" altLang="en-US" smtClean="0"/>
              <a:pPr>
                <a:defRPr/>
              </a:pPr>
              <a:t>‹#›</a:t>
            </a:fld>
            <a:endParaRPr lang="en-US" alt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80587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C9E3ACB-4A13-4076-B03A-38C2B1598E0C}" type="slidenum">
              <a:rPr lang="en-US" altLang="en-US" smtClean="0"/>
              <a:pPr>
                <a:defRPr/>
              </a:pPr>
              <a:t>‹#›</a:t>
            </a:fld>
            <a:endParaRPr lang="en-US" altLang="en-US"/>
          </a:p>
        </p:txBody>
      </p:sp>
    </p:spTree>
    <p:extLst>
      <p:ext uri="{BB962C8B-B14F-4D97-AF65-F5344CB8AC3E}">
        <p14:creationId xmlns:p14="http://schemas.microsoft.com/office/powerpoint/2010/main" val="94481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D674A7A-CCDA-4939-AAD6-516FD6D483DC}" type="slidenum">
              <a:rPr lang="en-US" altLang="en-US" smtClean="0"/>
              <a:pPr>
                <a:defRPr/>
              </a:pPr>
              <a:t>‹#›</a:t>
            </a:fld>
            <a:endParaRPr lang="en-US" altLang="en-US"/>
          </a:p>
        </p:txBody>
      </p:sp>
    </p:spTree>
    <p:extLst>
      <p:ext uri="{BB962C8B-B14F-4D97-AF65-F5344CB8AC3E}">
        <p14:creationId xmlns:p14="http://schemas.microsoft.com/office/powerpoint/2010/main" val="167205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2B3DA7C-8ED8-4EB8-A1C6-6FB9A8AA0E8D}" type="slidenum">
              <a:rPr lang="en-US" altLang="en-US" smtClean="0"/>
              <a:pPr>
                <a:defRPr/>
              </a:pPr>
              <a:t>‹#›</a:t>
            </a:fld>
            <a:endParaRPr lang="en-US" altLang="en-US"/>
          </a:p>
        </p:txBody>
      </p:sp>
    </p:spTree>
    <p:extLst>
      <p:ext uri="{BB962C8B-B14F-4D97-AF65-F5344CB8AC3E}">
        <p14:creationId xmlns:p14="http://schemas.microsoft.com/office/powerpoint/2010/main" val="377107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F9839A35-988A-4C75-AB86-CE687B152A44}" type="slidenum">
              <a:rPr lang="en-US" altLang="en-US" smtClean="0"/>
              <a:pPr>
                <a:defRPr/>
              </a:pPr>
              <a:t>‹#›</a:t>
            </a:fld>
            <a:endParaRPr lang="en-US" altLang="en-US"/>
          </a:p>
        </p:txBody>
      </p:sp>
    </p:spTree>
    <p:extLst>
      <p:ext uri="{BB962C8B-B14F-4D97-AF65-F5344CB8AC3E}">
        <p14:creationId xmlns:p14="http://schemas.microsoft.com/office/powerpoint/2010/main" val="1377753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D9058E-B831-4CFA-9FF3-F1C3D01DC400}" type="slidenum">
              <a:rPr lang="en-US" altLang="en-US" smtClean="0"/>
              <a:pPr>
                <a:defRPr/>
              </a:pPr>
              <a:t>‹#›</a:t>
            </a:fld>
            <a:endParaRPr lang="en-US" altLang="en-US"/>
          </a:p>
        </p:txBody>
      </p:sp>
    </p:spTree>
    <p:extLst>
      <p:ext uri="{BB962C8B-B14F-4D97-AF65-F5344CB8AC3E}">
        <p14:creationId xmlns:p14="http://schemas.microsoft.com/office/powerpoint/2010/main" val="2538191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238BECB-1861-4BD9-B1A2-FCCC63117CC1}" type="slidenum">
              <a:rPr lang="en-US" altLang="en-US" smtClean="0"/>
              <a:pPr>
                <a:defRPr/>
              </a:pPr>
              <a:t>‹#›</a:t>
            </a:fld>
            <a:endParaRPr lang="en-US" altLang="en-US"/>
          </a:p>
        </p:txBody>
      </p:sp>
    </p:spTree>
    <p:extLst>
      <p:ext uri="{BB962C8B-B14F-4D97-AF65-F5344CB8AC3E}">
        <p14:creationId xmlns:p14="http://schemas.microsoft.com/office/powerpoint/2010/main" val="1108554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F54FF23-B5A1-4A46-A9C3-E6DE314B927D}" type="slidenum">
              <a:rPr lang="en-US" altLang="en-US" smtClean="0"/>
              <a:pPr>
                <a:defRPr/>
              </a:pPr>
              <a:t>‹#›</a:t>
            </a:fld>
            <a:endParaRPr lang="en-US" altLang="en-US"/>
          </a:p>
        </p:txBody>
      </p:sp>
    </p:spTree>
    <p:extLst>
      <p:ext uri="{BB962C8B-B14F-4D97-AF65-F5344CB8AC3E}">
        <p14:creationId xmlns:p14="http://schemas.microsoft.com/office/powerpoint/2010/main" val="42971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2323B65-87C1-46BE-916E-7451486A6860}" type="slidenum">
              <a:rPr lang="en-US" altLang="en-US" smtClean="0"/>
              <a:pPr>
                <a:defRPr/>
              </a:pPr>
              <a:t>‹#›</a:t>
            </a:fld>
            <a:endParaRPr lang="en-US" altLang="en-US"/>
          </a:p>
        </p:txBody>
      </p:sp>
    </p:spTree>
    <p:extLst>
      <p:ext uri="{BB962C8B-B14F-4D97-AF65-F5344CB8AC3E}">
        <p14:creationId xmlns:p14="http://schemas.microsoft.com/office/powerpoint/2010/main" val="321175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Placeholder 1"/>
          <p:cNvSpPr>
            <a:spLocks noGrp="1"/>
          </p:cNvSpPr>
          <p:nvPr>
            <p:ph type="title"/>
          </p:nvPr>
        </p:nvSpPr>
        <p:spPr>
          <a:xfrm>
            <a:off x="325212" y="365760"/>
            <a:ext cx="7890672"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25211" y="1828801"/>
            <a:ext cx="7887005"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pPr>
              <a:defRPr/>
            </a:pPr>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pPr>
              <a:defRPr/>
            </a:pPr>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pPr>
              <a:defRPr/>
            </a:pPr>
            <a:fld id="{5D674A7A-CCDA-4939-AAD6-516FD6D483DC}" type="slidenum">
              <a:rPr lang="en-US" altLang="en-US" smtClean="0"/>
              <a:pPr>
                <a:defRPr/>
              </a:pPr>
              <a:t>‹#›</a:t>
            </a:fld>
            <a:endParaRPr lang="en-US" altLang="en-US"/>
          </a:p>
        </p:txBody>
      </p:sp>
    </p:spTree>
    <p:extLst>
      <p:ext uri="{BB962C8B-B14F-4D97-AF65-F5344CB8AC3E}">
        <p14:creationId xmlns:p14="http://schemas.microsoft.com/office/powerpoint/2010/main" val="387475069"/>
      </p:ext>
    </p:extLst>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hf hdr="0" ftr="0" dt="0"/>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diagramLayout" Target="../diagrams/layout1.xml"/><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png"/><Relationship Id="rId5" Type="http://schemas.openxmlformats.org/officeDocument/2006/relationships/diagramColors" Target="../diagrams/colors1.xml"/><Relationship Id="rId10" Type="http://schemas.openxmlformats.org/officeDocument/2006/relationships/image" Target="../media/image12.svg"/><Relationship Id="rId4" Type="http://schemas.openxmlformats.org/officeDocument/2006/relationships/diagramQuickStyle" Target="../diagrams/quickStyle1.xml"/><Relationship Id="rId9" Type="http://schemas.openxmlformats.org/officeDocument/2006/relationships/image" Target="../media/image11.pn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6A01438-2626-B471-8CFF-8D5391AEC003}"/>
              </a:ext>
            </a:extLst>
          </p:cNvPr>
          <p:cNvSpPr>
            <a:spLocks noGrp="1" noChangeArrowheads="1"/>
          </p:cNvSpPr>
          <p:nvPr>
            <p:ph type="ctrTitle"/>
          </p:nvPr>
        </p:nvSpPr>
        <p:spPr>
          <a:xfrm>
            <a:off x="467544" y="274965"/>
            <a:ext cx="8280920" cy="2235696"/>
          </a:xfrm>
        </p:spPr>
        <p:txBody>
          <a:bodyPr/>
          <a:lstStyle/>
          <a:p>
            <a:pPr algn="ctr"/>
            <a:r>
              <a:rPr lang="en-GB" altLang="en-US" dirty="0"/>
              <a:t>Computer Organisation</a:t>
            </a:r>
          </a:p>
        </p:txBody>
      </p:sp>
      <p:sp>
        <p:nvSpPr>
          <p:cNvPr id="9219" name="Rectangle 3">
            <a:extLst>
              <a:ext uri="{FF2B5EF4-FFF2-40B4-BE49-F238E27FC236}">
                <a16:creationId xmlns:a16="http://schemas.microsoft.com/office/drawing/2014/main" id="{058C6238-8C0F-07ED-A240-E3CE9B92A1B6}"/>
              </a:ext>
            </a:extLst>
          </p:cNvPr>
          <p:cNvSpPr>
            <a:spLocks noGrp="1" noChangeArrowheads="1"/>
          </p:cNvSpPr>
          <p:nvPr>
            <p:ph type="subTitle" idx="1"/>
          </p:nvPr>
        </p:nvSpPr>
        <p:spPr>
          <a:xfrm>
            <a:off x="467544" y="3028950"/>
            <a:ext cx="8208912" cy="1771650"/>
          </a:xfrm>
        </p:spPr>
        <p:txBody>
          <a:bodyPr/>
          <a:lstStyle/>
          <a:p>
            <a:pPr algn="ctr"/>
            <a:r>
              <a:rPr lang="en-GB" altLang="en-US" dirty="0"/>
              <a:t>Topic 3</a:t>
            </a:r>
          </a:p>
          <a:p>
            <a:pPr algn="ctr"/>
            <a:r>
              <a:rPr lang="en-GB" altLang="en-US" dirty="0"/>
              <a:t>Computer Arithmetic</a:t>
            </a:r>
          </a:p>
        </p:txBody>
      </p:sp>
      <p:sp>
        <p:nvSpPr>
          <p:cNvPr id="9220" name="Text Box 5">
            <a:extLst>
              <a:ext uri="{FF2B5EF4-FFF2-40B4-BE49-F238E27FC236}">
                <a16:creationId xmlns:a16="http://schemas.microsoft.com/office/drawing/2014/main" id="{D03D4195-01AD-7D37-FD9A-22FFA68D848F}"/>
              </a:ext>
            </a:extLst>
          </p:cNvPr>
          <p:cNvSpPr txBox="1">
            <a:spLocks noChangeArrowheads="1"/>
          </p:cNvSpPr>
          <p:nvPr/>
        </p:nvSpPr>
        <p:spPr bwMode="auto">
          <a:xfrm>
            <a:off x="107950" y="6257925"/>
            <a:ext cx="7343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600"/>
              <a:t>Stallings, Computer Organization &amp; Architecture (9th Ed.), Chap.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DC09DEA-E6E2-E22A-ADBD-EE90712A3DE0}"/>
              </a:ext>
            </a:extLst>
          </p:cNvPr>
          <p:cNvSpPr>
            <a:spLocks noGrp="1" noChangeArrowheads="1"/>
          </p:cNvSpPr>
          <p:nvPr>
            <p:ph type="title"/>
          </p:nvPr>
        </p:nvSpPr>
        <p:spPr>
          <a:xfrm>
            <a:off x="539552" y="228601"/>
            <a:ext cx="7269480" cy="706260"/>
          </a:xfrm>
        </p:spPr>
        <p:txBody>
          <a:bodyPr/>
          <a:lstStyle/>
          <a:p>
            <a:r>
              <a:rPr lang="en-US" altLang="en-US" dirty="0"/>
              <a:t>Outline</a:t>
            </a:r>
          </a:p>
        </p:txBody>
      </p:sp>
      <p:sp>
        <p:nvSpPr>
          <p:cNvPr id="11267" name="Rectangle 3">
            <a:extLst>
              <a:ext uri="{FF2B5EF4-FFF2-40B4-BE49-F238E27FC236}">
                <a16:creationId xmlns:a16="http://schemas.microsoft.com/office/drawing/2014/main" id="{526BEBD7-118F-3385-1D87-9294CDF6A0B8}"/>
              </a:ext>
            </a:extLst>
          </p:cNvPr>
          <p:cNvSpPr>
            <a:spLocks noGrp="1" noChangeArrowheads="1"/>
          </p:cNvSpPr>
          <p:nvPr>
            <p:ph idx="1"/>
          </p:nvPr>
        </p:nvSpPr>
        <p:spPr>
          <a:xfrm>
            <a:off x="5340772" y="2614970"/>
            <a:ext cx="2399580" cy="1246078"/>
          </a:xfrm>
        </p:spPr>
        <p:txBody>
          <a:bodyPr>
            <a:normAutofit/>
          </a:bodyPr>
          <a:lstStyle/>
          <a:p>
            <a:pPr lvl="1"/>
            <a:r>
              <a:rPr lang="en-US" altLang="en-US" dirty="0"/>
              <a:t>Sign-magnitude</a:t>
            </a:r>
          </a:p>
          <a:p>
            <a:pPr lvl="1"/>
            <a:r>
              <a:rPr lang="en-US" altLang="en-US" dirty="0"/>
              <a:t>Twos complement</a:t>
            </a:r>
          </a:p>
          <a:p>
            <a:pPr lvl="1"/>
            <a:r>
              <a:rPr lang="en-US" altLang="en-US" dirty="0"/>
              <a:t>Conversion between lengths</a:t>
            </a:r>
          </a:p>
        </p:txBody>
      </p:sp>
      <p:sp>
        <p:nvSpPr>
          <p:cNvPr id="6" name="Rectangle 3">
            <a:extLst>
              <a:ext uri="{FF2B5EF4-FFF2-40B4-BE49-F238E27FC236}">
                <a16:creationId xmlns:a16="http://schemas.microsoft.com/office/drawing/2014/main" id="{FED6671B-B3D6-BAAE-F114-7C8E370AFD64}"/>
              </a:ext>
            </a:extLst>
          </p:cNvPr>
          <p:cNvSpPr txBox="1">
            <a:spLocks noChangeArrowheads="1"/>
          </p:cNvSpPr>
          <p:nvPr/>
        </p:nvSpPr>
        <p:spPr>
          <a:xfrm>
            <a:off x="755576" y="5301208"/>
            <a:ext cx="2448272" cy="1224136"/>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lvl="1" fontAlgn="auto"/>
            <a:r>
              <a:rPr kumimoji="0" lang="en-US" altLang="en-US" dirty="0"/>
              <a:t>Addition &amp; Subtraction</a:t>
            </a:r>
          </a:p>
          <a:p>
            <a:pPr lvl="1" fontAlgn="auto"/>
            <a:r>
              <a:rPr kumimoji="0" lang="en-US" altLang="en-US" dirty="0"/>
              <a:t>Multiplication</a:t>
            </a:r>
          </a:p>
          <a:p>
            <a:pPr lvl="1" fontAlgn="auto"/>
            <a:r>
              <a:rPr kumimoji="0" lang="en-US" altLang="en-US" dirty="0"/>
              <a:t>Division</a:t>
            </a:r>
          </a:p>
        </p:txBody>
      </p:sp>
      <p:grpSp>
        <p:nvGrpSpPr>
          <p:cNvPr id="18" name="Group 17">
            <a:extLst>
              <a:ext uri="{FF2B5EF4-FFF2-40B4-BE49-F238E27FC236}">
                <a16:creationId xmlns:a16="http://schemas.microsoft.com/office/drawing/2014/main" id="{26885309-450F-0554-085B-623B03D64732}"/>
              </a:ext>
            </a:extLst>
          </p:cNvPr>
          <p:cNvGrpSpPr/>
          <p:nvPr/>
        </p:nvGrpSpPr>
        <p:grpSpPr>
          <a:xfrm>
            <a:off x="4716016" y="3918474"/>
            <a:ext cx="3024336" cy="1208625"/>
            <a:chOff x="4716016" y="3918474"/>
            <a:chExt cx="3024336" cy="1208625"/>
          </a:xfrm>
        </p:grpSpPr>
        <p:sp>
          <p:nvSpPr>
            <p:cNvPr id="5" name="Rectangle 4">
              <a:extLst>
                <a:ext uri="{FF2B5EF4-FFF2-40B4-BE49-F238E27FC236}">
                  <a16:creationId xmlns:a16="http://schemas.microsoft.com/office/drawing/2014/main" id="{155B97AC-C562-30D5-8322-D3DCD9163589}"/>
                </a:ext>
              </a:extLst>
            </p:cNvPr>
            <p:cNvSpPr/>
            <p:nvPr/>
          </p:nvSpPr>
          <p:spPr>
            <a:xfrm>
              <a:off x="5292080" y="4046979"/>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Floating-point Arithmetic</a:t>
              </a:r>
            </a:p>
          </p:txBody>
        </p:sp>
        <p:pic>
          <p:nvPicPr>
            <p:cNvPr id="8" name="Graphic 7" descr="Badge 4 outline">
              <a:extLst>
                <a:ext uri="{FF2B5EF4-FFF2-40B4-BE49-F238E27FC236}">
                  <a16:creationId xmlns:a16="http://schemas.microsoft.com/office/drawing/2014/main" id="{F91002FC-3B18-B984-AA0C-EB91A97385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16016" y="3918474"/>
              <a:ext cx="914400" cy="914400"/>
            </a:xfrm>
            <a:prstGeom prst="rect">
              <a:avLst/>
            </a:prstGeom>
          </p:spPr>
        </p:pic>
      </p:grpSp>
      <p:grpSp>
        <p:nvGrpSpPr>
          <p:cNvPr id="17" name="Group 16">
            <a:extLst>
              <a:ext uri="{FF2B5EF4-FFF2-40B4-BE49-F238E27FC236}">
                <a16:creationId xmlns:a16="http://schemas.microsoft.com/office/drawing/2014/main" id="{109C95CE-9A16-1CEF-B475-C3EBE8862EF7}"/>
              </a:ext>
            </a:extLst>
          </p:cNvPr>
          <p:cNvGrpSpPr/>
          <p:nvPr/>
        </p:nvGrpSpPr>
        <p:grpSpPr>
          <a:xfrm>
            <a:off x="82352" y="3850793"/>
            <a:ext cx="3121496" cy="1276306"/>
            <a:chOff x="82352" y="3850793"/>
            <a:chExt cx="3121496" cy="1276306"/>
          </a:xfrm>
        </p:grpSpPr>
        <p:sp>
          <p:nvSpPr>
            <p:cNvPr id="4" name="Rectangle 3">
              <a:extLst>
                <a:ext uri="{FF2B5EF4-FFF2-40B4-BE49-F238E27FC236}">
                  <a16:creationId xmlns:a16="http://schemas.microsoft.com/office/drawing/2014/main" id="{547AEB9E-80BA-214F-EDE8-3730E9C938BB}"/>
                </a:ext>
              </a:extLst>
            </p:cNvPr>
            <p:cNvSpPr/>
            <p:nvPr/>
          </p:nvSpPr>
          <p:spPr>
            <a:xfrm>
              <a:off x="755576" y="4046979"/>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Integer Arithmetic</a:t>
              </a:r>
            </a:p>
          </p:txBody>
        </p:sp>
        <p:pic>
          <p:nvPicPr>
            <p:cNvPr id="10" name="Graphic 9" descr="Badge 3 outline">
              <a:extLst>
                <a:ext uri="{FF2B5EF4-FFF2-40B4-BE49-F238E27FC236}">
                  <a16:creationId xmlns:a16="http://schemas.microsoft.com/office/drawing/2014/main" id="{1A24A127-606D-3B9C-EB2F-EC94CC8A62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2" y="3850793"/>
              <a:ext cx="914400" cy="914400"/>
            </a:xfrm>
            <a:prstGeom prst="rect">
              <a:avLst/>
            </a:prstGeom>
          </p:spPr>
        </p:pic>
      </p:grpSp>
      <p:grpSp>
        <p:nvGrpSpPr>
          <p:cNvPr id="16" name="Group 15">
            <a:extLst>
              <a:ext uri="{FF2B5EF4-FFF2-40B4-BE49-F238E27FC236}">
                <a16:creationId xmlns:a16="http://schemas.microsoft.com/office/drawing/2014/main" id="{BF365B41-F074-5AF9-0B1A-06FD7592CCA4}"/>
              </a:ext>
            </a:extLst>
          </p:cNvPr>
          <p:cNvGrpSpPr/>
          <p:nvPr/>
        </p:nvGrpSpPr>
        <p:grpSpPr>
          <a:xfrm>
            <a:off x="4606280" y="1229085"/>
            <a:ext cx="3134072" cy="1266051"/>
            <a:chOff x="4606280" y="1229085"/>
            <a:chExt cx="3134072" cy="1266051"/>
          </a:xfrm>
        </p:grpSpPr>
        <p:sp>
          <p:nvSpPr>
            <p:cNvPr id="3" name="Rectangle 2">
              <a:extLst>
                <a:ext uri="{FF2B5EF4-FFF2-40B4-BE49-F238E27FC236}">
                  <a16:creationId xmlns:a16="http://schemas.microsoft.com/office/drawing/2014/main" id="{2649BA7D-96F2-329B-82E1-2BB2847551DE}"/>
                </a:ext>
              </a:extLst>
            </p:cNvPr>
            <p:cNvSpPr/>
            <p:nvPr/>
          </p:nvSpPr>
          <p:spPr>
            <a:xfrm>
              <a:off x="5292080" y="1415016"/>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Integer Representation</a:t>
              </a:r>
            </a:p>
          </p:txBody>
        </p:sp>
        <p:pic>
          <p:nvPicPr>
            <p:cNvPr id="12" name="Graphic 11" descr="Badge outline">
              <a:extLst>
                <a:ext uri="{FF2B5EF4-FFF2-40B4-BE49-F238E27FC236}">
                  <a16:creationId xmlns:a16="http://schemas.microsoft.com/office/drawing/2014/main" id="{153AAF4A-FB40-BBDD-B9F4-7C70842D168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06280" y="1229085"/>
              <a:ext cx="914400" cy="914400"/>
            </a:xfrm>
            <a:prstGeom prst="rect">
              <a:avLst/>
            </a:prstGeom>
          </p:spPr>
        </p:pic>
      </p:grpSp>
      <p:grpSp>
        <p:nvGrpSpPr>
          <p:cNvPr id="15" name="Group 14">
            <a:extLst>
              <a:ext uri="{FF2B5EF4-FFF2-40B4-BE49-F238E27FC236}">
                <a16:creationId xmlns:a16="http://schemas.microsoft.com/office/drawing/2014/main" id="{4786AD79-DEFB-4F1F-C5B7-66D9E516CB5E}"/>
              </a:ext>
            </a:extLst>
          </p:cNvPr>
          <p:cNvGrpSpPr/>
          <p:nvPr/>
        </p:nvGrpSpPr>
        <p:grpSpPr>
          <a:xfrm>
            <a:off x="82352" y="1208150"/>
            <a:ext cx="3121496" cy="1242831"/>
            <a:chOff x="82352" y="1208150"/>
            <a:chExt cx="3121496" cy="1242831"/>
          </a:xfrm>
        </p:grpSpPr>
        <p:sp>
          <p:nvSpPr>
            <p:cNvPr id="2" name="Rectangle 1">
              <a:extLst>
                <a:ext uri="{FF2B5EF4-FFF2-40B4-BE49-F238E27FC236}">
                  <a16:creationId xmlns:a16="http://schemas.microsoft.com/office/drawing/2014/main" id="{A42FDAFE-3478-5367-9B44-2083E1CE2103}"/>
                </a:ext>
              </a:extLst>
            </p:cNvPr>
            <p:cNvSpPr/>
            <p:nvPr/>
          </p:nvSpPr>
          <p:spPr>
            <a:xfrm>
              <a:off x="755576" y="1370861"/>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Arithmetic &amp; Logic Unit</a:t>
              </a:r>
            </a:p>
          </p:txBody>
        </p:sp>
        <p:pic>
          <p:nvPicPr>
            <p:cNvPr id="14" name="Graphic 13" descr="Badge 1 outline">
              <a:extLst>
                <a:ext uri="{FF2B5EF4-FFF2-40B4-BE49-F238E27FC236}">
                  <a16:creationId xmlns:a16="http://schemas.microsoft.com/office/drawing/2014/main" id="{0BDA04BC-E5EB-0806-CECB-57E824425AF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352" y="1208150"/>
              <a:ext cx="914400" cy="914400"/>
            </a:xfrm>
            <a:prstGeom prst="rect">
              <a:avLst/>
            </a:prstGeom>
          </p:spPr>
        </p:pic>
      </p:grpSp>
      <p:sp>
        <p:nvSpPr>
          <p:cNvPr id="7" name="Slide Number Placeholder 6">
            <a:extLst>
              <a:ext uri="{FF2B5EF4-FFF2-40B4-BE49-F238E27FC236}">
                <a16:creationId xmlns:a16="http://schemas.microsoft.com/office/drawing/2014/main" id="{7B1B18A9-B967-D6ED-AB50-DB35E9F2F996}"/>
              </a:ext>
            </a:extLst>
          </p:cNvPr>
          <p:cNvSpPr>
            <a:spLocks noGrp="1"/>
          </p:cNvSpPr>
          <p:nvPr>
            <p:ph type="sldNum" sz="quarter" idx="12"/>
          </p:nvPr>
        </p:nvSpPr>
        <p:spPr/>
        <p:txBody>
          <a:bodyPr/>
          <a:lstStyle/>
          <a:p>
            <a:pPr>
              <a:defRPr/>
            </a:pPr>
            <a:fld id="{B15F286D-88BF-4C85-84EF-53248539BE74}" type="slidenum">
              <a:rPr lang="en-US" altLang="en-US" smtClean="0"/>
              <a:pPr>
                <a:defRPr/>
              </a:pPr>
              <a:t>2</a:t>
            </a:fld>
            <a:endParaRPr lang="en-US" altLang="en-US"/>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F0FD-6B58-B888-E352-3AF030528B64}"/>
              </a:ext>
            </a:extLst>
          </p:cNvPr>
          <p:cNvSpPr>
            <a:spLocks noGrp="1"/>
          </p:cNvSpPr>
          <p:nvPr>
            <p:ph type="title"/>
          </p:nvPr>
        </p:nvSpPr>
        <p:spPr/>
        <p:txBody>
          <a:bodyPr/>
          <a:lstStyle/>
          <a:p>
            <a:r>
              <a:rPr lang="en-GB" dirty="0"/>
              <a:t>Learning objectives </a:t>
            </a:r>
          </a:p>
        </p:txBody>
      </p:sp>
      <p:graphicFrame>
        <p:nvGraphicFramePr>
          <p:cNvPr id="4" name="Content Placeholder 3">
            <a:extLst>
              <a:ext uri="{FF2B5EF4-FFF2-40B4-BE49-F238E27FC236}">
                <a16:creationId xmlns:a16="http://schemas.microsoft.com/office/drawing/2014/main" id="{C7B53777-CAE9-D51E-EDC9-B5C6217D6A5C}"/>
              </a:ext>
            </a:extLst>
          </p:cNvPr>
          <p:cNvGraphicFramePr>
            <a:graphicFrameLocks noGrp="1"/>
          </p:cNvGraphicFramePr>
          <p:nvPr>
            <p:ph idx="1"/>
            <p:extLst>
              <p:ext uri="{D42A27DB-BD31-4B8C-83A1-F6EECF244321}">
                <p14:modId xmlns:p14="http://schemas.microsoft.com/office/powerpoint/2010/main" val="3002273501"/>
              </p:ext>
            </p:extLst>
          </p:nvPr>
        </p:nvGraphicFramePr>
        <p:xfrm>
          <a:off x="325211" y="1828801"/>
          <a:ext cx="7887005"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Binary with solid fill">
            <a:extLst>
              <a:ext uri="{FF2B5EF4-FFF2-40B4-BE49-F238E27FC236}">
                <a16:creationId xmlns:a16="http://schemas.microsoft.com/office/drawing/2014/main" id="{D7DF6DC8-660B-E6F8-12C6-E9E361B5466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9552" y="2204864"/>
            <a:ext cx="576064" cy="576064"/>
          </a:xfrm>
          <a:prstGeom prst="rect">
            <a:avLst/>
          </a:prstGeom>
        </p:spPr>
      </p:pic>
      <p:pic>
        <p:nvPicPr>
          <p:cNvPr id="8" name="Graphic 7" descr="Two Men with solid fill">
            <a:extLst>
              <a:ext uri="{FF2B5EF4-FFF2-40B4-BE49-F238E27FC236}">
                <a16:creationId xmlns:a16="http://schemas.microsoft.com/office/drawing/2014/main" id="{77360BC9-5967-C17C-11EC-1292CEF169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1998" y="3140968"/>
            <a:ext cx="645666" cy="645666"/>
          </a:xfrm>
          <a:prstGeom prst="rect">
            <a:avLst/>
          </a:prstGeom>
        </p:spPr>
      </p:pic>
      <p:pic>
        <p:nvPicPr>
          <p:cNvPr id="10" name="Graphic 9" descr="Calculator with solid fill">
            <a:extLst>
              <a:ext uri="{FF2B5EF4-FFF2-40B4-BE49-F238E27FC236}">
                <a16:creationId xmlns:a16="http://schemas.microsoft.com/office/drawing/2014/main" id="{78A3F20D-1BBE-8D7F-54FC-BBEFF33ABE0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1998" y="4192501"/>
            <a:ext cx="576064" cy="576064"/>
          </a:xfrm>
          <a:prstGeom prst="rect">
            <a:avLst/>
          </a:prstGeom>
        </p:spPr>
      </p:pic>
      <p:pic>
        <p:nvPicPr>
          <p:cNvPr id="12" name="Graphic 11" descr="Life ring with solid fill">
            <a:extLst>
              <a:ext uri="{FF2B5EF4-FFF2-40B4-BE49-F238E27FC236}">
                <a16:creationId xmlns:a16="http://schemas.microsoft.com/office/drawing/2014/main" id="{E3BC8350-469D-BE20-EB98-4FB1342960E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5536" y="5098801"/>
            <a:ext cx="788113" cy="788113"/>
          </a:xfrm>
          <a:prstGeom prst="rect">
            <a:avLst/>
          </a:prstGeom>
        </p:spPr>
      </p:pic>
      <p:sp>
        <p:nvSpPr>
          <p:cNvPr id="3" name="Slide Number Placeholder 2">
            <a:extLst>
              <a:ext uri="{FF2B5EF4-FFF2-40B4-BE49-F238E27FC236}">
                <a16:creationId xmlns:a16="http://schemas.microsoft.com/office/drawing/2014/main" id="{2D54D1C7-E641-DAE0-1C77-7B0EC94D316A}"/>
              </a:ext>
            </a:extLst>
          </p:cNvPr>
          <p:cNvSpPr>
            <a:spLocks noGrp="1"/>
          </p:cNvSpPr>
          <p:nvPr>
            <p:ph type="sldNum" sz="quarter" idx="12"/>
          </p:nvPr>
        </p:nvSpPr>
        <p:spPr/>
        <p:txBody>
          <a:bodyPr/>
          <a:lstStyle/>
          <a:p>
            <a:pPr>
              <a:defRPr/>
            </a:pPr>
            <a:fld id="{B15F286D-88BF-4C85-84EF-53248539BE74}" type="slidenum">
              <a:rPr lang="en-US" altLang="en-US" smtClean="0"/>
              <a:pPr>
                <a:defRPr/>
              </a:pPr>
              <a:t>3</a:t>
            </a:fld>
            <a:endParaRPr lang="en-US" altLang="en-US"/>
          </a:p>
        </p:txBody>
      </p:sp>
    </p:spTree>
    <p:extLst>
      <p:ext uri="{BB962C8B-B14F-4D97-AF65-F5344CB8AC3E}">
        <p14:creationId xmlns:p14="http://schemas.microsoft.com/office/powerpoint/2010/main" val="785785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D043D5E-C86F-81EB-D0C1-260DC6DDE16E}"/>
              </a:ext>
            </a:extLst>
          </p:cNvPr>
          <p:cNvSpPr>
            <a:spLocks noGrp="1" noChangeArrowheads="1"/>
          </p:cNvSpPr>
          <p:nvPr>
            <p:ph type="title" idx="4294967295"/>
          </p:nvPr>
        </p:nvSpPr>
        <p:spPr>
          <a:xfrm>
            <a:off x="251520" y="277143"/>
            <a:ext cx="6985446" cy="1143000"/>
          </a:xfrm>
        </p:spPr>
        <p:txBody>
          <a:bodyPr/>
          <a:lstStyle/>
          <a:p>
            <a:r>
              <a:rPr lang="en-US" altLang="en-US" dirty="0"/>
              <a:t>Arithmetic &amp; Logic Unit</a:t>
            </a:r>
          </a:p>
        </p:txBody>
      </p:sp>
      <p:sp>
        <p:nvSpPr>
          <p:cNvPr id="12291" name="Rectangle 3">
            <a:extLst>
              <a:ext uri="{FF2B5EF4-FFF2-40B4-BE49-F238E27FC236}">
                <a16:creationId xmlns:a16="http://schemas.microsoft.com/office/drawing/2014/main" id="{5627A2CC-1001-C6A0-0F24-F2B178F940DA}"/>
              </a:ext>
            </a:extLst>
          </p:cNvPr>
          <p:cNvSpPr>
            <a:spLocks noGrp="1" noChangeArrowheads="1"/>
          </p:cNvSpPr>
          <p:nvPr>
            <p:ph type="body" idx="4294967295"/>
          </p:nvPr>
        </p:nvSpPr>
        <p:spPr>
          <a:xfrm>
            <a:off x="251520" y="2138913"/>
            <a:ext cx="7272808" cy="4171950"/>
          </a:xfrm>
        </p:spPr>
        <p:txBody>
          <a:bodyPr/>
          <a:lstStyle/>
          <a:p>
            <a:r>
              <a:rPr lang="en-US" altLang="en-US" dirty="0"/>
              <a:t>A vital component of the CPU responsible for executing arithmetic and logical instructions</a:t>
            </a:r>
          </a:p>
          <a:p>
            <a:r>
              <a:rPr lang="en-US" altLang="en-US" dirty="0"/>
              <a:t>A fundamental part of a computer's processing capabilities</a:t>
            </a:r>
          </a:p>
          <a:p>
            <a:r>
              <a:rPr lang="en-US" altLang="en-US" dirty="0"/>
              <a:t>Other elements of the computer system (CU, registers, memory) mainly to bring data into the ALU for it to process and then to take the results back out</a:t>
            </a:r>
          </a:p>
          <a:p>
            <a:r>
              <a:rPr lang="en-US" altLang="en-US" dirty="0"/>
              <a:t>Does the </a:t>
            </a:r>
            <a:r>
              <a:rPr lang="en-US" altLang="en-US" sz="3600" b="1" dirty="0">
                <a:solidFill>
                  <a:srgbClr val="92D050"/>
                </a:solidFill>
              </a:rPr>
              <a:t>calculations</a:t>
            </a:r>
            <a:endParaRPr lang="en-US" altLang="en-US" b="1" dirty="0">
              <a:solidFill>
                <a:srgbClr val="92D050"/>
              </a:solidFill>
            </a:endParaRPr>
          </a:p>
          <a:p>
            <a:r>
              <a:rPr lang="en-US" altLang="en-US" dirty="0"/>
              <a:t>Everything else in the computer is there to service this unit</a:t>
            </a:r>
          </a:p>
        </p:txBody>
      </p:sp>
      <p:pic>
        <p:nvPicPr>
          <p:cNvPr id="12292" name="Picture 2" descr="A close up of a coral&#10;&#10;Description automatically generated">
            <a:extLst>
              <a:ext uri="{FF2B5EF4-FFF2-40B4-BE49-F238E27FC236}">
                <a16:creationId xmlns:a16="http://schemas.microsoft.com/office/drawing/2014/main" id="{3005DDE2-038A-8B4D-A83A-9C2C6F65D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277143"/>
            <a:ext cx="2118445" cy="242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3">
            <a:extLst>
              <a:ext uri="{FF2B5EF4-FFF2-40B4-BE49-F238E27FC236}">
                <a16:creationId xmlns:a16="http://schemas.microsoft.com/office/drawing/2014/main" id="{37B04C43-0E0D-E6FB-175F-327AA6E5756A}"/>
              </a:ext>
            </a:extLst>
          </p:cNvPr>
          <p:cNvSpPr txBox="1">
            <a:spLocks noChangeArrowheads="1"/>
          </p:cNvSpPr>
          <p:nvPr/>
        </p:nvSpPr>
        <p:spPr bwMode="auto">
          <a:xfrm>
            <a:off x="34925" y="6505575"/>
            <a:ext cx="7058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MY" altLang="en-US" sz="1400"/>
              <a:t>Image source: https://www.wannapik.com/vectors/10124</a:t>
            </a:r>
          </a:p>
        </p:txBody>
      </p:sp>
      <p:sp>
        <p:nvSpPr>
          <p:cNvPr id="2" name="Slide Number Placeholder 1">
            <a:extLst>
              <a:ext uri="{FF2B5EF4-FFF2-40B4-BE49-F238E27FC236}">
                <a16:creationId xmlns:a16="http://schemas.microsoft.com/office/drawing/2014/main" id="{6D8AF32B-7E2A-2945-331C-135D6D0823B0}"/>
              </a:ext>
            </a:extLst>
          </p:cNvPr>
          <p:cNvSpPr>
            <a:spLocks noGrp="1"/>
          </p:cNvSpPr>
          <p:nvPr>
            <p:ph type="sldNum" sz="quarter" idx="12"/>
          </p:nvPr>
        </p:nvSpPr>
        <p:spPr/>
        <p:txBody>
          <a:bodyPr/>
          <a:lstStyle/>
          <a:p>
            <a:pPr>
              <a:defRPr/>
            </a:pPr>
            <a:fld id="{F9839A35-988A-4C75-AB86-CE687B152A44}" type="slidenum">
              <a:rPr lang="en-US" altLang="en-US" smtClean="0"/>
              <a:pPr>
                <a:defRPr/>
              </a:pPr>
              <a:t>4</a:t>
            </a:fld>
            <a:endParaRPr lang="en-US"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1A461BB-8382-327A-838B-D4EC95D2CE8C}"/>
              </a:ext>
            </a:extLst>
          </p:cNvPr>
          <p:cNvSpPr>
            <a:spLocks noGrp="1" noChangeArrowheads="1"/>
          </p:cNvSpPr>
          <p:nvPr>
            <p:ph type="title" idx="4294967295"/>
          </p:nvPr>
        </p:nvSpPr>
        <p:spPr>
          <a:xfrm>
            <a:off x="467544" y="228600"/>
            <a:ext cx="7736656" cy="1143000"/>
          </a:xfrm>
        </p:spPr>
        <p:txBody>
          <a:bodyPr/>
          <a:lstStyle/>
          <a:p>
            <a:r>
              <a:rPr lang="en-US" altLang="en-US" dirty="0"/>
              <a:t>Arithmetic &amp; Logic Unit</a:t>
            </a:r>
          </a:p>
        </p:txBody>
      </p:sp>
      <p:sp>
        <p:nvSpPr>
          <p:cNvPr id="14339" name="Rectangle 3">
            <a:extLst>
              <a:ext uri="{FF2B5EF4-FFF2-40B4-BE49-F238E27FC236}">
                <a16:creationId xmlns:a16="http://schemas.microsoft.com/office/drawing/2014/main" id="{F866F8BF-9304-E3E8-CF91-00CAFA5B2378}"/>
              </a:ext>
            </a:extLst>
          </p:cNvPr>
          <p:cNvSpPr>
            <a:spLocks noGrp="1" noChangeArrowheads="1"/>
          </p:cNvSpPr>
          <p:nvPr>
            <p:ph type="body" idx="4294967295"/>
          </p:nvPr>
        </p:nvSpPr>
        <p:spPr>
          <a:xfrm>
            <a:off x="467544" y="1885950"/>
            <a:ext cx="7711256" cy="4171950"/>
          </a:xfrm>
        </p:spPr>
        <p:txBody>
          <a:bodyPr/>
          <a:lstStyle/>
          <a:p>
            <a:r>
              <a:rPr lang="en-US" altLang="en-US" dirty="0"/>
              <a:t>Handles </a:t>
            </a:r>
            <a:r>
              <a:rPr lang="en-US" altLang="en-US" sz="3600" b="1" dirty="0">
                <a:solidFill>
                  <a:srgbClr val="FF0000"/>
                </a:solidFill>
              </a:rPr>
              <a:t>integers</a:t>
            </a:r>
            <a:endParaRPr lang="en-US" altLang="en-US" b="1" dirty="0">
              <a:solidFill>
                <a:srgbClr val="FF0000"/>
              </a:solidFill>
            </a:endParaRPr>
          </a:p>
          <a:p>
            <a:r>
              <a:rPr lang="en-US" altLang="en-US" dirty="0"/>
              <a:t>May handle </a:t>
            </a:r>
            <a:r>
              <a:rPr lang="en-US" altLang="en-US" sz="3600" b="1" dirty="0">
                <a:solidFill>
                  <a:srgbClr val="00B0F0"/>
                </a:solidFill>
              </a:rPr>
              <a:t>floating point </a:t>
            </a:r>
            <a:r>
              <a:rPr lang="en-US" altLang="en-US" dirty="0"/>
              <a:t>(real) numbers</a:t>
            </a:r>
          </a:p>
        </p:txBody>
      </p:sp>
      <p:sp>
        <p:nvSpPr>
          <p:cNvPr id="2" name="Slide Number Placeholder 1">
            <a:extLst>
              <a:ext uri="{FF2B5EF4-FFF2-40B4-BE49-F238E27FC236}">
                <a16:creationId xmlns:a16="http://schemas.microsoft.com/office/drawing/2014/main" id="{1B0FD1AC-869A-95ED-AAEA-1926E5829687}"/>
              </a:ext>
            </a:extLst>
          </p:cNvPr>
          <p:cNvSpPr>
            <a:spLocks noGrp="1"/>
          </p:cNvSpPr>
          <p:nvPr>
            <p:ph type="sldNum" sz="quarter" idx="12"/>
          </p:nvPr>
        </p:nvSpPr>
        <p:spPr/>
        <p:txBody>
          <a:bodyPr/>
          <a:lstStyle/>
          <a:p>
            <a:pPr>
              <a:defRPr/>
            </a:pPr>
            <a:fld id="{F9839A35-988A-4C75-AB86-CE687B152A44}" type="slidenum">
              <a:rPr lang="en-US" altLang="en-US" smtClean="0"/>
              <a:pPr>
                <a:defRPr/>
              </a:pPr>
              <a:t>5</a:t>
            </a:fld>
            <a:endParaRPr lang="en-US"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763DF4B-36C2-E50C-A1F4-BE73710770BC}"/>
              </a:ext>
            </a:extLst>
          </p:cNvPr>
          <p:cNvSpPr>
            <a:spLocks noGrp="1" noChangeArrowheads="1"/>
          </p:cNvSpPr>
          <p:nvPr>
            <p:ph type="title" idx="4294967295"/>
          </p:nvPr>
        </p:nvSpPr>
        <p:spPr>
          <a:xfrm>
            <a:off x="323528" y="228600"/>
            <a:ext cx="7880672" cy="1143000"/>
          </a:xfrm>
        </p:spPr>
        <p:txBody>
          <a:bodyPr/>
          <a:lstStyle/>
          <a:p>
            <a:r>
              <a:rPr lang="en-US" altLang="en-US" dirty="0"/>
              <a:t>ALU Inputs and Outputs</a:t>
            </a:r>
          </a:p>
        </p:txBody>
      </p:sp>
      <p:pic>
        <p:nvPicPr>
          <p:cNvPr id="18435" name="Picture 3">
            <a:extLst>
              <a:ext uri="{FF2B5EF4-FFF2-40B4-BE49-F238E27FC236}">
                <a16:creationId xmlns:a16="http://schemas.microsoft.com/office/drawing/2014/main" id="{33958A7E-64C8-3C7D-CCB6-571D1AA80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8885"/>
          <a:stretch>
            <a:fillRect/>
          </a:stretch>
        </p:blipFill>
        <p:spPr bwMode="auto">
          <a:xfrm>
            <a:off x="234949" y="2933200"/>
            <a:ext cx="7570809" cy="27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A close up of a coral&#10;&#10;Description automatically generated">
            <a:extLst>
              <a:ext uri="{FF2B5EF4-FFF2-40B4-BE49-F238E27FC236}">
                <a16:creationId xmlns:a16="http://schemas.microsoft.com/office/drawing/2014/main" id="{0224A10D-02F4-02C9-35FC-AC81EDF720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1628800"/>
            <a:ext cx="188595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2">
            <a:extLst>
              <a:ext uri="{FF2B5EF4-FFF2-40B4-BE49-F238E27FC236}">
                <a16:creationId xmlns:a16="http://schemas.microsoft.com/office/drawing/2014/main" id="{CA9C3353-0C72-7B44-F030-718247A3BD19}"/>
              </a:ext>
            </a:extLst>
          </p:cNvPr>
          <p:cNvSpPr txBox="1">
            <a:spLocks noChangeArrowheads="1"/>
          </p:cNvSpPr>
          <p:nvPr/>
        </p:nvSpPr>
        <p:spPr bwMode="auto">
          <a:xfrm>
            <a:off x="34925" y="6505575"/>
            <a:ext cx="7058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MY" altLang="en-US" sz="1400"/>
              <a:t>Image source: https://www.wannapik.com/vectors/10124</a:t>
            </a:r>
          </a:p>
        </p:txBody>
      </p:sp>
      <p:sp>
        <p:nvSpPr>
          <p:cNvPr id="3" name="Slide Number Placeholder 2">
            <a:extLst>
              <a:ext uri="{FF2B5EF4-FFF2-40B4-BE49-F238E27FC236}">
                <a16:creationId xmlns:a16="http://schemas.microsoft.com/office/drawing/2014/main" id="{BECF2939-A7CD-9654-1CBC-F6AF72590B97}"/>
              </a:ext>
            </a:extLst>
          </p:cNvPr>
          <p:cNvSpPr>
            <a:spLocks noGrp="1"/>
          </p:cNvSpPr>
          <p:nvPr>
            <p:ph type="sldNum" sz="quarter" idx="12"/>
          </p:nvPr>
        </p:nvSpPr>
        <p:spPr/>
        <p:txBody>
          <a:bodyPr/>
          <a:lstStyle/>
          <a:p>
            <a:pPr>
              <a:defRPr/>
            </a:pPr>
            <a:fld id="{F9839A35-988A-4C75-AB86-CE687B152A44}" type="slidenum">
              <a:rPr lang="en-US" altLang="en-US" smtClean="0"/>
              <a:pPr>
                <a:defRPr/>
              </a:pPr>
              <a:t>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DC09DEA-E6E2-E22A-ADBD-EE90712A3DE0}"/>
              </a:ext>
            </a:extLst>
          </p:cNvPr>
          <p:cNvSpPr>
            <a:spLocks noGrp="1" noChangeArrowheads="1"/>
          </p:cNvSpPr>
          <p:nvPr>
            <p:ph type="title"/>
          </p:nvPr>
        </p:nvSpPr>
        <p:spPr>
          <a:xfrm>
            <a:off x="539552" y="228600"/>
            <a:ext cx="7269480" cy="1075933"/>
          </a:xfrm>
        </p:spPr>
        <p:txBody>
          <a:bodyPr/>
          <a:lstStyle/>
          <a:p>
            <a:r>
              <a:rPr lang="en-US" altLang="en-US" dirty="0"/>
              <a:t>Outline</a:t>
            </a:r>
          </a:p>
        </p:txBody>
      </p:sp>
      <p:sp>
        <p:nvSpPr>
          <p:cNvPr id="11267" name="Rectangle 3">
            <a:extLst>
              <a:ext uri="{FF2B5EF4-FFF2-40B4-BE49-F238E27FC236}">
                <a16:creationId xmlns:a16="http://schemas.microsoft.com/office/drawing/2014/main" id="{526BEBD7-118F-3385-1D87-9294CDF6A0B8}"/>
              </a:ext>
            </a:extLst>
          </p:cNvPr>
          <p:cNvSpPr>
            <a:spLocks noGrp="1" noChangeArrowheads="1"/>
          </p:cNvSpPr>
          <p:nvPr>
            <p:ph idx="1"/>
          </p:nvPr>
        </p:nvSpPr>
        <p:spPr>
          <a:xfrm>
            <a:off x="5340772" y="2614970"/>
            <a:ext cx="2399580" cy="1246078"/>
          </a:xfrm>
        </p:spPr>
        <p:txBody>
          <a:bodyPr>
            <a:normAutofit/>
          </a:bodyPr>
          <a:lstStyle/>
          <a:p>
            <a:pPr lvl="1"/>
            <a:r>
              <a:rPr lang="en-US" altLang="en-US" dirty="0"/>
              <a:t>Sign-magnitude</a:t>
            </a:r>
          </a:p>
          <a:p>
            <a:pPr lvl="1"/>
            <a:r>
              <a:rPr lang="en-US" altLang="en-US" dirty="0"/>
              <a:t>Twos complement</a:t>
            </a:r>
          </a:p>
          <a:p>
            <a:pPr lvl="1"/>
            <a:r>
              <a:rPr lang="en-US" altLang="en-US" dirty="0"/>
              <a:t>Conversion between lengths</a:t>
            </a:r>
          </a:p>
        </p:txBody>
      </p:sp>
      <p:sp>
        <p:nvSpPr>
          <p:cNvPr id="6" name="Rectangle 3">
            <a:extLst>
              <a:ext uri="{FF2B5EF4-FFF2-40B4-BE49-F238E27FC236}">
                <a16:creationId xmlns:a16="http://schemas.microsoft.com/office/drawing/2014/main" id="{FED6671B-B3D6-BAAE-F114-7C8E370AFD64}"/>
              </a:ext>
            </a:extLst>
          </p:cNvPr>
          <p:cNvSpPr txBox="1">
            <a:spLocks noChangeArrowheads="1"/>
          </p:cNvSpPr>
          <p:nvPr/>
        </p:nvSpPr>
        <p:spPr>
          <a:xfrm>
            <a:off x="755576" y="5301208"/>
            <a:ext cx="2448272" cy="1224136"/>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lvl="1" fontAlgn="auto"/>
            <a:r>
              <a:rPr kumimoji="0" lang="en-US" altLang="en-US" dirty="0"/>
              <a:t>Addition &amp; Subtraction</a:t>
            </a:r>
          </a:p>
          <a:p>
            <a:pPr lvl="1" fontAlgn="auto"/>
            <a:r>
              <a:rPr kumimoji="0" lang="en-US" altLang="en-US" dirty="0"/>
              <a:t>Multiplication</a:t>
            </a:r>
          </a:p>
          <a:p>
            <a:pPr lvl="1" fontAlgn="auto"/>
            <a:r>
              <a:rPr kumimoji="0" lang="en-US" altLang="en-US" dirty="0"/>
              <a:t>Division</a:t>
            </a:r>
          </a:p>
        </p:txBody>
      </p:sp>
      <p:grpSp>
        <p:nvGrpSpPr>
          <p:cNvPr id="13" name="Group 12">
            <a:extLst>
              <a:ext uri="{FF2B5EF4-FFF2-40B4-BE49-F238E27FC236}">
                <a16:creationId xmlns:a16="http://schemas.microsoft.com/office/drawing/2014/main" id="{07196483-3AF4-670D-F65E-DBC361E08A3E}"/>
              </a:ext>
            </a:extLst>
          </p:cNvPr>
          <p:cNvGrpSpPr/>
          <p:nvPr/>
        </p:nvGrpSpPr>
        <p:grpSpPr>
          <a:xfrm>
            <a:off x="4716016" y="3918474"/>
            <a:ext cx="3024336" cy="1208625"/>
            <a:chOff x="4716016" y="3918474"/>
            <a:chExt cx="3024336" cy="1208625"/>
          </a:xfrm>
        </p:grpSpPr>
        <p:sp>
          <p:nvSpPr>
            <p:cNvPr id="5" name="Rectangle 4">
              <a:extLst>
                <a:ext uri="{FF2B5EF4-FFF2-40B4-BE49-F238E27FC236}">
                  <a16:creationId xmlns:a16="http://schemas.microsoft.com/office/drawing/2014/main" id="{155B97AC-C562-30D5-8322-D3DCD9163589}"/>
                </a:ext>
              </a:extLst>
            </p:cNvPr>
            <p:cNvSpPr/>
            <p:nvPr/>
          </p:nvSpPr>
          <p:spPr>
            <a:xfrm>
              <a:off x="5292080" y="4046979"/>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Floating-point Arithmetic</a:t>
              </a:r>
            </a:p>
          </p:txBody>
        </p:sp>
        <p:pic>
          <p:nvPicPr>
            <p:cNvPr id="8" name="Graphic 7" descr="Badge 4 outline">
              <a:extLst>
                <a:ext uri="{FF2B5EF4-FFF2-40B4-BE49-F238E27FC236}">
                  <a16:creationId xmlns:a16="http://schemas.microsoft.com/office/drawing/2014/main" id="{F91002FC-3B18-B984-AA0C-EB91A97385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16016" y="3918474"/>
              <a:ext cx="914400" cy="914400"/>
            </a:xfrm>
            <a:prstGeom prst="rect">
              <a:avLst/>
            </a:prstGeom>
          </p:spPr>
        </p:pic>
      </p:grpSp>
      <p:grpSp>
        <p:nvGrpSpPr>
          <p:cNvPr id="11" name="Group 10">
            <a:extLst>
              <a:ext uri="{FF2B5EF4-FFF2-40B4-BE49-F238E27FC236}">
                <a16:creationId xmlns:a16="http://schemas.microsoft.com/office/drawing/2014/main" id="{314ABCB2-D9B8-CA82-B621-D7104E904374}"/>
              </a:ext>
            </a:extLst>
          </p:cNvPr>
          <p:cNvGrpSpPr/>
          <p:nvPr/>
        </p:nvGrpSpPr>
        <p:grpSpPr>
          <a:xfrm>
            <a:off x="82352" y="3850793"/>
            <a:ext cx="3121496" cy="1276306"/>
            <a:chOff x="82352" y="3850793"/>
            <a:chExt cx="3121496" cy="1276306"/>
          </a:xfrm>
        </p:grpSpPr>
        <p:sp>
          <p:nvSpPr>
            <p:cNvPr id="4" name="Rectangle 3">
              <a:extLst>
                <a:ext uri="{FF2B5EF4-FFF2-40B4-BE49-F238E27FC236}">
                  <a16:creationId xmlns:a16="http://schemas.microsoft.com/office/drawing/2014/main" id="{547AEB9E-80BA-214F-EDE8-3730E9C938BB}"/>
                </a:ext>
              </a:extLst>
            </p:cNvPr>
            <p:cNvSpPr/>
            <p:nvPr/>
          </p:nvSpPr>
          <p:spPr>
            <a:xfrm>
              <a:off x="755576" y="4046979"/>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Integer Arithmetic</a:t>
              </a:r>
            </a:p>
          </p:txBody>
        </p:sp>
        <p:pic>
          <p:nvPicPr>
            <p:cNvPr id="10" name="Graphic 9" descr="Badge 3 outline">
              <a:extLst>
                <a:ext uri="{FF2B5EF4-FFF2-40B4-BE49-F238E27FC236}">
                  <a16:creationId xmlns:a16="http://schemas.microsoft.com/office/drawing/2014/main" id="{1A24A127-606D-3B9C-EB2F-EC94CC8A62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352" y="3850793"/>
              <a:ext cx="914400" cy="914400"/>
            </a:xfrm>
            <a:prstGeom prst="rect">
              <a:avLst/>
            </a:prstGeom>
          </p:spPr>
        </p:pic>
      </p:grpSp>
      <p:grpSp>
        <p:nvGrpSpPr>
          <p:cNvPr id="9" name="Group 8">
            <a:extLst>
              <a:ext uri="{FF2B5EF4-FFF2-40B4-BE49-F238E27FC236}">
                <a16:creationId xmlns:a16="http://schemas.microsoft.com/office/drawing/2014/main" id="{04E245C8-C207-4D74-E3E8-002D2EBEC17E}"/>
              </a:ext>
            </a:extLst>
          </p:cNvPr>
          <p:cNvGrpSpPr/>
          <p:nvPr/>
        </p:nvGrpSpPr>
        <p:grpSpPr>
          <a:xfrm>
            <a:off x="4606280" y="1229085"/>
            <a:ext cx="3134072" cy="1266051"/>
            <a:chOff x="4606280" y="1229085"/>
            <a:chExt cx="3134072" cy="1266051"/>
          </a:xfrm>
        </p:grpSpPr>
        <p:sp>
          <p:nvSpPr>
            <p:cNvPr id="3" name="Rectangle 2">
              <a:extLst>
                <a:ext uri="{FF2B5EF4-FFF2-40B4-BE49-F238E27FC236}">
                  <a16:creationId xmlns:a16="http://schemas.microsoft.com/office/drawing/2014/main" id="{2649BA7D-96F2-329B-82E1-2BB2847551DE}"/>
                </a:ext>
              </a:extLst>
            </p:cNvPr>
            <p:cNvSpPr/>
            <p:nvPr/>
          </p:nvSpPr>
          <p:spPr>
            <a:xfrm>
              <a:off x="5292080" y="1415016"/>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Integer Representation</a:t>
              </a:r>
            </a:p>
          </p:txBody>
        </p:sp>
        <p:pic>
          <p:nvPicPr>
            <p:cNvPr id="12" name="Graphic 11" descr="Badge outline">
              <a:extLst>
                <a:ext uri="{FF2B5EF4-FFF2-40B4-BE49-F238E27FC236}">
                  <a16:creationId xmlns:a16="http://schemas.microsoft.com/office/drawing/2014/main" id="{153AAF4A-FB40-BBDD-B9F4-7C70842D16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06280" y="1229085"/>
              <a:ext cx="914400" cy="914400"/>
            </a:xfrm>
            <a:prstGeom prst="rect">
              <a:avLst/>
            </a:prstGeom>
          </p:spPr>
        </p:pic>
      </p:grpSp>
      <p:grpSp>
        <p:nvGrpSpPr>
          <p:cNvPr id="7" name="Group 6">
            <a:extLst>
              <a:ext uri="{FF2B5EF4-FFF2-40B4-BE49-F238E27FC236}">
                <a16:creationId xmlns:a16="http://schemas.microsoft.com/office/drawing/2014/main" id="{06ED4C9B-35C3-E8FA-B590-19F39F8C88C3}"/>
              </a:ext>
            </a:extLst>
          </p:cNvPr>
          <p:cNvGrpSpPr/>
          <p:nvPr/>
        </p:nvGrpSpPr>
        <p:grpSpPr>
          <a:xfrm>
            <a:off x="82352" y="1208150"/>
            <a:ext cx="3121496" cy="1242831"/>
            <a:chOff x="82352" y="1208150"/>
            <a:chExt cx="3121496" cy="1242831"/>
          </a:xfrm>
        </p:grpSpPr>
        <p:sp>
          <p:nvSpPr>
            <p:cNvPr id="2" name="Rectangle 1">
              <a:extLst>
                <a:ext uri="{FF2B5EF4-FFF2-40B4-BE49-F238E27FC236}">
                  <a16:creationId xmlns:a16="http://schemas.microsoft.com/office/drawing/2014/main" id="{A42FDAFE-3478-5367-9B44-2083E1CE2103}"/>
                </a:ext>
              </a:extLst>
            </p:cNvPr>
            <p:cNvSpPr/>
            <p:nvPr/>
          </p:nvSpPr>
          <p:spPr>
            <a:xfrm>
              <a:off x="755576" y="1370861"/>
              <a:ext cx="244827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Arithmetic &amp; Logic Unit</a:t>
              </a:r>
            </a:p>
          </p:txBody>
        </p:sp>
        <p:pic>
          <p:nvPicPr>
            <p:cNvPr id="14" name="Graphic 13" descr="Badge 1 outline">
              <a:extLst>
                <a:ext uri="{FF2B5EF4-FFF2-40B4-BE49-F238E27FC236}">
                  <a16:creationId xmlns:a16="http://schemas.microsoft.com/office/drawing/2014/main" id="{0BDA04BC-E5EB-0806-CECB-57E824425A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352" y="1208150"/>
              <a:ext cx="914400" cy="914400"/>
            </a:xfrm>
            <a:prstGeom prst="rect">
              <a:avLst/>
            </a:prstGeom>
          </p:spPr>
        </p:pic>
      </p:grpSp>
      <p:sp>
        <p:nvSpPr>
          <p:cNvPr id="15" name="Slide Number Placeholder 14">
            <a:extLst>
              <a:ext uri="{FF2B5EF4-FFF2-40B4-BE49-F238E27FC236}">
                <a16:creationId xmlns:a16="http://schemas.microsoft.com/office/drawing/2014/main" id="{580C17F1-65A8-8DEB-B857-A0097AE90817}"/>
              </a:ext>
            </a:extLst>
          </p:cNvPr>
          <p:cNvSpPr>
            <a:spLocks noGrp="1"/>
          </p:cNvSpPr>
          <p:nvPr>
            <p:ph type="sldNum" sz="quarter" idx="12"/>
          </p:nvPr>
        </p:nvSpPr>
        <p:spPr/>
        <p:txBody>
          <a:bodyPr/>
          <a:lstStyle/>
          <a:p>
            <a:pPr>
              <a:defRPr/>
            </a:pPr>
            <a:fld id="{B15F286D-88BF-4C85-84EF-53248539BE74}" type="slidenum">
              <a:rPr lang="en-US" altLang="en-US" smtClean="0"/>
              <a:pPr>
                <a:defRPr/>
              </a:pPr>
              <a:t>7</a:t>
            </a:fld>
            <a:endParaRPr lang="en-US" altLang="en-US"/>
          </a:p>
        </p:txBody>
      </p:sp>
    </p:spTree>
    <p:extLst>
      <p:ext uri="{BB962C8B-B14F-4D97-AF65-F5344CB8AC3E}">
        <p14:creationId xmlns:p14="http://schemas.microsoft.com/office/powerpoint/2010/main" val="1413289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xit" presetSubtype="0" fill="hold" grpId="0" nodeType="with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000"/>
                                        <p:tgtEl>
                                          <p:spTgt spid="11"/>
                                        </p:tgtEl>
                                      </p:cBhvr>
                                    </p:animEffect>
                                    <p:anim calcmode="lin" valueType="num">
                                      <p:cBhvr>
                                        <p:cTn id="12" dur="1000"/>
                                        <p:tgtEl>
                                          <p:spTgt spid="11"/>
                                        </p:tgtEl>
                                        <p:attrNameLst>
                                          <p:attrName>ppt_x</p:attrName>
                                        </p:attrNameLst>
                                      </p:cBhvr>
                                      <p:tavLst>
                                        <p:tav tm="0">
                                          <p:val>
                                            <p:strVal val="ppt_x"/>
                                          </p:val>
                                        </p:tav>
                                        <p:tav tm="100000">
                                          <p:val>
                                            <p:strVal val="ppt_x"/>
                                          </p:val>
                                        </p:tav>
                                      </p:tavLst>
                                    </p:anim>
                                    <p:anim calcmode="lin" valueType="num">
                                      <p:cBhvr>
                                        <p:cTn id="13" dur="1000"/>
                                        <p:tgtEl>
                                          <p:spTgt spid="11"/>
                                        </p:tgtEl>
                                        <p:attrNameLst>
                                          <p:attrName>ppt_y</p:attrName>
                                        </p:attrNameLst>
                                      </p:cBhvr>
                                      <p:tavLst>
                                        <p:tav tm="0">
                                          <p:val>
                                            <p:strVal val="ppt_y"/>
                                          </p:val>
                                        </p:tav>
                                        <p:tav tm="100000">
                                          <p:val>
                                            <p:strVal val="ppt_y+.1"/>
                                          </p:val>
                                        </p:tav>
                                      </p:tavLst>
                                    </p:anim>
                                    <p:set>
                                      <p:cBhvr>
                                        <p:cTn id="14" dur="1" fill="hold">
                                          <p:stCondLst>
                                            <p:cond delay="999"/>
                                          </p:stCondLst>
                                        </p:cTn>
                                        <p:tgtEl>
                                          <p:spTgt spid="11"/>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000"/>
                                        <p:tgtEl>
                                          <p:spTgt spid="7"/>
                                        </p:tgtEl>
                                      </p:cBhvr>
                                    </p:animEffect>
                                    <p:anim calcmode="lin" valueType="num">
                                      <p:cBhvr>
                                        <p:cTn id="17" dur="1000"/>
                                        <p:tgtEl>
                                          <p:spTgt spid="7"/>
                                        </p:tgtEl>
                                        <p:attrNameLst>
                                          <p:attrName>ppt_x</p:attrName>
                                        </p:attrNameLst>
                                      </p:cBhvr>
                                      <p:tavLst>
                                        <p:tav tm="0">
                                          <p:val>
                                            <p:strVal val="ppt_x"/>
                                          </p:val>
                                        </p:tav>
                                        <p:tav tm="100000">
                                          <p:val>
                                            <p:strVal val="ppt_x"/>
                                          </p:val>
                                        </p:tav>
                                      </p:tavLst>
                                    </p:anim>
                                    <p:anim calcmode="lin" valueType="num">
                                      <p:cBhvr>
                                        <p:cTn id="18" dur="1000"/>
                                        <p:tgtEl>
                                          <p:spTgt spid="7"/>
                                        </p:tgtEl>
                                        <p:attrNameLst>
                                          <p:attrName>ppt_y</p:attrName>
                                        </p:attrNameLst>
                                      </p:cBhvr>
                                      <p:tavLst>
                                        <p:tav tm="0">
                                          <p:val>
                                            <p:strVal val="ppt_y"/>
                                          </p:val>
                                        </p:tav>
                                        <p:tav tm="100000">
                                          <p:val>
                                            <p:strVal val="ppt_y+.1"/>
                                          </p:val>
                                        </p:tav>
                                      </p:tavLst>
                                    </p:anim>
                                    <p:set>
                                      <p:cBhvr>
                                        <p:cTn id="19" dur="1" fill="hold">
                                          <p:stCondLst>
                                            <p:cond delay="999"/>
                                          </p:stCondLst>
                                        </p:cTn>
                                        <p:tgtEl>
                                          <p:spTgt spid="7"/>
                                        </p:tgtEl>
                                        <p:attrNameLst>
                                          <p:attrName>style.visibility</p:attrName>
                                        </p:attrNameLst>
                                      </p:cBhvr>
                                      <p:to>
                                        <p:strVal val="hidden"/>
                                      </p:to>
                                    </p:set>
                                  </p:childTnLst>
                                </p:cTn>
                              </p:par>
                              <p:par>
                                <p:cTn id="20" presetID="42" presetClass="exit" presetSubtype="0" fill="hold" nodeType="withEffect">
                                  <p:stCondLst>
                                    <p:cond delay="0"/>
                                  </p:stCondLst>
                                  <p:childTnLst>
                                    <p:animEffect transition="out" filter="fade">
                                      <p:cBhvr>
                                        <p:cTn id="21" dur="1000"/>
                                        <p:tgtEl>
                                          <p:spTgt spid="13"/>
                                        </p:tgtEl>
                                      </p:cBhvr>
                                    </p:animEffect>
                                    <p:anim calcmode="lin" valueType="num">
                                      <p:cBhvr>
                                        <p:cTn id="22" dur="1000"/>
                                        <p:tgtEl>
                                          <p:spTgt spid="13"/>
                                        </p:tgtEl>
                                        <p:attrNameLst>
                                          <p:attrName>ppt_x</p:attrName>
                                        </p:attrNameLst>
                                      </p:cBhvr>
                                      <p:tavLst>
                                        <p:tav tm="0">
                                          <p:val>
                                            <p:strVal val="ppt_x"/>
                                          </p:val>
                                        </p:tav>
                                        <p:tav tm="100000">
                                          <p:val>
                                            <p:strVal val="ppt_x"/>
                                          </p:val>
                                        </p:tav>
                                      </p:tavLst>
                                    </p:anim>
                                    <p:anim calcmode="lin" valueType="num">
                                      <p:cBhvr>
                                        <p:cTn id="23" dur="1000"/>
                                        <p:tgtEl>
                                          <p:spTgt spid="13"/>
                                        </p:tgtEl>
                                        <p:attrNameLst>
                                          <p:attrName>ppt_y</p:attrName>
                                        </p:attrNameLst>
                                      </p:cBhvr>
                                      <p:tavLst>
                                        <p:tav tm="0">
                                          <p:val>
                                            <p:strVal val="ppt_y"/>
                                          </p:val>
                                        </p:tav>
                                        <p:tav tm="100000">
                                          <p:val>
                                            <p:strVal val="ppt_y+.1"/>
                                          </p:val>
                                        </p:tav>
                                      </p:tavLst>
                                    </p:anim>
                                    <p:set>
                                      <p:cBhvr>
                                        <p:cTn id="24" dur="1" fill="hold">
                                          <p:stCondLst>
                                            <p:cond delay="999"/>
                                          </p:stCondLst>
                                        </p:cTn>
                                        <p:tgtEl>
                                          <p:spTgt spid="13"/>
                                        </p:tgtEl>
                                        <p:attrNameLst>
                                          <p:attrName>style.visibility</p:attrName>
                                        </p:attrNameLst>
                                      </p:cBhvr>
                                      <p:to>
                                        <p:strVal val="hidden"/>
                                      </p:to>
                                    </p:set>
                                  </p:childTnLst>
                                </p:cTn>
                              </p:par>
                              <p:par>
                                <p:cTn id="25" presetID="0" presetClass="path" presetSubtype="0" accel="50000" decel="50000" fill="hold" grpId="0" nodeType="withEffect">
                                  <p:stCondLst>
                                    <p:cond delay="0"/>
                                  </p:stCondLst>
                                  <p:childTnLst>
                                    <p:animMotion origin="layout" path="M 0 0 L 0 0 C -0.00382 -0.00301 -0.00747 -0.00648 -0.01129 -0.0088 C -0.03091 -0.02153 -0.04115 -0.02639 -0.06302 -0.03148 C -0.07118 -0.03334 -0.07952 -0.03334 -0.08768 -0.03426 C -0.10226 -0.03287 -0.11702 -0.03241 -0.1316 -0.02986 C -0.15139 -0.02662 -0.16112 -0.02199 -0.17882 -0.01181 C -0.19879 -0.00023 -0.21962 0.01157 -0.23612 0.03148 C -0.24497 0.04259 -0.2507 0.05324 -0.25625 0.06759 C -0.26112 0.07986 -0.2665 0.0919 -0.2698 0.10486 C -0.27084 0.10949 -0.27205 0.11389 -0.27309 0.11852 C -0.27552 0.1294 -0.27987 0.15139 -0.27987 0.15139 C -0.28021 0.17731 -0.28091 0.20347 -0.28091 0.2294 C -0.28091 0.2324 -0.28091 0.23565 -0.27987 0.23842 C -0.27934 0.24004 -0.27657 0.24143 -0.27657 0.24143 L -0.27657 0.24143 " pathEditMode="relative" ptsTypes="AAAAAAAAAAAAAAAA">
                                      <p:cBhvr>
                                        <p:cTn id="26" dur="2000" fill="hold"/>
                                        <p:tgtEl>
                                          <p:spTgt spid="11267">
                                            <p:txEl>
                                              <p:pRg st="0" end="0"/>
                                            </p:txEl>
                                          </p:spTgt>
                                        </p:tgtEl>
                                        <p:attrNameLst>
                                          <p:attrName>ppt_x</p:attrName>
                                          <p:attrName>ppt_y</p:attrName>
                                        </p:attrNameLst>
                                      </p:cBhvr>
                                    </p:animMotion>
                                  </p:childTnLst>
                                </p:cTn>
                              </p:par>
                              <p:par>
                                <p:cTn id="27" presetID="0" presetClass="path" presetSubtype="0" accel="50000" decel="50000" fill="hold" grpId="0" nodeType="withEffect">
                                  <p:stCondLst>
                                    <p:cond delay="0"/>
                                  </p:stCondLst>
                                  <p:childTnLst>
                                    <p:animMotion origin="layout" path="M 0 0 L 0 0 C -0.00382 -0.00301 -0.00747 -0.00648 -0.01129 -0.0088 C -0.03091 -0.02153 -0.04115 -0.02639 -0.06302 -0.03148 C -0.07118 -0.03334 -0.07952 -0.03334 -0.08768 -0.03426 C -0.10226 -0.03287 -0.11702 -0.03241 -0.1316 -0.02986 C -0.15139 -0.02662 -0.16112 -0.02199 -0.17882 -0.01181 C -0.19879 -0.00023 -0.21962 0.01157 -0.23612 0.03148 C -0.24497 0.04259 -0.2507 0.05324 -0.25625 0.06759 C -0.26112 0.07986 -0.2665 0.0919 -0.2698 0.10486 C -0.27084 0.10949 -0.27205 0.11389 -0.27309 0.11852 C -0.27552 0.1294 -0.27987 0.15139 -0.27987 0.15139 C -0.28021 0.17731 -0.28091 0.20347 -0.28091 0.2294 C -0.28091 0.2324 -0.28091 0.23565 -0.27987 0.23842 C -0.27934 0.24004 -0.27657 0.24143 -0.27657 0.24143 L -0.27657 0.24143 " pathEditMode="relative" ptsTypes="AAAAAAAAAAAAAAAA">
                                      <p:cBhvr>
                                        <p:cTn id="28" dur="2000" fill="hold"/>
                                        <p:tgtEl>
                                          <p:spTgt spid="11267">
                                            <p:txEl>
                                              <p:pRg st="1" end="1"/>
                                            </p:txEl>
                                          </p:spTgt>
                                        </p:tgtEl>
                                        <p:attrNameLst>
                                          <p:attrName>ppt_x</p:attrName>
                                          <p:attrName>ppt_y</p:attrName>
                                        </p:attrNameLst>
                                      </p:cBhvr>
                                    </p:animMotion>
                                  </p:childTnLst>
                                </p:cTn>
                              </p:par>
                              <p:par>
                                <p:cTn id="29" presetID="0" presetClass="path" presetSubtype="0" accel="50000" decel="50000" fill="hold" grpId="0" nodeType="withEffect">
                                  <p:stCondLst>
                                    <p:cond delay="0"/>
                                  </p:stCondLst>
                                  <p:childTnLst>
                                    <p:animMotion origin="layout" path="M 0 0 L 0 0 C -0.00382 -0.00301 -0.00747 -0.00648 -0.01129 -0.0088 C -0.03091 -0.02153 -0.04115 -0.02639 -0.06302 -0.03148 C -0.07118 -0.03334 -0.07952 -0.03334 -0.08768 -0.03426 C -0.10226 -0.03287 -0.11702 -0.03241 -0.1316 -0.02986 C -0.15139 -0.02662 -0.16112 -0.02199 -0.17882 -0.01181 C -0.19879 -0.00023 -0.21962 0.01157 -0.23612 0.03148 C -0.24497 0.04259 -0.2507 0.05324 -0.25625 0.06759 C -0.26112 0.07986 -0.2665 0.0919 -0.2698 0.10486 C -0.27084 0.10949 -0.27205 0.11389 -0.27309 0.11852 C -0.27552 0.1294 -0.27987 0.15139 -0.27987 0.15139 C -0.28021 0.17731 -0.28091 0.20347 -0.28091 0.2294 C -0.28091 0.2324 -0.28091 0.23565 -0.27987 0.23842 C -0.27934 0.24004 -0.27657 0.24143 -0.27657 0.24143 L -0.27657 0.24143 " pathEditMode="relative" ptsTypes="AAAAAAAAAAAAAAAA">
                                      <p:cBhvr>
                                        <p:cTn id="30" dur="2000" fill="hold"/>
                                        <p:tgtEl>
                                          <p:spTgt spid="11267">
                                            <p:txEl>
                                              <p:pRg st="2" end="2"/>
                                            </p:txEl>
                                          </p:spTgt>
                                        </p:tgtEl>
                                        <p:attrNameLst>
                                          <p:attrName>ppt_x</p:attrName>
                                          <p:attrName>ppt_y</p:attrName>
                                        </p:attrNameLst>
                                      </p:cBhvr>
                                    </p:animMotion>
                                  </p:childTnLst>
                                </p:cTn>
                              </p:par>
                              <p:par>
                                <p:cTn id="31" presetID="0" presetClass="path" presetSubtype="0" accel="50000" decel="50000" fill="hold" nodeType="withEffect">
                                  <p:stCondLst>
                                    <p:cond delay="0"/>
                                  </p:stCondLst>
                                  <p:childTnLst>
                                    <p:animMotion origin="layout" path="M 0 0 L 0 0 C -0.00382 -0.00301 -0.00747 -0.00648 -0.01129 -0.0088 C -0.03091 -0.02153 -0.04115 -0.02639 -0.06302 -0.03148 C -0.07118 -0.03334 -0.07952 -0.03334 -0.08768 -0.03426 C -0.10226 -0.03287 -0.11702 -0.03241 -0.1316 -0.02986 C -0.15139 -0.02662 -0.16112 -0.02199 -0.17882 -0.01181 C -0.19879 -0.00023 -0.21962 0.01157 -0.23612 0.03148 C -0.24497 0.04259 -0.2507 0.05324 -0.25625 0.06759 C -0.26112 0.07986 -0.2665 0.0919 -0.2698 0.10486 C -0.27084 0.10949 -0.27205 0.11389 -0.27309 0.11852 C -0.27552 0.1294 -0.27987 0.15139 -0.27987 0.15139 C -0.28021 0.17731 -0.28091 0.20347 -0.28091 0.2294 C -0.28091 0.2324 -0.28091 0.23565 -0.27987 0.23842 C -0.27934 0.24004 -0.27657 0.24143 -0.27657 0.24143 L -0.27657 0.24143 " pathEditMode="relative" ptsTypes="AAAAAAAAAAAAAAAA">
                                      <p:cBhvr>
                                        <p:cTn id="32"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1E787F2-487B-45E4-A4D2-73C9519FB800}"/>
              </a:ext>
            </a:extLst>
          </p:cNvPr>
          <p:cNvSpPr>
            <a:spLocks noGrp="1" noChangeArrowheads="1"/>
          </p:cNvSpPr>
          <p:nvPr>
            <p:ph type="title" idx="4294967295"/>
          </p:nvPr>
        </p:nvSpPr>
        <p:spPr>
          <a:xfrm>
            <a:off x="396764" y="228600"/>
            <a:ext cx="7807436" cy="1143000"/>
          </a:xfrm>
        </p:spPr>
        <p:txBody>
          <a:bodyPr/>
          <a:lstStyle/>
          <a:p>
            <a:r>
              <a:rPr lang="en-US" altLang="en-US"/>
              <a:t>Integer Representation</a:t>
            </a:r>
          </a:p>
        </p:txBody>
      </p:sp>
      <p:sp>
        <p:nvSpPr>
          <p:cNvPr id="21507" name="Rectangle 3">
            <a:extLst>
              <a:ext uri="{FF2B5EF4-FFF2-40B4-BE49-F238E27FC236}">
                <a16:creationId xmlns:a16="http://schemas.microsoft.com/office/drawing/2014/main" id="{C094AE2A-A041-63F5-58F5-A1C6E6F9E8FF}"/>
              </a:ext>
            </a:extLst>
          </p:cNvPr>
          <p:cNvSpPr>
            <a:spLocks noGrp="1" noChangeArrowheads="1"/>
          </p:cNvSpPr>
          <p:nvPr>
            <p:ph type="body" idx="4294967295"/>
          </p:nvPr>
        </p:nvSpPr>
        <p:spPr>
          <a:xfrm>
            <a:off x="395536" y="1885950"/>
            <a:ext cx="7783264" cy="4171950"/>
          </a:xfrm>
        </p:spPr>
        <p:txBody>
          <a:bodyPr/>
          <a:lstStyle/>
          <a:p>
            <a:r>
              <a:rPr lang="en-US" altLang="en-US" dirty="0"/>
              <a:t>The way in which whole numbers (integers) are represented in a digital computer/binary system </a:t>
            </a:r>
          </a:p>
          <a:p>
            <a:r>
              <a:rPr lang="en-US" altLang="en-US" dirty="0"/>
              <a:t>Only have </a:t>
            </a:r>
            <a:r>
              <a:rPr lang="en-US" altLang="en-US" sz="3600" b="1" dirty="0">
                <a:solidFill>
                  <a:srgbClr val="92D050"/>
                </a:solidFill>
              </a:rPr>
              <a:t>0</a:t>
            </a:r>
            <a:r>
              <a:rPr lang="en-US" altLang="en-US" dirty="0"/>
              <a:t> &amp; </a:t>
            </a:r>
            <a:r>
              <a:rPr lang="en-US" altLang="en-US" sz="3600" b="1" dirty="0">
                <a:solidFill>
                  <a:srgbClr val="FF0000"/>
                </a:solidFill>
              </a:rPr>
              <a:t>1</a:t>
            </a:r>
            <a:r>
              <a:rPr lang="en-US" altLang="en-US" dirty="0"/>
              <a:t> to represent everything</a:t>
            </a:r>
          </a:p>
          <a:p>
            <a:r>
              <a:rPr lang="en-US" altLang="en-US" dirty="0"/>
              <a:t>Positive numbers stored in binary</a:t>
            </a:r>
          </a:p>
          <a:p>
            <a:pPr lvl="1"/>
            <a:r>
              <a:rPr lang="en-US" altLang="en-US" dirty="0"/>
              <a:t>e.g. 41=00101001</a:t>
            </a:r>
          </a:p>
          <a:p>
            <a:r>
              <a:rPr lang="en-US" altLang="en-US" dirty="0"/>
              <a:t>Binary digit or a </a:t>
            </a:r>
            <a:r>
              <a:rPr lang="en-US" altLang="en-US" sz="3600" b="1" dirty="0">
                <a:solidFill>
                  <a:srgbClr val="00B0F0"/>
                </a:solidFill>
              </a:rPr>
              <a:t>????</a:t>
            </a:r>
            <a:endParaRPr lang="en-US" altLang="en-US" b="1" dirty="0">
              <a:solidFill>
                <a:srgbClr val="00B0F0"/>
              </a:solidFill>
            </a:endParaRPr>
          </a:p>
          <a:p>
            <a:endParaRPr lang="en-US" altLang="en-US" dirty="0"/>
          </a:p>
        </p:txBody>
      </p:sp>
      <p:sp>
        <p:nvSpPr>
          <p:cNvPr id="2" name="Rectangle 1">
            <a:extLst>
              <a:ext uri="{FF2B5EF4-FFF2-40B4-BE49-F238E27FC236}">
                <a16:creationId xmlns:a16="http://schemas.microsoft.com/office/drawing/2014/main" id="{EBC1914A-CBF3-E5AE-D827-A38252CB54A5}"/>
              </a:ext>
            </a:extLst>
          </p:cNvPr>
          <p:cNvSpPr/>
          <p:nvPr/>
        </p:nvSpPr>
        <p:spPr>
          <a:xfrm>
            <a:off x="2483768" y="4066778"/>
            <a:ext cx="144016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solidFill>
                  <a:srgbClr val="FF0000"/>
                </a:solidFill>
              </a:rPr>
              <a:t>Bit</a:t>
            </a:r>
          </a:p>
        </p:txBody>
      </p:sp>
      <p:sp>
        <p:nvSpPr>
          <p:cNvPr id="3" name="Slide Number Placeholder 2">
            <a:extLst>
              <a:ext uri="{FF2B5EF4-FFF2-40B4-BE49-F238E27FC236}">
                <a16:creationId xmlns:a16="http://schemas.microsoft.com/office/drawing/2014/main" id="{74B3A698-B451-3017-87E1-343DABF3F721}"/>
              </a:ext>
            </a:extLst>
          </p:cNvPr>
          <p:cNvSpPr>
            <a:spLocks noGrp="1"/>
          </p:cNvSpPr>
          <p:nvPr>
            <p:ph type="sldNum" sz="quarter" idx="12"/>
          </p:nvPr>
        </p:nvSpPr>
        <p:spPr/>
        <p:txBody>
          <a:bodyPr/>
          <a:lstStyle/>
          <a:p>
            <a:pPr>
              <a:defRPr/>
            </a:pPr>
            <a:fld id="{F9839A35-988A-4C75-AB86-CE687B152A44}" type="slidenum">
              <a:rPr lang="en-US" altLang="en-US" smtClean="0"/>
              <a:pPr>
                <a:defRPr/>
              </a:pPr>
              <a:t>8</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09882E-654B-E59C-0BFD-24F422F7E370}"/>
              </a:ext>
            </a:extLst>
          </p:cNvPr>
          <p:cNvSpPr/>
          <p:nvPr/>
        </p:nvSpPr>
        <p:spPr>
          <a:xfrm>
            <a:off x="2915816" y="548680"/>
            <a:ext cx="22322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Data Representation</a:t>
            </a:r>
          </a:p>
        </p:txBody>
      </p:sp>
      <p:sp>
        <p:nvSpPr>
          <p:cNvPr id="5" name="Rectangle 4">
            <a:extLst>
              <a:ext uri="{FF2B5EF4-FFF2-40B4-BE49-F238E27FC236}">
                <a16:creationId xmlns:a16="http://schemas.microsoft.com/office/drawing/2014/main" id="{8D84A76F-D547-7294-65B8-B28F5862A46E}"/>
              </a:ext>
            </a:extLst>
          </p:cNvPr>
          <p:cNvSpPr/>
          <p:nvPr/>
        </p:nvSpPr>
        <p:spPr>
          <a:xfrm>
            <a:off x="152962" y="1916832"/>
            <a:ext cx="2232248" cy="79208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Magnitude</a:t>
            </a:r>
          </a:p>
        </p:txBody>
      </p:sp>
      <p:sp>
        <p:nvSpPr>
          <p:cNvPr id="6" name="Rectangle 5">
            <a:extLst>
              <a:ext uri="{FF2B5EF4-FFF2-40B4-BE49-F238E27FC236}">
                <a16:creationId xmlns:a16="http://schemas.microsoft.com/office/drawing/2014/main" id="{38988385-3E04-0C6A-EF14-D4D00BA7EA8F}"/>
              </a:ext>
            </a:extLst>
          </p:cNvPr>
          <p:cNvSpPr/>
          <p:nvPr/>
        </p:nvSpPr>
        <p:spPr>
          <a:xfrm>
            <a:off x="5940152" y="1916832"/>
            <a:ext cx="2232248" cy="79208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Complement</a:t>
            </a:r>
          </a:p>
        </p:txBody>
      </p:sp>
      <p:cxnSp>
        <p:nvCxnSpPr>
          <p:cNvPr id="8" name="Connector: Elbow 7">
            <a:extLst>
              <a:ext uri="{FF2B5EF4-FFF2-40B4-BE49-F238E27FC236}">
                <a16:creationId xmlns:a16="http://schemas.microsoft.com/office/drawing/2014/main" id="{B8AE9376-4A28-3F0A-63B6-23456A17392E}"/>
              </a:ext>
            </a:extLst>
          </p:cNvPr>
          <p:cNvCxnSpPr>
            <a:stCxn id="4" idx="2"/>
            <a:endCxn id="5" idx="0"/>
          </p:cNvCxnSpPr>
          <p:nvPr/>
        </p:nvCxnSpPr>
        <p:spPr>
          <a:xfrm rot="5400000">
            <a:off x="2362481" y="247373"/>
            <a:ext cx="576064" cy="276285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BAD8D5C5-1F60-EC00-71D6-1640B325AA85}"/>
              </a:ext>
            </a:extLst>
          </p:cNvPr>
          <p:cNvCxnSpPr>
            <a:cxnSpLocks/>
            <a:stCxn id="4" idx="2"/>
            <a:endCxn id="6" idx="0"/>
          </p:cNvCxnSpPr>
          <p:nvPr/>
        </p:nvCxnSpPr>
        <p:spPr>
          <a:xfrm rot="16200000" flipH="1">
            <a:off x="5256076" y="116632"/>
            <a:ext cx="576064" cy="302433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A0E0854-C845-D676-F46C-B57EC546FE9C}"/>
              </a:ext>
            </a:extLst>
          </p:cNvPr>
          <p:cNvSpPr/>
          <p:nvPr/>
        </p:nvSpPr>
        <p:spPr>
          <a:xfrm>
            <a:off x="1691680" y="32849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Unsigned</a:t>
            </a:r>
          </a:p>
        </p:txBody>
      </p:sp>
      <p:sp>
        <p:nvSpPr>
          <p:cNvPr id="15" name="Rectangle 14">
            <a:extLst>
              <a:ext uri="{FF2B5EF4-FFF2-40B4-BE49-F238E27FC236}">
                <a16:creationId xmlns:a16="http://schemas.microsoft.com/office/drawing/2014/main" id="{97E68174-2C62-6494-67A3-AD4FF85C7839}"/>
              </a:ext>
            </a:extLst>
          </p:cNvPr>
          <p:cNvSpPr/>
          <p:nvPr/>
        </p:nvSpPr>
        <p:spPr>
          <a:xfrm>
            <a:off x="1691680" y="50851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Signed</a:t>
            </a:r>
          </a:p>
        </p:txBody>
      </p:sp>
      <p:sp>
        <p:nvSpPr>
          <p:cNvPr id="16" name="Rectangle 15">
            <a:extLst>
              <a:ext uri="{FF2B5EF4-FFF2-40B4-BE49-F238E27FC236}">
                <a16:creationId xmlns:a16="http://schemas.microsoft.com/office/drawing/2014/main" id="{406C1BBB-283D-C2B4-3CFE-1C5CEEF1E248}"/>
              </a:ext>
            </a:extLst>
          </p:cNvPr>
          <p:cNvSpPr/>
          <p:nvPr/>
        </p:nvSpPr>
        <p:spPr>
          <a:xfrm>
            <a:off x="4716016" y="3284984"/>
            <a:ext cx="1584176" cy="57606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bg1"/>
                </a:solidFill>
              </a:rPr>
              <a:t>1’s complement</a:t>
            </a:r>
          </a:p>
        </p:txBody>
      </p:sp>
      <p:sp>
        <p:nvSpPr>
          <p:cNvPr id="17" name="Rectangle 16">
            <a:extLst>
              <a:ext uri="{FF2B5EF4-FFF2-40B4-BE49-F238E27FC236}">
                <a16:creationId xmlns:a16="http://schemas.microsoft.com/office/drawing/2014/main" id="{68D67691-7A03-43D4-E4D9-D8B39BC31CBC}"/>
              </a:ext>
            </a:extLst>
          </p:cNvPr>
          <p:cNvSpPr/>
          <p:nvPr/>
        </p:nvSpPr>
        <p:spPr>
          <a:xfrm>
            <a:off x="4716016" y="5085184"/>
            <a:ext cx="1584176"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tx1"/>
                </a:solidFill>
              </a:rPr>
              <a:t>2’s complement</a:t>
            </a:r>
          </a:p>
        </p:txBody>
      </p:sp>
      <p:cxnSp>
        <p:nvCxnSpPr>
          <p:cNvPr id="18" name="Connector: Elbow 17">
            <a:extLst>
              <a:ext uri="{FF2B5EF4-FFF2-40B4-BE49-F238E27FC236}">
                <a16:creationId xmlns:a16="http://schemas.microsoft.com/office/drawing/2014/main" id="{678EBFDA-B308-574E-3C70-D7116AD2916A}"/>
              </a:ext>
            </a:extLst>
          </p:cNvPr>
          <p:cNvCxnSpPr>
            <a:cxnSpLocks/>
            <a:stCxn id="5" idx="2"/>
            <a:endCxn id="14" idx="1"/>
          </p:cNvCxnSpPr>
          <p:nvPr/>
        </p:nvCxnSpPr>
        <p:spPr>
          <a:xfrm rot="16200000" flipH="1">
            <a:off x="1048335" y="2929671"/>
            <a:ext cx="8640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8A4507EC-2EC2-E8C7-EF20-4F26778948BF}"/>
              </a:ext>
            </a:extLst>
          </p:cNvPr>
          <p:cNvCxnSpPr>
            <a:cxnSpLocks/>
            <a:stCxn id="5" idx="2"/>
            <a:endCxn id="15" idx="1"/>
          </p:cNvCxnSpPr>
          <p:nvPr/>
        </p:nvCxnSpPr>
        <p:spPr>
          <a:xfrm rot="16200000" flipH="1">
            <a:off x="148235" y="3829771"/>
            <a:ext cx="26642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8369DAF5-5BDA-2F95-DBE3-B8979B430D8D}"/>
              </a:ext>
            </a:extLst>
          </p:cNvPr>
          <p:cNvCxnSpPr>
            <a:cxnSpLocks/>
            <a:stCxn id="6" idx="2"/>
            <a:endCxn id="16" idx="3"/>
          </p:cNvCxnSpPr>
          <p:nvPr/>
        </p:nvCxnSpPr>
        <p:spPr>
          <a:xfrm rot="5400000">
            <a:off x="6246186" y="2762926"/>
            <a:ext cx="8640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0BCA41C-515D-4357-0EE3-A416B6194855}"/>
              </a:ext>
            </a:extLst>
          </p:cNvPr>
          <p:cNvCxnSpPr>
            <a:cxnSpLocks/>
            <a:stCxn id="6" idx="2"/>
            <a:endCxn id="17" idx="3"/>
          </p:cNvCxnSpPr>
          <p:nvPr/>
        </p:nvCxnSpPr>
        <p:spPr>
          <a:xfrm rot="5400000">
            <a:off x="5346086" y="3663026"/>
            <a:ext cx="26642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C5128EA-13EF-8E81-F773-1E5157F3B074}"/>
              </a:ext>
            </a:extLst>
          </p:cNvPr>
          <p:cNvSpPr txBox="1"/>
          <p:nvPr/>
        </p:nvSpPr>
        <p:spPr>
          <a:xfrm>
            <a:off x="2093146" y="4032794"/>
            <a:ext cx="827086" cy="400110"/>
          </a:xfrm>
          <a:prstGeom prst="rect">
            <a:avLst/>
          </a:prstGeom>
          <a:noFill/>
        </p:spPr>
        <p:txBody>
          <a:bodyPr wrap="none" rtlCol="0">
            <a:spAutoFit/>
          </a:bodyPr>
          <a:lstStyle/>
          <a:p>
            <a:r>
              <a:rPr lang="en-MY" dirty="0"/>
              <a:t>(+</a:t>
            </a:r>
            <a:r>
              <a:rPr lang="en-MY" dirty="0" err="1"/>
              <a:t>ve</a:t>
            </a:r>
            <a:r>
              <a:rPr lang="en-MY" dirty="0"/>
              <a:t>)</a:t>
            </a:r>
          </a:p>
        </p:txBody>
      </p:sp>
      <p:sp>
        <p:nvSpPr>
          <p:cNvPr id="31" name="TextBox 30">
            <a:extLst>
              <a:ext uri="{FF2B5EF4-FFF2-40B4-BE49-F238E27FC236}">
                <a16:creationId xmlns:a16="http://schemas.microsoft.com/office/drawing/2014/main" id="{29592CBB-6C0B-0B62-8994-299753794464}"/>
              </a:ext>
            </a:extLst>
          </p:cNvPr>
          <p:cNvSpPr txBox="1"/>
          <p:nvPr/>
        </p:nvSpPr>
        <p:spPr>
          <a:xfrm>
            <a:off x="1631227"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2" name="TextBox 31">
            <a:extLst>
              <a:ext uri="{FF2B5EF4-FFF2-40B4-BE49-F238E27FC236}">
                <a16:creationId xmlns:a16="http://schemas.microsoft.com/office/drawing/2014/main" id="{58F3ADCE-A430-CDE3-E0B8-7514938D4669}"/>
              </a:ext>
            </a:extLst>
          </p:cNvPr>
          <p:cNvSpPr txBox="1"/>
          <p:nvPr/>
        </p:nvSpPr>
        <p:spPr>
          <a:xfrm>
            <a:off x="4655563" y="3963629"/>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3" name="TextBox 32">
            <a:extLst>
              <a:ext uri="{FF2B5EF4-FFF2-40B4-BE49-F238E27FC236}">
                <a16:creationId xmlns:a16="http://schemas.microsoft.com/office/drawing/2014/main" id="{2C85AA58-DFE9-F714-5EFC-7A83345A2D18}"/>
              </a:ext>
            </a:extLst>
          </p:cNvPr>
          <p:cNvSpPr txBox="1"/>
          <p:nvPr/>
        </p:nvSpPr>
        <p:spPr>
          <a:xfrm>
            <a:off x="4603054"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5" name="TextBox 34">
            <a:extLst>
              <a:ext uri="{FF2B5EF4-FFF2-40B4-BE49-F238E27FC236}">
                <a16:creationId xmlns:a16="http://schemas.microsoft.com/office/drawing/2014/main" id="{68E4DB94-4216-4662-2FBB-A97C6C691061}"/>
              </a:ext>
            </a:extLst>
          </p:cNvPr>
          <p:cNvSpPr txBox="1"/>
          <p:nvPr/>
        </p:nvSpPr>
        <p:spPr>
          <a:xfrm>
            <a:off x="30136" y="6486724"/>
            <a:ext cx="4257897" cy="261610"/>
          </a:xfrm>
          <a:prstGeom prst="rect">
            <a:avLst/>
          </a:prstGeom>
          <a:noFill/>
        </p:spPr>
        <p:txBody>
          <a:bodyPr wrap="none" rtlCol="0">
            <a:spAutoFit/>
          </a:bodyPr>
          <a:lstStyle/>
          <a:p>
            <a:r>
              <a:rPr lang="en-MY" sz="1100" dirty="0">
                <a:solidFill>
                  <a:srgbClr val="FF0000"/>
                </a:solidFill>
              </a:rPr>
              <a:t>In all representation, (+) number is represented in the same way</a:t>
            </a:r>
          </a:p>
        </p:txBody>
      </p:sp>
      <p:sp>
        <p:nvSpPr>
          <p:cNvPr id="2" name="Slide Number Placeholder 1">
            <a:extLst>
              <a:ext uri="{FF2B5EF4-FFF2-40B4-BE49-F238E27FC236}">
                <a16:creationId xmlns:a16="http://schemas.microsoft.com/office/drawing/2014/main" id="{C1FB508D-AE3E-0BCC-5250-CA9659EE36D5}"/>
              </a:ext>
            </a:extLst>
          </p:cNvPr>
          <p:cNvSpPr>
            <a:spLocks noGrp="1"/>
          </p:cNvSpPr>
          <p:nvPr>
            <p:ph type="sldNum" sz="quarter" idx="12"/>
          </p:nvPr>
        </p:nvSpPr>
        <p:spPr/>
        <p:txBody>
          <a:bodyPr/>
          <a:lstStyle/>
          <a:p>
            <a:pPr>
              <a:defRPr/>
            </a:pPr>
            <a:fld id="{B15F286D-88BF-4C85-84EF-53248539BE74}" type="slidenum">
              <a:rPr lang="en-US" altLang="en-US" smtClean="0"/>
              <a:pPr>
                <a:defRPr/>
              </a:pPr>
              <a:t>9</a:t>
            </a:fld>
            <a:endParaRPr lang="en-US" altLang="en-US"/>
          </a:p>
        </p:txBody>
      </p:sp>
    </p:spTree>
    <p:extLst>
      <p:ext uri="{BB962C8B-B14F-4D97-AF65-F5344CB8AC3E}">
        <p14:creationId xmlns:p14="http://schemas.microsoft.com/office/powerpoint/2010/main" val="218519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E34F23A-D298-F388-AF0F-E4C582F6354D}"/>
              </a:ext>
            </a:extLst>
          </p:cNvPr>
          <p:cNvSpPr>
            <a:spLocks noGrp="1" noChangeArrowheads="1"/>
          </p:cNvSpPr>
          <p:nvPr>
            <p:ph type="title" idx="4294967295"/>
          </p:nvPr>
        </p:nvSpPr>
        <p:spPr>
          <a:xfrm>
            <a:off x="396764" y="228600"/>
            <a:ext cx="7807436" cy="1143000"/>
          </a:xfrm>
        </p:spPr>
        <p:txBody>
          <a:bodyPr/>
          <a:lstStyle/>
          <a:p>
            <a:r>
              <a:rPr lang="en-US" altLang="en-US" dirty="0"/>
              <a:t>Integer Representation</a:t>
            </a:r>
          </a:p>
        </p:txBody>
      </p:sp>
      <p:sp>
        <p:nvSpPr>
          <p:cNvPr id="23555" name="Rectangle 3">
            <a:extLst>
              <a:ext uri="{FF2B5EF4-FFF2-40B4-BE49-F238E27FC236}">
                <a16:creationId xmlns:a16="http://schemas.microsoft.com/office/drawing/2014/main" id="{C2BB8406-F0AA-CBEA-4A74-85986061C433}"/>
              </a:ext>
            </a:extLst>
          </p:cNvPr>
          <p:cNvSpPr>
            <a:spLocks noGrp="1" noChangeArrowheads="1"/>
          </p:cNvSpPr>
          <p:nvPr>
            <p:ph type="body" idx="4294967295"/>
          </p:nvPr>
        </p:nvSpPr>
        <p:spPr>
          <a:xfrm>
            <a:off x="395536" y="1885950"/>
            <a:ext cx="7783264" cy="4171950"/>
          </a:xfrm>
        </p:spPr>
        <p:txBody>
          <a:bodyPr/>
          <a:lstStyle/>
          <a:p>
            <a:r>
              <a:rPr lang="en-US" altLang="en-US" dirty="0"/>
              <a:t>In the binary system, number system can be represented with just the digits 0 and 1</a:t>
            </a:r>
          </a:p>
          <a:p>
            <a:r>
              <a:rPr lang="en-US" altLang="en-US" dirty="0"/>
              <a:t>No </a:t>
            </a:r>
            <a:r>
              <a:rPr lang="en-US" altLang="en-US" sz="3600" b="1" dirty="0">
                <a:solidFill>
                  <a:srgbClr val="92D050"/>
                </a:solidFill>
              </a:rPr>
              <a:t>minus</a:t>
            </a:r>
            <a:r>
              <a:rPr lang="en-US" altLang="en-US" dirty="0"/>
              <a:t> sign, no </a:t>
            </a:r>
            <a:r>
              <a:rPr lang="en-US" altLang="en-US" sz="3600" b="1" dirty="0">
                <a:solidFill>
                  <a:srgbClr val="FF0000"/>
                </a:solidFill>
              </a:rPr>
              <a:t>period, </a:t>
            </a:r>
            <a:r>
              <a:rPr lang="en-US" altLang="en-US" dirty="0"/>
              <a:t>no</a:t>
            </a:r>
            <a:r>
              <a:rPr lang="en-US" altLang="en-US" sz="3600" b="1" dirty="0">
                <a:solidFill>
                  <a:srgbClr val="FF0000"/>
                </a:solidFill>
              </a:rPr>
              <a:t> radix point</a:t>
            </a:r>
            <a:endParaRPr lang="en-US" altLang="en-US" b="1" dirty="0">
              <a:solidFill>
                <a:srgbClr val="FF0000"/>
              </a:solidFill>
            </a:endParaRPr>
          </a:p>
          <a:p>
            <a:r>
              <a:rPr lang="en-US" altLang="en-US" dirty="0"/>
              <a:t>Two ways:</a:t>
            </a:r>
          </a:p>
        </p:txBody>
      </p:sp>
      <p:sp>
        <p:nvSpPr>
          <p:cNvPr id="2" name="Rectangle: Folded Corner 1">
            <a:extLst>
              <a:ext uri="{FF2B5EF4-FFF2-40B4-BE49-F238E27FC236}">
                <a16:creationId xmlns:a16="http://schemas.microsoft.com/office/drawing/2014/main" id="{1DA03560-106C-B3E3-8003-349EDE19DC64}"/>
              </a:ext>
            </a:extLst>
          </p:cNvPr>
          <p:cNvSpPr/>
          <p:nvPr/>
        </p:nvSpPr>
        <p:spPr>
          <a:xfrm>
            <a:off x="1187624" y="4450460"/>
            <a:ext cx="1656184" cy="1584176"/>
          </a:xfrm>
          <a:prstGeom prst="foldedCorne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Sign-Magnitude</a:t>
            </a:r>
          </a:p>
        </p:txBody>
      </p:sp>
      <p:sp>
        <p:nvSpPr>
          <p:cNvPr id="3" name="Rectangle: Folded Corner 2">
            <a:extLst>
              <a:ext uri="{FF2B5EF4-FFF2-40B4-BE49-F238E27FC236}">
                <a16:creationId xmlns:a16="http://schemas.microsoft.com/office/drawing/2014/main" id="{FCB5AA8D-2995-61DA-6425-2A2BBAA1DAB7}"/>
              </a:ext>
            </a:extLst>
          </p:cNvPr>
          <p:cNvSpPr/>
          <p:nvPr/>
        </p:nvSpPr>
        <p:spPr>
          <a:xfrm>
            <a:off x="4860032" y="4473724"/>
            <a:ext cx="1656184" cy="1584176"/>
          </a:xfrm>
          <a:prstGeom prst="foldedCorner">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Two’s complement</a:t>
            </a:r>
          </a:p>
        </p:txBody>
      </p:sp>
      <p:pic>
        <p:nvPicPr>
          <p:cNvPr id="5" name="Picture 4">
            <a:extLst>
              <a:ext uri="{FF2B5EF4-FFF2-40B4-BE49-F238E27FC236}">
                <a16:creationId xmlns:a16="http://schemas.microsoft.com/office/drawing/2014/main" id="{62098064-BDD3-1473-8911-CE20178783E5}"/>
              </a:ext>
            </a:extLst>
          </p:cNvPr>
          <p:cNvPicPr>
            <a:picLocks noChangeAspect="1"/>
          </p:cNvPicPr>
          <p:nvPr/>
        </p:nvPicPr>
        <p:blipFill>
          <a:blip r:embed="rId3"/>
          <a:stretch>
            <a:fillRect/>
          </a:stretch>
        </p:blipFill>
        <p:spPr>
          <a:xfrm>
            <a:off x="395536" y="2407540"/>
            <a:ext cx="7956376" cy="2639674"/>
          </a:xfrm>
          <a:prstGeom prst="rect">
            <a:avLst/>
          </a:prstGeom>
        </p:spPr>
      </p:pic>
      <p:sp>
        <p:nvSpPr>
          <p:cNvPr id="4" name="Slide Number Placeholder 3">
            <a:extLst>
              <a:ext uri="{FF2B5EF4-FFF2-40B4-BE49-F238E27FC236}">
                <a16:creationId xmlns:a16="http://schemas.microsoft.com/office/drawing/2014/main" id="{D2F7BD0F-DD78-F5C4-AC08-39EF5F1AC8AB}"/>
              </a:ext>
            </a:extLst>
          </p:cNvPr>
          <p:cNvSpPr>
            <a:spLocks noGrp="1"/>
          </p:cNvSpPr>
          <p:nvPr>
            <p:ph type="sldNum" sz="quarter" idx="12"/>
          </p:nvPr>
        </p:nvSpPr>
        <p:spPr/>
        <p:txBody>
          <a:bodyPr/>
          <a:lstStyle/>
          <a:p>
            <a:pPr>
              <a:defRPr/>
            </a:pPr>
            <a:fld id="{F9839A35-988A-4C75-AB86-CE687B152A44}" type="slidenum">
              <a:rPr lang="en-US" altLang="en-US" smtClean="0"/>
              <a:pPr>
                <a:defRPr/>
              </a:pPr>
              <a:t>10</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09882E-654B-E59C-0BFD-24F422F7E370}"/>
              </a:ext>
            </a:extLst>
          </p:cNvPr>
          <p:cNvSpPr/>
          <p:nvPr/>
        </p:nvSpPr>
        <p:spPr>
          <a:xfrm>
            <a:off x="2915816" y="548680"/>
            <a:ext cx="22322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Data Representation</a:t>
            </a:r>
          </a:p>
        </p:txBody>
      </p:sp>
      <p:sp>
        <p:nvSpPr>
          <p:cNvPr id="5" name="Rectangle 4">
            <a:extLst>
              <a:ext uri="{FF2B5EF4-FFF2-40B4-BE49-F238E27FC236}">
                <a16:creationId xmlns:a16="http://schemas.microsoft.com/office/drawing/2014/main" id="{8D84A76F-D547-7294-65B8-B28F5862A46E}"/>
              </a:ext>
            </a:extLst>
          </p:cNvPr>
          <p:cNvSpPr/>
          <p:nvPr/>
        </p:nvSpPr>
        <p:spPr>
          <a:xfrm>
            <a:off x="152962" y="1916832"/>
            <a:ext cx="2232248" cy="79208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Magnitude</a:t>
            </a:r>
          </a:p>
        </p:txBody>
      </p:sp>
      <p:sp>
        <p:nvSpPr>
          <p:cNvPr id="6" name="Rectangle 5">
            <a:extLst>
              <a:ext uri="{FF2B5EF4-FFF2-40B4-BE49-F238E27FC236}">
                <a16:creationId xmlns:a16="http://schemas.microsoft.com/office/drawing/2014/main" id="{38988385-3E04-0C6A-EF14-D4D00BA7EA8F}"/>
              </a:ext>
            </a:extLst>
          </p:cNvPr>
          <p:cNvSpPr/>
          <p:nvPr/>
        </p:nvSpPr>
        <p:spPr>
          <a:xfrm>
            <a:off x="5940152" y="1916832"/>
            <a:ext cx="2232248" cy="79208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Complement</a:t>
            </a:r>
          </a:p>
        </p:txBody>
      </p:sp>
      <p:cxnSp>
        <p:nvCxnSpPr>
          <p:cNvPr id="8" name="Connector: Elbow 7">
            <a:extLst>
              <a:ext uri="{FF2B5EF4-FFF2-40B4-BE49-F238E27FC236}">
                <a16:creationId xmlns:a16="http://schemas.microsoft.com/office/drawing/2014/main" id="{B8AE9376-4A28-3F0A-63B6-23456A17392E}"/>
              </a:ext>
            </a:extLst>
          </p:cNvPr>
          <p:cNvCxnSpPr>
            <a:stCxn id="4" idx="2"/>
            <a:endCxn id="5" idx="0"/>
          </p:cNvCxnSpPr>
          <p:nvPr/>
        </p:nvCxnSpPr>
        <p:spPr>
          <a:xfrm rot="5400000">
            <a:off x="2362481" y="247373"/>
            <a:ext cx="576064" cy="276285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BAD8D5C5-1F60-EC00-71D6-1640B325AA85}"/>
              </a:ext>
            </a:extLst>
          </p:cNvPr>
          <p:cNvCxnSpPr>
            <a:cxnSpLocks/>
            <a:stCxn id="4" idx="2"/>
            <a:endCxn id="6" idx="0"/>
          </p:cNvCxnSpPr>
          <p:nvPr/>
        </p:nvCxnSpPr>
        <p:spPr>
          <a:xfrm rot="16200000" flipH="1">
            <a:off x="5256076" y="116632"/>
            <a:ext cx="576064" cy="302433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A0E0854-C845-D676-F46C-B57EC546FE9C}"/>
              </a:ext>
            </a:extLst>
          </p:cNvPr>
          <p:cNvSpPr/>
          <p:nvPr/>
        </p:nvSpPr>
        <p:spPr>
          <a:xfrm>
            <a:off x="1691680" y="32849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Unsigned</a:t>
            </a:r>
          </a:p>
        </p:txBody>
      </p:sp>
      <p:sp>
        <p:nvSpPr>
          <p:cNvPr id="15" name="Rectangle 14">
            <a:extLst>
              <a:ext uri="{FF2B5EF4-FFF2-40B4-BE49-F238E27FC236}">
                <a16:creationId xmlns:a16="http://schemas.microsoft.com/office/drawing/2014/main" id="{97E68174-2C62-6494-67A3-AD4FF85C7839}"/>
              </a:ext>
            </a:extLst>
          </p:cNvPr>
          <p:cNvSpPr/>
          <p:nvPr/>
        </p:nvSpPr>
        <p:spPr>
          <a:xfrm>
            <a:off x="1691680" y="50851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Signed</a:t>
            </a:r>
          </a:p>
        </p:txBody>
      </p:sp>
      <p:sp>
        <p:nvSpPr>
          <p:cNvPr id="16" name="Rectangle 15">
            <a:extLst>
              <a:ext uri="{FF2B5EF4-FFF2-40B4-BE49-F238E27FC236}">
                <a16:creationId xmlns:a16="http://schemas.microsoft.com/office/drawing/2014/main" id="{406C1BBB-283D-C2B4-3CFE-1C5CEEF1E248}"/>
              </a:ext>
            </a:extLst>
          </p:cNvPr>
          <p:cNvSpPr/>
          <p:nvPr/>
        </p:nvSpPr>
        <p:spPr>
          <a:xfrm>
            <a:off x="4716016" y="3284984"/>
            <a:ext cx="1584176" cy="57606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bg1"/>
                </a:solidFill>
              </a:rPr>
              <a:t>1’s complement</a:t>
            </a:r>
          </a:p>
        </p:txBody>
      </p:sp>
      <p:sp>
        <p:nvSpPr>
          <p:cNvPr id="17" name="Rectangle 16">
            <a:extLst>
              <a:ext uri="{FF2B5EF4-FFF2-40B4-BE49-F238E27FC236}">
                <a16:creationId xmlns:a16="http://schemas.microsoft.com/office/drawing/2014/main" id="{68D67691-7A03-43D4-E4D9-D8B39BC31CBC}"/>
              </a:ext>
            </a:extLst>
          </p:cNvPr>
          <p:cNvSpPr/>
          <p:nvPr/>
        </p:nvSpPr>
        <p:spPr>
          <a:xfrm>
            <a:off x="4716016" y="5085184"/>
            <a:ext cx="1584176"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tx1"/>
                </a:solidFill>
              </a:rPr>
              <a:t>2’s complement</a:t>
            </a:r>
          </a:p>
        </p:txBody>
      </p:sp>
      <p:cxnSp>
        <p:nvCxnSpPr>
          <p:cNvPr id="18" name="Connector: Elbow 17">
            <a:extLst>
              <a:ext uri="{FF2B5EF4-FFF2-40B4-BE49-F238E27FC236}">
                <a16:creationId xmlns:a16="http://schemas.microsoft.com/office/drawing/2014/main" id="{678EBFDA-B308-574E-3C70-D7116AD2916A}"/>
              </a:ext>
            </a:extLst>
          </p:cNvPr>
          <p:cNvCxnSpPr>
            <a:cxnSpLocks/>
            <a:stCxn id="5" idx="2"/>
            <a:endCxn id="14" idx="1"/>
          </p:cNvCxnSpPr>
          <p:nvPr/>
        </p:nvCxnSpPr>
        <p:spPr>
          <a:xfrm rot="16200000" flipH="1">
            <a:off x="1048335" y="2929671"/>
            <a:ext cx="8640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8A4507EC-2EC2-E8C7-EF20-4F26778948BF}"/>
              </a:ext>
            </a:extLst>
          </p:cNvPr>
          <p:cNvCxnSpPr>
            <a:cxnSpLocks/>
            <a:stCxn id="5" idx="2"/>
            <a:endCxn id="15" idx="1"/>
          </p:cNvCxnSpPr>
          <p:nvPr/>
        </p:nvCxnSpPr>
        <p:spPr>
          <a:xfrm rot="16200000" flipH="1">
            <a:off x="148235" y="3829771"/>
            <a:ext cx="26642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8369DAF5-5BDA-2F95-DBE3-B8979B430D8D}"/>
              </a:ext>
            </a:extLst>
          </p:cNvPr>
          <p:cNvCxnSpPr>
            <a:cxnSpLocks/>
            <a:stCxn id="6" idx="2"/>
            <a:endCxn id="16" idx="3"/>
          </p:cNvCxnSpPr>
          <p:nvPr/>
        </p:nvCxnSpPr>
        <p:spPr>
          <a:xfrm rot="5400000">
            <a:off x="6246186" y="2762926"/>
            <a:ext cx="8640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0BCA41C-515D-4357-0EE3-A416B6194855}"/>
              </a:ext>
            </a:extLst>
          </p:cNvPr>
          <p:cNvCxnSpPr>
            <a:cxnSpLocks/>
            <a:stCxn id="6" idx="2"/>
            <a:endCxn id="17" idx="3"/>
          </p:cNvCxnSpPr>
          <p:nvPr/>
        </p:nvCxnSpPr>
        <p:spPr>
          <a:xfrm rot="5400000">
            <a:off x="5346086" y="3663026"/>
            <a:ext cx="26642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C5128EA-13EF-8E81-F773-1E5157F3B074}"/>
              </a:ext>
            </a:extLst>
          </p:cNvPr>
          <p:cNvSpPr txBox="1"/>
          <p:nvPr/>
        </p:nvSpPr>
        <p:spPr>
          <a:xfrm>
            <a:off x="2093146" y="4032794"/>
            <a:ext cx="827086" cy="400110"/>
          </a:xfrm>
          <a:prstGeom prst="rect">
            <a:avLst/>
          </a:prstGeom>
          <a:noFill/>
        </p:spPr>
        <p:txBody>
          <a:bodyPr wrap="none" rtlCol="0">
            <a:spAutoFit/>
          </a:bodyPr>
          <a:lstStyle/>
          <a:p>
            <a:r>
              <a:rPr lang="en-MY" dirty="0"/>
              <a:t>(+</a:t>
            </a:r>
            <a:r>
              <a:rPr lang="en-MY" dirty="0" err="1"/>
              <a:t>ve</a:t>
            </a:r>
            <a:r>
              <a:rPr lang="en-MY" dirty="0"/>
              <a:t>)</a:t>
            </a:r>
          </a:p>
        </p:txBody>
      </p:sp>
      <p:sp>
        <p:nvSpPr>
          <p:cNvPr id="31" name="TextBox 30">
            <a:extLst>
              <a:ext uri="{FF2B5EF4-FFF2-40B4-BE49-F238E27FC236}">
                <a16:creationId xmlns:a16="http://schemas.microsoft.com/office/drawing/2014/main" id="{29592CBB-6C0B-0B62-8994-299753794464}"/>
              </a:ext>
            </a:extLst>
          </p:cNvPr>
          <p:cNvSpPr txBox="1"/>
          <p:nvPr/>
        </p:nvSpPr>
        <p:spPr>
          <a:xfrm>
            <a:off x="1631227"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2" name="TextBox 31">
            <a:extLst>
              <a:ext uri="{FF2B5EF4-FFF2-40B4-BE49-F238E27FC236}">
                <a16:creationId xmlns:a16="http://schemas.microsoft.com/office/drawing/2014/main" id="{58F3ADCE-A430-CDE3-E0B8-7514938D4669}"/>
              </a:ext>
            </a:extLst>
          </p:cNvPr>
          <p:cNvSpPr txBox="1"/>
          <p:nvPr/>
        </p:nvSpPr>
        <p:spPr>
          <a:xfrm>
            <a:off x="4655563" y="3963629"/>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3" name="TextBox 32">
            <a:extLst>
              <a:ext uri="{FF2B5EF4-FFF2-40B4-BE49-F238E27FC236}">
                <a16:creationId xmlns:a16="http://schemas.microsoft.com/office/drawing/2014/main" id="{2C85AA58-DFE9-F714-5EFC-7A83345A2D18}"/>
              </a:ext>
            </a:extLst>
          </p:cNvPr>
          <p:cNvSpPr txBox="1"/>
          <p:nvPr/>
        </p:nvSpPr>
        <p:spPr>
          <a:xfrm>
            <a:off x="4603054"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5" name="TextBox 34">
            <a:extLst>
              <a:ext uri="{FF2B5EF4-FFF2-40B4-BE49-F238E27FC236}">
                <a16:creationId xmlns:a16="http://schemas.microsoft.com/office/drawing/2014/main" id="{68E4DB94-4216-4662-2FBB-A97C6C691061}"/>
              </a:ext>
            </a:extLst>
          </p:cNvPr>
          <p:cNvSpPr txBox="1"/>
          <p:nvPr/>
        </p:nvSpPr>
        <p:spPr>
          <a:xfrm>
            <a:off x="30136" y="6486724"/>
            <a:ext cx="4257897" cy="261610"/>
          </a:xfrm>
          <a:prstGeom prst="rect">
            <a:avLst/>
          </a:prstGeom>
          <a:noFill/>
        </p:spPr>
        <p:txBody>
          <a:bodyPr wrap="none" rtlCol="0">
            <a:spAutoFit/>
          </a:bodyPr>
          <a:lstStyle/>
          <a:p>
            <a:r>
              <a:rPr lang="en-MY" sz="1100" dirty="0">
                <a:solidFill>
                  <a:srgbClr val="FF0000"/>
                </a:solidFill>
              </a:rPr>
              <a:t>In all representation, (+) number is represented in the same way</a:t>
            </a:r>
          </a:p>
        </p:txBody>
      </p:sp>
      <p:sp>
        <p:nvSpPr>
          <p:cNvPr id="2" name="Rectangle 1">
            <a:extLst>
              <a:ext uri="{FF2B5EF4-FFF2-40B4-BE49-F238E27FC236}">
                <a16:creationId xmlns:a16="http://schemas.microsoft.com/office/drawing/2014/main" id="{9745BF3F-0501-F9E1-6BE9-F59AD2E869EA}"/>
              </a:ext>
            </a:extLst>
          </p:cNvPr>
          <p:cNvSpPr/>
          <p:nvPr/>
        </p:nvSpPr>
        <p:spPr>
          <a:xfrm>
            <a:off x="4031940" y="1601940"/>
            <a:ext cx="4365909" cy="49954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C6B9F6C0-810B-3DF2-3E4B-B4BADF824636}"/>
              </a:ext>
            </a:extLst>
          </p:cNvPr>
          <p:cNvSpPr>
            <a:spLocks noGrp="1"/>
          </p:cNvSpPr>
          <p:nvPr>
            <p:ph type="sldNum" sz="quarter" idx="12"/>
          </p:nvPr>
        </p:nvSpPr>
        <p:spPr/>
        <p:txBody>
          <a:bodyPr/>
          <a:lstStyle/>
          <a:p>
            <a:pPr>
              <a:defRPr/>
            </a:pPr>
            <a:fld id="{B15F286D-88BF-4C85-84EF-53248539BE74}" type="slidenum">
              <a:rPr lang="en-US" altLang="en-US" smtClean="0"/>
              <a:pPr>
                <a:defRPr/>
              </a:pPr>
              <a:t>11</a:t>
            </a:fld>
            <a:endParaRPr lang="en-US" altLang="en-US"/>
          </a:p>
        </p:txBody>
      </p:sp>
    </p:spTree>
    <p:extLst>
      <p:ext uri="{BB962C8B-B14F-4D97-AF65-F5344CB8AC3E}">
        <p14:creationId xmlns:p14="http://schemas.microsoft.com/office/powerpoint/2010/main" val="1589074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EDB1-B932-3CEB-C0B8-5D0382F45C1A}"/>
              </a:ext>
            </a:extLst>
          </p:cNvPr>
          <p:cNvSpPr>
            <a:spLocks noGrp="1"/>
          </p:cNvSpPr>
          <p:nvPr>
            <p:ph type="title"/>
          </p:nvPr>
        </p:nvSpPr>
        <p:spPr/>
        <p:txBody>
          <a:bodyPr/>
          <a:lstStyle/>
          <a:p>
            <a:r>
              <a:rPr lang="en-GB" dirty="0"/>
              <a:t>Unsigned magnitude </a:t>
            </a:r>
          </a:p>
        </p:txBody>
      </p:sp>
      <p:sp>
        <p:nvSpPr>
          <p:cNvPr id="3" name="Content Placeholder 2">
            <a:extLst>
              <a:ext uri="{FF2B5EF4-FFF2-40B4-BE49-F238E27FC236}">
                <a16:creationId xmlns:a16="http://schemas.microsoft.com/office/drawing/2014/main" id="{7628F08F-5F84-6858-29F1-A98813E2EC8A}"/>
              </a:ext>
            </a:extLst>
          </p:cNvPr>
          <p:cNvSpPr>
            <a:spLocks noGrp="1"/>
          </p:cNvSpPr>
          <p:nvPr>
            <p:ph idx="1"/>
          </p:nvPr>
        </p:nvSpPr>
        <p:spPr/>
        <p:txBody>
          <a:bodyPr/>
          <a:lstStyle/>
          <a:p>
            <a:r>
              <a:rPr lang="en-GB" dirty="0"/>
              <a:t>Represents </a:t>
            </a:r>
            <a:r>
              <a:rPr lang="en-GB" b="1" dirty="0">
                <a:solidFill>
                  <a:srgbClr val="00B050"/>
                </a:solidFill>
              </a:rPr>
              <a:t>positive integers </a:t>
            </a:r>
          </a:p>
        </p:txBody>
      </p:sp>
      <p:graphicFrame>
        <p:nvGraphicFramePr>
          <p:cNvPr id="4" name="Table 3">
            <a:extLst>
              <a:ext uri="{FF2B5EF4-FFF2-40B4-BE49-F238E27FC236}">
                <a16:creationId xmlns:a16="http://schemas.microsoft.com/office/drawing/2014/main" id="{1E29E037-4695-9B2E-E122-95BDEF3016B1}"/>
              </a:ext>
            </a:extLst>
          </p:cNvPr>
          <p:cNvGraphicFramePr>
            <a:graphicFrameLocks noGrp="1"/>
          </p:cNvGraphicFramePr>
          <p:nvPr>
            <p:extLst>
              <p:ext uri="{D42A27DB-BD31-4B8C-83A1-F6EECF244321}">
                <p14:modId xmlns:p14="http://schemas.microsoft.com/office/powerpoint/2010/main" val="2253447989"/>
              </p:ext>
            </p:extLst>
          </p:nvPr>
        </p:nvGraphicFramePr>
        <p:xfrm>
          <a:off x="632308" y="2687320"/>
          <a:ext cx="7272810" cy="1112520"/>
        </p:xfrm>
        <a:graphic>
          <a:graphicData uri="http://schemas.openxmlformats.org/drawingml/2006/table">
            <a:tbl>
              <a:tblPr firstRow="1" bandRow="1">
                <a:tableStyleId>{5940675A-B579-460E-94D1-54222C63F5DA}</a:tableStyleId>
              </a:tblPr>
              <a:tblGrid>
                <a:gridCol w="1273042">
                  <a:extLst>
                    <a:ext uri="{9D8B030D-6E8A-4147-A177-3AD203B41FA5}">
                      <a16:colId xmlns:a16="http://schemas.microsoft.com/office/drawing/2014/main" val="982644798"/>
                    </a:ext>
                  </a:extLst>
                </a:gridCol>
                <a:gridCol w="749971">
                  <a:extLst>
                    <a:ext uri="{9D8B030D-6E8A-4147-A177-3AD203B41FA5}">
                      <a16:colId xmlns:a16="http://schemas.microsoft.com/office/drawing/2014/main" val="490137566"/>
                    </a:ext>
                  </a:extLst>
                </a:gridCol>
                <a:gridCol w="749971">
                  <a:extLst>
                    <a:ext uri="{9D8B030D-6E8A-4147-A177-3AD203B41FA5}">
                      <a16:colId xmlns:a16="http://schemas.microsoft.com/office/drawing/2014/main" val="442317843"/>
                    </a:ext>
                  </a:extLst>
                </a:gridCol>
                <a:gridCol w="749971">
                  <a:extLst>
                    <a:ext uri="{9D8B030D-6E8A-4147-A177-3AD203B41FA5}">
                      <a16:colId xmlns:a16="http://schemas.microsoft.com/office/drawing/2014/main" val="1424270130"/>
                    </a:ext>
                  </a:extLst>
                </a:gridCol>
                <a:gridCol w="749971">
                  <a:extLst>
                    <a:ext uri="{9D8B030D-6E8A-4147-A177-3AD203B41FA5}">
                      <a16:colId xmlns:a16="http://schemas.microsoft.com/office/drawing/2014/main" val="974185692"/>
                    </a:ext>
                  </a:extLst>
                </a:gridCol>
                <a:gridCol w="749971">
                  <a:extLst>
                    <a:ext uri="{9D8B030D-6E8A-4147-A177-3AD203B41FA5}">
                      <a16:colId xmlns:a16="http://schemas.microsoft.com/office/drawing/2014/main" val="2748340985"/>
                    </a:ext>
                  </a:extLst>
                </a:gridCol>
                <a:gridCol w="749971">
                  <a:extLst>
                    <a:ext uri="{9D8B030D-6E8A-4147-A177-3AD203B41FA5}">
                      <a16:colId xmlns:a16="http://schemas.microsoft.com/office/drawing/2014/main" val="3915021002"/>
                    </a:ext>
                  </a:extLst>
                </a:gridCol>
                <a:gridCol w="749971">
                  <a:extLst>
                    <a:ext uri="{9D8B030D-6E8A-4147-A177-3AD203B41FA5}">
                      <a16:colId xmlns:a16="http://schemas.microsoft.com/office/drawing/2014/main" val="1486447581"/>
                    </a:ext>
                  </a:extLst>
                </a:gridCol>
                <a:gridCol w="749971">
                  <a:extLst>
                    <a:ext uri="{9D8B030D-6E8A-4147-A177-3AD203B41FA5}">
                      <a16:colId xmlns:a16="http://schemas.microsoft.com/office/drawing/2014/main" val="3160349173"/>
                    </a:ext>
                  </a:extLst>
                </a:gridCol>
              </a:tblGrid>
              <a:tr h="370840">
                <a:tc>
                  <a:txBody>
                    <a:bodyPr/>
                    <a:lstStyle/>
                    <a:p>
                      <a:r>
                        <a:rPr lang="en-GB" sz="1600" dirty="0"/>
                        <a:t>Position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7</a:t>
                      </a:r>
                    </a:p>
                  </a:txBody>
                  <a:tcPr/>
                </a:tc>
                <a:tc>
                  <a:txBody>
                    <a:bodyPr/>
                    <a:lstStyle/>
                    <a:p>
                      <a:pPr algn="ctr"/>
                      <a:r>
                        <a:rPr lang="en-GB" dirty="0"/>
                        <a:t>2</a:t>
                      </a:r>
                      <a:r>
                        <a:rPr lang="en-GB" baseline="30000" dirty="0"/>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0</a:t>
                      </a:r>
                    </a:p>
                  </a:txBody>
                  <a:tcPr/>
                </a:tc>
                <a:extLst>
                  <a:ext uri="{0D108BD9-81ED-4DB2-BD59-A6C34878D82A}">
                    <a16:rowId xmlns:a16="http://schemas.microsoft.com/office/drawing/2014/main" val="467065870"/>
                  </a:ext>
                </a:extLst>
              </a:tr>
              <a:tr h="370840">
                <a:tc>
                  <a:txBody>
                    <a:bodyPr/>
                    <a:lstStyle/>
                    <a:p>
                      <a:r>
                        <a:rPr lang="en-GB" sz="1600" dirty="0"/>
                        <a:t>Bit Pattern</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902826662"/>
                  </a:ext>
                </a:extLst>
              </a:tr>
              <a:tr h="370840">
                <a:tc>
                  <a:txBody>
                    <a:bodyPr/>
                    <a:lstStyle/>
                    <a:p>
                      <a:r>
                        <a:rPr lang="en-GB" sz="1600" dirty="0"/>
                        <a:t>Weight</a:t>
                      </a:r>
                    </a:p>
                  </a:txBody>
                  <a:tcPr/>
                </a:tc>
                <a:tc>
                  <a:txBody>
                    <a:bodyPr/>
                    <a:lstStyle/>
                    <a:p>
                      <a:pPr algn="ctr"/>
                      <a:r>
                        <a:rPr lang="en-GB" dirty="0"/>
                        <a:t>128</a:t>
                      </a:r>
                    </a:p>
                  </a:txBody>
                  <a:tcPr/>
                </a:tc>
                <a:tc>
                  <a:txBody>
                    <a:bodyPr/>
                    <a:lstStyle/>
                    <a:p>
                      <a:pPr algn="ctr"/>
                      <a:r>
                        <a:rPr lang="en-GB" dirty="0"/>
                        <a:t>64</a:t>
                      </a:r>
                    </a:p>
                  </a:txBody>
                  <a:tcPr/>
                </a:tc>
                <a:tc>
                  <a:txBody>
                    <a:bodyPr/>
                    <a:lstStyle/>
                    <a:p>
                      <a:pPr algn="ctr"/>
                      <a:r>
                        <a:rPr lang="en-GB" dirty="0"/>
                        <a:t>32</a:t>
                      </a:r>
                    </a:p>
                  </a:txBody>
                  <a:tcPr/>
                </a:tc>
                <a:tc>
                  <a:txBody>
                    <a:bodyPr/>
                    <a:lstStyle/>
                    <a:p>
                      <a:pPr algn="ctr"/>
                      <a:r>
                        <a:rPr lang="en-GB" dirty="0"/>
                        <a:t>16</a:t>
                      </a:r>
                    </a:p>
                  </a:txBody>
                  <a:tcPr/>
                </a:tc>
                <a:tc>
                  <a:txBody>
                    <a:bodyPr/>
                    <a:lstStyle/>
                    <a:p>
                      <a:pPr algn="ctr"/>
                      <a:r>
                        <a:rPr lang="en-GB" dirty="0"/>
                        <a:t>8</a:t>
                      </a:r>
                    </a:p>
                  </a:txBody>
                  <a:tcPr/>
                </a:tc>
                <a:tc>
                  <a:txBody>
                    <a:bodyPr/>
                    <a:lstStyle/>
                    <a:p>
                      <a:pPr algn="ctr"/>
                      <a:r>
                        <a:rPr lang="en-GB" dirty="0"/>
                        <a:t>4</a:t>
                      </a:r>
                    </a:p>
                  </a:txBody>
                  <a:tcPr/>
                </a:tc>
                <a:tc>
                  <a:txBody>
                    <a:bodyPr/>
                    <a:lstStyle/>
                    <a:p>
                      <a:pPr algn="ctr"/>
                      <a:r>
                        <a:rPr lang="en-GB" dirty="0"/>
                        <a:t>2</a:t>
                      </a:r>
                    </a:p>
                  </a:txBody>
                  <a:tcPr/>
                </a:tc>
                <a:tc>
                  <a:txBody>
                    <a:bodyPr/>
                    <a:lstStyle/>
                    <a:p>
                      <a:pPr algn="ctr"/>
                      <a:r>
                        <a:rPr lang="en-GB" dirty="0"/>
                        <a:t>1</a:t>
                      </a:r>
                    </a:p>
                  </a:txBody>
                  <a:tcPr/>
                </a:tc>
                <a:extLst>
                  <a:ext uri="{0D108BD9-81ED-4DB2-BD59-A6C34878D82A}">
                    <a16:rowId xmlns:a16="http://schemas.microsoft.com/office/drawing/2014/main" val="3962394917"/>
                  </a:ext>
                </a:extLst>
              </a:tr>
            </a:tbl>
          </a:graphicData>
        </a:graphic>
      </p:graphicFrame>
      <p:sp>
        <p:nvSpPr>
          <p:cNvPr id="5" name="TextBox 4">
            <a:extLst>
              <a:ext uri="{FF2B5EF4-FFF2-40B4-BE49-F238E27FC236}">
                <a16:creationId xmlns:a16="http://schemas.microsoft.com/office/drawing/2014/main" id="{54FF35F8-A016-029F-9847-325D8B9B8770}"/>
              </a:ext>
            </a:extLst>
          </p:cNvPr>
          <p:cNvSpPr txBox="1"/>
          <p:nvPr/>
        </p:nvSpPr>
        <p:spPr>
          <a:xfrm>
            <a:off x="539552" y="4775299"/>
            <a:ext cx="5178662" cy="400110"/>
          </a:xfrm>
          <a:prstGeom prst="rect">
            <a:avLst/>
          </a:prstGeom>
          <a:noFill/>
        </p:spPr>
        <p:txBody>
          <a:bodyPr wrap="none" rtlCol="0">
            <a:spAutoFit/>
          </a:bodyPr>
          <a:lstStyle/>
          <a:p>
            <a:r>
              <a:rPr lang="en-GB" dirty="0"/>
              <a:t>10011101 = unsigned representation </a:t>
            </a:r>
            <a:r>
              <a:rPr lang="en-GB"/>
              <a:t>of 157</a:t>
            </a:r>
            <a:endParaRPr lang="en-GB" dirty="0"/>
          </a:p>
        </p:txBody>
      </p:sp>
      <p:sp>
        <p:nvSpPr>
          <p:cNvPr id="6" name="Slide Number Placeholder 5">
            <a:extLst>
              <a:ext uri="{FF2B5EF4-FFF2-40B4-BE49-F238E27FC236}">
                <a16:creationId xmlns:a16="http://schemas.microsoft.com/office/drawing/2014/main" id="{E9DE6CD8-CE48-DDD7-9531-991CB11AFFAB}"/>
              </a:ext>
            </a:extLst>
          </p:cNvPr>
          <p:cNvSpPr>
            <a:spLocks noGrp="1"/>
          </p:cNvSpPr>
          <p:nvPr>
            <p:ph type="sldNum" sz="quarter" idx="12"/>
          </p:nvPr>
        </p:nvSpPr>
        <p:spPr/>
        <p:txBody>
          <a:bodyPr/>
          <a:lstStyle/>
          <a:p>
            <a:pPr>
              <a:defRPr/>
            </a:pPr>
            <a:fld id="{B15F286D-88BF-4C85-84EF-53248539BE74}" type="slidenum">
              <a:rPr lang="en-US" altLang="en-US" smtClean="0"/>
              <a:pPr>
                <a:defRPr/>
              </a:pPr>
              <a:t>12</a:t>
            </a:fld>
            <a:endParaRPr lang="en-US" alt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BCD82FDE-F2BF-2D73-FD90-3CD29EE412A1}"/>
                  </a:ext>
                </a:extLst>
              </p14:cNvPr>
              <p14:cNvContentPartPr/>
              <p14:nvPr/>
            </p14:nvContentPartPr>
            <p14:xfrm>
              <a:off x="537120" y="303120"/>
              <a:ext cx="5126400" cy="4935960"/>
            </p14:xfrm>
          </p:contentPart>
        </mc:Choice>
        <mc:Fallback xmlns="">
          <p:pic>
            <p:nvPicPr>
              <p:cNvPr id="7" name="Ink 6">
                <a:extLst>
                  <a:ext uri="{FF2B5EF4-FFF2-40B4-BE49-F238E27FC236}">
                    <a16:creationId xmlns:a16="http://schemas.microsoft.com/office/drawing/2014/main" id="{BCD82FDE-F2BF-2D73-FD90-3CD29EE412A1}"/>
                  </a:ext>
                </a:extLst>
              </p:cNvPr>
              <p:cNvPicPr/>
              <p:nvPr/>
            </p:nvPicPr>
            <p:blipFill>
              <a:blip r:embed="rId3"/>
              <a:stretch>
                <a:fillRect/>
              </a:stretch>
            </p:blipFill>
            <p:spPr>
              <a:xfrm>
                <a:off x="527760" y="293760"/>
                <a:ext cx="5145120" cy="4954680"/>
              </a:xfrm>
              <a:prstGeom prst="rect">
                <a:avLst/>
              </a:prstGeom>
            </p:spPr>
          </p:pic>
        </mc:Fallback>
      </mc:AlternateContent>
    </p:spTree>
    <p:extLst>
      <p:ext uri="{BB962C8B-B14F-4D97-AF65-F5344CB8AC3E}">
        <p14:creationId xmlns:p14="http://schemas.microsoft.com/office/powerpoint/2010/main" val="166955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B1A70-BABE-AEE6-F69A-1F3664023F8B}"/>
              </a:ext>
            </a:extLst>
          </p:cNvPr>
          <p:cNvSpPr>
            <a:spLocks noGrp="1"/>
          </p:cNvSpPr>
          <p:nvPr>
            <p:ph type="title"/>
          </p:nvPr>
        </p:nvSpPr>
        <p:spPr>
          <a:xfrm>
            <a:off x="325212" y="365760"/>
            <a:ext cx="7890672" cy="758984"/>
          </a:xfrm>
        </p:spPr>
        <p:txBody>
          <a:bodyPr/>
          <a:lstStyle/>
          <a:p>
            <a:r>
              <a:rPr lang="en-GB" dirty="0"/>
              <a:t>Unsigned magnitude </a:t>
            </a:r>
          </a:p>
        </p:txBody>
      </p:sp>
      <p:sp>
        <p:nvSpPr>
          <p:cNvPr id="6" name="Content Placeholder 5">
            <a:extLst>
              <a:ext uri="{FF2B5EF4-FFF2-40B4-BE49-F238E27FC236}">
                <a16:creationId xmlns:a16="http://schemas.microsoft.com/office/drawing/2014/main" id="{1926160F-10EA-60EB-B6F6-5B7329D887B0}"/>
              </a:ext>
            </a:extLst>
          </p:cNvPr>
          <p:cNvSpPr>
            <a:spLocks noGrp="1"/>
          </p:cNvSpPr>
          <p:nvPr>
            <p:ph idx="1"/>
          </p:nvPr>
        </p:nvSpPr>
        <p:spPr/>
        <p:txBody>
          <a:bodyPr>
            <a:normAutofit/>
          </a:bodyPr>
          <a:lstStyle/>
          <a:p>
            <a:r>
              <a:rPr lang="en-GB" sz="2400" dirty="0"/>
              <a:t>Only accept positive numbers </a:t>
            </a:r>
          </a:p>
          <a:p>
            <a:r>
              <a:rPr lang="en-GB" sz="2400" dirty="0"/>
              <a:t>In computer programming, the unsigned integers property open for application in most numeric data types: </a:t>
            </a:r>
          </a:p>
          <a:p>
            <a:pPr lvl="1"/>
            <a:r>
              <a:rPr lang="en-GB" sz="1800" dirty="0"/>
              <a:t>Short </a:t>
            </a:r>
          </a:p>
          <a:p>
            <a:pPr lvl="1"/>
            <a:r>
              <a:rPr lang="en-GB" sz="1800" dirty="0"/>
              <a:t>Long</a:t>
            </a:r>
          </a:p>
          <a:p>
            <a:pPr lvl="1"/>
            <a:r>
              <a:rPr lang="en-GB" sz="1800" dirty="0"/>
              <a:t>Int</a:t>
            </a:r>
          </a:p>
          <a:p>
            <a:pPr lvl="1"/>
            <a:r>
              <a:rPr lang="en-GB" sz="1800" dirty="0"/>
              <a:t> Char </a:t>
            </a:r>
          </a:p>
          <a:p>
            <a:endParaRPr lang="en-GB" sz="2000" dirty="0"/>
          </a:p>
        </p:txBody>
      </p:sp>
      <p:sp>
        <p:nvSpPr>
          <p:cNvPr id="3" name="Slide Number Placeholder 2">
            <a:extLst>
              <a:ext uri="{FF2B5EF4-FFF2-40B4-BE49-F238E27FC236}">
                <a16:creationId xmlns:a16="http://schemas.microsoft.com/office/drawing/2014/main" id="{714945B5-B1F1-9DB3-6069-EAF03DAA18E6}"/>
              </a:ext>
            </a:extLst>
          </p:cNvPr>
          <p:cNvSpPr>
            <a:spLocks noGrp="1"/>
          </p:cNvSpPr>
          <p:nvPr>
            <p:ph type="sldNum" sz="quarter" idx="12"/>
          </p:nvPr>
        </p:nvSpPr>
        <p:spPr/>
        <p:txBody>
          <a:bodyPr/>
          <a:lstStyle/>
          <a:p>
            <a:pPr>
              <a:defRPr/>
            </a:pPr>
            <a:fld id="{B15F286D-88BF-4C85-84EF-53248539BE74}" type="slidenum">
              <a:rPr lang="en-US" altLang="en-US" smtClean="0"/>
              <a:pPr>
                <a:defRPr/>
              </a:pPr>
              <a:t>13</a:t>
            </a:fld>
            <a:endParaRPr lang="en-US" alt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8EE1E42-F577-01F0-7ACC-34A742959DAF}"/>
                  </a:ext>
                </a:extLst>
              </p14:cNvPr>
              <p14:cNvContentPartPr/>
              <p14:nvPr/>
            </p14:nvContentPartPr>
            <p14:xfrm>
              <a:off x="1640160" y="3537720"/>
              <a:ext cx="40320" cy="1337400"/>
            </p14:xfrm>
          </p:contentPart>
        </mc:Choice>
        <mc:Fallback xmlns="">
          <p:pic>
            <p:nvPicPr>
              <p:cNvPr id="4" name="Ink 3">
                <a:extLst>
                  <a:ext uri="{FF2B5EF4-FFF2-40B4-BE49-F238E27FC236}">
                    <a16:creationId xmlns:a16="http://schemas.microsoft.com/office/drawing/2014/main" id="{A8EE1E42-F577-01F0-7ACC-34A742959DAF}"/>
                  </a:ext>
                </a:extLst>
              </p:cNvPr>
              <p:cNvPicPr/>
              <p:nvPr/>
            </p:nvPicPr>
            <p:blipFill>
              <a:blip r:embed="rId4"/>
              <a:stretch>
                <a:fillRect/>
              </a:stretch>
            </p:blipFill>
            <p:spPr>
              <a:xfrm>
                <a:off x="1630800" y="3528360"/>
                <a:ext cx="59040" cy="1356120"/>
              </a:xfrm>
              <a:prstGeom prst="rect">
                <a:avLst/>
              </a:prstGeom>
            </p:spPr>
          </p:pic>
        </mc:Fallback>
      </mc:AlternateContent>
    </p:spTree>
    <p:extLst>
      <p:ext uri="{BB962C8B-B14F-4D97-AF65-F5344CB8AC3E}">
        <p14:creationId xmlns:p14="http://schemas.microsoft.com/office/powerpoint/2010/main" val="919474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B1A70-BABE-AEE6-F69A-1F3664023F8B}"/>
              </a:ext>
            </a:extLst>
          </p:cNvPr>
          <p:cNvSpPr>
            <a:spLocks noGrp="1"/>
          </p:cNvSpPr>
          <p:nvPr>
            <p:ph type="title"/>
          </p:nvPr>
        </p:nvSpPr>
        <p:spPr/>
        <p:txBody>
          <a:bodyPr/>
          <a:lstStyle/>
          <a:p>
            <a:r>
              <a:rPr lang="en-GB" dirty="0"/>
              <a:t>Advantages and disadvantages of unsigned magnitude </a:t>
            </a:r>
          </a:p>
        </p:txBody>
      </p:sp>
      <p:sp>
        <p:nvSpPr>
          <p:cNvPr id="6" name="Content Placeholder 5">
            <a:extLst>
              <a:ext uri="{FF2B5EF4-FFF2-40B4-BE49-F238E27FC236}">
                <a16:creationId xmlns:a16="http://schemas.microsoft.com/office/drawing/2014/main" id="{1926160F-10EA-60EB-B6F6-5B7329D887B0}"/>
              </a:ext>
            </a:extLst>
          </p:cNvPr>
          <p:cNvSpPr>
            <a:spLocks noGrp="1"/>
          </p:cNvSpPr>
          <p:nvPr>
            <p:ph idx="1"/>
          </p:nvPr>
        </p:nvSpPr>
        <p:spPr/>
        <p:txBody>
          <a:bodyPr>
            <a:normAutofit/>
          </a:bodyPr>
          <a:lstStyle/>
          <a:p>
            <a:pPr marL="0" indent="0">
              <a:buNone/>
            </a:pPr>
            <a:r>
              <a:rPr lang="en-GB" sz="2400" b="1" dirty="0"/>
              <a:t>Advantages</a:t>
            </a:r>
          </a:p>
          <a:p>
            <a:pPr lvl="1"/>
            <a:r>
              <a:rPr lang="en-GB" sz="2000" dirty="0"/>
              <a:t>One representation of zero</a:t>
            </a:r>
          </a:p>
          <a:p>
            <a:pPr lvl="1"/>
            <a:r>
              <a:rPr lang="en-GB" sz="2000" dirty="0"/>
              <a:t>Simple addition </a:t>
            </a:r>
          </a:p>
          <a:p>
            <a:pPr marL="0" indent="0">
              <a:buNone/>
            </a:pPr>
            <a:r>
              <a:rPr lang="en-GB" sz="2400" b="1" dirty="0"/>
              <a:t>Disadvantages</a:t>
            </a:r>
            <a:r>
              <a:rPr lang="en-GB" sz="2400" dirty="0"/>
              <a:t> </a:t>
            </a:r>
          </a:p>
          <a:p>
            <a:pPr lvl="1"/>
            <a:r>
              <a:rPr lang="en-GB" sz="2000" dirty="0"/>
              <a:t>Negative numbers cannot be represented </a:t>
            </a:r>
          </a:p>
          <a:p>
            <a:pPr lvl="1"/>
            <a:r>
              <a:rPr lang="en-GB" sz="2000" dirty="0"/>
              <a:t>The need of different notation to represent negative numbers </a:t>
            </a:r>
          </a:p>
        </p:txBody>
      </p:sp>
      <p:sp>
        <p:nvSpPr>
          <p:cNvPr id="3" name="Slide Number Placeholder 2">
            <a:extLst>
              <a:ext uri="{FF2B5EF4-FFF2-40B4-BE49-F238E27FC236}">
                <a16:creationId xmlns:a16="http://schemas.microsoft.com/office/drawing/2014/main" id="{68385A8A-8513-23D5-A555-0200A20AC6D3}"/>
              </a:ext>
            </a:extLst>
          </p:cNvPr>
          <p:cNvSpPr>
            <a:spLocks noGrp="1"/>
          </p:cNvSpPr>
          <p:nvPr>
            <p:ph type="sldNum" sz="quarter" idx="12"/>
          </p:nvPr>
        </p:nvSpPr>
        <p:spPr/>
        <p:txBody>
          <a:bodyPr/>
          <a:lstStyle/>
          <a:p>
            <a:pPr>
              <a:defRPr/>
            </a:pPr>
            <a:fld id="{B15F286D-88BF-4C85-84EF-53248539BE74}" type="slidenum">
              <a:rPr lang="en-US" altLang="en-US" smtClean="0"/>
              <a:pPr>
                <a:defRPr/>
              </a:pPr>
              <a:t>14</a:t>
            </a:fld>
            <a:endParaRPr lang="en-US" altLang="en-US"/>
          </a:p>
        </p:txBody>
      </p:sp>
    </p:spTree>
    <p:extLst>
      <p:ext uri="{BB962C8B-B14F-4D97-AF65-F5344CB8AC3E}">
        <p14:creationId xmlns:p14="http://schemas.microsoft.com/office/powerpoint/2010/main" val="195902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52A7C-E9EE-C74D-4DC0-DE24AE34BAF4}"/>
              </a:ext>
            </a:extLst>
          </p:cNvPr>
          <p:cNvSpPr>
            <a:spLocks noGrp="1"/>
          </p:cNvSpPr>
          <p:nvPr>
            <p:ph type="title"/>
          </p:nvPr>
        </p:nvSpPr>
        <p:spPr/>
        <p:txBody>
          <a:bodyPr/>
          <a:lstStyle/>
          <a:p>
            <a:r>
              <a:rPr lang="en-GB" dirty="0"/>
              <a:t>Is a representation of negative numbers possible?</a:t>
            </a:r>
          </a:p>
        </p:txBody>
      </p:sp>
      <p:sp>
        <p:nvSpPr>
          <p:cNvPr id="3" name="Content Placeholder 2">
            <a:extLst>
              <a:ext uri="{FF2B5EF4-FFF2-40B4-BE49-F238E27FC236}">
                <a16:creationId xmlns:a16="http://schemas.microsoft.com/office/drawing/2014/main" id="{2BD53169-51D7-371B-B0E7-AE364DD7A213}"/>
              </a:ext>
            </a:extLst>
          </p:cNvPr>
          <p:cNvSpPr>
            <a:spLocks noGrp="1"/>
          </p:cNvSpPr>
          <p:nvPr>
            <p:ph idx="1"/>
          </p:nvPr>
        </p:nvSpPr>
        <p:spPr/>
        <p:txBody>
          <a:bodyPr>
            <a:normAutofit/>
          </a:bodyPr>
          <a:lstStyle/>
          <a:p>
            <a:pPr marL="0" indent="0">
              <a:buNone/>
            </a:pPr>
            <a:r>
              <a:rPr lang="en-GB" sz="2400" dirty="0"/>
              <a:t>Unfortunately,</a:t>
            </a:r>
          </a:p>
          <a:p>
            <a:r>
              <a:rPr lang="en-GB" sz="2400" dirty="0"/>
              <a:t>You </a:t>
            </a:r>
            <a:r>
              <a:rPr lang="en-GB" sz="3200" b="1" dirty="0">
                <a:solidFill>
                  <a:srgbClr val="FF0000"/>
                </a:solidFill>
              </a:rPr>
              <a:t>cannot</a:t>
            </a:r>
            <a:r>
              <a:rPr lang="en-GB" sz="2400" dirty="0"/>
              <a:t> just stick a negative sign in front of a binary number (it does not work like that)</a:t>
            </a:r>
          </a:p>
          <a:p>
            <a:r>
              <a:rPr lang="en-GB" sz="2400" dirty="0"/>
              <a:t>There are three methods used to represent negative numbers:</a:t>
            </a:r>
          </a:p>
        </p:txBody>
      </p:sp>
      <p:graphicFrame>
        <p:nvGraphicFramePr>
          <p:cNvPr id="6" name="Diagram 5">
            <a:extLst>
              <a:ext uri="{FF2B5EF4-FFF2-40B4-BE49-F238E27FC236}">
                <a16:creationId xmlns:a16="http://schemas.microsoft.com/office/drawing/2014/main" id="{CADA3EB7-5F72-4C2C-328E-C26826680C92}"/>
              </a:ext>
            </a:extLst>
          </p:cNvPr>
          <p:cNvGraphicFramePr/>
          <p:nvPr>
            <p:extLst>
              <p:ext uri="{D42A27DB-BD31-4B8C-83A1-F6EECF244321}">
                <p14:modId xmlns:p14="http://schemas.microsoft.com/office/powerpoint/2010/main" val="2709375328"/>
              </p:ext>
            </p:extLst>
          </p:nvPr>
        </p:nvGraphicFramePr>
        <p:xfrm>
          <a:off x="467544" y="4207463"/>
          <a:ext cx="7744672" cy="230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Slide Number Placeholder 6">
            <a:extLst>
              <a:ext uri="{FF2B5EF4-FFF2-40B4-BE49-F238E27FC236}">
                <a16:creationId xmlns:a16="http://schemas.microsoft.com/office/drawing/2014/main" id="{115A0FF4-E2B8-6FAD-D7F7-F12A1552C886}"/>
              </a:ext>
            </a:extLst>
          </p:cNvPr>
          <p:cNvSpPr>
            <a:spLocks noGrp="1"/>
          </p:cNvSpPr>
          <p:nvPr>
            <p:ph type="sldNum" sz="quarter" idx="12"/>
          </p:nvPr>
        </p:nvSpPr>
        <p:spPr/>
        <p:txBody>
          <a:bodyPr/>
          <a:lstStyle/>
          <a:p>
            <a:pPr>
              <a:defRPr/>
            </a:pPr>
            <a:fld id="{B15F286D-88BF-4C85-84EF-53248539BE74}" type="slidenum">
              <a:rPr lang="en-US" altLang="en-US" smtClean="0"/>
              <a:pPr>
                <a:defRPr/>
              </a:pPr>
              <a:t>15</a:t>
            </a:fld>
            <a:endParaRPr lang="en-US" altLang="en-US"/>
          </a:p>
        </p:txBody>
      </p:sp>
    </p:spTree>
    <p:extLst>
      <p:ext uri="{BB962C8B-B14F-4D97-AF65-F5344CB8AC3E}">
        <p14:creationId xmlns:p14="http://schemas.microsoft.com/office/powerpoint/2010/main" val="3648076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C547B-97C3-9476-0259-BB69C0445EEB}"/>
              </a:ext>
            </a:extLst>
          </p:cNvPr>
          <p:cNvSpPr>
            <a:spLocks noGrp="1"/>
          </p:cNvSpPr>
          <p:nvPr>
            <p:ph type="title"/>
          </p:nvPr>
        </p:nvSpPr>
        <p:spPr/>
        <p:txBody>
          <a:bodyPr/>
          <a:lstStyle/>
          <a:p>
            <a:r>
              <a:rPr lang="en-GB" dirty="0"/>
              <a:t>Signed-magnitude </a:t>
            </a:r>
          </a:p>
        </p:txBody>
      </p:sp>
      <p:sp>
        <p:nvSpPr>
          <p:cNvPr id="3" name="Content Placeholder 2">
            <a:extLst>
              <a:ext uri="{FF2B5EF4-FFF2-40B4-BE49-F238E27FC236}">
                <a16:creationId xmlns:a16="http://schemas.microsoft.com/office/drawing/2014/main" id="{95C59268-1791-A16D-5239-05BC8639B182}"/>
              </a:ext>
            </a:extLst>
          </p:cNvPr>
          <p:cNvSpPr>
            <a:spLocks noGrp="1"/>
          </p:cNvSpPr>
          <p:nvPr>
            <p:ph idx="1"/>
          </p:nvPr>
        </p:nvSpPr>
        <p:spPr/>
        <p:txBody>
          <a:bodyPr>
            <a:normAutofit/>
          </a:bodyPr>
          <a:lstStyle/>
          <a:p>
            <a:r>
              <a:rPr lang="en-GB" sz="2000" dirty="0"/>
              <a:t>Human use the signed-magnitude system.</a:t>
            </a:r>
          </a:p>
          <a:p>
            <a:r>
              <a:rPr lang="en-GB" sz="2000" dirty="0"/>
              <a:t>We add + or – to the front of a number to indicate its sign</a:t>
            </a:r>
          </a:p>
          <a:p>
            <a:r>
              <a:rPr lang="en-GB" sz="2000" dirty="0"/>
              <a:t>We can do this in binary too! By adding a sign bit in front of our numbers. </a:t>
            </a:r>
          </a:p>
        </p:txBody>
      </p:sp>
      <p:sp>
        <p:nvSpPr>
          <p:cNvPr id="4" name="Slide Number Placeholder 3">
            <a:extLst>
              <a:ext uri="{FF2B5EF4-FFF2-40B4-BE49-F238E27FC236}">
                <a16:creationId xmlns:a16="http://schemas.microsoft.com/office/drawing/2014/main" id="{68480AC5-4358-321F-D838-77006748C369}"/>
              </a:ext>
            </a:extLst>
          </p:cNvPr>
          <p:cNvSpPr>
            <a:spLocks noGrp="1"/>
          </p:cNvSpPr>
          <p:nvPr>
            <p:ph type="sldNum" sz="quarter" idx="12"/>
          </p:nvPr>
        </p:nvSpPr>
        <p:spPr/>
        <p:txBody>
          <a:bodyPr/>
          <a:lstStyle/>
          <a:p>
            <a:pPr>
              <a:defRPr/>
            </a:pPr>
            <a:fld id="{B15F286D-88BF-4C85-84EF-53248539BE74}" type="slidenum">
              <a:rPr lang="en-US" altLang="en-US" smtClean="0"/>
              <a:pPr>
                <a:defRPr/>
              </a:pPr>
              <a:t>16</a:t>
            </a:fld>
            <a:endParaRPr lang="en-US" altLang="en-US"/>
          </a:p>
        </p:txBody>
      </p:sp>
    </p:spTree>
    <p:extLst>
      <p:ext uri="{BB962C8B-B14F-4D97-AF65-F5344CB8AC3E}">
        <p14:creationId xmlns:p14="http://schemas.microsoft.com/office/powerpoint/2010/main" val="863529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A89273-2702-13AF-0A7A-3E1B1CAA8AFA}"/>
              </a:ext>
            </a:extLst>
          </p:cNvPr>
          <p:cNvSpPr>
            <a:spLocks noGrp="1" noChangeArrowheads="1"/>
          </p:cNvSpPr>
          <p:nvPr>
            <p:ph type="title" idx="4294967295"/>
          </p:nvPr>
        </p:nvSpPr>
        <p:spPr>
          <a:xfrm>
            <a:off x="324532" y="228600"/>
            <a:ext cx="7879667" cy="1143000"/>
          </a:xfrm>
        </p:spPr>
        <p:txBody>
          <a:bodyPr/>
          <a:lstStyle/>
          <a:p>
            <a:r>
              <a:rPr lang="en-US" altLang="en-US" dirty="0"/>
              <a:t>Signed-Magnitude</a:t>
            </a:r>
          </a:p>
        </p:txBody>
      </p:sp>
      <p:sp>
        <p:nvSpPr>
          <p:cNvPr id="25603" name="Rectangle 3">
            <a:extLst>
              <a:ext uri="{FF2B5EF4-FFF2-40B4-BE49-F238E27FC236}">
                <a16:creationId xmlns:a16="http://schemas.microsoft.com/office/drawing/2014/main" id="{6F18E496-EA64-24E6-CAE7-5C8057266168}"/>
              </a:ext>
            </a:extLst>
          </p:cNvPr>
          <p:cNvSpPr>
            <a:spLocks noGrp="1" noChangeArrowheads="1"/>
          </p:cNvSpPr>
          <p:nvPr>
            <p:ph type="body" idx="4294967295"/>
          </p:nvPr>
        </p:nvSpPr>
        <p:spPr>
          <a:xfrm>
            <a:off x="348927" y="1844824"/>
            <a:ext cx="7855272" cy="4171950"/>
          </a:xfrm>
        </p:spPr>
        <p:txBody>
          <a:bodyPr/>
          <a:lstStyle/>
          <a:p>
            <a:r>
              <a:rPr lang="en-US" altLang="en-US" dirty="0"/>
              <a:t>Use </a:t>
            </a:r>
            <a:r>
              <a:rPr lang="en-US" altLang="en-US" b="1" dirty="0">
                <a:solidFill>
                  <a:srgbClr val="00B0F0"/>
                </a:solidFill>
              </a:rPr>
              <a:t>one-bit</a:t>
            </a:r>
            <a:r>
              <a:rPr lang="en-US" altLang="en-US" dirty="0"/>
              <a:t> to represent the sign of the integer </a:t>
            </a:r>
          </a:p>
          <a:p>
            <a:r>
              <a:rPr lang="en-US" altLang="en-US" dirty="0"/>
              <a:t>Left most bit (Most Significant Bit, MSB) is </a:t>
            </a:r>
            <a:r>
              <a:rPr lang="en-US" altLang="en-US" sz="3600" b="1" u="sng" dirty="0">
                <a:solidFill>
                  <a:srgbClr val="92D050"/>
                </a:solidFill>
              </a:rPr>
              <a:t>sign bit </a:t>
            </a:r>
            <a:endParaRPr lang="en-US" altLang="en-US" b="1" u="sng" dirty="0">
              <a:solidFill>
                <a:srgbClr val="92D050"/>
              </a:solidFill>
            </a:endParaRPr>
          </a:p>
        </p:txBody>
      </p:sp>
      <p:sp>
        <p:nvSpPr>
          <p:cNvPr id="2" name="Rectangle 1">
            <a:extLst>
              <a:ext uri="{FF2B5EF4-FFF2-40B4-BE49-F238E27FC236}">
                <a16:creationId xmlns:a16="http://schemas.microsoft.com/office/drawing/2014/main" id="{ABD996C6-47FA-3441-3FB1-8965C9027C54}"/>
              </a:ext>
            </a:extLst>
          </p:cNvPr>
          <p:cNvSpPr/>
          <p:nvPr/>
        </p:nvSpPr>
        <p:spPr>
          <a:xfrm>
            <a:off x="611560" y="3429368"/>
            <a:ext cx="2952328" cy="111996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00B050"/>
                </a:solidFill>
              </a:rPr>
              <a:t>0</a:t>
            </a:r>
            <a:r>
              <a:rPr lang="en-US" altLang="en-US" dirty="0"/>
              <a:t> </a:t>
            </a:r>
            <a:r>
              <a:rPr lang="en-US" altLang="en-US" dirty="0">
                <a:solidFill>
                  <a:sysClr val="windowText" lastClr="000000"/>
                </a:solidFill>
              </a:rPr>
              <a:t>means</a:t>
            </a:r>
            <a:r>
              <a:rPr lang="en-US" altLang="en-US" dirty="0"/>
              <a:t> </a:t>
            </a:r>
            <a:r>
              <a:rPr lang="en-US" altLang="en-US" b="1" dirty="0">
                <a:solidFill>
                  <a:srgbClr val="00B050"/>
                </a:solidFill>
              </a:rPr>
              <a:t>positive</a:t>
            </a:r>
          </a:p>
        </p:txBody>
      </p:sp>
      <p:sp>
        <p:nvSpPr>
          <p:cNvPr id="4" name="Rectangle 3">
            <a:extLst>
              <a:ext uri="{FF2B5EF4-FFF2-40B4-BE49-F238E27FC236}">
                <a16:creationId xmlns:a16="http://schemas.microsoft.com/office/drawing/2014/main" id="{A61A007D-2343-9C12-B155-061B5724A11D}"/>
              </a:ext>
            </a:extLst>
          </p:cNvPr>
          <p:cNvSpPr/>
          <p:nvPr/>
        </p:nvSpPr>
        <p:spPr>
          <a:xfrm>
            <a:off x="4644008" y="3429368"/>
            <a:ext cx="2952328" cy="111996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FF0000"/>
                </a:solidFill>
              </a:rPr>
              <a:t>1</a:t>
            </a:r>
            <a:r>
              <a:rPr lang="en-US" altLang="en-US" dirty="0"/>
              <a:t> </a:t>
            </a:r>
            <a:r>
              <a:rPr lang="en-US" altLang="en-US" dirty="0">
                <a:solidFill>
                  <a:sysClr val="windowText" lastClr="000000"/>
                </a:solidFill>
              </a:rPr>
              <a:t>means</a:t>
            </a:r>
            <a:r>
              <a:rPr lang="en-US" altLang="en-US" dirty="0"/>
              <a:t> </a:t>
            </a:r>
            <a:r>
              <a:rPr lang="en-US" altLang="en-US" b="1" dirty="0">
                <a:solidFill>
                  <a:srgbClr val="FF0000"/>
                </a:solidFill>
              </a:rPr>
              <a:t>negative</a:t>
            </a:r>
          </a:p>
        </p:txBody>
      </p:sp>
      <p:sp>
        <p:nvSpPr>
          <p:cNvPr id="5" name="Rectangle 4">
            <a:extLst>
              <a:ext uri="{FF2B5EF4-FFF2-40B4-BE49-F238E27FC236}">
                <a16:creationId xmlns:a16="http://schemas.microsoft.com/office/drawing/2014/main" id="{74981140-8830-F933-3E35-F4E9803DD374}"/>
              </a:ext>
            </a:extLst>
          </p:cNvPr>
          <p:cNvSpPr/>
          <p:nvPr/>
        </p:nvSpPr>
        <p:spPr>
          <a:xfrm>
            <a:off x="611560" y="4630081"/>
            <a:ext cx="2952328" cy="1119969"/>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US" altLang="en-US" dirty="0">
                <a:solidFill>
                  <a:sysClr val="windowText" lastClr="000000"/>
                </a:solidFill>
              </a:rPr>
              <a:t>+18 = </a:t>
            </a:r>
            <a:r>
              <a:rPr lang="en-US" altLang="en-US" sz="3600" b="1" dirty="0">
                <a:solidFill>
                  <a:srgbClr val="00B050"/>
                </a:solidFill>
              </a:rPr>
              <a:t>0</a:t>
            </a:r>
            <a:r>
              <a:rPr lang="en-US" altLang="en-US" dirty="0">
                <a:solidFill>
                  <a:sysClr val="windowText" lastClr="000000"/>
                </a:solidFill>
              </a:rPr>
              <a:t>0010010</a:t>
            </a:r>
          </a:p>
        </p:txBody>
      </p:sp>
      <p:sp>
        <p:nvSpPr>
          <p:cNvPr id="6" name="Rectangle 5">
            <a:extLst>
              <a:ext uri="{FF2B5EF4-FFF2-40B4-BE49-F238E27FC236}">
                <a16:creationId xmlns:a16="http://schemas.microsoft.com/office/drawing/2014/main" id="{EEF856FA-1D3F-A511-C36F-AEAE379B779D}"/>
              </a:ext>
            </a:extLst>
          </p:cNvPr>
          <p:cNvSpPr/>
          <p:nvPr/>
        </p:nvSpPr>
        <p:spPr>
          <a:xfrm>
            <a:off x="4644008" y="4630081"/>
            <a:ext cx="2952328" cy="111996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US" altLang="en-US" dirty="0">
                <a:solidFill>
                  <a:sysClr val="windowText" lastClr="000000"/>
                </a:solidFill>
              </a:rPr>
              <a:t>-18 = </a:t>
            </a:r>
            <a:r>
              <a:rPr lang="en-US" altLang="en-US" sz="3600" b="1" dirty="0">
                <a:solidFill>
                  <a:srgbClr val="FF0000"/>
                </a:solidFill>
              </a:rPr>
              <a:t>1</a:t>
            </a:r>
            <a:r>
              <a:rPr lang="en-US" altLang="en-US" dirty="0">
                <a:solidFill>
                  <a:sysClr val="windowText" lastClr="000000"/>
                </a:solidFill>
              </a:rPr>
              <a:t>0010010</a:t>
            </a:r>
          </a:p>
        </p:txBody>
      </p:sp>
      <p:sp>
        <p:nvSpPr>
          <p:cNvPr id="3" name="Slide Number Placeholder 2">
            <a:extLst>
              <a:ext uri="{FF2B5EF4-FFF2-40B4-BE49-F238E27FC236}">
                <a16:creationId xmlns:a16="http://schemas.microsoft.com/office/drawing/2014/main" id="{DCB21A5E-F6FB-1060-1425-5757685224E8}"/>
              </a:ext>
            </a:extLst>
          </p:cNvPr>
          <p:cNvSpPr>
            <a:spLocks noGrp="1"/>
          </p:cNvSpPr>
          <p:nvPr>
            <p:ph type="sldNum" sz="quarter" idx="12"/>
          </p:nvPr>
        </p:nvSpPr>
        <p:spPr/>
        <p:txBody>
          <a:bodyPr/>
          <a:lstStyle/>
          <a:p>
            <a:pPr>
              <a:defRPr/>
            </a:pPr>
            <a:fld id="{F9839A35-988A-4C75-AB86-CE687B152A44}" type="slidenum">
              <a:rPr lang="en-US" altLang="en-US" smtClean="0"/>
              <a:pPr>
                <a:defRPr/>
              </a:pPr>
              <a:t>17</a:t>
            </a:fld>
            <a:endParaRPr lang="en-US" altLang="en-US"/>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4EE5F3B-025D-5FE8-3FE4-608FBCE439B2}"/>
                  </a:ext>
                </a:extLst>
              </p14:cNvPr>
              <p14:cNvContentPartPr/>
              <p14:nvPr/>
            </p14:nvContentPartPr>
            <p14:xfrm>
              <a:off x="1903320" y="5457960"/>
              <a:ext cx="4109400" cy="34560"/>
            </p14:xfrm>
          </p:contentPart>
        </mc:Choice>
        <mc:Fallback xmlns="">
          <p:pic>
            <p:nvPicPr>
              <p:cNvPr id="7" name="Ink 6">
                <a:extLst>
                  <a:ext uri="{FF2B5EF4-FFF2-40B4-BE49-F238E27FC236}">
                    <a16:creationId xmlns:a16="http://schemas.microsoft.com/office/drawing/2014/main" id="{D4EE5F3B-025D-5FE8-3FE4-608FBCE439B2}"/>
                  </a:ext>
                </a:extLst>
              </p:cNvPr>
              <p:cNvPicPr/>
              <p:nvPr/>
            </p:nvPicPr>
            <p:blipFill>
              <a:blip r:embed="rId4"/>
              <a:stretch>
                <a:fillRect/>
              </a:stretch>
            </p:blipFill>
            <p:spPr>
              <a:xfrm>
                <a:off x="1893960" y="5448600"/>
                <a:ext cx="4128120" cy="5328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A89273-2702-13AF-0A7A-3E1B1CAA8AFA}"/>
              </a:ext>
            </a:extLst>
          </p:cNvPr>
          <p:cNvSpPr>
            <a:spLocks noGrp="1" noChangeArrowheads="1"/>
          </p:cNvSpPr>
          <p:nvPr>
            <p:ph type="title"/>
          </p:nvPr>
        </p:nvSpPr>
        <p:spPr>
          <a:xfrm>
            <a:off x="539552" y="365760"/>
            <a:ext cx="7676332" cy="1325562"/>
          </a:xfrm>
        </p:spPr>
        <p:txBody>
          <a:bodyPr/>
          <a:lstStyle/>
          <a:p>
            <a:r>
              <a:rPr lang="en-US" altLang="en-US" dirty="0"/>
              <a:t>Signed-Magnitude</a:t>
            </a:r>
          </a:p>
        </p:txBody>
      </p:sp>
      <p:sp>
        <p:nvSpPr>
          <p:cNvPr id="7" name="TextBox 6">
            <a:extLst>
              <a:ext uri="{FF2B5EF4-FFF2-40B4-BE49-F238E27FC236}">
                <a16:creationId xmlns:a16="http://schemas.microsoft.com/office/drawing/2014/main" id="{4612B722-1E60-FBF9-1187-0A21120E2274}"/>
              </a:ext>
            </a:extLst>
          </p:cNvPr>
          <p:cNvSpPr txBox="1"/>
          <p:nvPr/>
        </p:nvSpPr>
        <p:spPr>
          <a:xfrm>
            <a:off x="1043608" y="2276872"/>
            <a:ext cx="1253869" cy="646331"/>
          </a:xfrm>
          <a:prstGeom prst="rect">
            <a:avLst/>
          </a:prstGeom>
          <a:noFill/>
        </p:spPr>
        <p:txBody>
          <a:bodyPr wrap="none" rtlCol="0">
            <a:spAutoFit/>
          </a:bodyPr>
          <a:lstStyle/>
          <a:p>
            <a:r>
              <a:rPr lang="en-MY" sz="3600" dirty="0"/>
              <a:t>+6 =</a:t>
            </a:r>
          </a:p>
        </p:txBody>
      </p:sp>
      <p:sp>
        <p:nvSpPr>
          <p:cNvPr id="8" name="TextBox 7">
            <a:extLst>
              <a:ext uri="{FF2B5EF4-FFF2-40B4-BE49-F238E27FC236}">
                <a16:creationId xmlns:a16="http://schemas.microsoft.com/office/drawing/2014/main" id="{1D6F5A0F-16A2-4CAD-26E4-A407ED411394}"/>
              </a:ext>
            </a:extLst>
          </p:cNvPr>
          <p:cNvSpPr txBox="1"/>
          <p:nvPr/>
        </p:nvSpPr>
        <p:spPr>
          <a:xfrm>
            <a:off x="1211924" y="3288467"/>
            <a:ext cx="1085554" cy="646331"/>
          </a:xfrm>
          <a:prstGeom prst="rect">
            <a:avLst/>
          </a:prstGeom>
          <a:noFill/>
        </p:spPr>
        <p:txBody>
          <a:bodyPr wrap="none" rtlCol="0">
            <a:spAutoFit/>
          </a:bodyPr>
          <a:lstStyle/>
          <a:p>
            <a:r>
              <a:rPr lang="en-MY" sz="3600" dirty="0"/>
              <a:t>-6 =</a:t>
            </a:r>
          </a:p>
        </p:txBody>
      </p:sp>
      <p:sp>
        <p:nvSpPr>
          <p:cNvPr id="39" name="Rectangle 38">
            <a:extLst>
              <a:ext uri="{FF2B5EF4-FFF2-40B4-BE49-F238E27FC236}">
                <a16:creationId xmlns:a16="http://schemas.microsoft.com/office/drawing/2014/main" id="{52E1670C-6889-0571-3690-917FDBA55DCF}"/>
              </a:ext>
            </a:extLst>
          </p:cNvPr>
          <p:cNvSpPr/>
          <p:nvPr/>
        </p:nvSpPr>
        <p:spPr>
          <a:xfrm>
            <a:off x="2267744" y="2293682"/>
            <a:ext cx="520452" cy="579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600" dirty="0">
                <a:solidFill>
                  <a:srgbClr val="FFFF00"/>
                </a:solidFill>
              </a:rPr>
              <a:t>0</a:t>
            </a:r>
          </a:p>
        </p:txBody>
      </p:sp>
      <p:sp>
        <p:nvSpPr>
          <p:cNvPr id="40" name="Rectangle 39">
            <a:extLst>
              <a:ext uri="{FF2B5EF4-FFF2-40B4-BE49-F238E27FC236}">
                <a16:creationId xmlns:a16="http://schemas.microsoft.com/office/drawing/2014/main" id="{140BE230-B0F5-9889-568B-995D4C025514}"/>
              </a:ext>
            </a:extLst>
          </p:cNvPr>
          <p:cNvSpPr/>
          <p:nvPr/>
        </p:nvSpPr>
        <p:spPr>
          <a:xfrm>
            <a:off x="2267744" y="3354998"/>
            <a:ext cx="520452" cy="5798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600" dirty="0">
                <a:solidFill>
                  <a:srgbClr val="FF0000"/>
                </a:solidFill>
              </a:rPr>
              <a:t>1</a:t>
            </a:r>
          </a:p>
        </p:txBody>
      </p:sp>
      <p:sp>
        <p:nvSpPr>
          <p:cNvPr id="41" name="Rectangle 40">
            <a:extLst>
              <a:ext uri="{FF2B5EF4-FFF2-40B4-BE49-F238E27FC236}">
                <a16:creationId xmlns:a16="http://schemas.microsoft.com/office/drawing/2014/main" id="{D39404C2-560D-2422-D220-D615A0A807B5}"/>
              </a:ext>
            </a:extLst>
          </p:cNvPr>
          <p:cNvSpPr/>
          <p:nvPr/>
        </p:nvSpPr>
        <p:spPr>
          <a:xfrm>
            <a:off x="2195736" y="2060848"/>
            <a:ext cx="648072" cy="223224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2" name="Rectangle 41">
            <a:extLst>
              <a:ext uri="{FF2B5EF4-FFF2-40B4-BE49-F238E27FC236}">
                <a16:creationId xmlns:a16="http://schemas.microsoft.com/office/drawing/2014/main" id="{9DBEF5A3-486C-6895-B110-9391C89830DF}"/>
              </a:ext>
            </a:extLst>
          </p:cNvPr>
          <p:cNvSpPr/>
          <p:nvPr/>
        </p:nvSpPr>
        <p:spPr>
          <a:xfrm>
            <a:off x="2921174" y="2057425"/>
            <a:ext cx="786730" cy="2232248"/>
          </a:xfrm>
          <a:prstGeom prst="rect">
            <a:avLst/>
          </a:pr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5" name="Right Brace 44">
            <a:extLst>
              <a:ext uri="{FF2B5EF4-FFF2-40B4-BE49-F238E27FC236}">
                <a16:creationId xmlns:a16="http://schemas.microsoft.com/office/drawing/2014/main" id="{9F20B4E4-C81F-8700-E810-9AE49DACCABD}"/>
              </a:ext>
            </a:extLst>
          </p:cNvPr>
          <p:cNvSpPr/>
          <p:nvPr/>
        </p:nvSpPr>
        <p:spPr>
          <a:xfrm>
            <a:off x="3923928" y="2057425"/>
            <a:ext cx="288032" cy="2232248"/>
          </a:xfrm>
          <a:prstGeom prst="rightBrace">
            <a:avLst/>
          </a:prstGeom>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46" name="TextBox 45">
            <a:extLst>
              <a:ext uri="{FF2B5EF4-FFF2-40B4-BE49-F238E27FC236}">
                <a16:creationId xmlns:a16="http://schemas.microsoft.com/office/drawing/2014/main" id="{8985538F-7F24-1171-D907-81FC98E31C70}"/>
              </a:ext>
            </a:extLst>
          </p:cNvPr>
          <p:cNvSpPr txBox="1"/>
          <p:nvPr/>
        </p:nvSpPr>
        <p:spPr>
          <a:xfrm>
            <a:off x="4387940" y="2973494"/>
            <a:ext cx="1364989" cy="400110"/>
          </a:xfrm>
          <a:prstGeom prst="rect">
            <a:avLst/>
          </a:prstGeom>
          <a:noFill/>
        </p:spPr>
        <p:txBody>
          <a:bodyPr wrap="none" rtlCol="0">
            <a:spAutoFit/>
          </a:bodyPr>
          <a:lstStyle/>
          <a:p>
            <a:r>
              <a:rPr lang="en-MY" dirty="0"/>
              <a:t>Magnitude</a:t>
            </a:r>
          </a:p>
        </p:txBody>
      </p:sp>
      <p:cxnSp>
        <p:nvCxnSpPr>
          <p:cNvPr id="49" name="Connector: Elbow 48">
            <a:extLst>
              <a:ext uri="{FF2B5EF4-FFF2-40B4-BE49-F238E27FC236}">
                <a16:creationId xmlns:a16="http://schemas.microsoft.com/office/drawing/2014/main" id="{938D8813-FB0F-67D2-337E-2060D36D63DC}"/>
              </a:ext>
            </a:extLst>
          </p:cNvPr>
          <p:cNvCxnSpPr>
            <a:cxnSpLocks/>
            <a:stCxn id="41" idx="2"/>
            <a:endCxn id="50" idx="1"/>
          </p:cNvCxnSpPr>
          <p:nvPr/>
        </p:nvCxnSpPr>
        <p:spPr>
          <a:xfrm rot="16200000" flipH="1">
            <a:off x="2228173" y="4584695"/>
            <a:ext cx="936104" cy="352906"/>
          </a:xfrm>
          <a:prstGeom prst="bentConnector2">
            <a:avLst/>
          </a:prstGeom>
          <a:ln>
            <a:solidFill>
              <a:srgbClr val="FF0000"/>
            </a:solidFill>
            <a:tailEnd type="triangle"/>
          </a:ln>
        </p:spPr>
        <p:style>
          <a:lnRef idx="2">
            <a:schemeClr val="accent3"/>
          </a:lnRef>
          <a:fillRef idx="1">
            <a:schemeClr val="lt1"/>
          </a:fillRef>
          <a:effectRef idx="0">
            <a:schemeClr val="accent3"/>
          </a:effectRef>
          <a:fontRef idx="minor">
            <a:schemeClr val="dk1"/>
          </a:fontRef>
        </p:style>
      </p:cxnSp>
      <p:sp>
        <p:nvSpPr>
          <p:cNvPr id="50" name="Rectangle 49">
            <a:extLst>
              <a:ext uri="{FF2B5EF4-FFF2-40B4-BE49-F238E27FC236}">
                <a16:creationId xmlns:a16="http://schemas.microsoft.com/office/drawing/2014/main" id="{2C1DBA1B-49EA-2531-5250-674A93421C7D}"/>
              </a:ext>
            </a:extLst>
          </p:cNvPr>
          <p:cNvSpPr/>
          <p:nvPr/>
        </p:nvSpPr>
        <p:spPr>
          <a:xfrm>
            <a:off x="2872678" y="5013176"/>
            <a:ext cx="1195266" cy="432048"/>
          </a:xfrm>
          <a:prstGeom prst="rect">
            <a:avLst/>
          </a:prstGeom>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MY" dirty="0"/>
              <a:t>Sign bit</a:t>
            </a:r>
          </a:p>
        </p:txBody>
      </p:sp>
      <p:sp>
        <p:nvSpPr>
          <p:cNvPr id="52" name="Rectangle 51">
            <a:extLst>
              <a:ext uri="{FF2B5EF4-FFF2-40B4-BE49-F238E27FC236}">
                <a16:creationId xmlns:a16="http://schemas.microsoft.com/office/drawing/2014/main" id="{374F861A-7EC5-8BF2-E4E3-5C91E8F66320}"/>
              </a:ext>
            </a:extLst>
          </p:cNvPr>
          <p:cNvSpPr/>
          <p:nvPr/>
        </p:nvSpPr>
        <p:spPr>
          <a:xfrm>
            <a:off x="2891356" y="5604073"/>
            <a:ext cx="3480844" cy="432048"/>
          </a:xfrm>
          <a:prstGeom prst="rect">
            <a:avLst/>
          </a:prstGeom>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MY" dirty="0"/>
              <a:t>Most significant bit (MSB)</a:t>
            </a:r>
          </a:p>
        </p:txBody>
      </p:sp>
      <p:cxnSp>
        <p:nvCxnSpPr>
          <p:cNvPr id="53" name="Connector: Elbow 52">
            <a:extLst>
              <a:ext uri="{FF2B5EF4-FFF2-40B4-BE49-F238E27FC236}">
                <a16:creationId xmlns:a16="http://schemas.microsoft.com/office/drawing/2014/main" id="{23E8C543-8FBF-ADF3-CF94-FE99ECEE396D}"/>
              </a:ext>
            </a:extLst>
          </p:cNvPr>
          <p:cNvCxnSpPr>
            <a:cxnSpLocks/>
            <a:stCxn id="41" idx="2"/>
            <a:endCxn id="52" idx="1"/>
          </p:cNvCxnSpPr>
          <p:nvPr/>
        </p:nvCxnSpPr>
        <p:spPr>
          <a:xfrm rot="16200000" flipH="1">
            <a:off x="1942064" y="4870804"/>
            <a:ext cx="1527001" cy="371584"/>
          </a:xfrm>
          <a:prstGeom prst="bentConnector2">
            <a:avLst/>
          </a:prstGeom>
          <a:ln>
            <a:solidFill>
              <a:srgbClr val="FF0000"/>
            </a:solidFill>
            <a:tailEnd type="triangle"/>
          </a:ln>
        </p:spPr>
        <p:style>
          <a:lnRef idx="2">
            <a:schemeClr val="accent3"/>
          </a:lnRef>
          <a:fillRef idx="1">
            <a:schemeClr val="lt1"/>
          </a:fillRef>
          <a:effectRef idx="0">
            <a:schemeClr val="accent3"/>
          </a:effectRef>
          <a:fontRef idx="minor">
            <a:schemeClr val="dk1"/>
          </a:fontRef>
        </p:style>
      </p:cxnSp>
      <p:sp>
        <p:nvSpPr>
          <p:cNvPr id="57" name="TextBox 56">
            <a:extLst>
              <a:ext uri="{FF2B5EF4-FFF2-40B4-BE49-F238E27FC236}">
                <a16:creationId xmlns:a16="http://schemas.microsoft.com/office/drawing/2014/main" id="{E56A70F7-6FD9-614A-CE1D-7774BCE475A1}"/>
              </a:ext>
            </a:extLst>
          </p:cNvPr>
          <p:cNvSpPr txBox="1"/>
          <p:nvPr/>
        </p:nvSpPr>
        <p:spPr>
          <a:xfrm>
            <a:off x="2840231" y="2267263"/>
            <a:ext cx="939681" cy="646331"/>
          </a:xfrm>
          <a:prstGeom prst="rect">
            <a:avLst/>
          </a:prstGeom>
          <a:noFill/>
        </p:spPr>
        <p:txBody>
          <a:bodyPr wrap="none" rtlCol="0">
            <a:spAutoFit/>
          </a:bodyPr>
          <a:lstStyle/>
          <a:p>
            <a:r>
              <a:rPr lang="en-MY" sz="3600" dirty="0"/>
              <a:t>110</a:t>
            </a:r>
          </a:p>
        </p:txBody>
      </p:sp>
      <p:sp>
        <p:nvSpPr>
          <p:cNvPr id="58" name="TextBox 57">
            <a:extLst>
              <a:ext uri="{FF2B5EF4-FFF2-40B4-BE49-F238E27FC236}">
                <a16:creationId xmlns:a16="http://schemas.microsoft.com/office/drawing/2014/main" id="{B697EE46-DDC9-27F7-9B52-EF9AAA484C42}"/>
              </a:ext>
            </a:extLst>
          </p:cNvPr>
          <p:cNvSpPr txBox="1"/>
          <p:nvPr/>
        </p:nvSpPr>
        <p:spPr>
          <a:xfrm>
            <a:off x="2821713" y="3324532"/>
            <a:ext cx="939681" cy="646331"/>
          </a:xfrm>
          <a:prstGeom prst="rect">
            <a:avLst/>
          </a:prstGeom>
          <a:noFill/>
        </p:spPr>
        <p:txBody>
          <a:bodyPr wrap="none" rtlCol="0">
            <a:spAutoFit/>
          </a:bodyPr>
          <a:lstStyle/>
          <a:p>
            <a:r>
              <a:rPr lang="en-MY" sz="3600" dirty="0"/>
              <a:t>110</a:t>
            </a:r>
          </a:p>
        </p:txBody>
      </p:sp>
      <p:sp>
        <p:nvSpPr>
          <p:cNvPr id="59" name="Arrow: Left 58">
            <a:extLst>
              <a:ext uri="{FF2B5EF4-FFF2-40B4-BE49-F238E27FC236}">
                <a16:creationId xmlns:a16="http://schemas.microsoft.com/office/drawing/2014/main" id="{5294B474-8695-9666-1B37-8AAA4D486C64}"/>
              </a:ext>
            </a:extLst>
          </p:cNvPr>
          <p:cNvSpPr/>
          <p:nvPr/>
        </p:nvSpPr>
        <p:spPr>
          <a:xfrm>
            <a:off x="6516216" y="5640077"/>
            <a:ext cx="576064" cy="360040"/>
          </a:xfrm>
          <a:prstGeom prst="leftArrow">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Arrow: Left 59">
            <a:extLst>
              <a:ext uri="{FF2B5EF4-FFF2-40B4-BE49-F238E27FC236}">
                <a16:creationId xmlns:a16="http://schemas.microsoft.com/office/drawing/2014/main" id="{A80F26F8-63DA-16F4-513D-5BEC97D2504E}"/>
              </a:ext>
            </a:extLst>
          </p:cNvPr>
          <p:cNvSpPr/>
          <p:nvPr/>
        </p:nvSpPr>
        <p:spPr>
          <a:xfrm>
            <a:off x="5752929" y="3022456"/>
            <a:ext cx="576064" cy="360040"/>
          </a:xfrm>
          <a:prstGeom prst="leftArrow">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Rectangle 60">
            <a:extLst>
              <a:ext uri="{FF2B5EF4-FFF2-40B4-BE49-F238E27FC236}">
                <a16:creationId xmlns:a16="http://schemas.microsoft.com/office/drawing/2014/main" id="{7F4997D6-2DD0-06E8-D6B5-7E16D201BAF2}"/>
              </a:ext>
            </a:extLst>
          </p:cNvPr>
          <p:cNvSpPr/>
          <p:nvPr/>
        </p:nvSpPr>
        <p:spPr>
          <a:xfrm>
            <a:off x="6660232" y="1277967"/>
            <a:ext cx="1699668" cy="710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solidFill>
                  <a:srgbClr val="FFFF00"/>
                </a:solidFill>
              </a:rPr>
              <a:t> 0 = (+)</a:t>
            </a:r>
          </a:p>
        </p:txBody>
      </p:sp>
      <p:sp>
        <p:nvSpPr>
          <p:cNvPr id="62" name="Rectangle 61">
            <a:extLst>
              <a:ext uri="{FF2B5EF4-FFF2-40B4-BE49-F238E27FC236}">
                <a16:creationId xmlns:a16="http://schemas.microsoft.com/office/drawing/2014/main" id="{A0F437C6-F251-255F-E137-9259C3B8E68A}"/>
              </a:ext>
            </a:extLst>
          </p:cNvPr>
          <p:cNvSpPr/>
          <p:nvPr/>
        </p:nvSpPr>
        <p:spPr>
          <a:xfrm>
            <a:off x="6675860" y="2162609"/>
            <a:ext cx="1699668" cy="710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solidFill>
                  <a:srgbClr val="FF0000"/>
                </a:solidFill>
              </a:rPr>
              <a:t> 1 = (-)</a:t>
            </a:r>
          </a:p>
        </p:txBody>
      </p:sp>
      <p:sp>
        <p:nvSpPr>
          <p:cNvPr id="2" name="Slide Number Placeholder 1">
            <a:extLst>
              <a:ext uri="{FF2B5EF4-FFF2-40B4-BE49-F238E27FC236}">
                <a16:creationId xmlns:a16="http://schemas.microsoft.com/office/drawing/2014/main" id="{22C31B2A-F8F9-6230-590E-399B2D9A79BB}"/>
              </a:ext>
            </a:extLst>
          </p:cNvPr>
          <p:cNvSpPr>
            <a:spLocks noGrp="1"/>
          </p:cNvSpPr>
          <p:nvPr>
            <p:ph type="sldNum" sz="quarter" idx="12"/>
          </p:nvPr>
        </p:nvSpPr>
        <p:spPr/>
        <p:txBody>
          <a:bodyPr/>
          <a:lstStyle/>
          <a:p>
            <a:pPr>
              <a:defRPr/>
            </a:pPr>
            <a:fld id="{B15F286D-88BF-4C85-84EF-53248539BE74}" type="slidenum">
              <a:rPr lang="en-US" altLang="en-US" smtClean="0"/>
              <a:pPr>
                <a:defRPr/>
              </a:pPr>
              <a:t>18</a:t>
            </a:fld>
            <a:endParaRPr lang="en-US" altLang="en-US"/>
          </a:p>
        </p:txBody>
      </p:sp>
    </p:spTree>
    <p:extLst>
      <p:ext uri="{BB962C8B-B14F-4D97-AF65-F5344CB8AC3E}">
        <p14:creationId xmlns:p14="http://schemas.microsoft.com/office/powerpoint/2010/main" val="409998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1+#ppt_w/2"/>
                                          </p:val>
                                        </p:tav>
                                        <p:tav tm="100000">
                                          <p:val>
                                            <p:strVal val="#ppt_x"/>
                                          </p:val>
                                        </p:tav>
                                      </p:tavLst>
                                    </p:anim>
                                    <p:anim calcmode="lin" valueType="num">
                                      <p:cBhvr additive="base">
                                        <p:cTn id="18" dur="500" fill="hold"/>
                                        <p:tgtEl>
                                          <p:spTgt spid="57"/>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anim calcmode="lin" valueType="num">
                                      <p:cBhvr additive="base">
                                        <p:cTn id="21" dur="500" fill="hold"/>
                                        <p:tgtEl>
                                          <p:spTgt spid="58"/>
                                        </p:tgtEl>
                                        <p:attrNameLst>
                                          <p:attrName>ppt_x</p:attrName>
                                        </p:attrNameLst>
                                      </p:cBhvr>
                                      <p:tavLst>
                                        <p:tav tm="0">
                                          <p:val>
                                            <p:strVal val="1+#ppt_w/2"/>
                                          </p:val>
                                        </p:tav>
                                        <p:tav tm="100000">
                                          <p:val>
                                            <p:strVal val="#ppt_x"/>
                                          </p:val>
                                        </p:tav>
                                      </p:tavLst>
                                    </p:anim>
                                    <p:anim calcmode="lin" valueType="num">
                                      <p:cBhvr additive="base">
                                        <p:cTn id="22"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0-#ppt_w/2"/>
                                          </p:val>
                                        </p:tav>
                                        <p:tav tm="100000">
                                          <p:val>
                                            <p:strVal val="#ppt_x"/>
                                          </p:val>
                                        </p:tav>
                                      </p:tavLst>
                                    </p:anim>
                                    <p:anim calcmode="lin" valueType="num">
                                      <p:cBhvr additive="base">
                                        <p:cTn id="28" dur="500" fill="hold"/>
                                        <p:tgtEl>
                                          <p:spTgt spid="4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0-#ppt_w/2"/>
                                          </p:val>
                                        </p:tav>
                                        <p:tav tm="100000">
                                          <p:val>
                                            <p:strVal val="#ppt_x"/>
                                          </p:val>
                                        </p:tav>
                                      </p:tavLst>
                                    </p:anim>
                                    <p:anim calcmode="lin" valueType="num">
                                      <p:cBhvr additive="base">
                                        <p:cTn id="32"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1000"/>
                                        <p:tgtEl>
                                          <p:spTgt spid="41"/>
                                        </p:tgtEl>
                                      </p:cBhvr>
                                    </p:animEffect>
                                    <p:anim calcmode="lin" valueType="num">
                                      <p:cBhvr>
                                        <p:cTn id="38" dur="1000" fill="hold"/>
                                        <p:tgtEl>
                                          <p:spTgt spid="41"/>
                                        </p:tgtEl>
                                        <p:attrNameLst>
                                          <p:attrName>ppt_x</p:attrName>
                                        </p:attrNameLst>
                                      </p:cBhvr>
                                      <p:tavLst>
                                        <p:tav tm="0">
                                          <p:val>
                                            <p:strVal val="#ppt_x"/>
                                          </p:val>
                                        </p:tav>
                                        <p:tav tm="100000">
                                          <p:val>
                                            <p:strVal val="#ppt_x"/>
                                          </p:val>
                                        </p:tav>
                                      </p:tavLst>
                                    </p:anim>
                                    <p:anim calcmode="lin" valueType="num">
                                      <p:cBhvr>
                                        <p:cTn id="39" dur="1000" fill="hold"/>
                                        <p:tgtEl>
                                          <p:spTgt spid="4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1000"/>
                                        <p:tgtEl>
                                          <p:spTgt spid="49"/>
                                        </p:tgtEl>
                                      </p:cBhvr>
                                    </p:animEffect>
                                    <p:anim calcmode="lin" valueType="num">
                                      <p:cBhvr>
                                        <p:cTn id="43" dur="1000" fill="hold"/>
                                        <p:tgtEl>
                                          <p:spTgt spid="49"/>
                                        </p:tgtEl>
                                        <p:attrNameLst>
                                          <p:attrName>ppt_x</p:attrName>
                                        </p:attrNameLst>
                                      </p:cBhvr>
                                      <p:tavLst>
                                        <p:tav tm="0">
                                          <p:val>
                                            <p:strVal val="#ppt_x"/>
                                          </p:val>
                                        </p:tav>
                                        <p:tav tm="100000">
                                          <p:val>
                                            <p:strVal val="#ppt_x"/>
                                          </p:val>
                                        </p:tav>
                                      </p:tavLst>
                                    </p:anim>
                                    <p:anim calcmode="lin" valueType="num">
                                      <p:cBhvr>
                                        <p:cTn id="44" dur="1000" fill="hold"/>
                                        <p:tgtEl>
                                          <p:spTgt spid="4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1000"/>
                                        <p:tgtEl>
                                          <p:spTgt spid="50"/>
                                        </p:tgtEl>
                                      </p:cBhvr>
                                    </p:animEffect>
                                    <p:anim calcmode="lin" valueType="num">
                                      <p:cBhvr>
                                        <p:cTn id="48" dur="1000" fill="hold"/>
                                        <p:tgtEl>
                                          <p:spTgt spid="50"/>
                                        </p:tgtEl>
                                        <p:attrNameLst>
                                          <p:attrName>ppt_x</p:attrName>
                                        </p:attrNameLst>
                                      </p:cBhvr>
                                      <p:tavLst>
                                        <p:tav tm="0">
                                          <p:val>
                                            <p:strVal val="#ppt_x"/>
                                          </p:val>
                                        </p:tav>
                                        <p:tav tm="100000">
                                          <p:val>
                                            <p:strVal val="#ppt_x"/>
                                          </p:val>
                                        </p:tav>
                                      </p:tavLst>
                                    </p:anim>
                                    <p:anim calcmode="lin" valueType="num">
                                      <p:cBhvr>
                                        <p:cTn id="49" dur="1000" fill="hold"/>
                                        <p:tgtEl>
                                          <p:spTgt spid="5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1000"/>
                                        <p:tgtEl>
                                          <p:spTgt spid="53"/>
                                        </p:tgtEl>
                                      </p:cBhvr>
                                    </p:animEffect>
                                    <p:anim calcmode="lin" valueType="num">
                                      <p:cBhvr>
                                        <p:cTn id="53" dur="1000" fill="hold"/>
                                        <p:tgtEl>
                                          <p:spTgt spid="53"/>
                                        </p:tgtEl>
                                        <p:attrNameLst>
                                          <p:attrName>ppt_x</p:attrName>
                                        </p:attrNameLst>
                                      </p:cBhvr>
                                      <p:tavLst>
                                        <p:tav tm="0">
                                          <p:val>
                                            <p:strVal val="#ppt_x"/>
                                          </p:val>
                                        </p:tav>
                                        <p:tav tm="100000">
                                          <p:val>
                                            <p:strVal val="#ppt_x"/>
                                          </p:val>
                                        </p:tav>
                                      </p:tavLst>
                                    </p:anim>
                                    <p:anim calcmode="lin" valueType="num">
                                      <p:cBhvr>
                                        <p:cTn id="54" dur="1000" fill="hold"/>
                                        <p:tgtEl>
                                          <p:spTgt spid="5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1000"/>
                                        <p:tgtEl>
                                          <p:spTgt spid="52"/>
                                        </p:tgtEl>
                                      </p:cBhvr>
                                    </p:animEffect>
                                    <p:anim calcmode="lin" valueType="num">
                                      <p:cBhvr>
                                        <p:cTn id="58" dur="1000" fill="hold"/>
                                        <p:tgtEl>
                                          <p:spTgt spid="52"/>
                                        </p:tgtEl>
                                        <p:attrNameLst>
                                          <p:attrName>ppt_x</p:attrName>
                                        </p:attrNameLst>
                                      </p:cBhvr>
                                      <p:tavLst>
                                        <p:tav tm="0">
                                          <p:val>
                                            <p:strVal val="#ppt_x"/>
                                          </p:val>
                                        </p:tav>
                                        <p:tav tm="100000">
                                          <p:val>
                                            <p:strVal val="#ppt_x"/>
                                          </p:val>
                                        </p:tav>
                                      </p:tavLst>
                                    </p:anim>
                                    <p:anim calcmode="lin" valueType="num">
                                      <p:cBhvr>
                                        <p:cTn id="5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1000"/>
                                        <p:tgtEl>
                                          <p:spTgt spid="42"/>
                                        </p:tgtEl>
                                      </p:cBhvr>
                                    </p:animEffect>
                                    <p:anim calcmode="lin" valueType="num">
                                      <p:cBhvr>
                                        <p:cTn id="65" dur="1000" fill="hold"/>
                                        <p:tgtEl>
                                          <p:spTgt spid="42"/>
                                        </p:tgtEl>
                                        <p:attrNameLst>
                                          <p:attrName>ppt_x</p:attrName>
                                        </p:attrNameLst>
                                      </p:cBhvr>
                                      <p:tavLst>
                                        <p:tav tm="0">
                                          <p:val>
                                            <p:strVal val="#ppt_x"/>
                                          </p:val>
                                        </p:tav>
                                        <p:tav tm="100000">
                                          <p:val>
                                            <p:strVal val="#ppt_x"/>
                                          </p:val>
                                        </p:tav>
                                      </p:tavLst>
                                    </p:anim>
                                    <p:anim calcmode="lin" valueType="num">
                                      <p:cBhvr>
                                        <p:cTn id="66" dur="1000" fill="hold"/>
                                        <p:tgtEl>
                                          <p:spTgt spid="4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1000"/>
                                        <p:tgtEl>
                                          <p:spTgt spid="45"/>
                                        </p:tgtEl>
                                      </p:cBhvr>
                                    </p:animEffect>
                                    <p:anim calcmode="lin" valueType="num">
                                      <p:cBhvr>
                                        <p:cTn id="70" dur="1000" fill="hold"/>
                                        <p:tgtEl>
                                          <p:spTgt spid="45"/>
                                        </p:tgtEl>
                                        <p:attrNameLst>
                                          <p:attrName>ppt_x</p:attrName>
                                        </p:attrNameLst>
                                      </p:cBhvr>
                                      <p:tavLst>
                                        <p:tav tm="0">
                                          <p:val>
                                            <p:strVal val="#ppt_x"/>
                                          </p:val>
                                        </p:tav>
                                        <p:tav tm="100000">
                                          <p:val>
                                            <p:strVal val="#ppt_x"/>
                                          </p:val>
                                        </p:tav>
                                      </p:tavLst>
                                    </p:anim>
                                    <p:anim calcmode="lin" valueType="num">
                                      <p:cBhvr>
                                        <p:cTn id="71" dur="1000" fill="hold"/>
                                        <p:tgtEl>
                                          <p:spTgt spid="4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1000"/>
                                        <p:tgtEl>
                                          <p:spTgt spid="46"/>
                                        </p:tgtEl>
                                      </p:cBhvr>
                                    </p:animEffect>
                                    <p:anim calcmode="lin" valueType="num">
                                      <p:cBhvr>
                                        <p:cTn id="75" dur="1000" fill="hold"/>
                                        <p:tgtEl>
                                          <p:spTgt spid="46"/>
                                        </p:tgtEl>
                                        <p:attrNameLst>
                                          <p:attrName>ppt_x</p:attrName>
                                        </p:attrNameLst>
                                      </p:cBhvr>
                                      <p:tavLst>
                                        <p:tav tm="0">
                                          <p:val>
                                            <p:strVal val="#ppt_x"/>
                                          </p:val>
                                        </p:tav>
                                        <p:tav tm="100000">
                                          <p:val>
                                            <p:strVal val="#ppt_x"/>
                                          </p:val>
                                        </p:tav>
                                      </p:tavLst>
                                    </p:anim>
                                    <p:anim calcmode="lin" valueType="num">
                                      <p:cBhvr>
                                        <p:cTn id="76" dur="1000" fill="hold"/>
                                        <p:tgtEl>
                                          <p:spTgt spid="46"/>
                                        </p:tgtEl>
                                        <p:attrNameLst>
                                          <p:attrName>ppt_y</p:attrName>
                                        </p:attrNameLst>
                                      </p:cBhvr>
                                      <p:tavLst>
                                        <p:tav tm="0">
                                          <p:val>
                                            <p:strVal val="#ppt_y+.1"/>
                                          </p:val>
                                        </p:tav>
                                        <p:tav tm="100000">
                                          <p:val>
                                            <p:strVal val="#ppt_y"/>
                                          </p:val>
                                        </p:tav>
                                      </p:tavLst>
                                    </p:anim>
                                  </p:childTnLst>
                                </p:cTn>
                              </p:par>
                              <p:par>
                                <p:cTn id="77" presetID="1"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9" grpId="0" animBg="1"/>
      <p:bldP spid="40" grpId="0" animBg="1"/>
      <p:bldP spid="41" grpId="0" animBg="1"/>
      <p:bldP spid="42" grpId="0" animBg="1"/>
      <p:bldP spid="45" grpId="0" animBg="1"/>
      <p:bldP spid="46" grpId="0"/>
      <p:bldP spid="50" grpId="0" animBg="1"/>
      <p:bldP spid="52" grpId="0" animBg="1"/>
      <p:bldP spid="57" grpId="0"/>
      <p:bldP spid="58" grpId="0"/>
      <p:bldP spid="59" grpId="0" animBg="1"/>
      <p:bldP spid="6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A89273-2702-13AF-0A7A-3E1B1CAA8AFA}"/>
              </a:ext>
            </a:extLst>
          </p:cNvPr>
          <p:cNvSpPr>
            <a:spLocks noGrp="1" noChangeArrowheads="1"/>
          </p:cNvSpPr>
          <p:nvPr>
            <p:ph type="title"/>
          </p:nvPr>
        </p:nvSpPr>
        <p:spPr>
          <a:xfrm>
            <a:off x="517810" y="980628"/>
            <a:ext cx="7676332" cy="1325562"/>
          </a:xfrm>
        </p:spPr>
        <p:txBody>
          <a:bodyPr/>
          <a:lstStyle/>
          <a:p>
            <a:r>
              <a:rPr lang="en-US" altLang="en-US" dirty="0"/>
              <a:t>Signed-Magnitude</a:t>
            </a:r>
          </a:p>
        </p:txBody>
      </p:sp>
      <p:sp>
        <p:nvSpPr>
          <p:cNvPr id="7" name="TextBox 6">
            <a:extLst>
              <a:ext uri="{FF2B5EF4-FFF2-40B4-BE49-F238E27FC236}">
                <a16:creationId xmlns:a16="http://schemas.microsoft.com/office/drawing/2014/main" id="{4612B722-1E60-FBF9-1187-0A21120E2274}"/>
              </a:ext>
            </a:extLst>
          </p:cNvPr>
          <p:cNvSpPr txBox="1"/>
          <p:nvPr/>
        </p:nvSpPr>
        <p:spPr>
          <a:xfrm>
            <a:off x="2375476" y="2928367"/>
            <a:ext cx="1505540" cy="646331"/>
          </a:xfrm>
          <a:prstGeom prst="rect">
            <a:avLst/>
          </a:prstGeom>
          <a:noFill/>
        </p:spPr>
        <p:txBody>
          <a:bodyPr wrap="none" rtlCol="0">
            <a:spAutoFit/>
          </a:bodyPr>
          <a:lstStyle/>
          <a:p>
            <a:r>
              <a:rPr lang="en-MY" sz="3600" dirty="0"/>
              <a:t>+13 =</a:t>
            </a:r>
          </a:p>
        </p:txBody>
      </p:sp>
      <p:sp>
        <p:nvSpPr>
          <p:cNvPr id="8" name="TextBox 7">
            <a:extLst>
              <a:ext uri="{FF2B5EF4-FFF2-40B4-BE49-F238E27FC236}">
                <a16:creationId xmlns:a16="http://schemas.microsoft.com/office/drawing/2014/main" id="{1D6F5A0F-16A2-4CAD-26E4-A407ED411394}"/>
              </a:ext>
            </a:extLst>
          </p:cNvPr>
          <p:cNvSpPr txBox="1"/>
          <p:nvPr/>
        </p:nvSpPr>
        <p:spPr>
          <a:xfrm>
            <a:off x="2543792" y="3939962"/>
            <a:ext cx="1337226" cy="646331"/>
          </a:xfrm>
          <a:prstGeom prst="rect">
            <a:avLst/>
          </a:prstGeom>
          <a:noFill/>
        </p:spPr>
        <p:txBody>
          <a:bodyPr wrap="none" rtlCol="0">
            <a:spAutoFit/>
          </a:bodyPr>
          <a:lstStyle/>
          <a:p>
            <a:r>
              <a:rPr lang="en-MY" sz="3600" dirty="0"/>
              <a:t>-13 =</a:t>
            </a:r>
          </a:p>
        </p:txBody>
      </p:sp>
      <p:sp>
        <p:nvSpPr>
          <p:cNvPr id="57" name="TextBox 56">
            <a:extLst>
              <a:ext uri="{FF2B5EF4-FFF2-40B4-BE49-F238E27FC236}">
                <a16:creationId xmlns:a16="http://schemas.microsoft.com/office/drawing/2014/main" id="{E56A70F7-6FD9-614A-CE1D-7774BCE475A1}"/>
              </a:ext>
            </a:extLst>
          </p:cNvPr>
          <p:cNvSpPr txBox="1"/>
          <p:nvPr/>
        </p:nvSpPr>
        <p:spPr>
          <a:xfrm>
            <a:off x="4283968" y="2921665"/>
            <a:ext cx="1337226" cy="646331"/>
          </a:xfrm>
          <a:prstGeom prst="rect">
            <a:avLst/>
          </a:prstGeom>
          <a:noFill/>
        </p:spPr>
        <p:txBody>
          <a:bodyPr wrap="square" rtlCol="0">
            <a:spAutoFit/>
          </a:bodyPr>
          <a:lstStyle/>
          <a:p>
            <a:r>
              <a:rPr lang="en-MY" sz="3600" dirty="0"/>
              <a:t>1101</a:t>
            </a:r>
          </a:p>
        </p:txBody>
      </p:sp>
      <p:sp>
        <p:nvSpPr>
          <p:cNvPr id="2" name="TextBox 1">
            <a:extLst>
              <a:ext uri="{FF2B5EF4-FFF2-40B4-BE49-F238E27FC236}">
                <a16:creationId xmlns:a16="http://schemas.microsoft.com/office/drawing/2014/main" id="{485A7737-9CAB-9D28-D2A8-B0C50978B03E}"/>
              </a:ext>
            </a:extLst>
          </p:cNvPr>
          <p:cNvSpPr txBox="1"/>
          <p:nvPr/>
        </p:nvSpPr>
        <p:spPr>
          <a:xfrm>
            <a:off x="4283968" y="4005064"/>
            <a:ext cx="1337226" cy="646331"/>
          </a:xfrm>
          <a:prstGeom prst="rect">
            <a:avLst/>
          </a:prstGeom>
          <a:noFill/>
        </p:spPr>
        <p:txBody>
          <a:bodyPr wrap="square" rtlCol="0">
            <a:spAutoFit/>
          </a:bodyPr>
          <a:lstStyle/>
          <a:p>
            <a:r>
              <a:rPr lang="en-MY" sz="3600" dirty="0"/>
              <a:t>1101</a:t>
            </a:r>
          </a:p>
        </p:txBody>
      </p:sp>
      <p:sp>
        <p:nvSpPr>
          <p:cNvPr id="3" name="TextBox 2">
            <a:extLst>
              <a:ext uri="{FF2B5EF4-FFF2-40B4-BE49-F238E27FC236}">
                <a16:creationId xmlns:a16="http://schemas.microsoft.com/office/drawing/2014/main" id="{7421E2F1-F06E-346D-6E5B-2CC2B91F82AE}"/>
              </a:ext>
            </a:extLst>
          </p:cNvPr>
          <p:cNvSpPr txBox="1"/>
          <p:nvPr/>
        </p:nvSpPr>
        <p:spPr>
          <a:xfrm>
            <a:off x="3771033" y="4005064"/>
            <a:ext cx="519986" cy="646331"/>
          </a:xfrm>
          <a:prstGeom prst="rect">
            <a:avLst/>
          </a:prstGeom>
          <a:solidFill>
            <a:srgbClr val="00B050"/>
          </a:solidFill>
          <a:ln>
            <a:noFill/>
          </a:ln>
        </p:spPr>
        <p:txBody>
          <a:bodyPr wrap="square" rtlCol="0">
            <a:spAutoFit/>
          </a:bodyPr>
          <a:lstStyle/>
          <a:p>
            <a:pPr algn="ctr"/>
            <a:r>
              <a:rPr lang="en-MY" sz="3600" dirty="0">
                <a:solidFill>
                  <a:srgbClr val="FF0000"/>
                </a:solidFill>
              </a:rPr>
              <a:t>1</a:t>
            </a:r>
          </a:p>
        </p:txBody>
      </p:sp>
      <p:sp>
        <p:nvSpPr>
          <p:cNvPr id="4" name="TextBox 3">
            <a:extLst>
              <a:ext uri="{FF2B5EF4-FFF2-40B4-BE49-F238E27FC236}">
                <a16:creationId xmlns:a16="http://schemas.microsoft.com/office/drawing/2014/main" id="{874C34E4-CFF2-255B-EB51-BB7D53A85D79}"/>
              </a:ext>
            </a:extLst>
          </p:cNvPr>
          <p:cNvSpPr txBox="1"/>
          <p:nvPr/>
        </p:nvSpPr>
        <p:spPr>
          <a:xfrm>
            <a:off x="3771032" y="2960918"/>
            <a:ext cx="519986" cy="646331"/>
          </a:xfrm>
          <a:prstGeom prst="rect">
            <a:avLst/>
          </a:prstGeom>
          <a:solidFill>
            <a:srgbClr val="00B050"/>
          </a:solidFill>
          <a:ln>
            <a:noFill/>
          </a:ln>
        </p:spPr>
        <p:txBody>
          <a:bodyPr wrap="square" rtlCol="0">
            <a:spAutoFit/>
          </a:bodyPr>
          <a:lstStyle/>
          <a:p>
            <a:pPr algn="ctr"/>
            <a:r>
              <a:rPr lang="en-MY" sz="3600" dirty="0">
                <a:solidFill>
                  <a:srgbClr val="FFFF00"/>
                </a:solidFill>
              </a:rPr>
              <a:t>0</a:t>
            </a:r>
          </a:p>
        </p:txBody>
      </p:sp>
      <p:sp>
        <p:nvSpPr>
          <p:cNvPr id="5" name="Rectangle 4">
            <a:extLst>
              <a:ext uri="{FF2B5EF4-FFF2-40B4-BE49-F238E27FC236}">
                <a16:creationId xmlns:a16="http://schemas.microsoft.com/office/drawing/2014/main" id="{A0345D83-816C-7A82-2220-5519696CE963}"/>
              </a:ext>
            </a:extLst>
          </p:cNvPr>
          <p:cNvSpPr/>
          <p:nvPr/>
        </p:nvSpPr>
        <p:spPr>
          <a:xfrm>
            <a:off x="6651449" y="1117790"/>
            <a:ext cx="1699668" cy="710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solidFill>
                  <a:srgbClr val="FFFF00"/>
                </a:solidFill>
              </a:rPr>
              <a:t> 0 = (+)</a:t>
            </a:r>
          </a:p>
        </p:txBody>
      </p:sp>
      <p:sp>
        <p:nvSpPr>
          <p:cNvPr id="6" name="Rectangle 5">
            <a:extLst>
              <a:ext uri="{FF2B5EF4-FFF2-40B4-BE49-F238E27FC236}">
                <a16:creationId xmlns:a16="http://schemas.microsoft.com/office/drawing/2014/main" id="{2D63136D-1FC1-82BC-0D42-5BACE3D4BC0E}"/>
              </a:ext>
            </a:extLst>
          </p:cNvPr>
          <p:cNvSpPr/>
          <p:nvPr/>
        </p:nvSpPr>
        <p:spPr>
          <a:xfrm>
            <a:off x="6667077" y="2002432"/>
            <a:ext cx="1699668" cy="710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3200" b="1" dirty="0">
                <a:solidFill>
                  <a:srgbClr val="FF0000"/>
                </a:solidFill>
              </a:rPr>
              <a:t> 1 = (-)</a:t>
            </a:r>
          </a:p>
        </p:txBody>
      </p:sp>
      <p:sp>
        <p:nvSpPr>
          <p:cNvPr id="9" name="Slide Number Placeholder 8">
            <a:extLst>
              <a:ext uri="{FF2B5EF4-FFF2-40B4-BE49-F238E27FC236}">
                <a16:creationId xmlns:a16="http://schemas.microsoft.com/office/drawing/2014/main" id="{84CC02E8-4919-0D6B-0CC6-C8AB9EF05A5C}"/>
              </a:ext>
            </a:extLst>
          </p:cNvPr>
          <p:cNvSpPr>
            <a:spLocks noGrp="1"/>
          </p:cNvSpPr>
          <p:nvPr>
            <p:ph type="sldNum" sz="quarter" idx="12"/>
          </p:nvPr>
        </p:nvSpPr>
        <p:spPr/>
        <p:txBody>
          <a:bodyPr/>
          <a:lstStyle/>
          <a:p>
            <a:pPr>
              <a:defRPr/>
            </a:pPr>
            <a:fld id="{B15F286D-88BF-4C85-84EF-53248539BE74}" type="slidenum">
              <a:rPr lang="en-US" altLang="en-US" smtClean="0"/>
              <a:pPr>
                <a:defRPr/>
              </a:pPr>
              <a:t>19</a:t>
            </a:fld>
            <a:endParaRPr lang="en-US" altLang="en-US"/>
          </a:p>
        </p:txBody>
      </p:sp>
    </p:spTree>
    <p:extLst>
      <p:ext uri="{BB962C8B-B14F-4D97-AF65-F5344CB8AC3E}">
        <p14:creationId xmlns:p14="http://schemas.microsoft.com/office/powerpoint/2010/main" val="271923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1+#ppt_w/2"/>
                                          </p:val>
                                        </p:tav>
                                        <p:tav tm="100000">
                                          <p:val>
                                            <p:strVal val="#ppt_x"/>
                                          </p:val>
                                        </p:tav>
                                      </p:tavLst>
                                    </p:anim>
                                    <p:anim calcmode="lin" valueType="num">
                                      <p:cBhvr additive="base">
                                        <p:cTn id="18" dur="500" fill="hold"/>
                                        <p:tgtEl>
                                          <p:spTgt spid="57"/>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57" grpId="0"/>
      <p:bldP spid="2" grpId="0"/>
      <p:bldP spid="3"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10337-622C-DE2F-4EC9-DFEE8D4245C3}"/>
              </a:ext>
            </a:extLst>
          </p:cNvPr>
          <p:cNvSpPr>
            <a:spLocks noGrp="1"/>
          </p:cNvSpPr>
          <p:nvPr>
            <p:ph type="title"/>
          </p:nvPr>
        </p:nvSpPr>
        <p:spPr/>
        <p:txBody>
          <a:bodyPr/>
          <a:lstStyle/>
          <a:p>
            <a:r>
              <a:rPr lang="en-GB" dirty="0"/>
              <a:t>Signed-magnitude </a:t>
            </a:r>
          </a:p>
        </p:txBody>
      </p:sp>
      <p:sp>
        <p:nvSpPr>
          <p:cNvPr id="3" name="Content Placeholder 2">
            <a:extLst>
              <a:ext uri="{FF2B5EF4-FFF2-40B4-BE49-F238E27FC236}">
                <a16:creationId xmlns:a16="http://schemas.microsoft.com/office/drawing/2014/main" id="{ECA02394-A3DF-A82E-890B-9DEAE72F1E8C}"/>
              </a:ext>
            </a:extLst>
          </p:cNvPr>
          <p:cNvSpPr>
            <a:spLocks noGrp="1"/>
          </p:cNvSpPr>
          <p:nvPr>
            <p:ph idx="1"/>
          </p:nvPr>
        </p:nvSpPr>
        <p:spPr>
          <a:xfrm>
            <a:off x="309391" y="1844825"/>
            <a:ext cx="7887005" cy="1112520"/>
          </a:xfrm>
        </p:spPr>
        <p:txBody>
          <a:bodyPr/>
          <a:lstStyle/>
          <a:p>
            <a:r>
              <a:rPr lang="en-GB" dirty="0"/>
              <a:t>Suppose 10011101 is a signed magnitude representation. </a:t>
            </a:r>
          </a:p>
          <a:p>
            <a:r>
              <a:rPr lang="en-GB" dirty="0"/>
              <a:t>The sign bit is 1, then the number represented is negative </a:t>
            </a:r>
          </a:p>
        </p:txBody>
      </p:sp>
      <p:graphicFrame>
        <p:nvGraphicFramePr>
          <p:cNvPr id="4" name="Table 3">
            <a:extLst>
              <a:ext uri="{FF2B5EF4-FFF2-40B4-BE49-F238E27FC236}">
                <a16:creationId xmlns:a16="http://schemas.microsoft.com/office/drawing/2014/main" id="{55749C7A-9E1C-D86A-1218-7058F3D029DE}"/>
              </a:ext>
            </a:extLst>
          </p:cNvPr>
          <p:cNvGraphicFramePr>
            <a:graphicFrameLocks noGrp="1"/>
          </p:cNvGraphicFramePr>
          <p:nvPr>
            <p:extLst>
              <p:ext uri="{D42A27DB-BD31-4B8C-83A1-F6EECF244321}">
                <p14:modId xmlns:p14="http://schemas.microsoft.com/office/powerpoint/2010/main" val="3203094805"/>
              </p:ext>
            </p:extLst>
          </p:nvPr>
        </p:nvGraphicFramePr>
        <p:xfrm>
          <a:off x="616487" y="3110848"/>
          <a:ext cx="7272810" cy="1112520"/>
        </p:xfrm>
        <a:graphic>
          <a:graphicData uri="http://schemas.openxmlformats.org/drawingml/2006/table">
            <a:tbl>
              <a:tblPr firstRow="1" bandRow="1">
                <a:tableStyleId>{5940675A-B579-460E-94D1-54222C63F5DA}</a:tableStyleId>
              </a:tblPr>
              <a:tblGrid>
                <a:gridCol w="1273042">
                  <a:extLst>
                    <a:ext uri="{9D8B030D-6E8A-4147-A177-3AD203B41FA5}">
                      <a16:colId xmlns:a16="http://schemas.microsoft.com/office/drawing/2014/main" val="982644798"/>
                    </a:ext>
                  </a:extLst>
                </a:gridCol>
                <a:gridCol w="749971">
                  <a:extLst>
                    <a:ext uri="{9D8B030D-6E8A-4147-A177-3AD203B41FA5}">
                      <a16:colId xmlns:a16="http://schemas.microsoft.com/office/drawing/2014/main" val="490137566"/>
                    </a:ext>
                  </a:extLst>
                </a:gridCol>
                <a:gridCol w="749971">
                  <a:extLst>
                    <a:ext uri="{9D8B030D-6E8A-4147-A177-3AD203B41FA5}">
                      <a16:colId xmlns:a16="http://schemas.microsoft.com/office/drawing/2014/main" val="442317843"/>
                    </a:ext>
                  </a:extLst>
                </a:gridCol>
                <a:gridCol w="749971">
                  <a:extLst>
                    <a:ext uri="{9D8B030D-6E8A-4147-A177-3AD203B41FA5}">
                      <a16:colId xmlns:a16="http://schemas.microsoft.com/office/drawing/2014/main" val="1424270130"/>
                    </a:ext>
                  </a:extLst>
                </a:gridCol>
                <a:gridCol w="749971">
                  <a:extLst>
                    <a:ext uri="{9D8B030D-6E8A-4147-A177-3AD203B41FA5}">
                      <a16:colId xmlns:a16="http://schemas.microsoft.com/office/drawing/2014/main" val="974185692"/>
                    </a:ext>
                  </a:extLst>
                </a:gridCol>
                <a:gridCol w="749971">
                  <a:extLst>
                    <a:ext uri="{9D8B030D-6E8A-4147-A177-3AD203B41FA5}">
                      <a16:colId xmlns:a16="http://schemas.microsoft.com/office/drawing/2014/main" val="2748340985"/>
                    </a:ext>
                  </a:extLst>
                </a:gridCol>
                <a:gridCol w="749971">
                  <a:extLst>
                    <a:ext uri="{9D8B030D-6E8A-4147-A177-3AD203B41FA5}">
                      <a16:colId xmlns:a16="http://schemas.microsoft.com/office/drawing/2014/main" val="3915021002"/>
                    </a:ext>
                  </a:extLst>
                </a:gridCol>
                <a:gridCol w="749971">
                  <a:extLst>
                    <a:ext uri="{9D8B030D-6E8A-4147-A177-3AD203B41FA5}">
                      <a16:colId xmlns:a16="http://schemas.microsoft.com/office/drawing/2014/main" val="1486447581"/>
                    </a:ext>
                  </a:extLst>
                </a:gridCol>
                <a:gridCol w="749971">
                  <a:extLst>
                    <a:ext uri="{9D8B030D-6E8A-4147-A177-3AD203B41FA5}">
                      <a16:colId xmlns:a16="http://schemas.microsoft.com/office/drawing/2014/main" val="3160349173"/>
                    </a:ext>
                  </a:extLst>
                </a:gridCol>
              </a:tblGrid>
              <a:tr h="370840">
                <a:tc>
                  <a:txBody>
                    <a:bodyPr/>
                    <a:lstStyle/>
                    <a:p>
                      <a:r>
                        <a:rPr lang="en-GB" sz="1600" dirty="0"/>
                        <a:t>Position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7</a:t>
                      </a:r>
                    </a:p>
                  </a:txBody>
                  <a:tcPr/>
                </a:tc>
                <a:tc>
                  <a:txBody>
                    <a:bodyPr/>
                    <a:lstStyle/>
                    <a:p>
                      <a:pPr algn="ctr"/>
                      <a:r>
                        <a:rPr lang="en-GB" dirty="0"/>
                        <a:t>2</a:t>
                      </a:r>
                      <a:r>
                        <a:rPr lang="en-GB" baseline="30000" dirty="0"/>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0</a:t>
                      </a:r>
                    </a:p>
                  </a:txBody>
                  <a:tcPr/>
                </a:tc>
                <a:extLst>
                  <a:ext uri="{0D108BD9-81ED-4DB2-BD59-A6C34878D82A}">
                    <a16:rowId xmlns:a16="http://schemas.microsoft.com/office/drawing/2014/main" val="467065870"/>
                  </a:ext>
                </a:extLst>
              </a:tr>
              <a:tr h="370840">
                <a:tc>
                  <a:txBody>
                    <a:bodyPr/>
                    <a:lstStyle/>
                    <a:p>
                      <a:r>
                        <a:rPr lang="en-GB" sz="1600" dirty="0"/>
                        <a:t>Bit Pattern</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902826662"/>
                  </a:ext>
                </a:extLst>
              </a:tr>
              <a:tr h="370840">
                <a:tc>
                  <a:txBody>
                    <a:bodyPr/>
                    <a:lstStyle/>
                    <a:p>
                      <a:r>
                        <a:rPr lang="en-GB" sz="1600" dirty="0"/>
                        <a:t>Weight</a:t>
                      </a:r>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r>
                        <a:rPr lang="en-GB"/>
                        <a:t>16</a:t>
                      </a:r>
                      <a:endParaRPr lang="en-GB" dirty="0"/>
                    </a:p>
                  </a:txBody>
                  <a:tcPr/>
                </a:tc>
                <a:tc>
                  <a:txBody>
                    <a:bodyPr/>
                    <a:lstStyle/>
                    <a:p>
                      <a:pPr algn="ctr"/>
                      <a:r>
                        <a:rPr lang="en-GB"/>
                        <a:t>8</a:t>
                      </a:r>
                      <a:endParaRPr lang="en-GB" dirty="0"/>
                    </a:p>
                  </a:txBody>
                  <a:tcPr/>
                </a:tc>
                <a:tc>
                  <a:txBody>
                    <a:bodyPr/>
                    <a:lstStyle/>
                    <a:p>
                      <a:pPr algn="ctr"/>
                      <a:r>
                        <a:rPr lang="en-GB"/>
                        <a:t>4</a:t>
                      </a:r>
                      <a:endParaRPr lang="en-GB" dirty="0"/>
                    </a:p>
                  </a:txBody>
                  <a:tcPr/>
                </a:tc>
                <a:tc>
                  <a:txBody>
                    <a:bodyPr/>
                    <a:lstStyle/>
                    <a:p>
                      <a:pPr algn="ctr"/>
                      <a:endParaRPr lang="en-GB" dirty="0"/>
                    </a:p>
                  </a:txBody>
                  <a:tcPr/>
                </a:tc>
                <a:tc>
                  <a:txBody>
                    <a:bodyPr/>
                    <a:lstStyle/>
                    <a:p>
                      <a:pPr algn="ctr"/>
                      <a:r>
                        <a:rPr lang="en-GB" dirty="0"/>
                        <a:t>1</a:t>
                      </a:r>
                    </a:p>
                  </a:txBody>
                  <a:tcPr/>
                </a:tc>
                <a:extLst>
                  <a:ext uri="{0D108BD9-81ED-4DB2-BD59-A6C34878D82A}">
                    <a16:rowId xmlns:a16="http://schemas.microsoft.com/office/drawing/2014/main" val="3962394917"/>
                  </a:ext>
                </a:extLst>
              </a:tr>
            </a:tbl>
          </a:graphicData>
        </a:graphic>
      </p:graphicFrame>
      <p:sp>
        <p:nvSpPr>
          <p:cNvPr id="5" name="Content Placeholder 2">
            <a:extLst>
              <a:ext uri="{FF2B5EF4-FFF2-40B4-BE49-F238E27FC236}">
                <a16:creationId xmlns:a16="http://schemas.microsoft.com/office/drawing/2014/main" id="{CFC5C7D7-903B-B392-1809-B45C585EA89A}"/>
              </a:ext>
            </a:extLst>
          </p:cNvPr>
          <p:cNvSpPr txBox="1">
            <a:spLocks/>
          </p:cNvSpPr>
          <p:nvPr/>
        </p:nvSpPr>
        <p:spPr>
          <a:xfrm>
            <a:off x="359294" y="4797152"/>
            <a:ext cx="7887005" cy="1181352"/>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fontAlgn="auto"/>
            <a:r>
              <a:rPr kumimoji="0" lang="en-GB" dirty="0"/>
              <a:t>The magnitude is 0011101 with a value of </a:t>
            </a:r>
            <a:r>
              <a:rPr kumimoji="0" lang="en-GB" b="1" dirty="0">
                <a:solidFill>
                  <a:srgbClr val="00B0F0"/>
                </a:solidFill>
              </a:rPr>
              <a:t>2</a:t>
            </a:r>
            <a:r>
              <a:rPr kumimoji="0" lang="en-GB" b="1" baseline="30000" dirty="0">
                <a:solidFill>
                  <a:srgbClr val="00B0F0"/>
                </a:solidFill>
              </a:rPr>
              <a:t>4</a:t>
            </a:r>
            <a:r>
              <a:rPr kumimoji="0" lang="en-GB" b="1" dirty="0">
                <a:solidFill>
                  <a:srgbClr val="00B0F0"/>
                </a:solidFill>
              </a:rPr>
              <a:t>+ 2</a:t>
            </a:r>
            <a:r>
              <a:rPr kumimoji="0" lang="en-GB" b="1" baseline="30000" dirty="0">
                <a:solidFill>
                  <a:srgbClr val="00B0F0"/>
                </a:solidFill>
              </a:rPr>
              <a:t>3</a:t>
            </a:r>
            <a:r>
              <a:rPr kumimoji="0" lang="en-GB" b="1" dirty="0">
                <a:solidFill>
                  <a:srgbClr val="00B0F0"/>
                </a:solidFill>
              </a:rPr>
              <a:t> 2</a:t>
            </a:r>
            <a:r>
              <a:rPr kumimoji="0" lang="en-GB" b="1" baseline="30000" dirty="0">
                <a:solidFill>
                  <a:srgbClr val="00B0F0"/>
                </a:solidFill>
              </a:rPr>
              <a:t>2</a:t>
            </a:r>
            <a:r>
              <a:rPr kumimoji="0" lang="en-GB" b="1" dirty="0">
                <a:solidFill>
                  <a:srgbClr val="00B0F0"/>
                </a:solidFill>
              </a:rPr>
              <a:t>+ 2</a:t>
            </a:r>
            <a:r>
              <a:rPr kumimoji="0" lang="en-GB" b="1" baseline="30000" dirty="0">
                <a:solidFill>
                  <a:srgbClr val="00B0F0"/>
                </a:solidFill>
              </a:rPr>
              <a:t>0</a:t>
            </a:r>
            <a:r>
              <a:rPr kumimoji="0" lang="en-GB" b="1" dirty="0">
                <a:solidFill>
                  <a:srgbClr val="00B0F0"/>
                </a:solidFill>
              </a:rPr>
              <a:t> = 29</a:t>
            </a:r>
          </a:p>
          <a:p>
            <a:pPr fontAlgn="auto"/>
            <a:r>
              <a:rPr kumimoji="0" lang="en-GB" dirty="0"/>
              <a:t>Then, the number represented by </a:t>
            </a:r>
            <a:r>
              <a:rPr kumimoji="0" lang="en-GB" b="1" dirty="0">
                <a:solidFill>
                  <a:srgbClr val="FF0000"/>
                </a:solidFill>
              </a:rPr>
              <a:t>10011101 is -29. </a:t>
            </a:r>
          </a:p>
        </p:txBody>
      </p:sp>
      <p:sp>
        <p:nvSpPr>
          <p:cNvPr id="6" name="Slide Number Placeholder 5">
            <a:extLst>
              <a:ext uri="{FF2B5EF4-FFF2-40B4-BE49-F238E27FC236}">
                <a16:creationId xmlns:a16="http://schemas.microsoft.com/office/drawing/2014/main" id="{69655406-5E6C-5297-6DB5-45DD1653B684}"/>
              </a:ext>
            </a:extLst>
          </p:cNvPr>
          <p:cNvSpPr>
            <a:spLocks noGrp="1"/>
          </p:cNvSpPr>
          <p:nvPr>
            <p:ph type="sldNum" sz="quarter" idx="12"/>
          </p:nvPr>
        </p:nvSpPr>
        <p:spPr/>
        <p:txBody>
          <a:bodyPr/>
          <a:lstStyle/>
          <a:p>
            <a:pPr>
              <a:defRPr/>
            </a:pPr>
            <a:fld id="{B15F286D-88BF-4C85-84EF-53248539BE74}" type="slidenum">
              <a:rPr lang="en-US" altLang="en-US" smtClean="0"/>
              <a:pPr>
                <a:defRPr/>
              </a:pPr>
              <a:t>20</a:t>
            </a:fld>
            <a:endParaRPr lang="en-US" alt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77124E0F-3A50-F224-4C34-7AB9630A3147}"/>
                  </a:ext>
                </a:extLst>
              </p14:cNvPr>
              <p14:cNvContentPartPr/>
              <p14:nvPr/>
            </p14:nvContentPartPr>
            <p14:xfrm>
              <a:off x="1531800" y="2143080"/>
              <a:ext cx="5441040" cy="3606480"/>
            </p14:xfrm>
          </p:contentPart>
        </mc:Choice>
        <mc:Fallback xmlns="">
          <p:pic>
            <p:nvPicPr>
              <p:cNvPr id="7" name="Ink 6">
                <a:extLst>
                  <a:ext uri="{FF2B5EF4-FFF2-40B4-BE49-F238E27FC236}">
                    <a16:creationId xmlns:a16="http://schemas.microsoft.com/office/drawing/2014/main" id="{77124E0F-3A50-F224-4C34-7AB9630A3147}"/>
                  </a:ext>
                </a:extLst>
              </p:cNvPr>
              <p:cNvPicPr/>
              <p:nvPr/>
            </p:nvPicPr>
            <p:blipFill>
              <a:blip r:embed="rId3"/>
              <a:stretch>
                <a:fillRect/>
              </a:stretch>
            </p:blipFill>
            <p:spPr>
              <a:xfrm>
                <a:off x="1522440" y="2133720"/>
                <a:ext cx="5459760" cy="3625200"/>
              </a:xfrm>
              <a:prstGeom prst="rect">
                <a:avLst/>
              </a:prstGeom>
            </p:spPr>
          </p:pic>
        </mc:Fallback>
      </mc:AlternateContent>
    </p:spTree>
    <p:extLst>
      <p:ext uri="{BB962C8B-B14F-4D97-AF65-F5344CB8AC3E}">
        <p14:creationId xmlns:p14="http://schemas.microsoft.com/office/powerpoint/2010/main" val="429405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A89273-2702-13AF-0A7A-3E1B1CAA8AFA}"/>
              </a:ext>
            </a:extLst>
          </p:cNvPr>
          <p:cNvSpPr>
            <a:spLocks noGrp="1" noChangeArrowheads="1"/>
          </p:cNvSpPr>
          <p:nvPr>
            <p:ph type="title"/>
          </p:nvPr>
        </p:nvSpPr>
        <p:spPr/>
        <p:txBody>
          <a:bodyPr/>
          <a:lstStyle/>
          <a:p>
            <a:r>
              <a:rPr lang="en-US" altLang="en-US" dirty="0"/>
              <a:t>Signed-Magnitude Range</a:t>
            </a:r>
          </a:p>
        </p:txBody>
      </p:sp>
      <p:sp>
        <p:nvSpPr>
          <p:cNvPr id="11" name="Content Placeholder 10">
            <a:extLst>
              <a:ext uri="{FF2B5EF4-FFF2-40B4-BE49-F238E27FC236}">
                <a16:creationId xmlns:a16="http://schemas.microsoft.com/office/drawing/2014/main" id="{206C0CB3-5CB0-77DF-524E-92F4CEE632B4}"/>
              </a:ext>
            </a:extLst>
          </p:cNvPr>
          <p:cNvSpPr>
            <a:spLocks noGrp="1"/>
          </p:cNvSpPr>
          <p:nvPr>
            <p:ph idx="1"/>
          </p:nvPr>
        </p:nvSpPr>
        <p:spPr>
          <a:xfrm>
            <a:off x="946404" y="1828801"/>
            <a:ext cx="7081980" cy="4351337"/>
          </a:xfrm>
        </p:spPr>
        <p:txBody>
          <a:bodyPr/>
          <a:lstStyle/>
          <a:p>
            <a:r>
              <a:rPr lang="en-US" dirty="0"/>
              <a:t>The range of signed magnitude representation depends on the number of bits used for both the sign bit and the magnitude part</a:t>
            </a:r>
          </a:p>
          <a:p>
            <a:r>
              <a:rPr lang="en-US" dirty="0"/>
              <a:t>Sign Bit part: 1 bit (1 for negative, 0 for positive)</a:t>
            </a:r>
          </a:p>
          <a:p>
            <a:r>
              <a:rPr lang="en-US" dirty="0"/>
              <a:t>Magnitude Part: (n-1) bits (assuming 1 bit is used for the sign)</a:t>
            </a:r>
          </a:p>
          <a:p>
            <a:r>
              <a:rPr lang="en-US" dirty="0"/>
              <a:t>The range of values that can be represented in signed magnitude representation with n bits is typically: </a:t>
            </a:r>
            <a:endParaRPr lang="en-MY" dirty="0"/>
          </a:p>
        </p:txBody>
      </p:sp>
      <p:sp>
        <p:nvSpPr>
          <p:cNvPr id="12" name="TextBox 11">
            <a:extLst>
              <a:ext uri="{FF2B5EF4-FFF2-40B4-BE49-F238E27FC236}">
                <a16:creationId xmlns:a16="http://schemas.microsoft.com/office/drawing/2014/main" id="{07A5E364-9744-0D3E-C7CC-A15E101C7B73}"/>
              </a:ext>
            </a:extLst>
          </p:cNvPr>
          <p:cNvSpPr txBox="1"/>
          <p:nvPr/>
        </p:nvSpPr>
        <p:spPr>
          <a:xfrm>
            <a:off x="41214" y="5013176"/>
            <a:ext cx="8322530" cy="507831"/>
          </a:xfrm>
          <a:prstGeom prst="rect">
            <a:avLst/>
          </a:prstGeom>
          <a:noFill/>
        </p:spPr>
        <p:txBody>
          <a:bodyPr wrap="square" rtlCol="0">
            <a:spAutoFit/>
          </a:bodyPr>
          <a:lstStyle/>
          <a:p>
            <a:r>
              <a:rPr lang="en-MY" sz="2700" dirty="0"/>
              <a:t>Range of signed magnitude = - (2</a:t>
            </a:r>
            <a:r>
              <a:rPr lang="en-MY" sz="2700" baseline="30000" dirty="0"/>
              <a:t>n-1</a:t>
            </a:r>
            <a:r>
              <a:rPr lang="en-MY" sz="2700" dirty="0"/>
              <a:t> -1) to  +(2</a:t>
            </a:r>
            <a:r>
              <a:rPr lang="en-MY" sz="2700" baseline="30000" dirty="0"/>
              <a:t>n-1</a:t>
            </a:r>
            <a:r>
              <a:rPr lang="en-MY" sz="2700" dirty="0"/>
              <a:t> -1)</a:t>
            </a:r>
          </a:p>
        </p:txBody>
      </p:sp>
      <p:sp>
        <p:nvSpPr>
          <p:cNvPr id="13" name="TextBox 12">
            <a:extLst>
              <a:ext uri="{FF2B5EF4-FFF2-40B4-BE49-F238E27FC236}">
                <a16:creationId xmlns:a16="http://schemas.microsoft.com/office/drawing/2014/main" id="{075AB2BB-897A-1B08-43ED-4A4513EDCFB4}"/>
              </a:ext>
            </a:extLst>
          </p:cNvPr>
          <p:cNvSpPr txBox="1"/>
          <p:nvPr/>
        </p:nvSpPr>
        <p:spPr>
          <a:xfrm>
            <a:off x="4619328" y="5631399"/>
            <a:ext cx="3744416" cy="307777"/>
          </a:xfrm>
          <a:prstGeom prst="rect">
            <a:avLst/>
          </a:prstGeom>
          <a:noFill/>
        </p:spPr>
        <p:txBody>
          <a:bodyPr wrap="square" rtlCol="0">
            <a:spAutoFit/>
          </a:bodyPr>
          <a:lstStyle/>
          <a:p>
            <a:r>
              <a:rPr lang="en-MY" sz="1400" dirty="0">
                <a:solidFill>
                  <a:srgbClr val="FF0000"/>
                </a:solidFill>
              </a:rPr>
              <a:t>n = number of bit</a:t>
            </a:r>
          </a:p>
        </p:txBody>
      </p:sp>
      <p:sp>
        <p:nvSpPr>
          <p:cNvPr id="2" name="Slide Number Placeholder 1">
            <a:extLst>
              <a:ext uri="{FF2B5EF4-FFF2-40B4-BE49-F238E27FC236}">
                <a16:creationId xmlns:a16="http://schemas.microsoft.com/office/drawing/2014/main" id="{3806D1C2-6918-BDBD-625D-9AA226F01549}"/>
              </a:ext>
            </a:extLst>
          </p:cNvPr>
          <p:cNvSpPr>
            <a:spLocks noGrp="1"/>
          </p:cNvSpPr>
          <p:nvPr>
            <p:ph type="sldNum" sz="quarter" idx="12"/>
          </p:nvPr>
        </p:nvSpPr>
        <p:spPr/>
        <p:txBody>
          <a:bodyPr/>
          <a:lstStyle/>
          <a:p>
            <a:pPr>
              <a:defRPr/>
            </a:pPr>
            <a:fld id="{B15F286D-88BF-4C85-84EF-53248539BE74}" type="slidenum">
              <a:rPr lang="en-US" altLang="en-US" smtClean="0"/>
              <a:pPr>
                <a:defRPr/>
              </a:pPr>
              <a:t>21</a:t>
            </a:fld>
            <a:endParaRPr lang="en-US" alt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CFDD589-A275-7422-92F3-96146EBA9AEA}"/>
                  </a:ext>
                </a:extLst>
              </p14:cNvPr>
              <p14:cNvContentPartPr/>
              <p14:nvPr/>
            </p14:nvContentPartPr>
            <p14:xfrm>
              <a:off x="4789080" y="5577840"/>
              <a:ext cx="3549600" cy="360"/>
            </p14:xfrm>
          </p:contentPart>
        </mc:Choice>
        <mc:Fallback xmlns="">
          <p:pic>
            <p:nvPicPr>
              <p:cNvPr id="3" name="Ink 2">
                <a:extLst>
                  <a:ext uri="{FF2B5EF4-FFF2-40B4-BE49-F238E27FC236}">
                    <a16:creationId xmlns:a16="http://schemas.microsoft.com/office/drawing/2014/main" id="{ACFDD589-A275-7422-92F3-96146EBA9AEA}"/>
                  </a:ext>
                </a:extLst>
              </p:cNvPr>
              <p:cNvPicPr/>
              <p:nvPr/>
            </p:nvPicPr>
            <p:blipFill>
              <a:blip r:embed="rId4"/>
              <a:stretch>
                <a:fillRect/>
              </a:stretch>
            </p:blipFill>
            <p:spPr>
              <a:xfrm>
                <a:off x="4779720" y="5568480"/>
                <a:ext cx="3568320" cy="19080"/>
              </a:xfrm>
              <a:prstGeom prst="rect">
                <a:avLst/>
              </a:prstGeom>
            </p:spPr>
          </p:pic>
        </mc:Fallback>
      </mc:AlternateContent>
    </p:spTree>
    <p:extLst>
      <p:ext uri="{BB962C8B-B14F-4D97-AF65-F5344CB8AC3E}">
        <p14:creationId xmlns:p14="http://schemas.microsoft.com/office/powerpoint/2010/main" val="950340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A89273-2702-13AF-0A7A-3E1B1CAA8AFA}"/>
              </a:ext>
            </a:extLst>
          </p:cNvPr>
          <p:cNvSpPr>
            <a:spLocks noGrp="1" noChangeArrowheads="1"/>
          </p:cNvSpPr>
          <p:nvPr>
            <p:ph type="title"/>
          </p:nvPr>
        </p:nvSpPr>
        <p:spPr/>
        <p:txBody>
          <a:bodyPr/>
          <a:lstStyle/>
          <a:p>
            <a:r>
              <a:rPr lang="en-US" altLang="en-US" dirty="0"/>
              <a:t>Signed-Magnitude Range</a:t>
            </a:r>
          </a:p>
        </p:txBody>
      </p:sp>
      <p:sp>
        <p:nvSpPr>
          <p:cNvPr id="11" name="Content Placeholder 10">
            <a:extLst>
              <a:ext uri="{FF2B5EF4-FFF2-40B4-BE49-F238E27FC236}">
                <a16:creationId xmlns:a16="http://schemas.microsoft.com/office/drawing/2014/main" id="{206C0CB3-5CB0-77DF-524E-92F4CEE632B4}"/>
              </a:ext>
            </a:extLst>
          </p:cNvPr>
          <p:cNvSpPr>
            <a:spLocks noGrp="1"/>
          </p:cNvSpPr>
          <p:nvPr>
            <p:ph idx="1"/>
          </p:nvPr>
        </p:nvSpPr>
        <p:spPr>
          <a:xfrm>
            <a:off x="731760" y="2835018"/>
            <a:ext cx="7081980" cy="936104"/>
          </a:xfrm>
        </p:spPr>
        <p:txBody>
          <a:bodyPr>
            <a:normAutofit/>
          </a:bodyPr>
          <a:lstStyle/>
          <a:p>
            <a:pPr marL="0" indent="0">
              <a:buNone/>
            </a:pPr>
            <a:r>
              <a:rPr lang="en-US" dirty="0"/>
              <a:t>Example:</a:t>
            </a:r>
          </a:p>
          <a:p>
            <a:pPr marL="0" indent="0">
              <a:buNone/>
            </a:pPr>
            <a:r>
              <a:rPr lang="en-US" dirty="0"/>
              <a:t>n = 4</a:t>
            </a:r>
          </a:p>
        </p:txBody>
      </p:sp>
      <p:sp>
        <p:nvSpPr>
          <p:cNvPr id="12" name="TextBox 11">
            <a:extLst>
              <a:ext uri="{FF2B5EF4-FFF2-40B4-BE49-F238E27FC236}">
                <a16:creationId xmlns:a16="http://schemas.microsoft.com/office/drawing/2014/main" id="{07A5E364-9744-0D3E-C7CC-A15E101C7B73}"/>
              </a:ext>
            </a:extLst>
          </p:cNvPr>
          <p:cNvSpPr txBox="1"/>
          <p:nvPr/>
        </p:nvSpPr>
        <p:spPr>
          <a:xfrm>
            <a:off x="2267744" y="2204864"/>
            <a:ext cx="4026730" cy="507831"/>
          </a:xfrm>
          <a:prstGeom prst="rect">
            <a:avLst/>
          </a:prstGeom>
          <a:solidFill>
            <a:schemeClr val="accent3">
              <a:lumMod val="20000"/>
              <a:lumOff val="80000"/>
            </a:schemeClr>
          </a:solidFill>
        </p:spPr>
        <p:txBody>
          <a:bodyPr wrap="square" rtlCol="0">
            <a:spAutoFit/>
          </a:bodyPr>
          <a:lstStyle/>
          <a:p>
            <a:r>
              <a:rPr lang="en-MY" sz="2700" dirty="0"/>
              <a:t>- (2</a:t>
            </a:r>
            <a:r>
              <a:rPr lang="en-MY" sz="2700" baseline="30000" dirty="0"/>
              <a:t>n-1</a:t>
            </a:r>
            <a:r>
              <a:rPr lang="en-MY" sz="2700" dirty="0"/>
              <a:t> -1) to  +(2</a:t>
            </a:r>
            <a:r>
              <a:rPr lang="en-MY" sz="2700" baseline="30000" dirty="0"/>
              <a:t>n-1</a:t>
            </a:r>
            <a:r>
              <a:rPr lang="en-MY" sz="2700" dirty="0"/>
              <a:t> -1)</a:t>
            </a:r>
          </a:p>
        </p:txBody>
      </p:sp>
      <p:sp>
        <p:nvSpPr>
          <p:cNvPr id="13" name="TextBox 12">
            <a:extLst>
              <a:ext uri="{FF2B5EF4-FFF2-40B4-BE49-F238E27FC236}">
                <a16:creationId xmlns:a16="http://schemas.microsoft.com/office/drawing/2014/main" id="{075AB2BB-897A-1B08-43ED-4A4513EDCFB4}"/>
              </a:ext>
            </a:extLst>
          </p:cNvPr>
          <p:cNvSpPr txBox="1"/>
          <p:nvPr/>
        </p:nvSpPr>
        <p:spPr>
          <a:xfrm>
            <a:off x="4283968" y="1900832"/>
            <a:ext cx="2010506" cy="307777"/>
          </a:xfrm>
          <a:prstGeom prst="rect">
            <a:avLst/>
          </a:prstGeom>
          <a:noFill/>
        </p:spPr>
        <p:txBody>
          <a:bodyPr wrap="square" rtlCol="0">
            <a:spAutoFit/>
          </a:bodyPr>
          <a:lstStyle/>
          <a:p>
            <a:r>
              <a:rPr lang="en-MY" sz="1400" dirty="0">
                <a:solidFill>
                  <a:srgbClr val="FF0000"/>
                </a:solidFill>
              </a:rPr>
              <a:t>n = number of bit</a:t>
            </a:r>
          </a:p>
        </p:txBody>
      </p:sp>
      <p:sp>
        <p:nvSpPr>
          <p:cNvPr id="2" name="TextBox 1">
            <a:extLst>
              <a:ext uri="{FF2B5EF4-FFF2-40B4-BE49-F238E27FC236}">
                <a16:creationId xmlns:a16="http://schemas.microsoft.com/office/drawing/2014/main" id="{6F62A672-DFFC-4B74-756E-69B8D4E34EC7}"/>
              </a:ext>
            </a:extLst>
          </p:cNvPr>
          <p:cNvSpPr txBox="1"/>
          <p:nvPr/>
        </p:nvSpPr>
        <p:spPr>
          <a:xfrm>
            <a:off x="731760" y="3893446"/>
            <a:ext cx="4026730" cy="461665"/>
          </a:xfrm>
          <a:prstGeom prst="rect">
            <a:avLst/>
          </a:prstGeom>
          <a:solidFill>
            <a:schemeClr val="accent3">
              <a:lumMod val="20000"/>
              <a:lumOff val="80000"/>
            </a:schemeClr>
          </a:solidFill>
        </p:spPr>
        <p:txBody>
          <a:bodyPr wrap="square" rtlCol="0">
            <a:spAutoFit/>
          </a:bodyPr>
          <a:lstStyle/>
          <a:p>
            <a:r>
              <a:rPr lang="en-MY" sz="2400" dirty="0"/>
              <a:t>- (2</a:t>
            </a:r>
            <a:r>
              <a:rPr lang="en-MY" sz="2400" baseline="30000" dirty="0"/>
              <a:t>4-1</a:t>
            </a:r>
            <a:r>
              <a:rPr lang="en-MY" sz="2400" dirty="0"/>
              <a:t> -1) to  +(2</a:t>
            </a:r>
            <a:r>
              <a:rPr lang="en-MY" sz="2400" baseline="30000" dirty="0"/>
              <a:t>4-1</a:t>
            </a:r>
            <a:r>
              <a:rPr lang="en-MY" sz="2400" dirty="0"/>
              <a:t> -1)</a:t>
            </a:r>
          </a:p>
        </p:txBody>
      </p:sp>
      <p:sp>
        <p:nvSpPr>
          <p:cNvPr id="3" name="TextBox 2">
            <a:extLst>
              <a:ext uri="{FF2B5EF4-FFF2-40B4-BE49-F238E27FC236}">
                <a16:creationId xmlns:a16="http://schemas.microsoft.com/office/drawing/2014/main" id="{1E4A2951-403B-C850-9AA2-08992638942B}"/>
              </a:ext>
            </a:extLst>
          </p:cNvPr>
          <p:cNvSpPr txBox="1"/>
          <p:nvPr/>
        </p:nvSpPr>
        <p:spPr>
          <a:xfrm>
            <a:off x="731760" y="4627909"/>
            <a:ext cx="4026730" cy="461665"/>
          </a:xfrm>
          <a:prstGeom prst="rect">
            <a:avLst/>
          </a:prstGeom>
          <a:solidFill>
            <a:schemeClr val="accent3">
              <a:lumMod val="20000"/>
              <a:lumOff val="80000"/>
            </a:schemeClr>
          </a:solidFill>
        </p:spPr>
        <p:txBody>
          <a:bodyPr wrap="square" rtlCol="0">
            <a:spAutoFit/>
          </a:bodyPr>
          <a:lstStyle/>
          <a:p>
            <a:r>
              <a:rPr lang="en-MY" sz="2400" dirty="0"/>
              <a:t>- (2</a:t>
            </a:r>
            <a:r>
              <a:rPr lang="en-MY" sz="2400" baseline="30000" dirty="0"/>
              <a:t>3</a:t>
            </a:r>
            <a:r>
              <a:rPr lang="en-MY" sz="2400" dirty="0"/>
              <a:t> -1) to  +(2</a:t>
            </a:r>
            <a:r>
              <a:rPr lang="en-MY" sz="2400" baseline="30000" dirty="0"/>
              <a:t>3</a:t>
            </a:r>
            <a:r>
              <a:rPr lang="en-MY" sz="2400" dirty="0"/>
              <a:t> -1)</a:t>
            </a:r>
          </a:p>
        </p:txBody>
      </p:sp>
      <p:sp>
        <p:nvSpPr>
          <p:cNvPr id="4" name="TextBox 3">
            <a:extLst>
              <a:ext uri="{FF2B5EF4-FFF2-40B4-BE49-F238E27FC236}">
                <a16:creationId xmlns:a16="http://schemas.microsoft.com/office/drawing/2014/main" id="{550D4197-7B2D-A3B2-4C71-267B6E906386}"/>
              </a:ext>
            </a:extLst>
          </p:cNvPr>
          <p:cNvSpPr txBox="1"/>
          <p:nvPr/>
        </p:nvSpPr>
        <p:spPr>
          <a:xfrm>
            <a:off x="731760" y="5321307"/>
            <a:ext cx="4026730" cy="461665"/>
          </a:xfrm>
          <a:prstGeom prst="rect">
            <a:avLst/>
          </a:prstGeom>
          <a:solidFill>
            <a:schemeClr val="accent3">
              <a:lumMod val="20000"/>
              <a:lumOff val="80000"/>
            </a:schemeClr>
          </a:solidFill>
        </p:spPr>
        <p:txBody>
          <a:bodyPr wrap="square" rtlCol="0">
            <a:spAutoFit/>
          </a:bodyPr>
          <a:lstStyle/>
          <a:p>
            <a:r>
              <a:rPr lang="en-MY" sz="2400" dirty="0"/>
              <a:t>- (2</a:t>
            </a:r>
            <a:r>
              <a:rPr lang="en-MY" sz="2400" baseline="30000" dirty="0"/>
              <a:t>3</a:t>
            </a:r>
            <a:r>
              <a:rPr lang="en-MY" sz="2400" dirty="0"/>
              <a:t> -1) to  +(2</a:t>
            </a:r>
            <a:r>
              <a:rPr lang="en-MY" sz="2400" baseline="30000" dirty="0"/>
              <a:t>3</a:t>
            </a:r>
            <a:r>
              <a:rPr lang="en-MY" sz="2400" dirty="0"/>
              <a:t> -1)</a:t>
            </a:r>
          </a:p>
        </p:txBody>
      </p:sp>
      <p:sp>
        <p:nvSpPr>
          <p:cNvPr id="6" name="TextBox 5">
            <a:extLst>
              <a:ext uri="{FF2B5EF4-FFF2-40B4-BE49-F238E27FC236}">
                <a16:creationId xmlns:a16="http://schemas.microsoft.com/office/drawing/2014/main" id="{422E076C-2B42-2708-086C-3BCA4F011448}"/>
              </a:ext>
            </a:extLst>
          </p:cNvPr>
          <p:cNvSpPr txBox="1"/>
          <p:nvPr/>
        </p:nvSpPr>
        <p:spPr>
          <a:xfrm>
            <a:off x="731760" y="6010384"/>
            <a:ext cx="4026730" cy="461665"/>
          </a:xfrm>
          <a:prstGeom prst="rect">
            <a:avLst/>
          </a:prstGeom>
          <a:solidFill>
            <a:schemeClr val="accent3">
              <a:lumMod val="20000"/>
              <a:lumOff val="80000"/>
            </a:schemeClr>
          </a:solidFill>
        </p:spPr>
        <p:txBody>
          <a:bodyPr wrap="square" rtlCol="0">
            <a:spAutoFit/>
          </a:bodyPr>
          <a:lstStyle/>
          <a:p>
            <a:r>
              <a:rPr lang="en-MY" sz="2400" dirty="0"/>
              <a:t>- (8 -1) to  +(8 -1)</a:t>
            </a:r>
          </a:p>
        </p:txBody>
      </p:sp>
      <p:sp>
        <p:nvSpPr>
          <p:cNvPr id="7" name="TextBox 6">
            <a:extLst>
              <a:ext uri="{FF2B5EF4-FFF2-40B4-BE49-F238E27FC236}">
                <a16:creationId xmlns:a16="http://schemas.microsoft.com/office/drawing/2014/main" id="{C04145D7-9B93-460C-8281-829A08818355}"/>
              </a:ext>
            </a:extLst>
          </p:cNvPr>
          <p:cNvSpPr txBox="1"/>
          <p:nvPr/>
        </p:nvSpPr>
        <p:spPr>
          <a:xfrm>
            <a:off x="5724128" y="5487615"/>
            <a:ext cx="2325061" cy="461665"/>
          </a:xfrm>
          <a:prstGeom prst="rect">
            <a:avLst/>
          </a:prstGeom>
          <a:solidFill>
            <a:srgbClr val="92D050"/>
          </a:solidFill>
        </p:spPr>
        <p:txBody>
          <a:bodyPr wrap="square" rtlCol="0">
            <a:spAutoFit/>
          </a:bodyPr>
          <a:lstStyle/>
          <a:p>
            <a:pPr algn="ctr"/>
            <a:r>
              <a:rPr lang="en-MY" sz="2400" dirty="0"/>
              <a:t>- (7) to + (7)</a:t>
            </a:r>
          </a:p>
        </p:txBody>
      </p:sp>
      <p:sp>
        <p:nvSpPr>
          <p:cNvPr id="8" name="Content Placeholder 10">
            <a:extLst>
              <a:ext uri="{FF2B5EF4-FFF2-40B4-BE49-F238E27FC236}">
                <a16:creationId xmlns:a16="http://schemas.microsoft.com/office/drawing/2014/main" id="{050FA9DF-65B5-A499-235D-F6E4B3EE69B7}"/>
              </a:ext>
            </a:extLst>
          </p:cNvPr>
          <p:cNvSpPr txBox="1">
            <a:spLocks/>
          </p:cNvSpPr>
          <p:nvPr/>
        </p:nvSpPr>
        <p:spPr>
          <a:xfrm>
            <a:off x="5292080" y="4423386"/>
            <a:ext cx="3071664" cy="936104"/>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fontAlgn="auto">
              <a:buFont typeface="Arial" pitchFamily="34" charset="0"/>
              <a:buNone/>
            </a:pPr>
            <a:r>
              <a:rPr kumimoji="0" lang="en-US" dirty="0"/>
              <a:t>Answer: </a:t>
            </a:r>
          </a:p>
          <a:p>
            <a:pPr marL="0" indent="0" algn="ctr" fontAlgn="auto">
              <a:buFont typeface="Arial" pitchFamily="34" charset="0"/>
              <a:buNone/>
            </a:pPr>
            <a:r>
              <a:rPr kumimoji="0" lang="en-US" dirty="0"/>
              <a:t>The signed magnitude for 4 bit are between:</a:t>
            </a:r>
          </a:p>
        </p:txBody>
      </p:sp>
      <p:sp>
        <p:nvSpPr>
          <p:cNvPr id="5" name="Slide Number Placeholder 4">
            <a:extLst>
              <a:ext uri="{FF2B5EF4-FFF2-40B4-BE49-F238E27FC236}">
                <a16:creationId xmlns:a16="http://schemas.microsoft.com/office/drawing/2014/main" id="{F29F593E-88EA-4B35-0DA8-5051856F6716}"/>
              </a:ext>
            </a:extLst>
          </p:cNvPr>
          <p:cNvSpPr>
            <a:spLocks noGrp="1"/>
          </p:cNvSpPr>
          <p:nvPr>
            <p:ph type="sldNum" sz="quarter" idx="12"/>
          </p:nvPr>
        </p:nvSpPr>
        <p:spPr/>
        <p:txBody>
          <a:bodyPr/>
          <a:lstStyle/>
          <a:p>
            <a:pPr>
              <a:defRPr/>
            </a:pPr>
            <a:fld id="{B15F286D-88BF-4C85-84EF-53248539BE74}" type="slidenum">
              <a:rPr lang="en-US" altLang="en-US" smtClean="0"/>
              <a:pPr>
                <a:defRPr/>
              </a:pPr>
              <a:t>22</a:t>
            </a:fld>
            <a:endParaRPr lang="en-US" altLang="en-US"/>
          </a:p>
        </p:txBody>
      </p:sp>
    </p:spTree>
    <p:extLst>
      <p:ext uri="{BB962C8B-B14F-4D97-AF65-F5344CB8AC3E}">
        <p14:creationId xmlns:p14="http://schemas.microsoft.com/office/powerpoint/2010/main" val="365809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0-#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0-#ppt_w/2"/>
                                          </p:val>
                                        </p:tav>
                                        <p:tav tm="100000">
                                          <p:val>
                                            <p:strVal val="#ppt_x"/>
                                          </p:val>
                                        </p:tav>
                                      </p:tavLst>
                                    </p:anim>
                                    <p:anim calcmode="lin" valueType="num">
                                      <p:cBhvr additive="base">
                                        <p:cTn id="3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0-#ppt_w/2"/>
                                          </p:val>
                                        </p:tav>
                                        <p:tav tm="100000">
                                          <p:val>
                                            <p:strVal val="#ppt_x"/>
                                          </p:val>
                                        </p:tav>
                                      </p:tavLst>
                                    </p:anim>
                                    <p:anim calcmode="lin" valueType="num">
                                      <p:cBhvr additive="base">
                                        <p:cTn id="4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1+#ppt_w/2"/>
                                          </p:val>
                                        </p:tav>
                                        <p:tav tm="100000">
                                          <p:val>
                                            <p:strVal val="#ppt_x"/>
                                          </p:val>
                                        </p:tav>
                                      </p:tavLst>
                                    </p:anim>
                                    <p:anim calcmode="lin" valueType="num">
                                      <p:cBhvr additive="base">
                                        <p:cTn id="48" dur="500" fill="hold"/>
                                        <p:tgtEl>
                                          <p:spTgt spid="8"/>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1+#ppt_w/2"/>
                                          </p:val>
                                        </p:tav>
                                        <p:tav tm="100000">
                                          <p:val>
                                            <p:strVal val="#ppt_x"/>
                                          </p:val>
                                        </p:tav>
                                      </p:tavLst>
                                    </p:anim>
                                    <p:anim calcmode="lin" valueType="num">
                                      <p:cBhvr additive="base">
                                        <p:cTn id="5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2" grpId="0" animBg="1"/>
      <p:bldP spid="3" grpId="0" animBg="1"/>
      <p:bldP spid="4" grpId="0" animBg="1"/>
      <p:bldP spid="6" grpId="0" animBg="1"/>
      <p:bldP spid="7" grpId="0" animBg="1"/>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B4B1-F035-24D7-796E-8770A53C9A94}"/>
              </a:ext>
            </a:extLst>
          </p:cNvPr>
          <p:cNvSpPr>
            <a:spLocks noGrp="1"/>
          </p:cNvSpPr>
          <p:nvPr>
            <p:ph type="title"/>
          </p:nvPr>
        </p:nvSpPr>
        <p:spPr/>
        <p:txBody>
          <a:bodyPr/>
          <a:lstStyle/>
          <a:p>
            <a:r>
              <a:rPr lang="en-GB" dirty="0"/>
              <a:t>Drawbacks of sign-magnitude</a:t>
            </a:r>
          </a:p>
        </p:txBody>
      </p:sp>
      <p:sp>
        <p:nvSpPr>
          <p:cNvPr id="3" name="Content Placeholder 2">
            <a:extLst>
              <a:ext uri="{FF2B5EF4-FFF2-40B4-BE49-F238E27FC236}">
                <a16:creationId xmlns:a16="http://schemas.microsoft.com/office/drawing/2014/main" id="{37BB0F62-09DC-9D8C-6977-3B893020E316}"/>
              </a:ext>
            </a:extLst>
          </p:cNvPr>
          <p:cNvSpPr>
            <a:spLocks noGrp="1"/>
          </p:cNvSpPr>
          <p:nvPr>
            <p:ph idx="1"/>
          </p:nvPr>
        </p:nvSpPr>
        <p:spPr/>
        <p:txBody>
          <a:bodyPr>
            <a:normAutofit/>
          </a:bodyPr>
          <a:lstStyle/>
          <a:p>
            <a:r>
              <a:rPr lang="en-GB" sz="2000" dirty="0"/>
              <a:t>Addition and subtraction require a consideration of both the signs of the numbers and their relative magnitudes to carry out the required operation. </a:t>
            </a:r>
          </a:p>
          <a:p>
            <a:r>
              <a:rPr lang="en-GB" sz="2000" dirty="0"/>
              <a:t>They are two representations of 0</a:t>
            </a:r>
          </a:p>
          <a:p>
            <a:endParaRPr lang="en-GB" sz="2000" dirty="0"/>
          </a:p>
          <a:p>
            <a:endParaRPr lang="en-GB" sz="2000" dirty="0"/>
          </a:p>
          <a:p>
            <a:endParaRPr lang="en-GB" sz="2000" dirty="0"/>
          </a:p>
          <a:p>
            <a:r>
              <a:rPr lang="en-GB" sz="2000" dirty="0"/>
              <a:t>To test if a number is 0 or not, the CPU will need to see whether it is 00000000 or 10000000. </a:t>
            </a:r>
          </a:p>
          <a:p>
            <a:r>
              <a:rPr lang="en-GB" sz="2000" dirty="0"/>
              <a:t>Therefore, having 2 representation of 0 is inconvenient.</a:t>
            </a:r>
          </a:p>
        </p:txBody>
      </p:sp>
      <p:sp>
        <p:nvSpPr>
          <p:cNvPr id="4" name="TextBox 3">
            <a:extLst>
              <a:ext uri="{FF2B5EF4-FFF2-40B4-BE49-F238E27FC236}">
                <a16:creationId xmlns:a16="http://schemas.microsoft.com/office/drawing/2014/main" id="{80218AE8-11DA-0C9B-F174-7DC2B48D4E89}"/>
              </a:ext>
            </a:extLst>
          </p:cNvPr>
          <p:cNvSpPr txBox="1"/>
          <p:nvPr/>
        </p:nvSpPr>
        <p:spPr>
          <a:xfrm>
            <a:off x="2483768" y="3573016"/>
            <a:ext cx="3355406" cy="1077218"/>
          </a:xfrm>
          <a:prstGeom prst="rect">
            <a:avLst/>
          </a:prstGeom>
          <a:noFill/>
        </p:spPr>
        <p:txBody>
          <a:bodyPr wrap="none" rtlCol="0">
            <a:spAutoFit/>
          </a:bodyPr>
          <a:lstStyle/>
          <a:p>
            <a:r>
              <a:rPr lang="en-MY" sz="3200" dirty="0"/>
              <a:t>00000000 = +0</a:t>
            </a:r>
            <a:r>
              <a:rPr lang="en-MY" sz="3200" baseline="-25000" dirty="0"/>
              <a:t>10</a:t>
            </a:r>
          </a:p>
          <a:p>
            <a:r>
              <a:rPr lang="en-MY" sz="3200" dirty="0"/>
              <a:t>10000000 = -0</a:t>
            </a:r>
            <a:r>
              <a:rPr lang="en-MY" sz="3200" baseline="-25000" dirty="0"/>
              <a:t>10</a:t>
            </a:r>
            <a:endParaRPr lang="en-GB" sz="3200" baseline="-25000" dirty="0"/>
          </a:p>
        </p:txBody>
      </p:sp>
      <p:sp>
        <p:nvSpPr>
          <p:cNvPr id="5" name="Slide Number Placeholder 4">
            <a:extLst>
              <a:ext uri="{FF2B5EF4-FFF2-40B4-BE49-F238E27FC236}">
                <a16:creationId xmlns:a16="http://schemas.microsoft.com/office/drawing/2014/main" id="{233411CE-7851-0554-CA61-C3C25EFA3107}"/>
              </a:ext>
            </a:extLst>
          </p:cNvPr>
          <p:cNvSpPr>
            <a:spLocks noGrp="1"/>
          </p:cNvSpPr>
          <p:nvPr>
            <p:ph type="sldNum" sz="quarter" idx="12"/>
          </p:nvPr>
        </p:nvSpPr>
        <p:spPr/>
        <p:txBody>
          <a:bodyPr/>
          <a:lstStyle/>
          <a:p>
            <a:pPr>
              <a:defRPr/>
            </a:pPr>
            <a:fld id="{B15F286D-88BF-4C85-84EF-53248539BE74}" type="slidenum">
              <a:rPr lang="en-US" altLang="en-US" smtClean="0"/>
              <a:pPr>
                <a:defRPr/>
              </a:pPr>
              <a:t>23</a:t>
            </a:fld>
            <a:endParaRPr lang="en-US"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EE9F469-6906-57E8-1534-2FEC9184EB31}"/>
                  </a:ext>
                </a:extLst>
              </p14:cNvPr>
              <p14:cNvContentPartPr/>
              <p14:nvPr/>
            </p14:nvContentPartPr>
            <p14:xfrm>
              <a:off x="2563200" y="4130640"/>
              <a:ext cx="2061360" cy="502560"/>
            </p14:xfrm>
          </p:contentPart>
        </mc:Choice>
        <mc:Fallback xmlns="">
          <p:pic>
            <p:nvPicPr>
              <p:cNvPr id="6" name="Ink 5">
                <a:extLst>
                  <a:ext uri="{FF2B5EF4-FFF2-40B4-BE49-F238E27FC236}">
                    <a16:creationId xmlns:a16="http://schemas.microsoft.com/office/drawing/2014/main" id="{DEE9F469-6906-57E8-1534-2FEC9184EB31}"/>
                  </a:ext>
                </a:extLst>
              </p:cNvPr>
              <p:cNvPicPr/>
              <p:nvPr/>
            </p:nvPicPr>
            <p:blipFill>
              <a:blip r:embed="rId3"/>
              <a:stretch>
                <a:fillRect/>
              </a:stretch>
            </p:blipFill>
            <p:spPr>
              <a:xfrm>
                <a:off x="2553840" y="4121280"/>
                <a:ext cx="2080080" cy="521280"/>
              </a:xfrm>
              <a:prstGeom prst="rect">
                <a:avLst/>
              </a:prstGeom>
            </p:spPr>
          </p:pic>
        </mc:Fallback>
      </mc:AlternateContent>
    </p:spTree>
    <p:extLst>
      <p:ext uri="{BB962C8B-B14F-4D97-AF65-F5344CB8AC3E}">
        <p14:creationId xmlns:p14="http://schemas.microsoft.com/office/powerpoint/2010/main" val="3868388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D807-D55A-754D-C5F0-4530151DA1A6}"/>
              </a:ext>
            </a:extLst>
          </p:cNvPr>
          <p:cNvSpPr>
            <a:spLocks noGrp="1"/>
          </p:cNvSpPr>
          <p:nvPr>
            <p:ph type="title"/>
          </p:nvPr>
        </p:nvSpPr>
        <p:spPr/>
        <p:txBody>
          <a:bodyPr/>
          <a:lstStyle/>
          <a:p>
            <a:r>
              <a:rPr lang="en-GB" dirty="0"/>
              <a:t>Quick Activity </a:t>
            </a:r>
            <a:r>
              <a:rPr lang="en-MY" dirty="0"/>
              <a:t>#1</a:t>
            </a:r>
            <a:endParaRPr lang="en-GB" dirty="0"/>
          </a:p>
        </p:txBody>
      </p:sp>
      <p:sp>
        <p:nvSpPr>
          <p:cNvPr id="3" name="Content Placeholder 2">
            <a:extLst>
              <a:ext uri="{FF2B5EF4-FFF2-40B4-BE49-F238E27FC236}">
                <a16:creationId xmlns:a16="http://schemas.microsoft.com/office/drawing/2014/main" id="{B8CDC617-56F1-56CA-DFE6-735E6A93F79A}"/>
              </a:ext>
            </a:extLst>
          </p:cNvPr>
          <p:cNvSpPr>
            <a:spLocks noGrp="1"/>
          </p:cNvSpPr>
          <p:nvPr>
            <p:ph idx="1"/>
          </p:nvPr>
        </p:nvSpPr>
        <p:spPr/>
        <p:txBody>
          <a:bodyPr>
            <a:normAutofit/>
          </a:bodyPr>
          <a:lstStyle/>
          <a:p>
            <a:pPr marL="342900" indent="-342900">
              <a:buFont typeface="+mj-lt"/>
              <a:buAutoNum type="alphaLcPeriod"/>
            </a:pPr>
            <a:r>
              <a:rPr lang="en-MY" sz="2400" dirty="0"/>
              <a:t>37</a:t>
            </a:r>
            <a:r>
              <a:rPr lang="en-MY" sz="2400" baseline="-25000" dirty="0"/>
              <a:t>10</a:t>
            </a:r>
            <a:r>
              <a:rPr lang="en-MY" sz="2400" dirty="0"/>
              <a:t> has 00100101 is signed magnitude notation. Find the signed magnitude of -37</a:t>
            </a:r>
            <a:r>
              <a:rPr lang="en-MY" sz="2400" baseline="-25000" dirty="0"/>
              <a:t>10</a:t>
            </a:r>
            <a:r>
              <a:rPr lang="en-MY" sz="2400" dirty="0"/>
              <a:t>. </a:t>
            </a:r>
          </a:p>
          <a:p>
            <a:pPr marL="342900" indent="-342900">
              <a:buFont typeface="+mj-lt"/>
              <a:buAutoNum type="alphaLcPeriod"/>
            </a:pPr>
            <a:r>
              <a:rPr lang="en-GB" sz="2400" dirty="0"/>
              <a:t>Using the signed magnitude notation find the 8-bit binary representation of the decimal value 24</a:t>
            </a:r>
            <a:r>
              <a:rPr lang="en-GB" sz="2400" baseline="-25000" dirty="0"/>
              <a:t>10</a:t>
            </a:r>
            <a:r>
              <a:rPr lang="en-GB" sz="2400" dirty="0"/>
              <a:t> and -24</a:t>
            </a:r>
            <a:r>
              <a:rPr lang="en-GB" sz="2400" baseline="-25000" dirty="0"/>
              <a:t>10</a:t>
            </a:r>
            <a:r>
              <a:rPr lang="en-GB" sz="2400" dirty="0"/>
              <a:t>.</a:t>
            </a:r>
          </a:p>
          <a:p>
            <a:pPr marL="342900" indent="-342900">
              <a:buFont typeface="+mj-lt"/>
              <a:buAutoNum type="alphaLcPeriod"/>
            </a:pPr>
            <a:r>
              <a:rPr lang="en-GB" sz="2400" dirty="0"/>
              <a:t>Find the signed magnitude of –63 using 8-bit binary sequence?</a:t>
            </a:r>
          </a:p>
        </p:txBody>
      </p:sp>
      <p:sp>
        <p:nvSpPr>
          <p:cNvPr id="4" name="Slide Number Placeholder 3">
            <a:extLst>
              <a:ext uri="{FF2B5EF4-FFF2-40B4-BE49-F238E27FC236}">
                <a16:creationId xmlns:a16="http://schemas.microsoft.com/office/drawing/2014/main" id="{1B60C80A-AB31-61F7-0D77-62CE5752D379}"/>
              </a:ext>
            </a:extLst>
          </p:cNvPr>
          <p:cNvSpPr>
            <a:spLocks noGrp="1"/>
          </p:cNvSpPr>
          <p:nvPr>
            <p:ph type="sldNum" sz="quarter" idx="12"/>
          </p:nvPr>
        </p:nvSpPr>
        <p:spPr/>
        <p:txBody>
          <a:bodyPr/>
          <a:lstStyle/>
          <a:p>
            <a:pPr>
              <a:defRPr/>
            </a:pPr>
            <a:fld id="{B15F286D-88BF-4C85-84EF-53248539BE74}" type="slidenum">
              <a:rPr lang="en-US" altLang="en-US" smtClean="0"/>
              <a:pPr>
                <a:defRPr/>
              </a:pPr>
              <a:t>24</a:t>
            </a:fld>
            <a:endParaRPr lang="en-US" altLang="en-US"/>
          </a:p>
        </p:txBody>
      </p:sp>
    </p:spTree>
    <p:extLst>
      <p:ext uri="{BB962C8B-B14F-4D97-AF65-F5344CB8AC3E}">
        <p14:creationId xmlns:p14="http://schemas.microsoft.com/office/powerpoint/2010/main" val="1909854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C5F611FF-37C2-2072-DF8E-E4BFBB982A50}"/>
              </a:ext>
            </a:extLst>
          </p:cNvPr>
          <p:cNvPicPr>
            <a:picLocks noChangeAspect="1"/>
          </p:cNvPicPr>
          <p:nvPr/>
        </p:nvPicPr>
        <p:blipFill>
          <a:blip r:embed="rId2">
            <a:extLst>
              <a:ext uri="{28A0092B-C50C-407E-A947-70E740481C1C}">
                <a14:useLocalDpi xmlns:a14="http://schemas.microsoft.com/office/drawing/2010/main" val="0"/>
              </a:ext>
            </a:extLst>
          </a:blip>
          <a:srcRect l="18500" t="16004" r="21650" b="4671"/>
          <a:stretch/>
        </p:blipFill>
        <p:spPr>
          <a:xfrm>
            <a:off x="755576" y="146003"/>
            <a:ext cx="7128792" cy="6565993"/>
          </a:xfrm>
          <a:prstGeom prst="rect">
            <a:avLst/>
          </a:prstGeom>
        </p:spPr>
      </p:pic>
      <p:sp>
        <p:nvSpPr>
          <p:cNvPr id="6" name="Slide Number Placeholder 5">
            <a:extLst>
              <a:ext uri="{FF2B5EF4-FFF2-40B4-BE49-F238E27FC236}">
                <a16:creationId xmlns:a16="http://schemas.microsoft.com/office/drawing/2014/main" id="{2FE09ABC-B270-31CB-572F-91D9357E5770}"/>
              </a:ext>
            </a:extLst>
          </p:cNvPr>
          <p:cNvSpPr>
            <a:spLocks noGrp="1"/>
          </p:cNvSpPr>
          <p:nvPr>
            <p:ph type="sldNum" sz="quarter" idx="12"/>
          </p:nvPr>
        </p:nvSpPr>
        <p:spPr/>
        <p:txBody>
          <a:bodyPr/>
          <a:lstStyle/>
          <a:p>
            <a:pPr>
              <a:defRPr/>
            </a:pPr>
            <a:fld id="{F9839A35-988A-4C75-AB86-CE687B152A44}" type="slidenum">
              <a:rPr lang="en-US" altLang="en-US" smtClean="0"/>
              <a:pPr>
                <a:defRPr/>
              </a:pPr>
              <a:t>25</a:t>
            </a:fld>
            <a:endParaRPr lang="en-US" altLang="en-US"/>
          </a:p>
        </p:txBody>
      </p:sp>
      <p:sp>
        <p:nvSpPr>
          <p:cNvPr id="2" name="TextBox 1">
            <a:extLst>
              <a:ext uri="{FF2B5EF4-FFF2-40B4-BE49-F238E27FC236}">
                <a16:creationId xmlns:a16="http://schemas.microsoft.com/office/drawing/2014/main" id="{35FF7720-636B-0208-94CB-0CD2E91FCF16}"/>
              </a:ext>
            </a:extLst>
          </p:cNvPr>
          <p:cNvSpPr txBox="1"/>
          <p:nvPr/>
        </p:nvSpPr>
        <p:spPr>
          <a:xfrm>
            <a:off x="2555776" y="1556792"/>
            <a:ext cx="1728192" cy="523220"/>
          </a:xfrm>
          <a:prstGeom prst="rect">
            <a:avLst/>
          </a:prstGeom>
          <a:solidFill>
            <a:schemeClr val="bg1">
              <a:lumMod val="95000"/>
            </a:schemeClr>
          </a:solidFill>
        </p:spPr>
        <p:txBody>
          <a:bodyPr wrap="square" rtlCol="0">
            <a:spAutoFit/>
          </a:bodyPr>
          <a:lstStyle/>
          <a:p>
            <a:r>
              <a:rPr lang="en-MY" sz="2800" dirty="0">
                <a:solidFill>
                  <a:srgbClr val="FF0000"/>
                </a:solidFill>
              </a:rPr>
              <a:t>1010010</a:t>
            </a:r>
          </a:p>
        </p:txBody>
      </p:sp>
    </p:spTree>
    <p:extLst>
      <p:ext uri="{BB962C8B-B14F-4D97-AF65-F5344CB8AC3E}">
        <p14:creationId xmlns:p14="http://schemas.microsoft.com/office/powerpoint/2010/main" val="1680205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09882E-654B-E59C-0BFD-24F422F7E370}"/>
              </a:ext>
            </a:extLst>
          </p:cNvPr>
          <p:cNvSpPr/>
          <p:nvPr/>
        </p:nvSpPr>
        <p:spPr>
          <a:xfrm>
            <a:off x="2915816" y="548680"/>
            <a:ext cx="223224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Data Representation</a:t>
            </a:r>
          </a:p>
        </p:txBody>
      </p:sp>
      <p:sp>
        <p:nvSpPr>
          <p:cNvPr id="5" name="Rectangle 4">
            <a:extLst>
              <a:ext uri="{FF2B5EF4-FFF2-40B4-BE49-F238E27FC236}">
                <a16:creationId xmlns:a16="http://schemas.microsoft.com/office/drawing/2014/main" id="{8D84A76F-D547-7294-65B8-B28F5862A46E}"/>
              </a:ext>
            </a:extLst>
          </p:cNvPr>
          <p:cNvSpPr/>
          <p:nvPr/>
        </p:nvSpPr>
        <p:spPr>
          <a:xfrm>
            <a:off x="152962" y="1916832"/>
            <a:ext cx="2232248" cy="79208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Magnitude</a:t>
            </a:r>
          </a:p>
        </p:txBody>
      </p:sp>
      <p:sp>
        <p:nvSpPr>
          <p:cNvPr id="6" name="Rectangle 5">
            <a:extLst>
              <a:ext uri="{FF2B5EF4-FFF2-40B4-BE49-F238E27FC236}">
                <a16:creationId xmlns:a16="http://schemas.microsoft.com/office/drawing/2014/main" id="{38988385-3E04-0C6A-EF14-D4D00BA7EA8F}"/>
              </a:ext>
            </a:extLst>
          </p:cNvPr>
          <p:cNvSpPr/>
          <p:nvPr/>
        </p:nvSpPr>
        <p:spPr>
          <a:xfrm>
            <a:off x="5940152" y="1916832"/>
            <a:ext cx="2232248" cy="79208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ysClr val="windowText" lastClr="000000"/>
                </a:solidFill>
              </a:rPr>
              <a:t>Complement</a:t>
            </a:r>
          </a:p>
        </p:txBody>
      </p:sp>
      <p:cxnSp>
        <p:nvCxnSpPr>
          <p:cNvPr id="8" name="Connector: Elbow 7">
            <a:extLst>
              <a:ext uri="{FF2B5EF4-FFF2-40B4-BE49-F238E27FC236}">
                <a16:creationId xmlns:a16="http://schemas.microsoft.com/office/drawing/2014/main" id="{B8AE9376-4A28-3F0A-63B6-23456A17392E}"/>
              </a:ext>
            </a:extLst>
          </p:cNvPr>
          <p:cNvCxnSpPr>
            <a:stCxn id="4" idx="2"/>
            <a:endCxn id="5" idx="0"/>
          </p:cNvCxnSpPr>
          <p:nvPr/>
        </p:nvCxnSpPr>
        <p:spPr>
          <a:xfrm rot="5400000">
            <a:off x="2362481" y="247373"/>
            <a:ext cx="576064" cy="276285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BAD8D5C5-1F60-EC00-71D6-1640B325AA85}"/>
              </a:ext>
            </a:extLst>
          </p:cNvPr>
          <p:cNvCxnSpPr>
            <a:cxnSpLocks/>
            <a:stCxn id="4" idx="2"/>
            <a:endCxn id="6" idx="0"/>
          </p:cNvCxnSpPr>
          <p:nvPr/>
        </p:nvCxnSpPr>
        <p:spPr>
          <a:xfrm rot="16200000" flipH="1">
            <a:off x="5256076" y="116632"/>
            <a:ext cx="576064" cy="302433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A0E0854-C845-D676-F46C-B57EC546FE9C}"/>
              </a:ext>
            </a:extLst>
          </p:cNvPr>
          <p:cNvSpPr/>
          <p:nvPr/>
        </p:nvSpPr>
        <p:spPr>
          <a:xfrm>
            <a:off x="1691680" y="32849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Unsigned</a:t>
            </a:r>
          </a:p>
        </p:txBody>
      </p:sp>
      <p:sp>
        <p:nvSpPr>
          <p:cNvPr id="15" name="Rectangle 14">
            <a:extLst>
              <a:ext uri="{FF2B5EF4-FFF2-40B4-BE49-F238E27FC236}">
                <a16:creationId xmlns:a16="http://schemas.microsoft.com/office/drawing/2014/main" id="{97E68174-2C62-6494-67A3-AD4FF85C7839}"/>
              </a:ext>
            </a:extLst>
          </p:cNvPr>
          <p:cNvSpPr/>
          <p:nvPr/>
        </p:nvSpPr>
        <p:spPr>
          <a:xfrm>
            <a:off x="1691680" y="5085184"/>
            <a:ext cx="1584176" cy="5760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bg1"/>
                </a:solidFill>
              </a:rPr>
              <a:t>Signed</a:t>
            </a:r>
          </a:p>
        </p:txBody>
      </p:sp>
      <p:sp>
        <p:nvSpPr>
          <p:cNvPr id="16" name="Rectangle 15">
            <a:extLst>
              <a:ext uri="{FF2B5EF4-FFF2-40B4-BE49-F238E27FC236}">
                <a16:creationId xmlns:a16="http://schemas.microsoft.com/office/drawing/2014/main" id="{406C1BBB-283D-C2B4-3CFE-1C5CEEF1E248}"/>
              </a:ext>
            </a:extLst>
          </p:cNvPr>
          <p:cNvSpPr/>
          <p:nvPr/>
        </p:nvSpPr>
        <p:spPr>
          <a:xfrm>
            <a:off x="4716016" y="3284984"/>
            <a:ext cx="1584176" cy="57606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bg1"/>
                </a:solidFill>
              </a:rPr>
              <a:t>1’s complement</a:t>
            </a:r>
          </a:p>
        </p:txBody>
      </p:sp>
      <p:sp>
        <p:nvSpPr>
          <p:cNvPr id="17" name="Rectangle 16">
            <a:extLst>
              <a:ext uri="{FF2B5EF4-FFF2-40B4-BE49-F238E27FC236}">
                <a16:creationId xmlns:a16="http://schemas.microsoft.com/office/drawing/2014/main" id="{68D67691-7A03-43D4-E4D9-D8B39BC31CBC}"/>
              </a:ext>
            </a:extLst>
          </p:cNvPr>
          <p:cNvSpPr/>
          <p:nvPr/>
        </p:nvSpPr>
        <p:spPr>
          <a:xfrm>
            <a:off x="4716016" y="5085184"/>
            <a:ext cx="1584176"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800" dirty="0">
                <a:solidFill>
                  <a:schemeClr val="tx1"/>
                </a:solidFill>
              </a:rPr>
              <a:t>2’s complement</a:t>
            </a:r>
          </a:p>
        </p:txBody>
      </p:sp>
      <p:cxnSp>
        <p:nvCxnSpPr>
          <p:cNvPr id="18" name="Connector: Elbow 17">
            <a:extLst>
              <a:ext uri="{FF2B5EF4-FFF2-40B4-BE49-F238E27FC236}">
                <a16:creationId xmlns:a16="http://schemas.microsoft.com/office/drawing/2014/main" id="{678EBFDA-B308-574E-3C70-D7116AD2916A}"/>
              </a:ext>
            </a:extLst>
          </p:cNvPr>
          <p:cNvCxnSpPr>
            <a:cxnSpLocks/>
            <a:stCxn id="5" idx="2"/>
            <a:endCxn id="14" idx="1"/>
          </p:cNvCxnSpPr>
          <p:nvPr/>
        </p:nvCxnSpPr>
        <p:spPr>
          <a:xfrm rot="16200000" flipH="1">
            <a:off x="1048335" y="2929671"/>
            <a:ext cx="8640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8A4507EC-2EC2-E8C7-EF20-4F26778948BF}"/>
              </a:ext>
            </a:extLst>
          </p:cNvPr>
          <p:cNvCxnSpPr>
            <a:cxnSpLocks/>
            <a:stCxn id="5" idx="2"/>
            <a:endCxn id="15" idx="1"/>
          </p:cNvCxnSpPr>
          <p:nvPr/>
        </p:nvCxnSpPr>
        <p:spPr>
          <a:xfrm rot="16200000" flipH="1">
            <a:off x="148235" y="3829771"/>
            <a:ext cx="2664296" cy="4225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8369DAF5-5BDA-2F95-DBE3-B8979B430D8D}"/>
              </a:ext>
            </a:extLst>
          </p:cNvPr>
          <p:cNvCxnSpPr>
            <a:cxnSpLocks/>
            <a:stCxn id="6" idx="2"/>
            <a:endCxn id="16" idx="3"/>
          </p:cNvCxnSpPr>
          <p:nvPr/>
        </p:nvCxnSpPr>
        <p:spPr>
          <a:xfrm rot="5400000">
            <a:off x="6246186" y="2762926"/>
            <a:ext cx="8640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0BCA41C-515D-4357-0EE3-A416B6194855}"/>
              </a:ext>
            </a:extLst>
          </p:cNvPr>
          <p:cNvCxnSpPr>
            <a:cxnSpLocks/>
            <a:stCxn id="6" idx="2"/>
            <a:endCxn id="17" idx="3"/>
          </p:cNvCxnSpPr>
          <p:nvPr/>
        </p:nvCxnSpPr>
        <p:spPr>
          <a:xfrm rot="5400000">
            <a:off x="5346086" y="3663026"/>
            <a:ext cx="2664296" cy="75608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C5128EA-13EF-8E81-F773-1E5157F3B074}"/>
              </a:ext>
            </a:extLst>
          </p:cNvPr>
          <p:cNvSpPr txBox="1"/>
          <p:nvPr/>
        </p:nvSpPr>
        <p:spPr>
          <a:xfrm>
            <a:off x="2093146" y="4032794"/>
            <a:ext cx="827086" cy="400110"/>
          </a:xfrm>
          <a:prstGeom prst="rect">
            <a:avLst/>
          </a:prstGeom>
          <a:noFill/>
        </p:spPr>
        <p:txBody>
          <a:bodyPr wrap="none" rtlCol="0">
            <a:spAutoFit/>
          </a:bodyPr>
          <a:lstStyle/>
          <a:p>
            <a:r>
              <a:rPr lang="en-MY" dirty="0"/>
              <a:t>(+</a:t>
            </a:r>
            <a:r>
              <a:rPr lang="en-MY" dirty="0" err="1"/>
              <a:t>ve</a:t>
            </a:r>
            <a:r>
              <a:rPr lang="en-MY" dirty="0"/>
              <a:t>)</a:t>
            </a:r>
          </a:p>
        </p:txBody>
      </p:sp>
      <p:sp>
        <p:nvSpPr>
          <p:cNvPr id="31" name="TextBox 30">
            <a:extLst>
              <a:ext uri="{FF2B5EF4-FFF2-40B4-BE49-F238E27FC236}">
                <a16:creationId xmlns:a16="http://schemas.microsoft.com/office/drawing/2014/main" id="{29592CBB-6C0B-0B62-8994-299753794464}"/>
              </a:ext>
            </a:extLst>
          </p:cNvPr>
          <p:cNvSpPr txBox="1"/>
          <p:nvPr/>
        </p:nvSpPr>
        <p:spPr>
          <a:xfrm>
            <a:off x="1631227"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2" name="TextBox 31">
            <a:extLst>
              <a:ext uri="{FF2B5EF4-FFF2-40B4-BE49-F238E27FC236}">
                <a16:creationId xmlns:a16="http://schemas.microsoft.com/office/drawing/2014/main" id="{58F3ADCE-A430-CDE3-E0B8-7514938D4669}"/>
              </a:ext>
            </a:extLst>
          </p:cNvPr>
          <p:cNvSpPr txBox="1"/>
          <p:nvPr/>
        </p:nvSpPr>
        <p:spPr>
          <a:xfrm>
            <a:off x="4655563" y="3963629"/>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3" name="TextBox 32">
            <a:extLst>
              <a:ext uri="{FF2B5EF4-FFF2-40B4-BE49-F238E27FC236}">
                <a16:creationId xmlns:a16="http://schemas.microsoft.com/office/drawing/2014/main" id="{2C85AA58-DFE9-F714-5EFC-7A83345A2D18}"/>
              </a:ext>
            </a:extLst>
          </p:cNvPr>
          <p:cNvSpPr txBox="1"/>
          <p:nvPr/>
        </p:nvSpPr>
        <p:spPr>
          <a:xfrm>
            <a:off x="4603054" y="5825441"/>
            <a:ext cx="1705082" cy="400110"/>
          </a:xfrm>
          <a:prstGeom prst="rect">
            <a:avLst/>
          </a:prstGeom>
          <a:noFill/>
        </p:spPr>
        <p:txBody>
          <a:bodyPr wrap="none" rtlCol="0">
            <a:spAutoFit/>
          </a:bodyPr>
          <a:lstStyle/>
          <a:p>
            <a:r>
              <a:rPr lang="en-MY" dirty="0"/>
              <a:t>(+</a:t>
            </a:r>
            <a:r>
              <a:rPr lang="en-MY" dirty="0" err="1"/>
              <a:t>ve</a:t>
            </a:r>
            <a:r>
              <a:rPr lang="en-MY" dirty="0"/>
              <a:t>) &amp; (-</a:t>
            </a:r>
            <a:r>
              <a:rPr lang="en-MY" dirty="0" err="1"/>
              <a:t>ve</a:t>
            </a:r>
            <a:r>
              <a:rPr lang="en-MY" dirty="0"/>
              <a:t>)</a:t>
            </a:r>
          </a:p>
        </p:txBody>
      </p:sp>
      <p:sp>
        <p:nvSpPr>
          <p:cNvPr id="35" name="TextBox 34">
            <a:extLst>
              <a:ext uri="{FF2B5EF4-FFF2-40B4-BE49-F238E27FC236}">
                <a16:creationId xmlns:a16="http://schemas.microsoft.com/office/drawing/2014/main" id="{68E4DB94-4216-4662-2FBB-A97C6C691061}"/>
              </a:ext>
            </a:extLst>
          </p:cNvPr>
          <p:cNvSpPr txBox="1"/>
          <p:nvPr/>
        </p:nvSpPr>
        <p:spPr>
          <a:xfrm>
            <a:off x="30136" y="6486724"/>
            <a:ext cx="4257897" cy="261610"/>
          </a:xfrm>
          <a:prstGeom prst="rect">
            <a:avLst/>
          </a:prstGeom>
          <a:noFill/>
        </p:spPr>
        <p:txBody>
          <a:bodyPr wrap="none" rtlCol="0">
            <a:spAutoFit/>
          </a:bodyPr>
          <a:lstStyle/>
          <a:p>
            <a:r>
              <a:rPr lang="en-MY" sz="1100" dirty="0">
                <a:solidFill>
                  <a:srgbClr val="FF0000"/>
                </a:solidFill>
              </a:rPr>
              <a:t>In all representation, (+) number is represented in the same way</a:t>
            </a:r>
          </a:p>
        </p:txBody>
      </p:sp>
      <p:sp>
        <p:nvSpPr>
          <p:cNvPr id="2" name="Rectangle 1">
            <a:extLst>
              <a:ext uri="{FF2B5EF4-FFF2-40B4-BE49-F238E27FC236}">
                <a16:creationId xmlns:a16="http://schemas.microsoft.com/office/drawing/2014/main" id="{9745BF3F-0501-F9E1-6BE9-F59AD2E869EA}"/>
              </a:ext>
            </a:extLst>
          </p:cNvPr>
          <p:cNvSpPr/>
          <p:nvPr/>
        </p:nvSpPr>
        <p:spPr>
          <a:xfrm>
            <a:off x="116217" y="1601941"/>
            <a:ext cx="3915724" cy="4936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8E434A4C-111E-FB52-DFB5-CA710E065812}"/>
              </a:ext>
            </a:extLst>
          </p:cNvPr>
          <p:cNvSpPr>
            <a:spLocks noGrp="1"/>
          </p:cNvSpPr>
          <p:nvPr>
            <p:ph type="sldNum" sz="quarter" idx="12"/>
          </p:nvPr>
        </p:nvSpPr>
        <p:spPr/>
        <p:txBody>
          <a:bodyPr/>
          <a:lstStyle/>
          <a:p>
            <a:pPr>
              <a:defRPr/>
            </a:pPr>
            <a:fld id="{B15F286D-88BF-4C85-84EF-53248539BE74}" type="slidenum">
              <a:rPr lang="en-US" altLang="en-US" smtClean="0"/>
              <a:pPr>
                <a:defRPr/>
              </a:pPr>
              <a:t>26</a:t>
            </a:fld>
            <a:endParaRPr lang="en-US" altLang="en-US"/>
          </a:p>
        </p:txBody>
      </p:sp>
    </p:spTree>
    <p:extLst>
      <p:ext uri="{BB962C8B-B14F-4D97-AF65-F5344CB8AC3E}">
        <p14:creationId xmlns:p14="http://schemas.microsoft.com/office/powerpoint/2010/main" val="307267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4AB6F-34D7-A628-615F-B8A913AF87E7}"/>
              </a:ext>
            </a:extLst>
          </p:cNvPr>
          <p:cNvSpPr>
            <a:spLocks noGrp="1"/>
          </p:cNvSpPr>
          <p:nvPr>
            <p:ph type="title"/>
          </p:nvPr>
        </p:nvSpPr>
        <p:spPr/>
        <p:txBody>
          <a:bodyPr/>
          <a:lstStyle/>
          <a:p>
            <a:r>
              <a:rPr lang="en-MY" dirty="0"/>
              <a:t>1s complement</a:t>
            </a:r>
            <a:endParaRPr lang="en-GB" dirty="0"/>
          </a:p>
        </p:txBody>
      </p:sp>
      <p:sp>
        <p:nvSpPr>
          <p:cNvPr id="3" name="Content Placeholder 2">
            <a:extLst>
              <a:ext uri="{FF2B5EF4-FFF2-40B4-BE49-F238E27FC236}">
                <a16:creationId xmlns:a16="http://schemas.microsoft.com/office/drawing/2014/main" id="{F92372A4-6E11-5CA6-DA72-8F32FB0F91B5}"/>
              </a:ext>
            </a:extLst>
          </p:cNvPr>
          <p:cNvSpPr>
            <a:spLocks noGrp="1"/>
          </p:cNvSpPr>
          <p:nvPr>
            <p:ph idx="1"/>
          </p:nvPr>
        </p:nvSpPr>
        <p:spPr/>
        <p:txBody>
          <a:bodyPr/>
          <a:lstStyle/>
          <a:p>
            <a:r>
              <a:rPr lang="en-MY" dirty="0"/>
              <a:t>In a different representation, 1s complement, we negate numbers by complementing each bit of the number.</a:t>
            </a:r>
          </a:p>
          <a:p>
            <a:r>
              <a:rPr lang="en-MY" dirty="0"/>
              <a:t>We keep the sign bits; 0 for positive and 1 for negative </a:t>
            </a:r>
          </a:p>
          <a:p>
            <a:r>
              <a:rPr lang="en-MY" dirty="0"/>
              <a:t>The sign bit is complemented along with the rest of the bits </a:t>
            </a:r>
            <a:endParaRPr lang="en-GB" dirty="0"/>
          </a:p>
        </p:txBody>
      </p:sp>
      <p:sp>
        <p:nvSpPr>
          <p:cNvPr id="4" name="Slide Number Placeholder 3">
            <a:extLst>
              <a:ext uri="{FF2B5EF4-FFF2-40B4-BE49-F238E27FC236}">
                <a16:creationId xmlns:a16="http://schemas.microsoft.com/office/drawing/2014/main" id="{5CA0BFDD-4F1F-E4D2-782D-505CC65C7C92}"/>
              </a:ext>
            </a:extLst>
          </p:cNvPr>
          <p:cNvSpPr>
            <a:spLocks noGrp="1"/>
          </p:cNvSpPr>
          <p:nvPr>
            <p:ph type="sldNum" sz="quarter" idx="12"/>
          </p:nvPr>
        </p:nvSpPr>
        <p:spPr/>
        <p:txBody>
          <a:bodyPr/>
          <a:lstStyle/>
          <a:p>
            <a:pPr>
              <a:defRPr/>
            </a:pPr>
            <a:fld id="{B15F286D-88BF-4C85-84EF-53248539BE74}" type="slidenum">
              <a:rPr lang="en-US" altLang="en-US" smtClean="0"/>
              <a:pPr>
                <a:defRPr/>
              </a:pPr>
              <a:t>27</a:t>
            </a:fld>
            <a:endParaRPr lang="en-US" altLang="en-US"/>
          </a:p>
        </p:txBody>
      </p:sp>
    </p:spTree>
    <p:extLst>
      <p:ext uri="{BB962C8B-B14F-4D97-AF65-F5344CB8AC3E}">
        <p14:creationId xmlns:p14="http://schemas.microsoft.com/office/powerpoint/2010/main" val="3354840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5D99-CD9A-576B-FB63-A8E27F2350A0}"/>
              </a:ext>
            </a:extLst>
          </p:cNvPr>
          <p:cNvSpPr>
            <a:spLocks noGrp="1"/>
          </p:cNvSpPr>
          <p:nvPr>
            <p:ph type="title"/>
          </p:nvPr>
        </p:nvSpPr>
        <p:spPr>
          <a:xfrm>
            <a:off x="323528" y="365760"/>
            <a:ext cx="7892356" cy="1325562"/>
          </a:xfrm>
        </p:spPr>
        <p:txBody>
          <a:bodyPr/>
          <a:lstStyle/>
          <a:p>
            <a:r>
              <a:rPr lang="en-MY" dirty="0"/>
              <a:t>1’s complement</a:t>
            </a:r>
          </a:p>
        </p:txBody>
      </p:sp>
      <p:sp>
        <p:nvSpPr>
          <p:cNvPr id="3" name="Content Placeholder 2">
            <a:extLst>
              <a:ext uri="{FF2B5EF4-FFF2-40B4-BE49-F238E27FC236}">
                <a16:creationId xmlns:a16="http://schemas.microsoft.com/office/drawing/2014/main" id="{320BDCFF-1397-468E-3D90-BDB22DFB8EB7}"/>
              </a:ext>
            </a:extLst>
          </p:cNvPr>
          <p:cNvSpPr>
            <a:spLocks noGrp="1"/>
          </p:cNvSpPr>
          <p:nvPr>
            <p:ph idx="1"/>
          </p:nvPr>
        </p:nvSpPr>
        <p:spPr>
          <a:xfrm>
            <a:off x="345764" y="2204864"/>
            <a:ext cx="7870120" cy="3975274"/>
          </a:xfrm>
        </p:spPr>
        <p:txBody>
          <a:bodyPr/>
          <a:lstStyle/>
          <a:p>
            <a:r>
              <a:rPr lang="en-US" dirty="0"/>
              <a:t>Negative numbers are represented by taking the bitwise complement (</a:t>
            </a:r>
            <a:r>
              <a:rPr lang="en-US" sz="4000" b="1" dirty="0">
                <a:solidFill>
                  <a:srgbClr val="00B050"/>
                </a:solidFill>
              </a:rPr>
              <a:t>inverting all the bits</a:t>
            </a:r>
            <a:r>
              <a:rPr lang="en-US" dirty="0"/>
              <a:t>) of the positive binary representation of the number</a:t>
            </a:r>
            <a:endParaRPr lang="en-MY" dirty="0"/>
          </a:p>
        </p:txBody>
      </p:sp>
      <p:sp>
        <p:nvSpPr>
          <p:cNvPr id="4" name="TextBox 3">
            <a:extLst>
              <a:ext uri="{FF2B5EF4-FFF2-40B4-BE49-F238E27FC236}">
                <a16:creationId xmlns:a16="http://schemas.microsoft.com/office/drawing/2014/main" id="{5C5F3866-9762-466B-13E8-92C57720403D}"/>
              </a:ext>
            </a:extLst>
          </p:cNvPr>
          <p:cNvSpPr txBox="1"/>
          <p:nvPr/>
        </p:nvSpPr>
        <p:spPr>
          <a:xfrm>
            <a:off x="2051720" y="4004469"/>
            <a:ext cx="3865161" cy="646331"/>
          </a:xfrm>
          <a:prstGeom prst="rect">
            <a:avLst/>
          </a:prstGeom>
          <a:noFill/>
        </p:spPr>
        <p:txBody>
          <a:bodyPr wrap="none" rtlCol="0">
            <a:spAutoFit/>
          </a:bodyPr>
          <a:lstStyle/>
          <a:p>
            <a:r>
              <a:rPr lang="en-MY" sz="3600" dirty="0"/>
              <a:t>(1010)</a:t>
            </a:r>
            <a:r>
              <a:rPr lang="en-MY" sz="3600" baseline="-25000" dirty="0"/>
              <a:t>2</a:t>
            </a:r>
            <a:r>
              <a:rPr lang="en-MY" sz="3600" dirty="0"/>
              <a:t> = (0101)</a:t>
            </a:r>
            <a:r>
              <a:rPr lang="en-MY" sz="3600" baseline="-25000" dirty="0"/>
              <a:t>2</a:t>
            </a:r>
          </a:p>
        </p:txBody>
      </p:sp>
      <p:sp>
        <p:nvSpPr>
          <p:cNvPr id="5" name="Slide Number Placeholder 4">
            <a:extLst>
              <a:ext uri="{FF2B5EF4-FFF2-40B4-BE49-F238E27FC236}">
                <a16:creationId xmlns:a16="http://schemas.microsoft.com/office/drawing/2014/main" id="{3592C0B1-9871-A8BB-FEB6-D7DCF1A9F047}"/>
              </a:ext>
            </a:extLst>
          </p:cNvPr>
          <p:cNvSpPr>
            <a:spLocks noGrp="1"/>
          </p:cNvSpPr>
          <p:nvPr>
            <p:ph type="sldNum" sz="quarter" idx="12"/>
          </p:nvPr>
        </p:nvSpPr>
        <p:spPr/>
        <p:txBody>
          <a:bodyPr/>
          <a:lstStyle/>
          <a:p>
            <a:pPr>
              <a:defRPr/>
            </a:pPr>
            <a:fld id="{B15F286D-88BF-4C85-84EF-53248539BE74}" type="slidenum">
              <a:rPr lang="en-US" altLang="en-US" smtClean="0"/>
              <a:pPr>
                <a:defRPr/>
              </a:pPr>
              <a:t>28</a:t>
            </a:fld>
            <a:endParaRPr lang="en-US" altLang="en-US"/>
          </a:p>
        </p:txBody>
      </p:sp>
    </p:spTree>
    <p:extLst>
      <p:ext uri="{BB962C8B-B14F-4D97-AF65-F5344CB8AC3E}">
        <p14:creationId xmlns:p14="http://schemas.microsoft.com/office/powerpoint/2010/main" val="321822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5D99-CD9A-576B-FB63-A8E27F2350A0}"/>
              </a:ext>
            </a:extLst>
          </p:cNvPr>
          <p:cNvSpPr>
            <a:spLocks noGrp="1"/>
          </p:cNvSpPr>
          <p:nvPr>
            <p:ph type="title"/>
          </p:nvPr>
        </p:nvSpPr>
        <p:spPr>
          <a:xfrm>
            <a:off x="375143" y="365760"/>
            <a:ext cx="7840741" cy="1325562"/>
          </a:xfrm>
        </p:spPr>
        <p:txBody>
          <a:bodyPr/>
          <a:lstStyle/>
          <a:p>
            <a:r>
              <a:rPr lang="en-MY" dirty="0"/>
              <a:t>2’s complement</a:t>
            </a:r>
          </a:p>
        </p:txBody>
      </p:sp>
      <p:sp>
        <p:nvSpPr>
          <p:cNvPr id="3" name="Content Placeholder 2">
            <a:extLst>
              <a:ext uri="{FF2B5EF4-FFF2-40B4-BE49-F238E27FC236}">
                <a16:creationId xmlns:a16="http://schemas.microsoft.com/office/drawing/2014/main" id="{320BDCFF-1397-468E-3D90-BDB22DFB8EB7}"/>
              </a:ext>
            </a:extLst>
          </p:cNvPr>
          <p:cNvSpPr>
            <a:spLocks noGrp="1"/>
          </p:cNvSpPr>
          <p:nvPr>
            <p:ph idx="1"/>
          </p:nvPr>
        </p:nvSpPr>
        <p:spPr>
          <a:xfrm>
            <a:off x="395536" y="1828801"/>
            <a:ext cx="7820348" cy="4351337"/>
          </a:xfrm>
        </p:spPr>
        <p:txBody>
          <a:bodyPr/>
          <a:lstStyle/>
          <a:p>
            <a:r>
              <a:rPr lang="en-US" dirty="0"/>
              <a:t>2's complement is a binary representation method used in computers to represent signed integers (both positive and negative numbers). </a:t>
            </a:r>
          </a:p>
          <a:p>
            <a:r>
              <a:rPr lang="en-US" dirty="0"/>
              <a:t>It is the most common method for representing signed integers</a:t>
            </a:r>
          </a:p>
          <a:p>
            <a:r>
              <a:rPr lang="en-US" dirty="0"/>
              <a:t>2’s complement requires 2 rules: </a:t>
            </a:r>
            <a:endParaRPr lang="en-MY" dirty="0"/>
          </a:p>
        </p:txBody>
      </p:sp>
      <p:sp>
        <p:nvSpPr>
          <p:cNvPr id="4" name="TextBox 3">
            <a:extLst>
              <a:ext uri="{FF2B5EF4-FFF2-40B4-BE49-F238E27FC236}">
                <a16:creationId xmlns:a16="http://schemas.microsoft.com/office/drawing/2014/main" id="{5C5F3866-9762-466B-13E8-92C57720403D}"/>
              </a:ext>
            </a:extLst>
          </p:cNvPr>
          <p:cNvSpPr txBox="1"/>
          <p:nvPr/>
        </p:nvSpPr>
        <p:spPr>
          <a:xfrm>
            <a:off x="1648196" y="3683168"/>
            <a:ext cx="6164164" cy="461665"/>
          </a:xfrm>
          <a:prstGeom prst="rect">
            <a:avLst/>
          </a:prstGeom>
          <a:noFill/>
        </p:spPr>
        <p:txBody>
          <a:bodyPr wrap="square" rtlCol="0">
            <a:spAutoFit/>
          </a:bodyPr>
          <a:lstStyle/>
          <a:p>
            <a:r>
              <a:rPr lang="en-MY" sz="2400" dirty="0">
                <a:solidFill>
                  <a:srgbClr val="00B050"/>
                </a:solidFill>
              </a:rPr>
              <a:t>Find 1’s complement for the integer</a:t>
            </a:r>
          </a:p>
        </p:txBody>
      </p:sp>
      <p:sp>
        <p:nvSpPr>
          <p:cNvPr id="5" name="TextBox 4">
            <a:extLst>
              <a:ext uri="{FF2B5EF4-FFF2-40B4-BE49-F238E27FC236}">
                <a16:creationId xmlns:a16="http://schemas.microsoft.com/office/drawing/2014/main" id="{EB3490BE-1639-693F-6DE7-E3635A84E4D3}"/>
              </a:ext>
            </a:extLst>
          </p:cNvPr>
          <p:cNvSpPr txBox="1"/>
          <p:nvPr/>
        </p:nvSpPr>
        <p:spPr>
          <a:xfrm>
            <a:off x="2411760" y="4469988"/>
            <a:ext cx="4117528" cy="461665"/>
          </a:xfrm>
          <a:prstGeom prst="rect">
            <a:avLst/>
          </a:prstGeom>
          <a:noFill/>
        </p:spPr>
        <p:txBody>
          <a:bodyPr wrap="square" rtlCol="0">
            <a:spAutoFit/>
          </a:bodyPr>
          <a:lstStyle/>
          <a:p>
            <a:r>
              <a:rPr lang="en-MY" sz="2400" dirty="0">
                <a:solidFill>
                  <a:srgbClr val="00B050"/>
                </a:solidFill>
              </a:rPr>
              <a:t>Add 1 to the 1’s complement</a:t>
            </a:r>
          </a:p>
        </p:txBody>
      </p:sp>
      <p:sp>
        <p:nvSpPr>
          <p:cNvPr id="6" name="Oval 5">
            <a:extLst>
              <a:ext uri="{FF2B5EF4-FFF2-40B4-BE49-F238E27FC236}">
                <a16:creationId xmlns:a16="http://schemas.microsoft.com/office/drawing/2014/main" id="{8962D212-7F35-DDCD-9A97-155E78CFCA25}"/>
              </a:ext>
            </a:extLst>
          </p:cNvPr>
          <p:cNvSpPr/>
          <p:nvPr/>
        </p:nvSpPr>
        <p:spPr>
          <a:xfrm>
            <a:off x="524592" y="3589965"/>
            <a:ext cx="1123604" cy="64807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rgbClr val="FF0000"/>
                </a:solidFill>
              </a:rPr>
              <a:t>Rule 1</a:t>
            </a:r>
          </a:p>
        </p:txBody>
      </p:sp>
      <p:sp>
        <p:nvSpPr>
          <p:cNvPr id="7" name="Oval 6">
            <a:extLst>
              <a:ext uri="{FF2B5EF4-FFF2-40B4-BE49-F238E27FC236}">
                <a16:creationId xmlns:a16="http://schemas.microsoft.com/office/drawing/2014/main" id="{90BCAB8E-7437-94BB-DD62-6FDF0609F1E9}"/>
              </a:ext>
            </a:extLst>
          </p:cNvPr>
          <p:cNvSpPr/>
          <p:nvPr/>
        </p:nvSpPr>
        <p:spPr>
          <a:xfrm>
            <a:off x="1282029" y="4376784"/>
            <a:ext cx="1123604" cy="64807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rgbClr val="FF0000"/>
                </a:solidFill>
              </a:rPr>
              <a:t>Rule 2</a:t>
            </a:r>
          </a:p>
        </p:txBody>
      </p:sp>
      <p:sp>
        <p:nvSpPr>
          <p:cNvPr id="8" name="Slide Number Placeholder 7">
            <a:extLst>
              <a:ext uri="{FF2B5EF4-FFF2-40B4-BE49-F238E27FC236}">
                <a16:creationId xmlns:a16="http://schemas.microsoft.com/office/drawing/2014/main" id="{60CB60D1-2739-5DB5-CD07-91B5425AE414}"/>
              </a:ext>
            </a:extLst>
          </p:cNvPr>
          <p:cNvSpPr>
            <a:spLocks noGrp="1"/>
          </p:cNvSpPr>
          <p:nvPr>
            <p:ph type="sldNum" sz="quarter" idx="12"/>
          </p:nvPr>
        </p:nvSpPr>
        <p:spPr/>
        <p:txBody>
          <a:bodyPr/>
          <a:lstStyle/>
          <a:p>
            <a:pPr>
              <a:defRPr/>
            </a:pPr>
            <a:fld id="{B15F286D-88BF-4C85-84EF-53248539BE74}" type="slidenum">
              <a:rPr lang="en-US" altLang="en-US" smtClean="0"/>
              <a:pPr>
                <a:defRPr/>
              </a:pPr>
              <a:t>29</a:t>
            </a:fld>
            <a:endParaRPr lang="en-US" altLang="en-US"/>
          </a:p>
        </p:txBody>
      </p:sp>
    </p:spTree>
    <p:extLst>
      <p:ext uri="{BB962C8B-B14F-4D97-AF65-F5344CB8AC3E}">
        <p14:creationId xmlns:p14="http://schemas.microsoft.com/office/powerpoint/2010/main" val="2469984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16AD-0140-DFFC-D667-368467D691B1}"/>
              </a:ext>
            </a:extLst>
          </p:cNvPr>
          <p:cNvSpPr>
            <a:spLocks noGrp="1"/>
          </p:cNvSpPr>
          <p:nvPr>
            <p:ph type="title"/>
          </p:nvPr>
        </p:nvSpPr>
        <p:spPr>
          <a:xfrm>
            <a:off x="395536" y="365760"/>
            <a:ext cx="7820348" cy="1325562"/>
          </a:xfrm>
        </p:spPr>
        <p:txBody>
          <a:bodyPr/>
          <a:lstStyle/>
          <a:p>
            <a:r>
              <a:rPr lang="en-MY" dirty="0"/>
              <a:t>2’s complement</a:t>
            </a:r>
          </a:p>
        </p:txBody>
      </p:sp>
      <p:sp>
        <p:nvSpPr>
          <p:cNvPr id="3" name="Content Placeholder 2">
            <a:extLst>
              <a:ext uri="{FF2B5EF4-FFF2-40B4-BE49-F238E27FC236}">
                <a16:creationId xmlns:a16="http://schemas.microsoft.com/office/drawing/2014/main" id="{1A8A889D-6E05-F4D1-BA12-ED15F3405281}"/>
              </a:ext>
            </a:extLst>
          </p:cNvPr>
          <p:cNvSpPr>
            <a:spLocks noGrp="1"/>
          </p:cNvSpPr>
          <p:nvPr>
            <p:ph idx="1"/>
          </p:nvPr>
        </p:nvSpPr>
        <p:spPr>
          <a:xfrm>
            <a:off x="457898" y="1828801"/>
            <a:ext cx="7642494" cy="4351337"/>
          </a:xfrm>
        </p:spPr>
        <p:txBody>
          <a:bodyPr>
            <a:normAutofit/>
          </a:bodyPr>
          <a:lstStyle/>
          <a:p>
            <a:pPr marL="0" indent="0">
              <a:buNone/>
            </a:pPr>
            <a:r>
              <a:rPr lang="en-MY" sz="2800" dirty="0"/>
              <a:t>Example:</a:t>
            </a:r>
          </a:p>
          <a:p>
            <a:pPr marL="0" indent="0">
              <a:buNone/>
            </a:pPr>
            <a:r>
              <a:rPr lang="en-MY" sz="2800" dirty="0"/>
              <a:t>(10111010)</a:t>
            </a:r>
            <a:r>
              <a:rPr lang="en-MY" sz="2800" baseline="-25000" dirty="0"/>
              <a:t>2</a:t>
            </a:r>
          </a:p>
        </p:txBody>
      </p:sp>
      <p:sp>
        <p:nvSpPr>
          <p:cNvPr id="4" name="TextBox 3">
            <a:extLst>
              <a:ext uri="{FF2B5EF4-FFF2-40B4-BE49-F238E27FC236}">
                <a16:creationId xmlns:a16="http://schemas.microsoft.com/office/drawing/2014/main" id="{35675129-3156-4CD0-A2DA-31F099ADCA13}"/>
              </a:ext>
            </a:extLst>
          </p:cNvPr>
          <p:cNvSpPr txBox="1"/>
          <p:nvPr/>
        </p:nvSpPr>
        <p:spPr>
          <a:xfrm>
            <a:off x="5004048" y="202902"/>
            <a:ext cx="3427860" cy="461665"/>
          </a:xfrm>
          <a:prstGeom prst="rect">
            <a:avLst/>
          </a:prstGeom>
          <a:noFill/>
        </p:spPr>
        <p:txBody>
          <a:bodyPr wrap="square" rtlCol="0">
            <a:spAutoFit/>
          </a:bodyPr>
          <a:lstStyle/>
          <a:p>
            <a:r>
              <a:rPr lang="en-MY" sz="1200" dirty="0">
                <a:solidFill>
                  <a:srgbClr val="00B050"/>
                </a:solidFill>
              </a:rPr>
              <a:t>Step 1: Find 1’s complement for the integer</a:t>
            </a:r>
          </a:p>
          <a:p>
            <a:r>
              <a:rPr lang="en-MY" sz="1200" dirty="0">
                <a:solidFill>
                  <a:srgbClr val="00B050"/>
                </a:solidFill>
              </a:rPr>
              <a:t>Step 2: Add 1 to the 1’s complement</a:t>
            </a:r>
          </a:p>
        </p:txBody>
      </p:sp>
      <p:sp>
        <p:nvSpPr>
          <p:cNvPr id="5" name="Rectangle 4">
            <a:extLst>
              <a:ext uri="{FF2B5EF4-FFF2-40B4-BE49-F238E27FC236}">
                <a16:creationId xmlns:a16="http://schemas.microsoft.com/office/drawing/2014/main" id="{B1DEAD57-30F4-67BB-B8D7-0EE9014AE0DE}"/>
              </a:ext>
            </a:extLst>
          </p:cNvPr>
          <p:cNvSpPr/>
          <p:nvPr/>
        </p:nvSpPr>
        <p:spPr>
          <a:xfrm>
            <a:off x="1043608" y="3500413"/>
            <a:ext cx="1224136" cy="5040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MY" dirty="0"/>
              <a:t>Step 1</a:t>
            </a:r>
          </a:p>
        </p:txBody>
      </p:sp>
      <p:sp>
        <p:nvSpPr>
          <p:cNvPr id="6" name="TextBox 5">
            <a:extLst>
              <a:ext uri="{FF2B5EF4-FFF2-40B4-BE49-F238E27FC236}">
                <a16:creationId xmlns:a16="http://schemas.microsoft.com/office/drawing/2014/main" id="{F72F9CA2-2E0D-5306-0611-83848CD2681A}"/>
              </a:ext>
            </a:extLst>
          </p:cNvPr>
          <p:cNvSpPr txBox="1"/>
          <p:nvPr/>
        </p:nvSpPr>
        <p:spPr>
          <a:xfrm>
            <a:off x="2639419" y="3429000"/>
            <a:ext cx="2198038" cy="646331"/>
          </a:xfrm>
          <a:prstGeom prst="rect">
            <a:avLst/>
          </a:prstGeom>
          <a:noFill/>
        </p:spPr>
        <p:txBody>
          <a:bodyPr wrap="none" rtlCol="0">
            <a:spAutoFit/>
          </a:bodyPr>
          <a:lstStyle/>
          <a:p>
            <a:r>
              <a:rPr lang="en-MY" sz="3600" dirty="0"/>
              <a:t>01000101</a:t>
            </a:r>
            <a:endParaRPr lang="en-MY" sz="3600" baseline="30000" dirty="0"/>
          </a:p>
        </p:txBody>
      </p:sp>
      <p:sp>
        <p:nvSpPr>
          <p:cNvPr id="7" name="Rectangle 6">
            <a:extLst>
              <a:ext uri="{FF2B5EF4-FFF2-40B4-BE49-F238E27FC236}">
                <a16:creationId xmlns:a16="http://schemas.microsoft.com/office/drawing/2014/main" id="{E6FE0350-FBE4-768D-48CB-6CC13E358F2F}"/>
              </a:ext>
            </a:extLst>
          </p:cNvPr>
          <p:cNvSpPr/>
          <p:nvPr/>
        </p:nvSpPr>
        <p:spPr>
          <a:xfrm>
            <a:off x="1043608" y="4588247"/>
            <a:ext cx="1224136" cy="5040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MY" dirty="0"/>
              <a:t>Step 2</a:t>
            </a:r>
          </a:p>
        </p:txBody>
      </p:sp>
      <p:sp>
        <p:nvSpPr>
          <p:cNvPr id="8" name="TextBox 7">
            <a:extLst>
              <a:ext uri="{FF2B5EF4-FFF2-40B4-BE49-F238E27FC236}">
                <a16:creationId xmlns:a16="http://schemas.microsoft.com/office/drawing/2014/main" id="{47B76073-847D-4672-6B6E-AE39CA329C67}"/>
              </a:ext>
            </a:extLst>
          </p:cNvPr>
          <p:cNvSpPr txBox="1"/>
          <p:nvPr/>
        </p:nvSpPr>
        <p:spPr>
          <a:xfrm>
            <a:off x="2639419" y="4562432"/>
            <a:ext cx="2198038" cy="646331"/>
          </a:xfrm>
          <a:prstGeom prst="rect">
            <a:avLst/>
          </a:prstGeom>
          <a:noFill/>
        </p:spPr>
        <p:txBody>
          <a:bodyPr wrap="none" rtlCol="0">
            <a:spAutoFit/>
          </a:bodyPr>
          <a:lstStyle/>
          <a:p>
            <a:r>
              <a:rPr lang="en-MY" sz="3600" dirty="0"/>
              <a:t>01000101</a:t>
            </a:r>
            <a:endParaRPr lang="en-MY" sz="3600" baseline="30000" dirty="0"/>
          </a:p>
        </p:txBody>
      </p:sp>
      <p:sp>
        <p:nvSpPr>
          <p:cNvPr id="9" name="TextBox 8">
            <a:extLst>
              <a:ext uri="{FF2B5EF4-FFF2-40B4-BE49-F238E27FC236}">
                <a16:creationId xmlns:a16="http://schemas.microsoft.com/office/drawing/2014/main" id="{415626B0-C742-CE6E-8012-B235CC7584ED}"/>
              </a:ext>
            </a:extLst>
          </p:cNvPr>
          <p:cNvSpPr txBox="1"/>
          <p:nvPr/>
        </p:nvSpPr>
        <p:spPr>
          <a:xfrm>
            <a:off x="4392760" y="5100838"/>
            <a:ext cx="436338" cy="646331"/>
          </a:xfrm>
          <a:prstGeom prst="rect">
            <a:avLst/>
          </a:prstGeom>
          <a:noFill/>
        </p:spPr>
        <p:txBody>
          <a:bodyPr wrap="none" rtlCol="0">
            <a:spAutoFit/>
          </a:bodyPr>
          <a:lstStyle/>
          <a:p>
            <a:r>
              <a:rPr lang="en-MY" sz="3600" dirty="0"/>
              <a:t>1</a:t>
            </a:r>
            <a:endParaRPr lang="en-MY" sz="3600" baseline="30000" dirty="0"/>
          </a:p>
        </p:txBody>
      </p:sp>
      <p:sp>
        <p:nvSpPr>
          <p:cNvPr id="10" name="TextBox 9">
            <a:extLst>
              <a:ext uri="{FF2B5EF4-FFF2-40B4-BE49-F238E27FC236}">
                <a16:creationId xmlns:a16="http://schemas.microsoft.com/office/drawing/2014/main" id="{CF52BC5E-A3F5-1A16-88DB-617BCF7B219D}"/>
              </a:ext>
            </a:extLst>
          </p:cNvPr>
          <p:cNvSpPr txBox="1"/>
          <p:nvPr/>
        </p:nvSpPr>
        <p:spPr>
          <a:xfrm>
            <a:off x="2267744" y="5213865"/>
            <a:ext cx="409086" cy="461665"/>
          </a:xfrm>
          <a:prstGeom prst="rect">
            <a:avLst/>
          </a:prstGeom>
          <a:noFill/>
        </p:spPr>
        <p:txBody>
          <a:bodyPr wrap="none" rtlCol="0">
            <a:spAutoFit/>
          </a:bodyPr>
          <a:lstStyle/>
          <a:p>
            <a:r>
              <a:rPr lang="en-MY" sz="3600" baseline="30000" dirty="0"/>
              <a:t>+</a:t>
            </a:r>
          </a:p>
        </p:txBody>
      </p:sp>
      <p:cxnSp>
        <p:nvCxnSpPr>
          <p:cNvPr id="12" name="Straight Connector 11">
            <a:extLst>
              <a:ext uri="{FF2B5EF4-FFF2-40B4-BE49-F238E27FC236}">
                <a16:creationId xmlns:a16="http://schemas.microsoft.com/office/drawing/2014/main" id="{22785C2D-94B7-712B-CA81-5733397800F4}"/>
              </a:ext>
            </a:extLst>
          </p:cNvPr>
          <p:cNvCxnSpPr>
            <a:cxnSpLocks/>
          </p:cNvCxnSpPr>
          <p:nvPr/>
        </p:nvCxnSpPr>
        <p:spPr>
          <a:xfrm>
            <a:off x="2267744" y="5747169"/>
            <a:ext cx="2561354" cy="0"/>
          </a:xfrm>
          <a:prstGeom prst="line">
            <a:avLst/>
          </a:prstGeom>
          <a:ln w="38100"/>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18404520-AD7B-99D0-B228-B85A843BB164}"/>
              </a:ext>
            </a:extLst>
          </p:cNvPr>
          <p:cNvSpPr txBox="1"/>
          <p:nvPr/>
        </p:nvSpPr>
        <p:spPr>
          <a:xfrm>
            <a:off x="6444208" y="5480783"/>
            <a:ext cx="1939570" cy="830997"/>
          </a:xfrm>
          <a:prstGeom prst="rect">
            <a:avLst/>
          </a:prstGeom>
          <a:solidFill>
            <a:srgbClr val="FFFF00"/>
          </a:solidFill>
        </p:spPr>
        <p:txBody>
          <a:bodyPr wrap="none" rtlCol="0">
            <a:spAutoFit/>
          </a:bodyPr>
          <a:lstStyle/>
          <a:p>
            <a:r>
              <a:rPr lang="en-MY" sz="1200" dirty="0">
                <a:solidFill>
                  <a:srgbClr val="FF0000"/>
                </a:solidFill>
              </a:rPr>
              <a:t>0 + 0 = 0</a:t>
            </a:r>
          </a:p>
          <a:p>
            <a:r>
              <a:rPr lang="en-MY" sz="1200" dirty="0">
                <a:solidFill>
                  <a:srgbClr val="FF0000"/>
                </a:solidFill>
              </a:rPr>
              <a:t>0 + 1 = 1</a:t>
            </a:r>
          </a:p>
          <a:p>
            <a:r>
              <a:rPr lang="en-MY" sz="1200" dirty="0">
                <a:solidFill>
                  <a:srgbClr val="FF0000"/>
                </a:solidFill>
              </a:rPr>
              <a:t>1 + 0 = 1 </a:t>
            </a:r>
          </a:p>
          <a:p>
            <a:r>
              <a:rPr lang="en-MY" sz="1200" dirty="0">
                <a:solidFill>
                  <a:srgbClr val="FF0000"/>
                </a:solidFill>
              </a:rPr>
              <a:t>1 + 1 = 0 carry forward 1</a:t>
            </a:r>
          </a:p>
        </p:txBody>
      </p:sp>
      <p:sp>
        <p:nvSpPr>
          <p:cNvPr id="18" name="TextBox 17">
            <a:extLst>
              <a:ext uri="{FF2B5EF4-FFF2-40B4-BE49-F238E27FC236}">
                <a16:creationId xmlns:a16="http://schemas.microsoft.com/office/drawing/2014/main" id="{6318A06C-6C3B-75A1-E46D-1A011379CCE0}"/>
              </a:ext>
            </a:extLst>
          </p:cNvPr>
          <p:cNvSpPr txBox="1"/>
          <p:nvPr/>
        </p:nvSpPr>
        <p:spPr>
          <a:xfrm>
            <a:off x="4406386" y="5788663"/>
            <a:ext cx="409086" cy="584775"/>
          </a:xfrm>
          <a:prstGeom prst="rect">
            <a:avLst/>
          </a:prstGeom>
          <a:noFill/>
        </p:spPr>
        <p:txBody>
          <a:bodyPr wrap="none" rtlCol="0">
            <a:spAutoFit/>
          </a:bodyPr>
          <a:lstStyle/>
          <a:p>
            <a:r>
              <a:rPr lang="en-MY" sz="3200" dirty="0"/>
              <a:t>0</a:t>
            </a:r>
          </a:p>
        </p:txBody>
      </p:sp>
      <p:sp>
        <p:nvSpPr>
          <p:cNvPr id="19" name="TextBox 18">
            <a:extLst>
              <a:ext uri="{FF2B5EF4-FFF2-40B4-BE49-F238E27FC236}">
                <a16:creationId xmlns:a16="http://schemas.microsoft.com/office/drawing/2014/main" id="{E381D829-B659-B0AA-115B-FC0C5D6A27E4}"/>
              </a:ext>
            </a:extLst>
          </p:cNvPr>
          <p:cNvSpPr txBox="1"/>
          <p:nvPr/>
        </p:nvSpPr>
        <p:spPr>
          <a:xfrm>
            <a:off x="4188688" y="4355812"/>
            <a:ext cx="311304" cy="369332"/>
          </a:xfrm>
          <a:prstGeom prst="rect">
            <a:avLst/>
          </a:prstGeom>
          <a:noFill/>
        </p:spPr>
        <p:txBody>
          <a:bodyPr wrap="none" rtlCol="0">
            <a:spAutoFit/>
          </a:bodyPr>
          <a:lstStyle/>
          <a:p>
            <a:r>
              <a:rPr lang="en-MY" sz="1800" dirty="0">
                <a:solidFill>
                  <a:srgbClr val="FF0000"/>
                </a:solidFill>
              </a:rPr>
              <a:t>1</a:t>
            </a:r>
          </a:p>
        </p:txBody>
      </p:sp>
      <p:sp>
        <p:nvSpPr>
          <p:cNvPr id="20" name="TextBox 19">
            <a:extLst>
              <a:ext uri="{FF2B5EF4-FFF2-40B4-BE49-F238E27FC236}">
                <a16:creationId xmlns:a16="http://schemas.microsoft.com/office/drawing/2014/main" id="{D224AAB8-D969-7CB2-D431-D7419B79EC2C}"/>
              </a:ext>
            </a:extLst>
          </p:cNvPr>
          <p:cNvSpPr txBox="1"/>
          <p:nvPr/>
        </p:nvSpPr>
        <p:spPr>
          <a:xfrm>
            <a:off x="4151631" y="5788663"/>
            <a:ext cx="409086" cy="584775"/>
          </a:xfrm>
          <a:prstGeom prst="rect">
            <a:avLst/>
          </a:prstGeom>
          <a:noFill/>
        </p:spPr>
        <p:txBody>
          <a:bodyPr wrap="none" rtlCol="0">
            <a:spAutoFit/>
          </a:bodyPr>
          <a:lstStyle/>
          <a:p>
            <a:r>
              <a:rPr lang="en-MY" sz="3200" dirty="0"/>
              <a:t>1</a:t>
            </a:r>
          </a:p>
        </p:txBody>
      </p:sp>
      <p:sp>
        <p:nvSpPr>
          <p:cNvPr id="21" name="TextBox 20">
            <a:extLst>
              <a:ext uri="{FF2B5EF4-FFF2-40B4-BE49-F238E27FC236}">
                <a16:creationId xmlns:a16="http://schemas.microsoft.com/office/drawing/2014/main" id="{7E1F6505-F486-54B4-9BB1-062E09220DC7}"/>
              </a:ext>
            </a:extLst>
          </p:cNvPr>
          <p:cNvSpPr txBox="1"/>
          <p:nvPr/>
        </p:nvSpPr>
        <p:spPr>
          <a:xfrm>
            <a:off x="3896873" y="5788663"/>
            <a:ext cx="409086" cy="584775"/>
          </a:xfrm>
          <a:prstGeom prst="rect">
            <a:avLst/>
          </a:prstGeom>
          <a:noFill/>
        </p:spPr>
        <p:txBody>
          <a:bodyPr wrap="none" rtlCol="0">
            <a:spAutoFit/>
          </a:bodyPr>
          <a:lstStyle/>
          <a:p>
            <a:r>
              <a:rPr lang="en-MY" sz="3200" dirty="0"/>
              <a:t>1</a:t>
            </a:r>
          </a:p>
        </p:txBody>
      </p:sp>
      <p:sp>
        <p:nvSpPr>
          <p:cNvPr id="22" name="TextBox 21">
            <a:extLst>
              <a:ext uri="{FF2B5EF4-FFF2-40B4-BE49-F238E27FC236}">
                <a16:creationId xmlns:a16="http://schemas.microsoft.com/office/drawing/2014/main" id="{D92CBA5A-ADF6-438A-2999-86E0A4B9927C}"/>
              </a:ext>
            </a:extLst>
          </p:cNvPr>
          <p:cNvSpPr txBox="1"/>
          <p:nvPr/>
        </p:nvSpPr>
        <p:spPr>
          <a:xfrm>
            <a:off x="3642115" y="5788663"/>
            <a:ext cx="409086" cy="584775"/>
          </a:xfrm>
          <a:prstGeom prst="rect">
            <a:avLst/>
          </a:prstGeom>
          <a:noFill/>
        </p:spPr>
        <p:txBody>
          <a:bodyPr wrap="none" rtlCol="0">
            <a:spAutoFit/>
          </a:bodyPr>
          <a:lstStyle/>
          <a:p>
            <a:r>
              <a:rPr lang="en-MY" sz="3200" dirty="0"/>
              <a:t>0</a:t>
            </a:r>
          </a:p>
        </p:txBody>
      </p:sp>
      <p:sp>
        <p:nvSpPr>
          <p:cNvPr id="24" name="TextBox 23">
            <a:extLst>
              <a:ext uri="{FF2B5EF4-FFF2-40B4-BE49-F238E27FC236}">
                <a16:creationId xmlns:a16="http://schemas.microsoft.com/office/drawing/2014/main" id="{AB571E48-2717-E0D5-4EEA-B8309EC628A4}"/>
              </a:ext>
            </a:extLst>
          </p:cNvPr>
          <p:cNvSpPr txBox="1"/>
          <p:nvPr/>
        </p:nvSpPr>
        <p:spPr>
          <a:xfrm>
            <a:off x="3387357" y="5788663"/>
            <a:ext cx="409086" cy="584775"/>
          </a:xfrm>
          <a:prstGeom prst="rect">
            <a:avLst/>
          </a:prstGeom>
          <a:noFill/>
        </p:spPr>
        <p:txBody>
          <a:bodyPr wrap="none" rtlCol="0">
            <a:spAutoFit/>
          </a:bodyPr>
          <a:lstStyle/>
          <a:p>
            <a:r>
              <a:rPr lang="en-MY" sz="3200" dirty="0"/>
              <a:t>0</a:t>
            </a:r>
          </a:p>
        </p:txBody>
      </p:sp>
      <p:sp>
        <p:nvSpPr>
          <p:cNvPr id="25" name="TextBox 24">
            <a:extLst>
              <a:ext uri="{FF2B5EF4-FFF2-40B4-BE49-F238E27FC236}">
                <a16:creationId xmlns:a16="http://schemas.microsoft.com/office/drawing/2014/main" id="{C2BA7E8E-6CDD-98D6-ED51-FC5A754544B1}"/>
              </a:ext>
            </a:extLst>
          </p:cNvPr>
          <p:cNvSpPr txBox="1"/>
          <p:nvPr/>
        </p:nvSpPr>
        <p:spPr>
          <a:xfrm>
            <a:off x="3132599" y="5788663"/>
            <a:ext cx="409086" cy="584775"/>
          </a:xfrm>
          <a:prstGeom prst="rect">
            <a:avLst/>
          </a:prstGeom>
          <a:noFill/>
        </p:spPr>
        <p:txBody>
          <a:bodyPr wrap="none" rtlCol="0">
            <a:spAutoFit/>
          </a:bodyPr>
          <a:lstStyle/>
          <a:p>
            <a:r>
              <a:rPr lang="en-MY" sz="3200" dirty="0"/>
              <a:t>0</a:t>
            </a:r>
          </a:p>
        </p:txBody>
      </p:sp>
      <p:sp>
        <p:nvSpPr>
          <p:cNvPr id="26" name="TextBox 25">
            <a:extLst>
              <a:ext uri="{FF2B5EF4-FFF2-40B4-BE49-F238E27FC236}">
                <a16:creationId xmlns:a16="http://schemas.microsoft.com/office/drawing/2014/main" id="{D98A0DEA-A092-7679-F5C5-10B15DEE4D9A}"/>
              </a:ext>
            </a:extLst>
          </p:cNvPr>
          <p:cNvSpPr txBox="1"/>
          <p:nvPr/>
        </p:nvSpPr>
        <p:spPr>
          <a:xfrm>
            <a:off x="2877841" y="5788663"/>
            <a:ext cx="409086" cy="584775"/>
          </a:xfrm>
          <a:prstGeom prst="rect">
            <a:avLst/>
          </a:prstGeom>
          <a:noFill/>
        </p:spPr>
        <p:txBody>
          <a:bodyPr wrap="none" rtlCol="0">
            <a:spAutoFit/>
          </a:bodyPr>
          <a:lstStyle/>
          <a:p>
            <a:r>
              <a:rPr lang="en-MY" sz="3200" dirty="0"/>
              <a:t>1</a:t>
            </a:r>
          </a:p>
        </p:txBody>
      </p:sp>
      <p:sp>
        <p:nvSpPr>
          <p:cNvPr id="27" name="TextBox 26">
            <a:extLst>
              <a:ext uri="{FF2B5EF4-FFF2-40B4-BE49-F238E27FC236}">
                <a16:creationId xmlns:a16="http://schemas.microsoft.com/office/drawing/2014/main" id="{F8449F9C-ECAB-6885-D409-A2E7F71EA3D6}"/>
              </a:ext>
            </a:extLst>
          </p:cNvPr>
          <p:cNvSpPr txBox="1"/>
          <p:nvPr/>
        </p:nvSpPr>
        <p:spPr>
          <a:xfrm>
            <a:off x="2623083" y="5788663"/>
            <a:ext cx="409086" cy="584775"/>
          </a:xfrm>
          <a:prstGeom prst="rect">
            <a:avLst/>
          </a:prstGeom>
          <a:noFill/>
        </p:spPr>
        <p:txBody>
          <a:bodyPr wrap="none" rtlCol="0">
            <a:spAutoFit/>
          </a:bodyPr>
          <a:lstStyle/>
          <a:p>
            <a:r>
              <a:rPr lang="en-MY" sz="3200" dirty="0"/>
              <a:t>0</a:t>
            </a:r>
          </a:p>
        </p:txBody>
      </p:sp>
      <p:cxnSp>
        <p:nvCxnSpPr>
          <p:cNvPr id="28" name="Straight Connector 27">
            <a:extLst>
              <a:ext uri="{FF2B5EF4-FFF2-40B4-BE49-F238E27FC236}">
                <a16:creationId xmlns:a16="http://schemas.microsoft.com/office/drawing/2014/main" id="{ED2938EB-8B00-7602-220F-8F5487FBB2AE}"/>
              </a:ext>
            </a:extLst>
          </p:cNvPr>
          <p:cNvCxnSpPr>
            <a:cxnSpLocks/>
          </p:cNvCxnSpPr>
          <p:nvPr/>
        </p:nvCxnSpPr>
        <p:spPr>
          <a:xfrm>
            <a:off x="2276103" y="6373438"/>
            <a:ext cx="2561354" cy="0"/>
          </a:xfrm>
          <a:prstGeom prst="line">
            <a:avLst/>
          </a:prstGeom>
          <a:ln w="38100"/>
        </p:spPr>
        <p:style>
          <a:lnRef idx="1">
            <a:schemeClr val="dk1"/>
          </a:lnRef>
          <a:fillRef idx="0">
            <a:schemeClr val="dk1"/>
          </a:fillRef>
          <a:effectRef idx="0">
            <a:schemeClr val="dk1"/>
          </a:effectRef>
          <a:fontRef idx="minor">
            <a:schemeClr val="tx1"/>
          </a:fontRef>
        </p:style>
      </p:cxnSp>
      <p:sp>
        <p:nvSpPr>
          <p:cNvPr id="11" name="Slide Number Placeholder 10">
            <a:extLst>
              <a:ext uri="{FF2B5EF4-FFF2-40B4-BE49-F238E27FC236}">
                <a16:creationId xmlns:a16="http://schemas.microsoft.com/office/drawing/2014/main" id="{BBF86C05-5914-9AF7-0BEE-FCF438B19DAA}"/>
              </a:ext>
            </a:extLst>
          </p:cNvPr>
          <p:cNvSpPr>
            <a:spLocks noGrp="1"/>
          </p:cNvSpPr>
          <p:nvPr>
            <p:ph type="sldNum" sz="quarter" idx="12"/>
          </p:nvPr>
        </p:nvSpPr>
        <p:spPr/>
        <p:txBody>
          <a:bodyPr/>
          <a:lstStyle/>
          <a:p>
            <a:pPr>
              <a:defRPr/>
            </a:pPr>
            <a:fld id="{B15F286D-88BF-4C85-84EF-53248539BE74}" type="slidenum">
              <a:rPr lang="en-US" altLang="en-US" smtClean="0"/>
              <a:pPr>
                <a:defRPr/>
              </a:pPr>
              <a:t>30</a:t>
            </a:fld>
            <a:endParaRPr lang="en-US" altLang="en-US"/>
          </a:p>
        </p:txBody>
      </p:sp>
    </p:spTree>
    <p:extLst>
      <p:ext uri="{BB962C8B-B14F-4D97-AF65-F5344CB8AC3E}">
        <p14:creationId xmlns:p14="http://schemas.microsoft.com/office/powerpoint/2010/main" val="1597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1000"/>
                                        <p:tgtEl>
                                          <p:spTgt spid="10"/>
                                        </p:tgtEl>
                                      </p:cBhvr>
                                    </p:animEffect>
                                    <p:anim calcmode="lin" valueType="num">
                                      <p:cBhvr>
                                        <p:cTn id="31" dur="1000" fill="hold"/>
                                        <p:tgtEl>
                                          <p:spTgt spid="10"/>
                                        </p:tgtEl>
                                        <p:attrNameLst>
                                          <p:attrName>ppt_x</p:attrName>
                                        </p:attrNameLst>
                                      </p:cBhvr>
                                      <p:tavLst>
                                        <p:tav tm="0">
                                          <p:val>
                                            <p:strVal val="#ppt_x"/>
                                          </p:val>
                                        </p:tav>
                                        <p:tav tm="100000">
                                          <p:val>
                                            <p:strVal val="#ppt_x"/>
                                          </p:val>
                                        </p:tav>
                                      </p:tavLst>
                                    </p:anim>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additive="base">
                                        <p:cTn id="53" dur="500" fill="hold"/>
                                        <p:tgtEl>
                                          <p:spTgt spid="28"/>
                                        </p:tgtEl>
                                        <p:attrNameLst>
                                          <p:attrName>ppt_x</p:attrName>
                                        </p:attrNameLst>
                                      </p:cBhvr>
                                      <p:tavLst>
                                        <p:tav tm="0">
                                          <p:val>
                                            <p:strVal val="0-#ppt_w/2"/>
                                          </p:val>
                                        </p:tav>
                                        <p:tav tm="100000">
                                          <p:val>
                                            <p:strVal val="#ppt_x"/>
                                          </p:val>
                                        </p:tav>
                                      </p:tavLst>
                                    </p:anim>
                                    <p:anim calcmode="lin" valueType="num">
                                      <p:cBhvr additive="base">
                                        <p:cTn id="54"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00" fill="hold"/>
                                        <p:tgtEl>
                                          <p:spTgt spid="19"/>
                                        </p:tgtEl>
                                        <p:attrNameLst>
                                          <p:attrName>ppt_x</p:attrName>
                                        </p:attrNameLst>
                                      </p:cBhvr>
                                      <p:tavLst>
                                        <p:tav tm="0">
                                          <p:val>
                                            <p:strVal val="#ppt_x"/>
                                          </p:val>
                                        </p:tav>
                                        <p:tav tm="100000">
                                          <p:val>
                                            <p:strVal val="#ppt_x"/>
                                          </p:val>
                                        </p:tav>
                                      </p:tavLst>
                                    </p:anim>
                                    <p:anim calcmode="lin" valueType="num">
                                      <p:cBhvr additive="base">
                                        <p:cTn id="6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ppt_x"/>
                                          </p:val>
                                        </p:tav>
                                        <p:tav tm="100000">
                                          <p:val>
                                            <p:strVal val="#ppt_x"/>
                                          </p:val>
                                        </p:tav>
                                      </p:tavLst>
                                    </p:anim>
                                    <p:anim calcmode="lin" valueType="num">
                                      <p:cBhvr additive="base">
                                        <p:cTn id="78" dur="500" fill="hold"/>
                                        <p:tgtEl>
                                          <p:spTgt spid="21"/>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additive="base">
                                        <p:cTn id="81" dur="500" fill="hold"/>
                                        <p:tgtEl>
                                          <p:spTgt spid="22"/>
                                        </p:tgtEl>
                                        <p:attrNameLst>
                                          <p:attrName>ppt_x</p:attrName>
                                        </p:attrNameLst>
                                      </p:cBhvr>
                                      <p:tavLst>
                                        <p:tav tm="0">
                                          <p:val>
                                            <p:strVal val="#ppt_x"/>
                                          </p:val>
                                        </p:tav>
                                        <p:tav tm="100000">
                                          <p:val>
                                            <p:strVal val="#ppt_x"/>
                                          </p:val>
                                        </p:tav>
                                      </p:tavLst>
                                    </p:anim>
                                    <p:anim calcmode="lin" valueType="num">
                                      <p:cBhvr additive="base">
                                        <p:cTn id="82" dur="500" fill="hold"/>
                                        <p:tgtEl>
                                          <p:spTgt spid="22"/>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fill="hold"/>
                                        <p:tgtEl>
                                          <p:spTgt spid="24"/>
                                        </p:tgtEl>
                                        <p:attrNameLst>
                                          <p:attrName>ppt_x</p:attrName>
                                        </p:attrNameLst>
                                      </p:cBhvr>
                                      <p:tavLst>
                                        <p:tav tm="0">
                                          <p:val>
                                            <p:strVal val="#ppt_x"/>
                                          </p:val>
                                        </p:tav>
                                        <p:tav tm="100000">
                                          <p:val>
                                            <p:strVal val="#ppt_x"/>
                                          </p:val>
                                        </p:tav>
                                      </p:tavLst>
                                    </p:anim>
                                    <p:anim calcmode="lin" valueType="num">
                                      <p:cBhvr additive="base">
                                        <p:cTn id="86" dur="500" fill="hold"/>
                                        <p:tgtEl>
                                          <p:spTgt spid="24"/>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fill="hold"/>
                                        <p:tgtEl>
                                          <p:spTgt spid="25"/>
                                        </p:tgtEl>
                                        <p:attrNameLst>
                                          <p:attrName>ppt_x</p:attrName>
                                        </p:attrNameLst>
                                      </p:cBhvr>
                                      <p:tavLst>
                                        <p:tav tm="0">
                                          <p:val>
                                            <p:strVal val="#ppt_x"/>
                                          </p:val>
                                        </p:tav>
                                        <p:tav tm="100000">
                                          <p:val>
                                            <p:strVal val="#ppt_x"/>
                                          </p:val>
                                        </p:tav>
                                      </p:tavLst>
                                    </p:anim>
                                    <p:anim calcmode="lin" valueType="num">
                                      <p:cBhvr additive="base">
                                        <p:cTn id="90" dur="500" fill="hold"/>
                                        <p:tgtEl>
                                          <p:spTgt spid="25"/>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p:bldP spid="10" grpId="0"/>
      <p:bldP spid="16" grpId="0" animBg="1"/>
      <p:bldP spid="18" grpId="0"/>
      <p:bldP spid="19" grpId="0"/>
      <p:bldP spid="20" grpId="0"/>
      <p:bldP spid="21" grpId="0"/>
      <p:bldP spid="22" grpId="0"/>
      <p:bldP spid="24" grpId="0"/>
      <p:bldP spid="25" grpId="0"/>
      <p:bldP spid="26" grpId="0"/>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A081-B4F4-8DF1-9F18-43E3CFFC42B6}"/>
              </a:ext>
            </a:extLst>
          </p:cNvPr>
          <p:cNvSpPr>
            <a:spLocks noGrp="1"/>
          </p:cNvSpPr>
          <p:nvPr>
            <p:ph type="title"/>
          </p:nvPr>
        </p:nvSpPr>
        <p:spPr>
          <a:xfrm>
            <a:off x="467544" y="365760"/>
            <a:ext cx="7748340" cy="1037488"/>
          </a:xfrm>
        </p:spPr>
        <p:txBody>
          <a:bodyPr/>
          <a:lstStyle/>
          <a:p>
            <a:r>
              <a:rPr lang="en-MY" dirty="0"/>
              <a:t>2’s complement (Alt)</a:t>
            </a:r>
          </a:p>
        </p:txBody>
      </p:sp>
      <p:sp>
        <p:nvSpPr>
          <p:cNvPr id="4" name="Text Box 4">
            <a:extLst>
              <a:ext uri="{FF2B5EF4-FFF2-40B4-BE49-F238E27FC236}">
                <a16:creationId xmlns:a16="http://schemas.microsoft.com/office/drawing/2014/main" id="{11DB70DD-1B5D-A256-9342-A301444378C3}"/>
              </a:ext>
            </a:extLst>
          </p:cNvPr>
          <p:cNvSpPr txBox="1">
            <a:spLocks noChangeArrowheads="1"/>
          </p:cNvSpPr>
          <p:nvPr/>
        </p:nvSpPr>
        <p:spPr bwMode="auto">
          <a:xfrm>
            <a:off x="6161541" y="84966"/>
            <a:ext cx="2089150" cy="2657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2400" dirty="0">
                <a:latin typeface="Times New Roman" panose="02020603050405020304" pitchFamily="18" charset="0"/>
              </a:rPr>
              <a:t>+3 = 00000011</a:t>
            </a:r>
          </a:p>
          <a:p>
            <a:pPr>
              <a:spcBef>
                <a:spcPct val="0"/>
              </a:spcBef>
              <a:buClrTx/>
              <a:buFontTx/>
              <a:buNone/>
            </a:pPr>
            <a:r>
              <a:rPr lang="en-US" altLang="en-US" sz="2400" dirty="0">
                <a:latin typeface="Times New Roman" panose="02020603050405020304" pitchFamily="18" charset="0"/>
              </a:rPr>
              <a:t>+2 = 00000010</a:t>
            </a:r>
          </a:p>
          <a:p>
            <a:pPr>
              <a:spcBef>
                <a:spcPct val="0"/>
              </a:spcBef>
              <a:buClrTx/>
              <a:buFontTx/>
              <a:buNone/>
            </a:pPr>
            <a:r>
              <a:rPr lang="en-US" altLang="en-US" sz="2400" dirty="0">
                <a:latin typeface="Times New Roman" panose="02020603050405020304" pitchFamily="18" charset="0"/>
              </a:rPr>
              <a:t>+1 = 00000001</a:t>
            </a:r>
          </a:p>
          <a:p>
            <a:pPr>
              <a:spcBef>
                <a:spcPct val="0"/>
              </a:spcBef>
              <a:buClrTx/>
              <a:buFontTx/>
              <a:buNone/>
            </a:pPr>
            <a:r>
              <a:rPr lang="en-US" altLang="en-US" sz="2400" dirty="0">
                <a:latin typeface="Times New Roman" panose="02020603050405020304" pitchFamily="18" charset="0"/>
              </a:rPr>
              <a:t>+0 = 00000000</a:t>
            </a:r>
          </a:p>
          <a:p>
            <a:pPr>
              <a:spcBef>
                <a:spcPct val="0"/>
              </a:spcBef>
              <a:buClrTx/>
              <a:buFontTx/>
              <a:buNone/>
            </a:pPr>
            <a:r>
              <a:rPr lang="en-US" altLang="en-US" sz="2400" dirty="0">
                <a:latin typeface="Times New Roman" panose="02020603050405020304" pitchFamily="18" charset="0"/>
              </a:rPr>
              <a:t> -1 = 11111111</a:t>
            </a:r>
          </a:p>
          <a:p>
            <a:pPr>
              <a:spcBef>
                <a:spcPct val="0"/>
              </a:spcBef>
              <a:buClrTx/>
              <a:buFontTx/>
              <a:buNone/>
            </a:pPr>
            <a:r>
              <a:rPr lang="en-US" altLang="en-US" sz="2400" dirty="0">
                <a:latin typeface="Times New Roman" panose="02020603050405020304" pitchFamily="18" charset="0"/>
              </a:rPr>
              <a:t> -2 = 11111110</a:t>
            </a:r>
          </a:p>
          <a:p>
            <a:pPr>
              <a:spcBef>
                <a:spcPct val="0"/>
              </a:spcBef>
              <a:buClrTx/>
              <a:buFontTx/>
              <a:buNone/>
            </a:pPr>
            <a:r>
              <a:rPr lang="en-US" altLang="en-US" sz="2400" dirty="0">
                <a:latin typeface="Times New Roman" panose="02020603050405020304" pitchFamily="18" charset="0"/>
              </a:rPr>
              <a:t> -3 = 11111101</a:t>
            </a:r>
            <a:endParaRPr kumimoji="0" lang="en-US" altLang="en-US" sz="2400" dirty="0">
              <a:latin typeface="Times New Roman" panose="02020603050405020304" pitchFamily="18" charset="0"/>
            </a:endParaRPr>
          </a:p>
        </p:txBody>
      </p:sp>
      <p:sp>
        <p:nvSpPr>
          <p:cNvPr id="6" name="Rectangle 5">
            <a:extLst>
              <a:ext uri="{FF2B5EF4-FFF2-40B4-BE49-F238E27FC236}">
                <a16:creationId xmlns:a16="http://schemas.microsoft.com/office/drawing/2014/main" id="{A707140F-1B04-C87F-B404-EC756DF0C048}"/>
              </a:ext>
            </a:extLst>
          </p:cNvPr>
          <p:cNvSpPr/>
          <p:nvPr/>
        </p:nvSpPr>
        <p:spPr>
          <a:xfrm>
            <a:off x="611560" y="1640175"/>
            <a:ext cx="5112568"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2000" dirty="0"/>
              <a:t>Most significant bit (MSB) is </a:t>
            </a:r>
            <a:r>
              <a:rPr lang="en-US" altLang="en-US" sz="4000" b="1" dirty="0">
                <a:solidFill>
                  <a:srgbClr val="92D050"/>
                </a:solidFill>
              </a:rPr>
              <a:t>sign bit</a:t>
            </a:r>
            <a:endParaRPr lang="en-US" altLang="en-US" sz="2000" b="1" dirty="0">
              <a:solidFill>
                <a:srgbClr val="92D050"/>
              </a:solidFill>
            </a:endParaRPr>
          </a:p>
        </p:txBody>
      </p:sp>
      <p:sp>
        <p:nvSpPr>
          <p:cNvPr id="7" name="Rectangle 6">
            <a:extLst>
              <a:ext uri="{FF2B5EF4-FFF2-40B4-BE49-F238E27FC236}">
                <a16:creationId xmlns:a16="http://schemas.microsoft.com/office/drawing/2014/main" id="{8B1798B3-3E07-2B85-9A74-4BBA2E5F12D3}"/>
              </a:ext>
            </a:extLst>
          </p:cNvPr>
          <p:cNvSpPr/>
          <p:nvPr/>
        </p:nvSpPr>
        <p:spPr>
          <a:xfrm>
            <a:off x="926401" y="3341233"/>
            <a:ext cx="525658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en-US" sz="4000" b="1" dirty="0">
                <a:solidFill>
                  <a:srgbClr val="FF0000"/>
                </a:solidFill>
              </a:rPr>
              <a:t>One</a:t>
            </a:r>
            <a:r>
              <a:rPr lang="en-US" altLang="en-US" sz="2000" dirty="0"/>
              <a:t> representation of </a:t>
            </a:r>
            <a:r>
              <a:rPr lang="en-US" altLang="en-US" sz="4000" b="1" dirty="0">
                <a:solidFill>
                  <a:srgbClr val="FF0000"/>
                </a:solidFill>
              </a:rPr>
              <a:t>zero</a:t>
            </a:r>
            <a:endParaRPr lang="en-US" altLang="en-US" sz="2000" b="1" dirty="0">
              <a:solidFill>
                <a:srgbClr val="FF0000"/>
              </a:solidFill>
            </a:endParaRPr>
          </a:p>
        </p:txBody>
      </p:sp>
      <p:sp>
        <p:nvSpPr>
          <p:cNvPr id="8" name="Content Placeholder 2">
            <a:extLst>
              <a:ext uri="{FF2B5EF4-FFF2-40B4-BE49-F238E27FC236}">
                <a16:creationId xmlns:a16="http://schemas.microsoft.com/office/drawing/2014/main" id="{943AAABB-3163-DEA7-040A-B991B27A9E54}"/>
              </a:ext>
            </a:extLst>
          </p:cNvPr>
          <p:cNvSpPr txBox="1">
            <a:spLocks/>
          </p:cNvSpPr>
          <p:nvPr/>
        </p:nvSpPr>
        <p:spPr>
          <a:xfrm>
            <a:off x="6153543" y="4570334"/>
            <a:ext cx="1867407" cy="303560"/>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fontAlgn="auto">
              <a:buFont typeface="Arial" pitchFamily="34" charset="0"/>
              <a:buNone/>
            </a:pPr>
            <a:r>
              <a:rPr kumimoji="0" lang="en-US" altLang="en-US" sz="1600" dirty="0"/>
              <a:t>= 1’s complement</a:t>
            </a:r>
          </a:p>
        </p:txBody>
      </p:sp>
      <p:sp>
        <p:nvSpPr>
          <p:cNvPr id="9" name="Oval 8">
            <a:extLst>
              <a:ext uri="{FF2B5EF4-FFF2-40B4-BE49-F238E27FC236}">
                <a16:creationId xmlns:a16="http://schemas.microsoft.com/office/drawing/2014/main" id="{46C7D0D9-4B1D-3D9E-12DA-5BB842F6F872}"/>
              </a:ext>
            </a:extLst>
          </p:cNvPr>
          <p:cNvSpPr/>
          <p:nvPr/>
        </p:nvSpPr>
        <p:spPr>
          <a:xfrm>
            <a:off x="233811" y="162880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1</a:t>
            </a:r>
          </a:p>
        </p:txBody>
      </p:sp>
      <p:sp>
        <p:nvSpPr>
          <p:cNvPr id="10" name="Oval 9">
            <a:extLst>
              <a:ext uri="{FF2B5EF4-FFF2-40B4-BE49-F238E27FC236}">
                <a16:creationId xmlns:a16="http://schemas.microsoft.com/office/drawing/2014/main" id="{CC21C131-A9DB-E516-EB1C-B3036561D71E}"/>
              </a:ext>
            </a:extLst>
          </p:cNvPr>
          <p:cNvSpPr/>
          <p:nvPr/>
        </p:nvSpPr>
        <p:spPr>
          <a:xfrm>
            <a:off x="580106" y="3312992"/>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2</a:t>
            </a:r>
          </a:p>
        </p:txBody>
      </p:sp>
      <p:sp>
        <p:nvSpPr>
          <p:cNvPr id="13" name="Rectangle 12">
            <a:extLst>
              <a:ext uri="{FF2B5EF4-FFF2-40B4-BE49-F238E27FC236}">
                <a16:creationId xmlns:a16="http://schemas.microsoft.com/office/drawing/2014/main" id="{23C49830-9C85-DFC5-144F-ABA2C9F57561}"/>
              </a:ext>
            </a:extLst>
          </p:cNvPr>
          <p:cNvSpPr/>
          <p:nvPr/>
        </p:nvSpPr>
        <p:spPr>
          <a:xfrm>
            <a:off x="1943708" y="5056105"/>
            <a:ext cx="525658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en-US" sz="4000" b="1" dirty="0">
                <a:solidFill>
                  <a:srgbClr val="FFFF00"/>
                </a:solidFill>
              </a:rPr>
              <a:t>Add 1 to LSB</a:t>
            </a:r>
            <a:endParaRPr lang="en-US" altLang="en-US" sz="2000" b="1" dirty="0">
              <a:solidFill>
                <a:srgbClr val="FFFF00"/>
              </a:solidFill>
            </a:endParaRPr>
          </a:p>
        </p:txBody>
      </p:sp>
      <p:sp>
        <p:nvSpPr>
          <p:cNvPr id="14" name="Oval 13">
            <a:extLst>
              <a:ext uri="{FF2B5EF4-FFF2-40B4-BE49-F238E27FC236}">
                <a16:creationId xmlns:a16="http://schemas.microsoft.com/office/drawing/2014/main" id="{574D41BE-3347-F253-498B-AD2BB9A9A564}"/>
              </a:ext>
            </a:extLst>
          </p:cNvPr>
          <p:cNvSpPr/>
          <p:nvPr/>
        </p:nvSpPr>
        <p:spPr>
          <a:xfrm>
            <a:off x="1453397" y="502676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3</a:t>
            </a:r>
          </a:p>
        </p:txBody>
      </p:sp>
      <p:sp>
        <p:nvSpPr>
          <p:cNvPr id="3" name="TextBox 2">
            <a:extLst>
              <a:ext uri="{FF2B5EF4-FFF2-40B4-BE49-F238E27FC236}">
                <a16:creationId xmlns:a16="http://schemas.microsoft.com/office/drawing/2014/main" id="{2D8E1A7C-A432-AF58-9F0D-75DF4BD33D12}"/>
              </a:ext>
            </a:extLst>
          </p:cNvPr>
          <p:cNvSpPr txBox="1"/>
          <p:nvPr/>
        </p:nvSpPr>
        <p:spPr>
          <a:xfrm>
            <a:off x="4755593" y="2742481"/>
            <a:ext cx="811441" cy="400110"/>
          </a:xfrm>
          <a:prstGeom prst="rect">
            <a:avLst/>
          </a:prstGeom>
          <a:noFill/>
        </p:spPr>
        <p:txBody>
          <a:bodyPr wrap="none" rtlCol="0">
            <a:spAutoFit/>
          </a:bodyPr>
          <a:lstStyle/>
          <a:p>
            <a:r>
              <a:rPr lang="en-MY" dirty="0">
                <a:solidFill>
                  <a:schemeClr val="bg1"/>
                </a:solidFill>
              </a:rPr>
              <a:t>(Left)</a:t>
            </a:r>
          </a:p>
        </p:txBody>
      </p:sp>
      <p:sp>
        <p:nvSpPr>
          <p:cNvPr id="5" name="TextBox 4">
            <a:extLst>
              <a:ext uri="{FF2B5EF4-FFF2-40B4-BE49-F238E27FC236}">
                <a16:creationId xmlns:a16="http://schemas.microsoft.com/office/drawing/2014/main" id="{9CC9732A-80EB-5CB6-D2E1-A15FCAE5A988}"/>
              </a:ext>
            </a:extLst>
          </p:cNvPr>
          <p:cNvSpPr txBox="1"/>
          <p:nvPr/>
        </p:nvSpPr>
        <p:spPr>
          <a:xfrm>
            <a:off x="6231757" y="6192449"/>
            <a:ext cx="968535" cy="400110"/>
          </a:xfrm>
          <a:prstGeom prst="rect">
            <a:avLst/>
          </a:prstGeom>
          <a:noFill/>
        </p:spPr>
        <p:txBody>
          <a:bodyPr wrap="none" rtlCol="0">
            <a:spAutoFit/>
          </a:bodyPr>
          <a:lstStyle/>
          <a:p>
            <a:r>
              <a:rPr lang="en-MY" dirty="0">
                <a:solidFill>
                  <a:schemeClr val="bg1"/>
                </a:solidFill>
              </a:rPr>
              <a:t>(Right)</a:t>
            </a:r>
          </a:p>
        </p:txBody>
      </p:sp>
      <p:sp>
        <p:nvSpPr>
          <p:cNvPr id="11" name="Slide Number Placeholder 10">
            <a:extLst>
              <a:ext uri="{FF2B5EF4-FFF2-40B4-BE49-F238E27FC236}">
                <a16:creationId xmlns:a16="http://schemas.microsoft.com/office/drawing/2014/main" id="{DD56EA39-F102-990C-E486-7C6614840DB5}"/>
              </a:ext>
            </a:extLst>
          </p:cNvPr>
          <p:cNvSpPr>
            <a:spLocks noGrp="1"/>
          </p:cNvSpPr>
          <p:nvPr>
            <p:ph type="sldNum" sz="quarter" idx="12"/>
          </p:nvPr>
        </p:nvSpPr>
        <p:spPr/>
        <p:txBody>
          <a:bodyPr/>
          <a:lstStyle/>
          <a:p>
            <a:pPr>
              <a:defRPr/>
            </a:pPr>
            <a:fld id="{B15F286D-88BF-4C85-84EF-53248539BE74}" type="slidenum">
              <a:rPr lang="en-US" altLang="en-US" smtClean="0"/>
              <a:pPr>
                <a:defRPr/>
              </a:pPr>
              <a:t>31</a:t>
            </a:fld>
            <a:endParaRPr lang="en-US" altLang="en-US"/>
          </a:p>
        </p:txBody>
      </p:sp>
    </p:spTree>
    <p:extLst>
      <p:ext uri="{BB962C8B-B14F-4D97-AF65-F5344CB8AC3E}">
        <p14:creationId xmlns:p14="http://schemas.microsoft.com/office/powerpoint/2010/main" val="3437017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A081-B4F4-8DF1-9F18-43E3CFFC42B6}"/>
              </a:ext>
            </a:extLst>
          </p:cNvPr>
          <p:cNvSpPr>
            <a:spLocks noGrp="1"/>
          </p:cNvSpPr>
          <p:nvPr>
            <p:ph type="title"/>
          </p:nvPr>
        </p:nvSpPr>
        <p:spPr>
          <a:xfrm>
            <a:off x="467544" y="365760"/>
            <a:ext cx="7748340" cy="1325562"/>
          </a:xfrm>
        </p:spPr>
        <p:txBody>
          <a:bodyPr/>
          <a:lstStyle/>
          <a:p>
            <a:r>
              <a:rPr lang="en-MY" dirty="0"/>
              <a:t>2’s complement</a:t>
            </a:r>
          </a:p>
        </p:txBody>
      </p:sp>
      <p:sp>
        <p:nvSpPr>
          <p:cNvPr id="7" name="Text Box 4">
            <a:extLst>
              <a:ext uri="{FF2B5EF4-FFF2-40B4-BE49-F238E27FC236}">
                <a16:creationId xmlns:a16="http://schemas.microsoft.com/office/drawing/2014/main" id="{F10F34D1-7931-FCDA-BEDA-73C9DB8470FB}"/>
              </a:ext>
            </a:extLst>
          </p:cNvPr>
          <p:cNvSpPr txBox="1">
            <a:spLocks noChangeArrowheads="1"/>
          </p:cNvSpPr>
          <p:nvPr/>
        </p:nvSpPr>
        <p:spPr bwMode="auto">
          <a:xfrm>
            <a:off x="6144359" y="1833450"/>
            <a:ext cx="2089150" cy="2657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2400" dirty="0">
                <a:latin typeface="Times New Roman" panose="02020603050405020304" pitchFamily="18" charset="0"/>
              </a:rPr>
              <a:t>+3 = 00000011</a:t>
            </a:r>
          </a:p>
          <a:p>
            <a:pPr>
              <a:spcBef>
                <a:spcPct val="0"/>
              </a:spcBef>
              <a:buClrTx/>
              <a:buFontTx/>
              <a:buNone/>
            </a:pPr>
            <a:r>
              <a:rPr lang="en-US" altLang="en-US" sz="2400" dirty="0">
                <a:latin typeface="Times New Roman" panose="02020603050405020304" pitchFamily="18" charset="0"/>
              </a:rPr>
              <a:t>+2 = 00000010</a:t>
            </a:r>
          </a:p>
          <a:p>
            <a:pPr>
              <a:spcBef>
                <a:spcPct val="0"/>
              </a:spcBef>
              <a:buClrTx/>
              <a:buFontTx/>
              <a:buNone/>
            </a:pPr>
            <a:r>
              <a:rPr lang="en-US" altLang="en-US" sz="2400" dirty="0">
                <a:latin typeface="Times New Roman" panose="02020603050405020304" pitchFamily="18" charset="0"/>
              </a:rPr>
              <a:t>+1 = 00000001</a:t>
            </a:r>
          </a:p>
          <a:p>
            <a:pPr>
              <a:spcBef>
                <a:spcPct val="0"/>
              </a:spcBef>
              <a:buClrTx/>
              <a:buFontTx/>
              <a:buNone/>
            </a:pPr>
            <a:r>
              <a:rPr lang="en-US" altLang="en-US" sz="2400" dirty="0">
                <a:latin typeface="Times New Roman" panose="02020603050405020304" pitchFamily="18" charset="0"/>
              </a:rPr>
              <a:t>+0 = 00000000</a:t>
            </a:r>
          </a:p>
          <a:p>
            <a:pPr>
              <a:spcBef>
                <a:spcPct val="0"/>
              </a:spcBef>
              <a:buClrTx/>
              <a:buFontTx/>
              <a:buNone/>
            </a:pPr>
            <a:r>
              <a:rPr lang="en-US" altLang="en-US" sz="2400" dirty="0">
                <a:latin typeface="Times New Roman" panose="02020603050405020304" pitchFamily="18" charset="0"/>
              </a:rPr>
              <a:t> -1 = 11111111</a:t>
            </a:r>
          </a:p>
          <a:p>
            <a:pPr>
              <a:spcBef>
                <a:spcPct val="0"/>
              </a:spcBef>
              <a:buClrTx/>
              <a:buFontTx/>
              <a:buNone/>
            </a:pPr>
            <a:r>
              <a:rPr lang="en-US" altLang="en-US" sz="2400" dirty="0">
                <a:latin typeface="Times New Roman" panose="02020603050405020304" pitchFamily="18" charset="0"/>
              </a:rPr>
              <a:t> -2 = 11111110</a:t>
            </a:r>
          </a:p>
          <a:p>
            <a:pPr>
              <a:spcBef>
                <a:spcPct val="0"/>
              </a:spcBef>
              <a:buClrTx/>
              <a:buFontTx/>
              <a:buNone/>
            </a:pPr>
            <a:r>
              <a:rPr lang="en-US" altLang="en-US" sz="2400" dirty="0">
                <a:latin typeface="Times New Roman" panose="02020603050405020304" pitchFamily="18" charset="0"/>
              </a:rPr>
              <a:t> -3 = 11111101</a:t>
            </a:r>
            <a:endParaRPr kumimoji="0" lang="en-US" altLang="en-US" sz="2400" dirty="0">
              <a:latin typeface="Times New Roman" panose="02020603050405020304" pitchFamily="18" charset="0"/>
            </a:endParaRPr>
          </a:p>
        </p:txBody>
      </p:sp>
      <p:sp>
        <p:nvSpPr>
          <p:cNvPr id="10" name="Rectangle 9">
            <a:extLst>
              <a:ext uri="{FF2B5EF4-FFF2-40B4-BE49-F238E27FC236}">
                <a16:creationId xmlns:a16="http://schemas.microsoft.com/office/drawing/2014/main" id="{24073A94-B2DD-78EA-3D10-AB99B94D8331}"/>
              </a:ext>
            </a:extLst>
          </p:cNvPr>
          <p:cNvSpPr/>
          <p:nvPr/>
        </p:nvSpPr>
        <p:spPr>
          <a:xfrm>
            <a:off x="611560" y="1844824"/>
            <a:ext cx="3600400" cy="132556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3200" dirty="0">
                <a:solidFill>
                  <a:schemeClr val="tx1"/>
                </a:solidFill>
              </a:rPr>
              <a:t>+3 = 00000011</a:t>
            </a:r>
            <a:endParaRPr lang="en-US" altLang="en-US" sz="3200" b="1" dirty="0">
              <a:solidFill>
                <a:schemeClr val="tx1"/>
              </a:solidFill>
            </a:endParaRPr>
          </a:p>
        </p:txBody>
      </p:sp>
      <p:sp>
        <p:nvSpPr>
          <p:cNvPr id="12" name="Oval 11">
            <a:extLst>
              <a:ext uri="{FF2B5EF4-FFF2-40B4-BE49-F238E27FC236}">
                <a16:creationId xmlns:a16="http://schemas.microsoft.com/office/drawing/2014/main" id="{13378C39-8335-6A19-BF5E-81A1BB8A0AE8}"/>
              </a:ext>
            </a:extLst>
          </p:cNvPr>
          <p:cNvSpPr/>
          <p:nvPr/>
        </p:nvSpPr>
        <p:spPr>
          <a:xfrm>
            <a:off x="233811" y="183345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1</a:t>
            </a:r>
          </a:p>
        </p:txBody>
      </p:sp>
      <p:sp>
        <p:nvSpPr>
          <p:cNvPr id="14" name="Rectangle 13">
            <a:extLst>
              <a:ext uri="{FF2B5EF4-FFF2-40B4-BE49-F238E27FC236}">
                <a16:creationId xmlns:a16="http://schemas.microsoft.com/office/drawing/2014/main" id="{8D7A0A4C-A29B-1CAB-6261-72E13DBD5790}"/>
              </a:ext>
            </a:extLst>
          </p:cNvPr>
          <p:cNvSpPr/>
          <p:nvPr/>
        </p:nvSpPr>
        <p:spPr>
          <a:xfrm>
            <a:off x="1578847" y="3323889"/>
            <a:ext cx="3600400" cy="132556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3200" dirty="0">
                <a:solidFill>
                  <a:schemeClr val="tx1"/>
                </a:solidFill>
              </a:rPr>
              <a:t>1’s complement </a:t>
            </a:r>
          </a:p>
          <a:p>
            <a:pPr marL="0" indent="0" algn="ctr">
              <a:buNone/>
            </a:pPr>
            <a:r>
              <a:rPr lang="en-US" altLang="en-US" sz="3200" dirty="0">
                <a:solidFill>
                  <a:schemeClr val="tx1"/>
                </a:solidFill>
              </a:rPr>
              <a:t>11111100</a:t>
            </a:r>
            <a:endParaRPr lang="en-US" altLang="en-US" sz="2800" dirty="0">
              <a:solidFill>
                <a:schemeClr val="tx1"/>
              </a:solidFill>
            </a:endParaRPr>
          </a:p>
        </p:txBody>
      </p:sp>
      <p:sp>
        <p:nvSpPr>
          <p:cNvPr id="15" name="Oval 14">
            <a:extLst>
              <a:ext uri="{FF2B5EF4-FFF2-40B4-BE49-F238E27FC236}">
                <a16:creationId xmlns:a16="http://schemas.microsoft.com/office/drawing/2014/main" id="{9871D9AF-40E3-2DC2-527E-D9150ACCC089}"/>
              </a:ext>
            </a:extLst>
          </p:cNvPr>
          <p:cNvSpPr/>
          <p:nvPr/>
        </p:nvSpPr>
        <p:spPr>
          <a:xfrm>
            <a:off x="1201098" y="3312515"/>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2</a:t>
            </a:r>
          </a:p>
        </p:txBody>
      </p:sp>
      <p:sp>
        <p:nvSpPr>
          <p:cNvPr id="16" name="Rectangle 15">
            <a:extLst>
              <a:ext uri="{FF2B5EF4-FFF2-40B4-BE49-F238E27FC236}">
                <a16:creationId xmlns:a16="http://schemas.microsoft.com/office/drawing/2014/main" id="{95FF0100-A61C-7E76-1ABA-06BB2F123145}"/>
              </a:ext>
            </a:extLst>
          </p:cNvPr>
          <p:cNvSpPr/>
          <p:nvPr/>
        </p:nvSpPr>
        <p:spPr>
          <a:xfrm>
            <a:off x="2195736" y="4802954"/>
            <a:ext cx="3600400" cy="132556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3200" dirty="0">
                <a:solidFill>
                  <a:schemeClr val="tx1"/>
                </a:solidFill>
              </a:rPr>
              <a:t>Add 1 to LSB </a:t>
            </a:r>
          </a:p>
          <a:p>
            <a:pPr marL="0" indent="0" algn="ctr">
              <a:buNone/>
            </a:pPr>
            <a:r>
              <a:rPr lang="en-US" altLang="en-US" sz="3200" dirty="0">
                <a:solidFill>
                  <a:schemeClr val="tx1"/>
                </a:solidFill>
              </a:rPr>
              <a:t>11111101</a:t>
            </a:r>
            <a:endParaRPr lang="en-US" altLang="en-US" sz="2800" dirty="0">
              <a:solidFill>
                <a:schemeClr val="tx1"/>
              </a:solidFill>
            </a:endParaRPr>
          </a:p>
        </p:txBody>
      </p:sp>
      <p:sp>
        <p:nvSpPr>
          <p:cNvPr id="17" name="Oval 16">
            <a:extLst>
              <a:ext uri="{FF2B5EF4-FFF2-40B4-BE49-F238E27FC236}">
                <a16:creationId xmlns:a16="http://schemas.microsoft.com/office/drawing/2014/main" id="{3A48A132-80E3-2F41-46D8-1A3E4F834F58}"/>
              </a:ext>
            </a:extLst>
          </p:cNvPr>
          <p:cNvSpPr/>
          <p:nvPr/>
        </p:nvSpPr>
        <p:spPr>
          <a:xfrm>
            <a:off x="1817987" y="479158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3</a:t>
            </a:r>
          </a:p>
        </p:txBody>
      </p:sp>
      <p:sp>
        <p:nvSpPr>
          <p:cNvPr id="3" name="Rectangle 2">
            <a:extLst>
              <a:ext uri="{FF2B5EF4-FFF2-40B4-BE49-F238E27FC236}">
                <a16:creationId xmlns:a16="http://schemas.microsoft.com/office/drawing/2014/main" id="{FF949751-F2DC-A49E-C968-4A45B5CE311B}"/>
              </a:ext>
            </a:extLst>
          </p:cNvPr>
          <p:cNvSpPr/>
          <p:nvPr/>
        </p:nvSpPr>
        <p:spPr>
          <a:xfrm>
            <a:off x="2843808" y="5439652"/>
            <a:ext cx="2335439" cy="581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5" name="Straight Arrow Connector 4">
            <a:extLst>
              <a:ext uri="{FF2B5EF4-FFF2-40B4-BE49-F238E27FC236}">
                <a16:creationId xmlns:a16="http://schemas.microsoft.com/office/drawing/2014/main" id="{0F79F6FC-01E4-93D0-03D4-78A9E71F8F3A}"/>
              </a:ext>
            </a:extLst>
          </p:cNvPr>
          <p:cNvCxnSpPr>
            <a:cxnSpLocks/>
            <a:stCxn id="3" idx="3"/>
          </p:cNvCxnSpPr>
          <p:nvPr/>
        </p:nvCxnSpPr>
        <p:spPr>
          <a:xfrm flipV="1">
            <a:off x="5179247" y="4404907"/>
            <a:ext cx="1841025" cy="13255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804864F-B1E5-D9FE-E0EA-1616502093E0}"/>
              </a:ext>
            </a:extLst>
          </p:cNvPr>
          <p:cNvSpPr>
            <a:spLocks noGrp="1"/>
          </p:cNvSpPr>
          <p:nvPr>
            <p:ph type="sldNum" sz="quarter" idx="12"/>
          </p:nvPr>
        </p:nvSpPr>
        <p:spPr/>
        <p:txBody>
          <a:bodyPr/>
          <a:lstStyle/>
          <a:p>
            <a:pPr>
              <a:defRPr/>
            </a:pPr>
            <a:fld id="{B15F286D-88BF-4C85-84EF-53248539BE74}" type="slidenum">
              <a:rPr lang="en-US" altLang="en-US" smtClean="0"/>
              <a:pPr>
                <a:defRPr/>
              </a:pPr>
              <a:t>32</a:t>
            </a:fld>
            <a:endParaRPr lang="en-US" altLang="en-US"/>
          </a:p>
        </p:txBody>
      </p:sp>
    </p:spTree>
    <p:extLst>
      <p:ext uri="{BB962C8B-B14F-4D97-AF65-F5344CB8AC3E}">
        <p14:creationId xmlns:p14="http://schemas.microsoft.com/office/powerpoint/2010/main" val="2575815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A081-B4F4-8DF1-9F18-43E3CFFC42B6}"/>
              </a:ext>
            </a:extLst>
          </p:cNvPr>
          <p:cNvSpPr>
            <a:spLocks noGrp="1"/>
          </p:cNvSpPr>
          <p:nvPr>
            <p:ph type="title"/>
          </p:nvPr>
        </p:nvSpPr>
        <p:spPr>
          <a:xfrm>
            <a:off x="467544" y="365760"/>
            <a:ext cx="7748340" cy="1037488"/>
          </a:xfrm>
        </p:spPr>
        <p:txBody>
          <a:bodyPr/>
          <a:lstStyle/>
          <a:p>
            <a:r>
              <a:rPr lang="en-MY" dirty="0"/>
              <a:t>2’s complement (Alt)</a:t>
            </a:r>
          </a:p>
        </p:txBody>
      </p:sp>
      <p:sp>
        <p:nvSpPr>
          <p:cNvPr id="4" name="Text Box 4">
            <a:extLst>
              <a:ext uri="{FF2B5EF4-FFF2-40B4-BE49-F238E27FC236}">
                <a16:creationId xmlns:a16="http://schemas.microsoft.com/office/drawing/2014/main" id="{11DB70DD-1B5D-A256-9342-A301444378C3}"/>
              </a:ext>
            </a:extLst>
          </p:cNvPr>
          <p:cNvSpPr txBox="1">
            <a:spLocks noChangeArrowheads="1"/>
          </p:cNvSpPr>
          <p:nvPr/>
        </p:nvSpPr>
        <p:spPr bwMode="auto">
          <a:xfrm>
            <a:off x="6161541" y="84966"/>
            <a:ext cx="2089150" cy="2657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2400" dirty="0">
                <a:latin typeface="Times New Roman" panose="02020603050405020304" pitchFamily="18" charset="0"/>
              </a:rPr>
              <a:t>+3 = 00000011</a:t>
            </a:r>
          </a:p>
          <a:p>
            <a:pPr>
              <a:spcBef>
                <a:spcPct val="0"/>
              </a:spcBef>
              <a:buClrTx/>
              <a:buFontTx/>
              <a:buNone/>
            </a:pPr>
            <a:r>
              <a:rPr lang="en-US" altLang="en-US" sz="2400" dirty="0">
                <a:latin typeface="Times New Roman" panose="02020603050405020304" pitchFamily="18" charset="0"/>
              </a:rPr>
              <a:t>+2 = 00000010</a:t>
            </a:r>
          </a:p>
          <a:p>
            <a:pPr>
              <a:spcBef>
                <a:spcPct val="0"/>
              </a:spcBef>
              <a:buClrTx/>
              <a:buFontTx/>
              <a:buNone/>
            </a:pPr>
            <a:r>
              <a:rPr lang="en-US" altLang="en-US" sz="2400" dirty="0">
                <a:latin typeface="Times New Roman" panose="02020603050405020304" pitchFamily="18" charset="0"/>
              </a:rPr>
              <a:t>+1 = 00000001</a:t>
            </a:r>
          </a:p>
          <a:p>
            <a:pPr>
              <a:spcBef>
                <a:spcPct val="0"/>
              </a:spcBef>
              <a:buClrTx/>
              <a:buFontTx/>
              <a:buNone/>
            </a:pPr>
            <a:r>
              <a:rPr lang="en-US" altLang="en-US" sz="2400" dirty="0">
                <a:latin typeface="Times New Roman" panose="02020603050405020304" pitchFamily="18" charset="0"/>
              </a:rPr>
              <a:t>+0 = 00000000</a:t>
            </a:r>
          </a:p>
          <a:p>
            <a:pPr>
              <a:spcBef>
                <a:spcPct val="0"/>
              </a:spcBef>
              <a:buClrTx/>
              <a:buFontTx/>
              <a:buNone/>
            </a:pPr>
            <a:r>
              <a:rPr lang="en-US" altLang="en-US" sz="2400" dirty="0">
                <a:latin typeface="Times New Roman" panose="02020603050405020304" pitchFamily="18" charset="0"/>
              </a:rPr>
              <a:t> -1 = 11111111</a:t>
            </a:r>
          </a:p>
          <a:p>
            <a:pPr>
              <a:spcBef>
                <a:spcPct val="0"/>
              </a:spcBef>
              <a:buClrTx/>
              <a:buFontTx/>
              <a:buNone/>
            </a:pPr>
            <a:r>
              <a:rPr lang="en-US" altLang="en-US" sz="2400" dirty="0">
                <a:latin typeface="Times New Roman" panose="02020603050405020304" pitchFamily="18" charset="0"/>
              </a:rPr>
              <a:t> -2 = 11111110</a:t>
            </a:r>
          </a:p>
          <a:p>
            <a:pPr>
              <a:spcBef>
                <a:spcPct val="0"/>
              </a:spcBef>
              <a:buClrTx/>
              <a:buFontTx/>
              <a:buNone/>
            </a:pPr>
            <a:r>
              <a:rPr lang="en-US" altLang="en-US" sz="2400" dirty="0">
                <a:latin typeface="Times New Roman" panose="02020603050405020304" pitchFamily="18" charset="0"/>
              </a:rPr>
              <a:t> -3 = 11111101</a:t>
            </a:r>
            <a:endParaRPr kumimoji="0" lang="en-US" altLang="en-US" sz="2400" dirty="0">
              <a:latin typeface="Times New Roman" panose="02020603050405020304" pitchFamily="18" charset="0"/>
            </a:endParaRPr>
          </a:p>
        </p:txBody>
      </p:sp>
      <p:sp>
        <p:nvSpPr>
          <p:cNvPr id="6" name="Rectangle 5">
            <a:extLst>
              <a:ext uri="{FF2B5EF4-FFF2-40B4-BE49-F238E27FC236}">
                <a16:creationId xmlns:a16="http://schemas.microsoft.com/office/drawing/2014/main" id="{A707140F-1B04-C87F-B404-EC756DF0C048}"/>
              </a:ext>
            </a:extLst>
          </p:cNvPr>
          <p:cNvSpPr/>
          <p:nvPr/>
        </p:nvSpPr>
        <p:spPr>
          <a:xfrm>
            <a:off x="611560" y="1640175"/>
            <a:ext cx="5112568"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2000" dirty="0"/>
              <a:t>Identify the LSB and copy all zeros until the first 1</a:t>
            </a:r>
            <a:endParaRPr lang="en-US" altLang="en-US" sz="2000" b="1" dirty="0">
              <a:solidFill>
                <a:srgbClr val="92D050"/>
              </a:solidFill>
            </a:endParaRPr>
          </a:p>
        </p:txBody>
      </p:sp>
      <p:sp>
        <p:nvSpPr>
          <p:cNvPr id="7" name="Rectangle 6">
            <a:extLst>
              <a:ext uri="{FF2B5EF4-FFF2-40B4-BE49-F238E27FC236}">
                <a16:creationId xmlns:a16="http://schemas.microsoft.com/office/drawing/2014/main" id="{8B1798B3-3E07-2B85-9A74-4BBA2E5F12D3}"/>
              </a:ext>
            </a:extLst>
          </p:cNvPr>
          <p:cNvSpPr/>
          <p:nvPr/>
        </p:nvSpPr>
        <p:spPr>
          <a:xfrm>
            <a:off x="926401" y="3341233"/>
            <a:ext cx="525658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en-US" sz="2800" dirty="0">
                <a:solidFill>
                  <a:schemeClr val="bg1"/>
                </a:solidFill>
              </a:rPr>
              <a:t>Copy the first 1</a:t>
            </a:r>
            <a:endParaRPr lang="en-US" altLang="en-US" sz="1400" dirty="0">
              <a:solidFill>
                <a:schemeClr val="bg1"/>
              </a:solidFill>
            </a:endParaRPr>
          </a:p>
        </p:txBody>
      </p:sp>
      <p:sp>
        <p:nvSpPr>
          <p:cNvPr id="9" name="Oval 8">
            <a:extLst>
              <a:ext uri="{FF2B5EF4-FFF2-40B4-BE49-F238E27FC236}">
                <a16:creationId xmlns:a16="http://schemas.microsoft.com/office/drawing/2014/main" id="{46C7D0D9-4B1D-3D9E-12DA-5BB842F6F872}"/>
              </a:ext>
            </a:extLst>
          </p:cNvPr>
          <p:cNvSpPr/>
          <p:nvPr/>
        </p:nvSpPr>
        <p:spPr>
          <a:xfrm>
            <a:off x="233811" y="162880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1</a:t>
            </a:r>
          </a:p>
        </p:txBody>
      </p:sp>
      <p:sp>
        <p:nvSpPr>
          <p:cNvPr id="10" name="Oval 9">
            <a:extLst>
              <a:ext uri="{FF2B5EF4-FFF2-40B4-BE49-F238E27FC236}">
                <a16:creationId xmlns:a16="http://schemas.microsoft.com/office/drawing/2014/main" id="{CC21C131-A9DB-E516-EB1C-B3036561D71E}"/>
              </a:ext>
            </a:extLst>
          </p:cNvPr>
          <p:cNvSpPr/>
          <p:nvPr/>
        </p:nvSpPr>
        <p:spPr>
          <a:xfrm>
            <a:off x="580106" y="3312992"/>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2</a:t>
            </a:r>
          </a:p>
        </p:txBody>
      </p:sp>
      <p:sp>
        <p:nvSpPr>
          <p:cNvPr id="13" name="Rectangle 12">
            <a:extLst>
              <a:ext uri="{FF2B5EF4-FFF2-40B4-BE49-F238E27FC236}">
                <a16:creationId xmlns:a16="http://schemas.microsoft.com/office/drawing/2014/main" id="{23C49830-9C85-DFC5-144F-ABA2C9F57561}"/>
              </a:ext>
            </a:extLst>
          </p:cNvPr>
          <p:cNvSpPr/>
          <p:nvPr/>
        </p:nvSpPr>
        <p:spPr>
          <a:xfrm>
            <a:off x="1943708" y="5056105"/>
            <a:ext cx="5256584" cy="1584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en-US" sz="3200" b="1" dirty="0">
                <a:solidFill>
                  <a:srgbClr val="FFFF00"/>
                </a:solidFill>
              </a:rPr>
              <a:t>Complement all the remaining bits (after 1)</a:t>
            </a:r>
            <a:endParaRPr lang="en-US" altLang="en-US" sz="1600" b="1" dirty="0">
              <a:solidFill>
                <a:srgbClr val="FFFF00"/>
              </a:solidFill>
            </a:endParaRPr>
          </a:p>
        </p:txBody>
      </p:sp>
      <p:sp>
        <p:nvSpPr>
          <p:cNvPr id="14" name="Oval 13">
            <a:extLst>
              <a:ext uri="{FF2B5EF4-FFF2-40B4-BE49-F238E27FC236}">
                <a16:creationId xmlns:a16="http://schemas.microsoft.com/office/drawing/2014/main" id="{574D41BE-3347-F253-498B-AD2BB9A9A564}"/>
              </a:ext>
            </a:extLst>
          </p:cNvPr>
          <p:cNvSpPr/>
          <p:nvPr/>
        </p:nvSpPr>
        <p:spPr>
          <a:xfrm>
            <a:off x="1453397" y="502676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3</a:t>
            </a:r>
          </a:p>
        </p:txBody>
      </p:sp>
      <p:sp>
        <p:nvSpPr>
          <p:cNvPr id="3" name="Slide Number Placeholder 2">
            <a:extLst>
              <a:ext uri="{FF2B5EF4-FFF2-40B4-BE49-F238E27FC236}">
                <a16:creationId xmlns:a16="http://schemas.microsoft.com/office/drawing/2014/main" id="{033C43FE-856A-11BF-4208-1B71B2CD21B9}"/>
              </a:ext>
            </a:extLst>
          </p:cNvPr>
          <p:cNvSpPr>
            <a:spLocks noGrp="1"/>
          </p:cNvSpPr>
          <p:nvPr>
            <p:ph type="sldNum" sz="quarter" idx="12"/>
          </p:nvPr>
        </p:nvSpPr>
        <p:spPr/>
        <p:txBody>
          <a:bodyPr/>
          <a:lstStyle/>
          <a:p>
            <a:pPr>
              <a:defRPr/>
            </a:pPr>
            <a:fld id="{B15F286D-88BF-4C85-84EF-53248539BE74}" type="slidenum">
              <a:rPr lang="en-US" altLang="en-US" smtClean="0"/>
              <a:pPr>
                <a:defRPr/>
              </a:pPr>
              <a:t>33</a:t>
            </a:fld>
            <a:endParaRPr lang="en-US" altLang="en-US"/>
          </a:p>
        </p:txBody>
      </p:sp>
    </p:spTree>
    <p:extLst>
      <p:ext uri="{BB962C8B-B14F-4D97-AF65-F5344CB8AC3E}">
        <p14:creationId xmlns:p14="http://schemas.microsoft.com/office/powerpoint/2010/main" val="2904097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A081-B4F4-8DF1-9F18-43E3CFFC42B6}"/>
              </a:ext>
            </a:extLst>
          </p:cNvPr>
          <p:cNvSpPr>
            <a:spLocks noGrp="1"/>
          </p:cNvSpPr>
          <p:nvPr>
            <p:ph type="title"/>
          </p:nvPr>
        </p:nvSpPr>
        <p:spPr>
          <a:xfrm>
            <a:off x="467544" y="365760"/>
            <a:ext cx="7748340" cy="1325562"/>
          </a:xfrm>
        </p:spPr>
        <p:txBody>
          <a:bodyPr/>
          <a:lstStyle/>
          <a:p>
            <a:r>
              <a:rPr lang="en-MY" dirty="0"/>
              <a:t>2’s complement</a:t>
            </a:r>
          </a:p>
        </p:txBody>
      </p:sp>
      <p:sp>
        <p:nvSpPr>
          <p:cNvPr id="7" name="Text Box 4">
            <a:extLst>
              <a:ext uri="{FF2B5EF4-FFF2-40B4-BE49-F238E27FC236}">
                <a16:creationId xmlns:a16="http://schemas.microsoft.com/office/drawing/2014/main" id="{F10F34D1-7931-FCDA-BEDA-73C9DB8470FB}"/>
              </a:ext>
            </a:extLst>
          </p:cNvPr>
          <p:cNvSpPr txBox="1">
            <a:spLocks noChangeArrowheads="1"/>
          </p:cNvSpPr>
          <p:nvPr/>
        </p:nvSpPr>
        <p:spPr bwMode="auto">
          <a:xfrm>
            <a:off x="6144359" y="1833450"/>
            <a:ext cx="2089150" cy="2657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2400" dirty="0">
                <a:latin typeface="Times New Roman" panose="02020603050405020304" pitchFamily="18" charset="0"/>
              </a:rPr>
              <a:t>+3 = 00000011</a:t>
            </a:r>
          </a:p>
          <a:p>
            <a:pPr>
              <a:spcBef>
                <a:spcPct val="0"/>
              </a:spcBef>
              <a:buClrTx/>
              <a:buFontTx/>
              <a:buNone/>
            </a:pPr>
            <a:r>
              <a:rPr lang="en-US" altLang="en-US" sz="2400" dirty="0">
                <a:latin typeface="Times New Roman" panose="02020603050405020304" pitchFamily="18" charset="0"/>
              </a:rPr>
              <a:t>+2 = 00000010</a:t>
            </a:r>
          </a:p>
          <a:p>
            <a:pPr>
              <a:spcBef>
                <a:spcPct val="0"/>
              </a:spcBef>
              <a:buClrTx/>
              <a:buFontTx/>
              <a:buNone/>
            </a:pPr>
            <a:r>
              <a:rPr lang="en-US" altLang="en-US" sz="2400" dirty="0">
                <a:latin typeface="Times New Roman" panose="02020603050405020304" pitchFamily="18" charset="0"/>
              </a:rPr>
              <a:t>+1 = 00000001</a:t>
            </a:r>
          </a:p>
          <a:p>
            <a:pPr>
              <a:spcBef>
                <a:spcPct val="0"/>
              </a:spcBef>
              <a:buClrTx/>
              <a:buFontTx/>
              <a:buNone/>
            </a:pPr>
            <a:r>
              <a:rPr lang="en-US" altLang="en-US" sz="2400" dirty="0">
                <a:latin typeface="Times New Roman" panose="02020603050405020304" pitchFamily="18" charset="0"/>
              </a:rPr>
              <a:t>+0 = 00000000</a:t>
            </a:r>
          </a:p>
          <a:p>
            <a:pPr>
              <a:spcBef>
                <a:spcPct val="0"/>
              </a:spcBef>
              <a:buClrTx/>
              <a:buFontTx/>
              <a:buNone/>
            </a:pPr>
            <a:r>
              <a:rPr lang="en-US" altLang="en-US" sz="2400" dirty="0">
                <a:latin typeface="Times New Roman" panose="02020603050405020304" pitchFamily="18" charset="0"/>
              </a:rPr>
              <a:t> -1 = 11111111</a:t>
            </a:r>
          </a:p>
          <a:p>
            <a:pPr>
              <a:spcBef>
                <a:spcPct val="0"/>
              </a:spcBef>
              <a:buClrTx/>
              <a:buFontTx/>
              <a:buNone/>
            </a:pPr>
            <a:r>
              <a:rPr lang="en-US" altLang="en-US" sz="2400" dirty="0">
                <a:latin typeface="Times New Roman" panose="02020603050405020304" pitchFamily="18" charset="0"/>
              </a:rPr>
              <a:t> -2 = 11111110</a:t>
            </a:r>
          </a:p>
          <a:p>
            <a:pPr>
              <a:spcBef>
                <a:spcPct val="0"/>
              </a:spcBef>
              <a:buClrTx/>
              <a:buFontTx/>
              <a:buNone/>
            </a:pPr>
            <a:r>
              <a:rPr lang="en-US" altLang="en-US" sz="2400" dirty="0">
                <a:latin typeface="Times New Roman" panose="02020603050405020304" pitchFamily="18" charset="0"/>
              </a:rPr>
              <a:t> -3 = 11111101</a:t>
            </a:r>
            <a:endParaRPr kumimoji="0" lang="en-US" altLang="en-US" sz="2400" dirty="0">
              <a:latin typeface="Times New Roman" panose="02020603050405020304" pitchFamily="18" charset="0"/>
            </a:endParaRPr>
          </a:p>
        </p:txBody>
      </p:sp>
      <p:sp>
        <p:nvSpPr>
          <p:cNvPr id="10" name="Rectangle 9">
            <a:extLst>
              <a:ext uri="{FF2B5EF4-FFF2-40B4-BE49-F238E27FC236}">
                <a16:creationId xmlns:a16="http://schemas.microsoft.com/office/drawing/2014/main" id="{24073A94-B2DD-78EA-3D10-AB99B94D8331}"/>
              </a:ext>
            </a:extLst>
          </p:cNvPr>
          <p:cNvSpPr/>
          <p:nvPr/>
        </p:nvSpPr>
        <p:spPr>
          <a:xfrm>
            <a:off x="611560" y="1844824"/>
            <a:ext cx="3600400" cy="132556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3200" dirty="0">
                <a:solidFill>
                  <a:schemeClr val="tx1"/>
                </a:solidFill>
              </a:rPr>
              <a:t>+3 = 00000011</a:t>
            </a:r>
            <a:endParaRPr lang="en-US" altLang="en-US" sz="3200" b="1" dirty="0">
              <a:solidFill>
                <a:schemeClr val="tx1"/>
              </a:solidFill>
            </a:endParaRPr>
          </a:p>
        </p:txBody>
      </p:sp>
      <p:sp>
        <p:nvSpPr>
          <p:cNvPr id="12" name="Oval 11">
            <a:extLst>
              <a:ext uri="{FF2B5EF4-FFF2-40B4-BE49-F238E27FC236}">
                <a16:creationId xmlns:a16="http://schemas.microsoft.com/office/drawing/2014/main" id="{13378C39-8335-6A19-BF5E-81A1BB8A0AE8}"/>
              </a:ext>
            </a:extLst>
          </p:cNvPr>
          <p:cNvSpPr/>
          <p:nvPr/>
        </p:nvSpPr>
        <p:spPr>
          <a:xfrm>
            <a:off x="233811" y="1833450"/>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1</a:t>
            </a:r>
          </a:p>
        </p:txBody>
      </p:sp>
      <p:sp>
        <p:nvSpPr>
          <p:cNvPr id="14" name="Rectangle 13">
            <a:extLst>
              <a:ext uri="{FF2B5EF4-FFF2-40B4-BE49-F238E27FC236}">
                <a16:creationId xmlns:a16="http://schemas.microsoft.com/office/drawing/2014/main" id="{8D7A0A4C-A29B-1CAB-6261-72E13DBD5790}"/>
              </a:ext>
            </a:extLst>
          </p:cNvPr>
          <p:cNvSpPr/>
          <p:nvPr/>
        </p:nvSpPr>
        <p:spPr>
          <a:xfrm>
            <a:off x="1562033" y="3828143"/>
            <a:ext cx="3600400" cy="132556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2800" dirty="0">
                <a:solidFill>
                  <a:schemeClr val="tx1"/>
                </a:solidFill>
              </a:rPr>
              <a:t>11111101</a:t>
            </a:r>
          </a:p>
        </p:txBody>
      </p:sp>
      <p:sp>
        <p:nvSpPr>
          <p:cNvPr id="15" name="Oval 14">
            <a:extLst>
              <a:ext uri="{FF2B5EF4-FFF2-40B4-BE49-F238E27FC236}">
                <a16:creationId xmlns:a16="http://schemas.microsoft.com/office/drawing/2014/main" id="{9871D9AF-40E3-2DC2-527E-D9150ACCC089}"/>
              </a:ext>
            </a:extLst>
          </p:cNvPr>
          <p:cNvSpPr/>
          <p:nvPr/>
        </p:nvSpPr>
        <p:spPr>
          <a:xfrm>
            <a:off x="1215738" y="3504107"/>
            <a:ext cx="692590"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2800" b="1" dirty="0">
                <a:solidFill>
                  <a:schemeClr val="bg1"/>
                </a:solidFill>
              </a:rPr>
              <a:t>2</a:t>
            </a:r>
          </a:p>
        </p:txBody>
      </p:sp>
      <p:cxnSp>
        <p:nvCxnSpPr>
          <p:cNvPr id="6" name="Straight Connector 5">
            <a:extLst>
              <a:ext uri="{FF2B5EF4-FFF2-40B4-BE49-F238E27FC236}">
                <a16:creationId xmlns:a16="http://schemas.microsoft.com/office/drawing/2014/main" id="{3A4A3122-8555-B31E-A066-C781C0ADC67F}"/>
              </a:ext>
            </a:extLst>
          </p:cNvPr>
          <p:cNvCxnSpPr>
            <a:cxnSpLocks/>
          </p:cNvCxnSpPr>
          <p:nvPr/>
        </p:nvCxnSpPr>
        <p:spPr>
          <a:xfrm>
            <a:off x="3563888" y="2780928"/>
            <a:ext cx="21602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Right Brace 8">
            <a:extLst>
              <a:ext uri="{FF2B5EF4-FFF2-40B4-BE49-F238E27FC236}">
                <a16:creationId xmlns:a16="http://schemas.microsoft.com/office/drawing/2014/main" id="{4DBE71C9-1215-D0BE-2A4A-40E0E8FFC88E}"/>
              </a:ext>
            </a:extLst>
          </p:cNvPr>
          <p:cNvSpPr/>
          <p:nvPr/>
        </p:nvSpPr>
        <p:spPr>
          <a:xfrm rot="5400000">
            <a:off x="2625839" y="1993427"/>
            <a:ext cx="301096" cy="1575001"/>
          </a:xfrm>
          <a:prstGeom prst="rightBrace">
            <a:avLst/>
          </a:prstGeom>
          <a:ln w="381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6E152052-8D29-26EE-883D-47056AD36C77}"/>
              </a:ext>
            </a:extLst>
          </p:cNvPr>
          <p:cNvSpPr>
            <a:spLocks noGrp="1"/>
          </p:cNvSpPr>
          <p:nvPr>
            <p:ph type="sldNum" sz="quarter" idx="12"/>
          </p:nvPr>
        </p:nvSpPr>
        <p:spPr/>
        <p:txBody>
          <a:bodyPr/>
          <a:lstStyle/>
          <a:p>
            <a:pPr>
              <a:defRPr/>
            </a:pPr>
            <a:fld id="{B15F286D-88BF-4C85-84EF-53248539BE74}" type="slidenum">
              <a:rPr lang="en-US" altLang="en-US" smtClean="0"/>
              <a:pPr>
                <a:defRPr/>
              </a:pPr>
              <a:t>34</a:t>
            </a:fld>
            <a:endParaRPr lang="en-US" altLang="en-US"/>
          </a:p>
        </p:txBody>
      </p:sp>
    </p:spTree>
    <p:extLst>
      <p:ext uri="{BB962C8B-B14F-4D97-AF65-F5344CB8AC3E}">
        <p14:creationId xmlns:p14="http://schemas.microsoft.com/office/powerpoint/2010/main" val="1497003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A081-B4F4-8DF1-9F18-43E3CFFC42B6}"/>
              </a:ext>
            </a:extLst>
          </p:cNvPr>
          <p:cNvSpPr>
            <a:spLocks noGrp="1"/>
          </p:cNvSpPr>
          <p:nvPr>
            <p:ph type="title"/>
          </p:nvPr>
        </p:nvSpPr>
        <p:spPr/>
        <p:txBody>
          <a:bodyPr/>
          <a:lstStyle/>
          <a:p>
            <a:r>
              <a:rPr lang="en-MY" dirty="0"/>
              <a:t>Quick Activity #2 </a:t>
            </a:r>
          </a:p>
        </p:txBody>
      </p:sp>
      <p:sp>
        <p:nvSpPr>
          <p:cNvPr id="3" name="Content Placeholder 2">
            <a:extLst>
              <a:ext uri="{FF2B5EF4-FFF2-40B4-BE49-F238E27FC236}">
                <a16:creationId xmlns:a16="http://schemas.microsoft.com/office/drawing/2014/main" id="{F9B6077E-BE2A-F76C-504A-FDE838F1E925}"/>
              </a:ext>
            </a:extLst>
          </p:cNvPr>
          <p:cNvSpPr>
            <a:spLocks noGrp="1"/>
          </p:cNvSpPr>
          <p:nvPr>
            <p:ph idx="1"/>
          </p:nvPr>
        </p:nvSpPr>
        <p:spPr>
          <a:xfrm>
            <a:off x="1045291" y="1916832"/>
            <a:ext cx="2302573" cy="4351337"/>
          </a:xfrm>
        </p:spPr>
        <p:txBody>
          <a:bodyPr>
            <a:normAutofit/>
          </a:bodyPr>
          <a:lstStyle/>
          <a:p>
            <a:r>
              <a:rPr lang="en-MY" sz="3600" dirty="0"/>
              <a:t>01001</a:t>
            </a:r>
            <a:r>
              <a:rPr lang="en-MY" sz="3600" baseline="-25000" dirty="0"/>
              <a:t>2</a:t>
            </a:r>
          </a:p>
          <a:p>
            <a:r>
              <a:rPr lang="en-MY" sz="3600" dirty="0"/>
              <a:t>01011</a:t>
            </a:r>
            <a:r>
              <a:rPr lang="en-MY" sz="3600" baseline="-25000" dirty="0"/>
              <a:t>2</a:t>
            </a:r>
          </a:p>
          <a:p>
            <a:r>
              <a:rPr lang="en-MY" sz="3600" dirty="0"/>
              <a:t>00111</a:t>
            </a:r>
            <a:r>
              <a:rPr lang="en-MY" sz="3600" baseline="-25000" dirty="0"/>
              <a:t>2</a:t>
            </a:r>
          </a:p>
          <a:p>
            <a:r>
              <a:rPr lang="en-MY" sz="3600" dirty="0"/>
              <a:t>00001</a:t>
            </a:r>
            <a:r>
              <a:rPr lang="en-MY" sz="3600" baseline="-25000" dirty="0"/>
              <a:t>2</a:t>
            </a:r>
          </a:p>
        </p:txBody>
      </p:sp>
      <p:sp>
        <p:nvSpPr>
          <p:cNvPr id="4" name="Slide Number Placeholder 3">
            <a:extLst>
              <a:ext uri="{FF2B5EF4-FFF2-40B4-BE49-F238E27FC236}">
                <a16:creationId xmlns:a16="http://schemas.microsoft.com/office/drawing/2014/main" id="{5AB0C345-C982-5880-7D35-75A55A00525C}"/>
              </a:ext>
            </a:extLst>
          </p:cNvPr>
          <p:cNvSpPr>
            <a:spLocks noGrp="1"/>
          </p:cNvSpPr>
          <p:nvPr>
            <p:ph type="sldNum" sz="quarter" idx="12"/>
          </p:nvPr>
        </p:nvSpPr>
        <p:spPr/>
        <p:txBody>
          <a:bodyPr/>
          <a:lstStyle/>
          <a:p>
            <a:pPr>
              <a:defRPr/>
            </a:pPr>
            <a:fld id="{B15F286D-88BF-4C85-84EF-53248539BE74}" type="slidenum">
              <a:rPr lang="en-US" altLang="en-US" smtClean="0"/>
              <a:pPr>
                <a:defRPr/>
              </a:pPr>
              <a:t>35</a:t>
            </a:fld>
            <a:endParaRPr lang="en-US" altLang="en-US"/>
          </a:p>
        </p:txBody>
      </p:sp>
    </p:spTree>
    <p:extLst>
      <p:ext uri="{BB962C8B-B14F-4D97-AF65-F5344CB8AC3E}">
        <p14:creationId xmlns:p14="http://schemas.microsoft.com/office/powerpoint/2010/main" val="4134717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E498-E0A3-7505-5854-A2C1EDD73B3A}"/>
              </a:ext>
            </a:extLst>
          </p:cNvPr>
          <p:cNvSpPr>
            <a:spLocks noGrp="1"/>
          </p:cNvSpPr>
          <p:nvPr>
            <p:ph type="title"/>
          </p:nvPr>
        </p:nvSpPr>
        <p:spPr/>
        <p:txBody>
          <a:bodyPr>
            <a:normAutofit/>
          </a:bodyPr>
          <a:lstStyle/>
          <a:p>
            <a:r>
              <a:rPr lang="en-US" dirty="0"/>
              <a:t>Characteristics of 2’s Complement Representation</a:t>
            </a:r>
            <a:endParaRPr lang="en-MY" dirty="0"/>
          </a:p>
        </p:txBody>
      </p:sp>
      <p:pic>
        <p:nvPicPr>
          <p:cNvPr id="5" name="Picture 4">
            <a:extLst>
              <a:ext uri="{FF2B5EF4-FFF2-40B4-BE49-F238E27FC236}">
                <a16:creationId xmlns:a16="http://schemas.microsoft.com/office/drawing/2014/main" id="{B7C7CA27-C8A4-207D-EEA9-683F3F1C8419}"/>
              </a:ext>
            </a:extLst>
          </p:cNvPr>
          <p:cNvPicPr>
            <a:picLocks noChangeAspect="1"/>
          </p:cNvPicPr>
          <p:nvPr/>
        </p:nvPicPr>
        <p:blipFill>
          <a:blip r:embed="rId3"/>
          <a:stretch>
            <a:fillRect/>
          </a:stretch>
        </p:blipFill>
        <p:spPr>
          <a:xfrm>
            <a:off x="342543" y="1844824"/>
            <a:ext cx="7890672" cy="3419475"/>
          </a:xfrm>
          <a:prstGeom prst="rect">
            <a:avLst/>
          </a:prstGeom>
        </p:spPr>
      </p:pic>
      <p:sp>
        <p:nvSpPr>
          <p:cNvPr id="6" name="TextBox 5">
            <a:extLst>
              <a:ext uri="{FF2B5EF4-FFF2-40B4-BE49-F238E27FC236}">
                <a16:creationId xmlns:a16="http://schemas.microsoft.com/office/drawing/2014/main" id="{1EB16444-5EFC-B50E-730C-6217FAE1563F}"/>
              </a:ext>
            </a:extLst>
          </p:cNvPr>
          <p:cNvSpPr txBox="1"/>
          <p:nvPr/>
        </p:nvSpPr>
        <p:spPr>
          <a:xfrm>
            <a:off x="3707904" y="5517232"/>
            <a:ext cx="4421012" cy="646331"/>
          </a:xfrm>
          <a:prstGeom prst="rect">
            <a:avLst/>
          </a:prstGeom>
          <a:solidFill>
            <a:schemeClr val="accent3">
              <a:lumMod val="20000"/>
              <a:lumOff val="80000"/>
            </a:schemeClr>
          </a:solidFill>
        </p:spPr>
        <p:txBody>
          <a:bodyPr wrap="square" rtlCol="0">
            <a:spAutoFit/>
          </a:bodyPr>
          <a:lstStyle/>
          <a:p>
            <a:r>
              <a:rPr lang="en-MY" sz="3600" dirty="0"/>
              <a:t>- (2</a:t>
            </a:r>
            <a:r>
              <a:rPr lang="en-MY" sz="3600" baseline="30000" dirty="0"/>
              <a:t>n-1</a:t>
            </a:r>
            <a:r>
              <a:rPr lang="en-MY" sz="3600" dirty="0"/>
              <a:t>) to  +(2</a:t>
            </a:r>
            <a:r>
              <a:rPr lang="en-MY" sz="3600" baseline="30000" dirty="0"/>
              <a:t>n-1</a:t>
            </a:r>
            <a:r>
              <a:rPr lang="en-MY" sz="3600" dirty="0"/>
              <a:t> -1)</a:t>
            </a:r>
          </a:p>
        </p:txBody>
      </p:sp>
      <p:sp>
        <p:nvSpPr>
          <p:cNvPr id="7" name="TextBox 6">
            <a:extLst>
              <a:ext uri="{FF2B5EF4-FFF2-40B4-BE49-F238E27FC236}">
                <a16:creationId xmlns:a16="http://schemas.microsoft.com/office/drawing/2014/main" id="{CCC40ABD-5110-3FAD-B927-EA8934B613F2}"/>
              </a:ext>
            </a:extLst>
          </p:cNvPr>
          <p:cNvSpPr txBox="1"/>
          <p:nvPr/>
        </p:nvSpPr>
        <p:spPr>
          <a:xfrm>
            <a:off x="6205378" y="5236877"/>
            <a:ext cx="2010506" cy="307777"/>
          </a:xfrm>
          <a:prstGeom prst="rect">
            <a:avLst/>
          </a:prstGeom>
          <a:noFill/>
        </p:spPr>
        <p:txBody>
          <a:bodyPr wrap="square" rtlCol="0">
            <a:spAutoFit/>
          </a:bodyPr>
          <a:lstStyle/>
          <a:p>
            <a:r>
              <a:rPr lang="en-MY" sz="1400" dirty="0">
                <a:solidFill>
                  <a:srgbClr val="FF0000"/>
                </a:solidFill>
              </a:rPr>
              <a:t>n = number of bit</a:t>
            </a:r>
          </a:p>
        </p:txBody>
      </p:sp>
      <p:sp>
        <p:nvSpPr>
          <p:cNvPr id="3" name="Slide Number Placeholder 2">
            <a:extLst>
              <a:ext uri="{FF2B5EF4-FFF2-40B4-BE49-F238E27FC236}">
                <a16:creationId xmlns:a16="http://schemas.microsoft.com/office/drawing/2014/main" id="{00AF8F25-8838-F104-0CE1-36BA854153E8}"/>
              </a:ext>
            </a:extLst>
          </p:cNvPr>
          <p:cNvSpPr>
            <a:spLocks noGrp="1"/>
          </p:cNvSpPr>
          <p:nvPr>
            <p:ph type="sldNum" sz="quarter" idx="12"/>
          </p:nvPr>
        </p:nvSpPr>
        <p:spPr/>
        <p:txBody>
          <a:bodyPr/>
          <a:lstStyle/>
          <a:p>
            <a:pPr>
              <a:defRPr/>
            </a:pPr>
            <a:fld id="{B15F286D-88BF-4C85-84EF-53248539BE74}" type="slidenum">
              <a:rPr lang="en-US" altLang="en-US" smtClean="0"/>
              <a:pPr>
                <a:defRPr/>
              </a:pPr>
              <a:t>36</a:t>
            </a:fld>
            <a:endParaRPr lang="en-US" altLang="en-US"/>
          </a:p>
        </p:txBody>
      </p:sp>
    </p:spTree>
    <p:extLst>
      <p:ext uri="{BB962C8B-B14F-4D97-AF65-F5344CB8AC3E}">
        <p14:creationId xmlns:p14="http://schemas.microsoft.com/office/powerpoint/2010/main" val="217884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A6EF-DA85-AA1C-9B6F-EEB6FF501011}"/>
              </a:ext>
            </a:extLst>
          </p:cNvPr>
          <p:cNvSpPr>
            <a:spLocks noGrp="1"/>
          </p:cNvSpPr>
          <p:nvPr>
            <p:ph type="title"/>
          </p:nvPr>
        </p:nvSpPr>
        <p:spPr>
          <a:xfrm>
            <a:off x="444663" y="365760"/>
            <a:ext cx="7771221" cy="1325562"/>
          </a:xfrm>
        </p:spPr>
        <p:txBody>
          <a:bodyPr/>
          <a:lstStyle/>
          <a:p>
            <a:r>
              <a:rPr lang="en-MY" dirty="0"/>
              <a:t>Advantages of 2’s complement</a:t>
            </a:r>
          </a:p>
        </p:txBody>
      </p:sp>
      <p:sp>
        <p:nvSpPr>
          <p:cNvPr id="3" name="Content Placeholder 2">
            <a:extLst>
              <a:ext uri="{FF2B5EF4-FFF2-40B4-BE49-F238E27FC236}">
                <a16:creationId xmlns:a16="http://schemas.microsoft.com/office/drawing/2014/main" id="{33536F87-2A2B-B973-213F-0915ECC20629}"/>
              </a:ext>
            </a:extLst>
          </p:cNvPr>
          <p:cNvSpPr>
            <a:spLocks noGrp="1"/>
          </p:cNvSpPr>
          <p:nvPr>
            <p:ph idx="1"/>
          </p:nvPr>
        </p:nvSpPr>
        <p:spPr>
          <a:xfrm>
            <a:off x="467544" y="1828801"/>
            <a:ext cx="7416824" cy="4351337"/>
          </a:xfrm>
        </p:spPr>
        <p:txBody>
          <a:bodyPr>
            <a:normAutofit/>
          </a:bodyPr>
          <a:lstStyle/>
          <a:p>
            <a:r>
              <a:rPr lang="en-US" sz="2000" dirty="0"/>
              <a:t>It eliminates the need for two representations of zero, resulting in a unique representation.</a:t>
            </a:r>
          </a:p>
          <a:p>
            <a:r>
              <a:rPr lang="en-US" sz="2000" dirty="0"/>
              <a:t>Arithmetic operations like addition, subtraction, and multiplication are simplified, and there are no issues with end-around carries.</a:t>
            </a:r>
          </a:p>
          <a:p>
            <a:r>
              <a:rPr lang="en-US" sz="2000" dirty="0"/>
              <a:t>The representation is symmetric, meaning the range of positive and negative values is evenly distributed around zero.</a:t>
            </a:r>
          </a:p>
          <a:p>
            <a:r>
              <a:rPr lang="en-US" sz="2000" dirty="0"/>
              <a:t>It's widely supported and used in modern computer systems due to its efficiency in arithmetic operations and other benefits.</a:t>
            </a:r>
            <a:endParaRPr lang="en-MY" sz="2000" dirty="0"/>
          </a:p>
        </p:txBody>
      </p:sp>
      <p:sp>
        <p:nvSpPr>
          <p:cNvPr id="4" name="Slide Number Placeholder 3">
            <a:extLst>
              <a:ext uri="{FF2B5EF4-FFF2-40B4-BE49-F238E27FC236}">
                <a16:creationId xmlns:a16="http://schemas.microsoft.com/office/drawing/2014/main" id="{2FDC605D-0090-BCD7-675D-D0B0C65867BA}"/>
              </a:ext>
            </a:extLst>
          </p:cNvPr>
          <p:cNvSpPr>
            <a:spLocks noGrp="1"/>
          </p:cNvSpPr>
          <p:nvPr>
            <p:ph type="sldNum" sz="quarter" idx="12"/>
          </p:nvPr>
        </p:nvSpPr>
        <p:spPr/>
        <p:txBody>
          <a:bodyPr/>
          <a:lstStyle/>
          <a:p>
            <a:pPr>
              <a:defRPr/>
            </a:pPr>
            <a:fld id="{B15F286D-88BF-4C85-84EF-53248539BE74}" type="slidenum">
              <a:rPr lang="en-US" altLang="en-US" smtClean="0"/>
              <a:pPr>
                <a:defRPr/>
              </a:pPr>
              <a:t>37</a:t>
            </a:fld>
            <a:endParaRPr lang="en-US" altLang="en-US"/>
          </a:p>
        </p:txBody>
      </p:sp>
    </p:spTree>
    <p:extLst>
      <p:ext uri="{BB962C8B-B14F-4D97-AF65-F5344CB8AC3E}">
        <p14:creationId xmlns:p14="http://schemas.microsoft.com/office/powerpoint/2010/main" val="3347569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9649B-4B20-4589-424F-438FCAB39851}"/>
              </a:ext>
            </a:extLst>
          </p:cNvPr>
          <p:cNvSpPr>
            <a:spLocks noGrp="1"/>
          </p:cNvSpPr>
          <p:nvPr>
            <p:ph type="title"/>
          </p:nvPr>
        </p:nvSpPr>
        <p:spPr/>
        <p:txBody>
          <a:bodyPr/>
          <a:lstStyle/>
          <a:p>
            <a:r>
              <a:rPr lang="en-MY" dirty="0"/>
              <a:t>Advantages of 2’s complement</a:t>
            </a:r>
            <a:endParaRPr lang="en-GB" dirty="0"/>
          </a:p>
        </p:txBody>
      </p:sp>
      <p:graphicFrame>
        <p:nvGraphicFramePr>
          <p:cNvPr id="4" name="Content Placeholder 3">
            <a:extLst>
              <a:ext uri="{FF2B5EF4-FFF2-40B4-BE49-F238E27FC236}">
                <a16:creationId xmlns:a16="http://schemas.microsoft.com/office/drawing/2014/main" id="{E2FF8F1B-1A25-C15A-2911-2A164E4856EB}"/>
              </a:ext>
            </a:extLst>
          </p:cNvPr>
          <p:cNvGraphicFramePr>
            <a:graphicFrameLocks noGrp="1"/>
          </p:cNvGraphicFramePr>
          <p:nvPr>
            <p:ph idx="1"/>
            <p:extLst>
              <p:ext uri="{D42A27DB-BD31-4B8C-83A1-F6EECF244321}">
                <p14:modId xmlns:p14="http://schemas.microsoft.com/office/powerpoint/2010/main" val="3426434244"/>
              </p:ext>
            </p:extLst>
          </p:nvPr>
        </p:nvGraphicFramePr>
        <p:xfrm>
          <a:off x="325211" y="1828801"/>
          <a:ext cx="7887005"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1B25F5CA-46FF-3667-2751-26CC079D00C2}"/>
              </a:ext>
            </a:extLst>
          </p:cNvPr>
          <p:cNvSpPr>
            <a:spLocks noGrp="1"/>
          </p:cNvSpPr>
          <p:nvPr>
            <p:ph type="sldNum" sz="quarter" idx="12"/>
          </p:nvPr>
        </p:nvSpPr>
        <p:spPr/>
        <p:txBody>
          <a:bodyPr/>
          <a:lstStyle/>
          <a:p>
            <a:pPr>
              <a:defRPr/>
            </a:pPr>
            <a:fld id="{B15F286D-88BF-4C85-84EF-53248539BE74}" type="slidenum">
              <a:rPr lang="en-US" altLang="en-US" smtClean="0"/>
              <a:pPr>
                <a:defRPr/>
              </a:pPr>
              <a:t>38</a:t>
            </a:fld>
            <a:endParaRPr lang="en-US" altLang="en-US"/>
          </a:p>
        </p:txBody>
      </p:sp>
    </p:spTree>
    <p:extLst>
      <p:ext uri="{BB962C8B-B14F-4D97-AF65-F5344CB8AC3E}">
        <p14:creationId xmlns:p14="http://schemas.microsoft.com/office/powerpoint/2010/main" val="3289498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A6EF-DA85-AA1C-9B6F-EEB6FF501011}"/>
              </a:ext>
            </a:extLst>
          </p:cNvPr>
          <p:cNvSpPr>
            <a:spLocks noGrp="1"/>
          </p:cNvSpPr>
          <p:nvPr>
            <p:ph type="title"/>
          </p:nvPr>
        </p:nvSpPr>
        <p:spPr>
          <a:xfrm>
            <a:off x="444663" y="235466"/>
            <a:ext cx="7943761" cy="1325562"/>
          </a:xfrm>
        </p:spPr>
        <p:txBody>
          <a:bodyPr>
            <a:normAutofit fontScale="90000"/>
          </a:bodyPr>
          <a:lstStyle/>
          <a:p>
            <a:r>
              <a:rPr lang="en-US" dirty="0"/>
              <a:t>Converting Between</a:t>
            </a:r>
            <a:br>
              <a:rPr lang="en-US" dirty="0"/>
            </a:br>
            <a:r>
              <a:rPr lang="en-US" dirty="0"/>
              <a:t>2’s Complement Binary To Decimal</a:t>
            </a:r>
            <a:endParaRPr lang="en-MY" dirty="0"/>
          </a:p>
        </p:txBody>
      </p:sp>
      <p:sp>
        <p:nvSpPr>
          <p:cNvPr id="7" name="TextBox 6">
            <a:extLst>
              <a:ext uri="{FF2B5EF4-FFF2-40B4-BE49-F238E27FC236}">
                <a16:creationId xmlns:a16="http://schemas.microsoft.com/office/drawing/2014/main" id="{5C61A467-4218-06B2-F2CA-088B464B0913}"/>
              </a:ext>
            </a:extLst>
          </p:cNvPr>
          <p:cNvSpPr txBox="1"/>
          <p:nvPr/>
        </p:nvSpPr>
        <p:spPr>
          <a:xfrm>
            <a:off x="1733013" y="4043226"/>
            <a:ext cx="5101909" cy="400110"/>
          </a:xfrm>
          <a:prstGeom prst="rect">
            <a:avLst/>
          </a:prstGeom>
          <a:noFill/>
        </p:spPr>
        <p:txBody>
          <a:bodyPr wrap="none" rtlCol="0">
            <a:spAutoFit/>
          </a:bodyPr>
          <a:lstStyle/>
          <a:p>
            <a:r>
              <a:rPr lang="en-MY" dirty="0"/>
              <a:t>An eight-position 2’s complement value box</a:t>
            </a:r>
          </a:p>
        </p:txBody>
      </p:sp>
      <p:graphicFrame>
        <p:nvGraphicFramePr>
          <p:cNvPr id="3" name="Table 2">
            <a:extLst>
              <a:ext uri="{FF2B5EF4-FFF2-40B4-BE49-F238E27FC236}">
                <a16:creationId xmlns:a16="http://schemas.microsoft.com/office/drawing/2014/main" id="{8BB06A38-F141-E890-0B04-F2369F2DB640}"/>
              </a:ext>
            </a:extLst>
          </p:cNvPr>
          <p:cNvGraphicFramePr>
            <a:graphicFrameLocks noGrp="1"/>
          </p:cNvGraphicFramePr>
          <p:nvPr>
            <p:extLst>
              <p:ext uri="{D42A27DB-BD31-4B8C-83A1-F6EECF244321}">
                <p14:modId xmlns:p14="http://schemas.microsoft.com/office/powerpoint/2010/main" val="1684986709"/>
              </p:ext>
            </p:extLst>
          </p:nvPr>
        </p:nvGraphicFramePr>
        <p:xfrm>
          <a:off x="647562" y="2636912"/>
          <a:ext cx="7272810" cy="1112520"/>
        </p:xfrm>
        <a:graphic>
          <a:graphicData uri="http://schemas.openxmlformats.org/drawingml/2006/table">
            <a:tbl>
              <a:tblPr firstRow="1" bandRow="1">
                <a:tableStyleId>{5940675A-B579-460E-94D1-54222C63F5DA}</a:tableStyleId>
              </a:tblPr>
              <a:tblGrid>
                <a:gridCol w="1273042">
                  <a:extLst>
                    <a:ext uri="{9D8B030D-6E8A-4147-A177-3AD203B41FA5}">
                      <a16:colId xmlns:a16="http://schemas.microsoft.com/office/drawing/2014/main" val="982644798"/>
                    </a:ext>
                  </a:extLst>
                </a:gridCol>
                <a:gridCol w="749971">
                  <a:extLst>
                    <a:ext uri="{9D8B030D-6E8A-4147-A177-3AD203B41FA5}">
                      <a16:colId xmlns:a16="http://schemas.microsoft.com/office/drawing/2014/main" val="490137566"/>
                    </a:ext>
                  </a:extLst>
                </a:gridCol>
                <a:gridCol w="749971">
                  <a:extLst>
                    <a:ext uri="{9D8B030D-6E8A-4147-A177-3AD203B41FA5}">
                      <a16:colId xmlns:a16="http://schemas.microsoft.com/office/drawing/2014/main" val="442317843"/>
                    </a:ext>
                  </a:extLst>
                </a:gridCol>
                <a:gridCol w="749971">
                  <a:extLst>
                    <a:ext uri="{9D8B030D-6E8A-4147-A177-3AD203B41FA5}">
                      <a16:colId xmlns:a16="http://schemas.microsoft.com/office/drawing/2014/main" val="1424270130"/>
                    </a:ext>
                  </a:extLst>
                </a:gridCol>
                <a:gridCol w="749971">
                  <a:extLst>
                    <a:ext uri="{9D8B030D-6E8A-4147-A177-3AD203B41FA5}">
                      <a16:colId xmlns:a16="http://schemas.microsoft.com/office/drawing/2014/main" val="974185692"/>
                    </a:ext>
                  </a:extLst>
                </a:gridCol>
                <a:gridCol w="749971">
                  <a:extLst>
                    <a:ext uri="{9D8B030D-6E8A-4147-A177-3AD203B41FA5}">
                      <a16:colId xmlns:a16="http://schemas.microsoft.com/office/drawing/2014/main" val="2748340985"/>
                    </a:ext>
                  </a:extLst>
                </a:gridCol>
                <a:gridCol w="749971">
                  <a:extLst>
                    <a:ext uri="{9D8B030D-6E8A-4147-A177-3AD203B41FA5}">
                      <a16:colId xmlns:a16="http://schemas.microsoft.com/office/drawing/2014/main" val="3915021002"/>
                    </a:ext>
                  </a:extLst>
                </a:gridCol>
                <a:gridCol w="749971">
                  <a:extLst>
                    <a:ext uri="{9D8B030D-6E8A-4147-A177-3AD203B41FA5}">
                      <a16:colId xmlns:a16="http://schemas.microsoft.com/office/drawing/2014/main" val="1486447581"/>
                    </a:ext>
                  </a:extLst>
                </a:gridCol>
                <a:gridCol w="749971">
                  <a:extLst>
                    <a:ext uri="{9D8B030D-6E8A-4147-A177-3AD203B41FA5}">
                      <a16:colId xmlns:a16="http://schemas.microsoft.com/office/drawing/2014/main" val="3160349173"/>
                    </a:ext>
                  </a:extLst>
                </a:gridCol>
              </a:tblGrid>
              <a:tr h="370840">
                <a:tc>
                  <a:txBody>
                    <a:bodyPr/>
                    <a:lstStyle/>
                    <a:p>
                      <a:r>
                        <a:rPr lang="en-GB" sz="1600" dirty="0"/>
                        <a:t>Position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7</a:t>
                      </a:r>
                    </a:p>
                  </a:txBody>
                  <a:tcPr/>
                </a:tc>
                <a:tc>
                  <a:txBody>
                    <a:bodyPr/>
                    <a:lstStyle/>
                    <a:p>
                      <a:pPr algn="ctr"/>
                      <a:r>
                        <a:rPr lang="en-GB" dirty="0"/>
                        <a:t>2</a:t>
                      </a:r>
                      <a:r>
                        <a:rPr lang="en-GB" baseline="30000" dirty="0"/>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2</a:t>
                      </a:r>
                      <a:r>
                        <a:rPr lang="en-GB" baseline="30000" dirty="0"/>
                        <a:t>0</a:t>
                      </a:r>
                    </a:p>
                  </a:txBody>
                  <a:tcPr/>
                </a:tc>
                <a:extLst>
                  <a:ext uri="{0D108BD9-81ED-4DB2-BD59-A6C34878D82A}">
                    <a16:rowId xmlns:a16="http://schemas.microsoft.com/office/drawing/2014/main" val="467065870"/>
                  </a:ext>
                </a:extLst>
              </a:tr>
              <a:tr h="370840">
                <a:tc>
                  <a:txBody>
                    <a:bodyPr/>
                    <a:lstStyle/>
                    <a:p>
                      <a:r>
                        <a:rPr lang="en-MY" sz="1600" dirty="0"/>
                        <a:t>Weight </a:t>
                      </a:r>
                      <a:endParaRPr lang="en-GB" sz="1600" dirty="0"/>
                    </a:p>
                  </a:txBody>
                  <a:tcPr/>
                </a:tc>
                <a:tc>
                  <a:txBody>
                    <a:bodyPr/>
                    <a:lstStyle/>
                    <a:p>
                      <a:pPr algn="ctr"/>
                      <a:r>
                        <a:rPr lang="en-MY" dirty="0"/>
                        <a:t>128</a:t>
                      </a:r>
                      <a:endParaRPr lang="en-GB" dirty="0"/>
                    </a:p>
                  </a:txBody>
                  <a:tcPr/>
                </a:tc>
                <a:tc>
                  <a:txBody>
                    <a:bodyPr/>
                    <a:lstStyle/>
                    <a:p>
                      <a:pPr algn="ctr"/>
                      <a:r>
                        <a:rPr lang="en-MY" dirty="0"/>
                        <a:t>64</a:t>
                      </a:r>
                      <a:endParaRPr lang="en-GB" dirty="0"/>
                    </a:p>
                  </a:txBody>
                  <a:tcPr/>
                </a:tc>
                <a:tc>
                  <a:txBody>
                    <a:bodyPr/>
                    <a:lstStyle/>
                    <a:p>
                      <a:pPr algn="ctr"/>
                      <a:r>
                        <a:rPr lang="en-MY" dirty="0"/>
                        <a:t>32</a:t>
                      </a:r>
                      <a:endParaRPr lang="en-GB" dirty="0"/>
                    </a:p>
                  </a:txBody>
                  <a:tcPr/>
                </a:tc>
                <a:tc>
                  <a:txBody>
                    <a:bodyPr/>
                    <a:lstStyle/>
                    <a:p>
                      <a:pPr algn="ctr"/>
                      <a:r>
                        <a:rPr lang="en-MY" dirty="0"/>
                        <a:t>16</a:t>
                      </a:r>
                      <a:endParaRPr lang="en-GB" dirty="0"/>
                    </a:p>
                  </a:txBody>
                  <a:tcPr/>
                </a:tc>
                <a:tc>
                  <a:txBody>
                    <a:bodyPr/>
                    <a:lstStyle/>
                    <a:p>
                      <a:pPr algn="ctr"/>
                      <a:r>
                        <a:rPr lang="en-MY" dirty="0"/>
                        <a:t>8</a:t>
                      </a:r>
                      <a:endParaRPr lang="en-GB" dirty="0"/>
                    </a:p>
                  </a:txBody>
                  <a:tcPr/>
                </a:tc>
                <a:tc>
                  <a:txBody>
                    <a:bodyPr/>
                    <a:lstStyle/>
                    <a:p>
                      <a:pPr algn="ctr"/>
                      <a:r>
                        <a:rPr lang="en-MY" dirty="0"/>
                        <a:t>4</a:t>
                      </a:r>
                      <a:endParaRPr lang="en-GB" dirty="0"/>
                    </a:p>
                  </a:txBody>
                  <a:tcPr/>
                </a:tc>
                <a:tc>
                  <a:txBody>
                    <a:bodyPr/>
                    <a:lstStyle/>
                    <a:p>
                      <a:pPr algn="ctr"/>
                      <a:r>
                        <a:rPr lang="en-MY" dirty="0"/>
                        <a:t>2</a:t>
                      </a:r>
                      <a:endParaRPr lang="en-GB" dirty="0"/>
                    </a:p>
                  </a:txBody>
                  <a:tcPr/>
                </a:tc>
                <a:tc>
                  <a:txBody>
                    <a:bodyPr/>
                    <a:lstStyle/>
                    <a:p>
                      <a:pPr algn="ctr"/>
                      <a:r>
                        <a:rPr lang="en-MY" dirty="0"/>
                        <a:t>1</a:t>
                      </a:r>
                      <a:endParaRPr lang="en-GB" dirty="0"/>
                    </a:p>
                  </a:txBody>
                  <a:tcPr/>
                </a:tc>
                <a:extLst>
                  <a:ext uri="{0D108BD9-81ED-4DB2-BD59-A6C34878D82A}">
                    <a16:rowId xmlns:a16="http://schemas.microsoft.com/office/drawing/2014/main" val="29028266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Bit Pattern</a:t>
                      </a:r>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tc>
                  <a:txBody>
                    <a:bodyPr/>
                    <a:lstStyle/>
                    <a:p>
                      <a:pPr algn="ctr"/>
                      <a:endParaRPr lang="en-GB" dirty="0"/>
                    </a:p>
                  </a:txBody>
                  <a:tcPr/>
                </a:tc>
                <a:extLst>
                  <a:ext uri="{0D108BD9-81ED-4DB2-BD59-A6C34878D82A}">
                    <a16:rowId xmlns:a16="http://schemas.microsoft.com/office/drawing/2014/main" val="3962394917"/>
                  </a:ext>
                </a:extLst>
              </a:tr>
            </a:tbl>
          </a:graphicData>
        </a:graphic>
      </p:graphicFrame>
      <p:sp>
        <p:nvSpPr>
          <p:cNvPr id="4" name="Slide Number Placeholder 3">
            <a:extLst>
              <a:ext uri="{FF2B5EF4-FFF2-40B4-BE49-F238E27FC236}">
                <a16:creationId xmlns:a16="http://schemas.microsoft.com/office/drawing/2014/main" id="{B61D4614-2430-A07E-6236-F7EB82A95343}"/>
              </a:ext>
            </a:extLst>
          </p:cNvPr>
          <p:cNvSpPr>
            <a:spLocks noGrp="1"/>
          </p:cNvSpPr>
          <p:nvPr>
            <p:ph type="sldNum" sz="quarter" idx="12"/>
          </p:nvPr>
        </p:nvSpPr>
        <p:spPr/>
        <p:txBody>
          <a:bodyPr/>
          <a:lstStyle/>
          <a:p>
            <a:pPr>
              <a:defRPr/>
            </a:pPr>
            <a:fld id="{B15F286D-88BF-4C85-84EF-53248539BE74}" type="slidenum">
              <a:rPr lang="en-US" altLang="en-US" smtClean="0"/>
              <a:pPr>
                <a:defRPr/>
              </a:pPr>
              <a:t>39</a:t>
            </a:fld>
            <a:endParaRPr lang="en-US" altLang="en-US"/>
          </a:p>
        </p:txBody>
      </p:sp>
    </p:spTree>
    <p:extLst>
      <p:ext uri="{BB962C8B-B14F-4D97-AF65-F5344CB8AC3E}">
        <p14:creationId xmlns:p14="http://schemas.microsoft.com/office/powerpoint/2010/main" val="6436377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A6EF-DA85-AA1C-9B6F-EEB6FF501011}"/>
              </a:ext>
            </a:extLst>
          </p:cNvPr>
          <p:cNvSpPr>
            <a:spLocks noGrp="1"/>
          </p:cNvSpPr>
          <p:nvPr>
            <p:ph type="title"/>
          </p:nvPr>
        </p:nvSpPr>
        <p:spPr>
          <a:xfrm>
            <a:off x="444663" y="235466"/>
            <a:ext cx="7943761" cy="1325562"/>
          </a:xfrm>
        </p:spPr>
        <p:txBody>
          <a:bodyPr>
            <a:normAutofit fontScale="90000"/>
          </a:bodyPr>
          <a:lstStyle/>
          <a:p>
            <a:r>
              <a:rPr lang="en-US" dirty="0"/>
              <a:t>Converting Between</a:t>
            </a:r>
            <a:br>
              <a:rPr lang="en-US" dirty="0"/>
            </a:br>
            <a:r>
              <a:rPr lang="en-US" dirty="0"/>
              <a:t>2’s Complement Binary To Decimal</a:t>
            </a:r>
            <a:endParaRPr lang="en-MY" dirty="0"/>
          </a:p>
        </p:txBody>
      </p:sp>
      <p:graphicFrame>
        <p:nvGraphicFramePr>
          <p:cNvPr id="8" name="Table 38">
            <a:extLst>
              <a:ext uri="{FF2B5EF4-FFF2-40B4-BE49-F238E27FC236}">
                <a16:creationId xmlns:a16="http://schemas.microsoft.com/office/drawing/2014/main" id="{DF77FCE2-06D0-AA59-5EA2-EA4D161FB365}"/>
              </a:ext>
            </a:extLst>
          </p:cNvPr>
          <p:cNvGraphicFramePr>
            <a:graphicFrameLocks noGrp="1"/>
          </p:cNvGraphicFramePr>
          <p:nvPr>
            <p:extLst>
              <p:ext uri="{D42A27DB-BD31-4B8C-83A1-F6EECF244321}">
                <p14:modId xmlns:p14="http://schemas.microsoft.com/office/powerpoint/2010/main" val="966104820"/>
              </p:ext>
            </p:extLst>
          </p:nvPr>
        </p:nvGraphicFramePr>
        <p:xfrm>
          <a:off x="539552" y="3068960"/>
          <a:ext cx="7344816" cy="1056118"/>
        </p:xfrm>
        <a:graphic>
          <a:graphicData uri="http://schemas.openxmlformats.org/drawingml/2006/table">
            <a:tbl>
              <a:tblPr firstRow="1" bandRow="1">
                <a:tableStyleId>{5940675A-B579-460E-94D1-54222C63F5DA}</a:tableStyleId>
              </a:tblPr>
              <a:tblGrid>
                <a:gridCol w="918102">
                  <a:extLst>
                    <a:ext uri="{9D8B030D-6E8A-4147-A177-3AD203B41FA5}">
                      <a16:colId xmlns:a16="http://schemas.microsoft.com/office/drawing/2014/main" val="3646923306"/>
                    </a:ext>
                  </a:extLst>
                </a:gridCol>
                <a:gridCol w="918102">
                  <a:extLst>
                    <a:ext uri="{9D8B030D-6E8A-4147-A177-3AD203B41FA5}">
                      <a16:colId xmlns:a16="http://schemas.microsoft.com/office/drawing/2014/main" val="4127615042"/>
                    </a:ext>
                  </a:extLst>
                </a:gridCol>
                <a:gridCol w="918102">
                  <a:extLst>
                    <a:ext uri="{9D8B030D-6E8A-4147-A177-3AD203B41FA5}">
                      <a16:colId xmlns:a16="http://schemas.microsoft.com/office/drawing/2014/main" val="2313240651"/>
                    </a:ext>
                  </a:extLst>
                </a:gridCol>
                <a:gridCol w="918102">
                  <a:extLst>
                    <a:ext uri="{9D8B030D-6E8A-4147-A177-3AD203B41FA5}">
                      <a16:colId xmlns:a16="http://schemas.microsoft.com/office/drawing/2014/main" val="1781995488"/>
                    </a:ext>
                  </a:extLst>
                </a:gridCol>
                <a:gridCol w="918102">
                  <a:extLst>
                    <a:ext uri="{9D8B030D-6E8A-4147-A177-3AD203B41FA5}">
                      <a16:colId xmlns:a16="http://schemas.microsoft.com/office/drawing/2014/main" val="3730037320"/>
                    </a:ext>
                  </a:extLst>
                </a:gridCol>
                <a:gridCol w="918102">
                  <a:extLst>
                    <a:ext uri="{9D8B030D-6E8A-4147-A177-3AD203B41FA5}">
                      <a16:colId xmlns:a16="http://schemas.microsoft.com/office/drawing/2014/main" val="2900940008"/>
                    </a:ext>
                  </a:extLst>
                </a:gridCol>
                <a:gridCol w="918102">
                  <a:extLst>
                    <a:ext uri="{9D8B030D-6E8A-4147-A177-3AD203B41FA5}">
                      <a16:colId xmlns:a16="http://schemas.microsoft.com/office/drawing/2014/main" val="890559765"/>
                    </a:ext>
                  </a:extLst>
                </a:gridCol>
                <a:gridCol w="918102">
                  <a:extLst>
                    <a:ext uri="{9D8B030D-6E8A-4147-A177-3AD203B41FA5}">
                      <a16:colId xmlns:a16="http://schemas.microsoft.com/office/drawing/2014/main" val="997792698"/>
                    </a:ext>
                  </a:extLst>
                </a:gridCol>
              </a:tblGrid>
              <a:tr h="528059">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528059">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extLst>
                  <a:ext uri="{0D108BD9-81ED-4DB2-BD59-A6C34878D82A}">
                    <a16:rowId xmlns:a16="http://schemas.microsoft.com/office/drawing/2014/main" val="2527677058"/>
                  </a:ext>
                </a:extLst>
              </a:tr>
            </a:tbl>
          </a:graphicData>
        </a:graphic>
      </p:graphicFrame>
      <p:sp>
        <p:nvSpPr>
          <p:cNvPr id="9" name="TextBox 8">
            <a:extLst>
              <a:ext uri="{FF2B5EF4-FFF2-40B4-BE49-F238E27FC236}">
                <a16:creationId xmlns:a16="http://schemas.microsoft.com/office/drawing/2014/main" id="{1A0536EE-8DF9-C2E3-B2BD-F524D15FCA12}"/>
              </a:ext>
            </a:extLst>
          </p:cNvPr>
          <p:cNvSpPr txBox="1"/>
          <p:nvPr/>
        </p:nvSpPr>
        <p:spPr>
          <a:xfrm>
            <a:off x="621704" y="4544410"/>
            <a:ext cx="696024" cy="400110"/>
          </a:xfrm>
          <a:prstGeom prst="rect">
            <a:avLst/>
          </a:prstGeom>
          <a:noFill/>
        </p:spPr>
        <p:txBody>
          <a:bodyPr wrap="none" rtlCol="0">
            <a:spAutoFit/>
          </a:bodyPr>
          <a:lstStyle/>
          <a:p>
            <a:r>
              <a:rPr lang="en-MY" dirty="0"/>
              <a:t>-128</a:t>
            </a:r>
          </a:p>
        </p:txBody>
      </p:sp>
      <p:sp>
        <p:nvSpPr>
          <p:cNvPr id="10" name="TextBox 9">
            <a:extLst>
              <a:ext uri="{FF2B5EF4-FFF2-40B4-BE49-F238E27FC236}">
                <a16:creationId xmlns:a16="http://schemas.microsoft.com/office/drawing/2014/main" id="{30C13576-7FE9-B73C-8C86-FB8282BE6C70}"/>
              </a:ext>
            </a:extLst>
          </p:cNvPr>
          <p:cNvSpPr txBox="1"/>
          <p:nvPr/>
        </p:nvSpPr>
        <p:spPr>
          <a:xfrm>
            <a:off x="6300192" y="4480436"/>
            <a:ext cx="510076" cy="400110"/>
          </a:xfrm>
          <a:prstGeom prst="rect">
            <a:avLst/>
          </a:prstGeom>
          <a:noFill/>
        </p:spPr>
        <p:txBody>
          <a:bodyPr wrap="none" rtlCol="0">
            <a:spAutoFit/>
          </a:bodyPr>
          <a:lstStyle/>
          <a:p>
            <a:r>
              <a:rPr lang="en-MY" dirty="0"/>
              <a:t>+2</a:t>
            </a:r>
          </a:p>
        </p:txBody>
      </p:sp>
      <p:sp>
        <p:nvSpPr>
          <p:cNvPr id="11" name="TextBox 10">
            <a:extLst>
              <a:ext uri="{FF2B5EF4-FFF2-40B4-BE49-F238E27FC236}">
                <a16:creationId xmlns:a16="http://schemas.microsoft.com/office/drawing/2014/main" id="{9F25C57C-BE8C-0077-1CDD-EF01D2CE87FE}"/>
              </a:ext>
            </a:extLst>
          </p:cNvPr>
          <p:cNvSpPr txBox="1"/>
          <p:nvPr/>
        </p:nvSpPr>
        <p:spPr>
          <a:xfrm>
            <a:off x="7229805" y="4480436"/>
            <a:ext cx="510076" cy="400110"/>
          </a:xfrm>
          <a:prstGeom prst="rect">
            <a:avLst/>
          </a:prstGeom>
          <a:noFill/>
        </p:spPr>
        <p:txBody>
          <a:bodyPr wrap="none" rtlCol="0">
            <a:spAutoFit/>
          </a:bodyPr>
          <a:lstStyle/>
          <a:p>
            <a:r>
              <a:rPr lang="en-MY" dirty="0"/>
              <a:t>+1</a:t>
            </a:r>
          </a:p>
        </p:txBody>
      </p:sp>
      <p:sp>
        <p:nvSpPr>
          <p:cNvPr id="12" name="TextBox 11">
            <a:extLst>
              <a:ext uri="{FF2B5EF4-FFF2-40B4-BE49-F238E27FC236}">
                <a16:creationId xmlns:a16="http://schemas.microsoft.com/office/drawing/2014/main" id="{0002CB44-0B60-EE23-8D84-36901317FEE6}"/>
              </a:ext>
            </a:extLst>
          </p:cNvPr>
          <p:cNvSpPr txBox="1"/>
          <p:nvPr/>
        </p:nvSpPr>
        <p:spPr>
          <a:xfrm>
            <a:off x="2526523" y="6144156"/>
            <a:ext cx="2157963" cy="400110"/>
          </a:xfrm>
          <a:prstGeom prst="rect">
            <a:avLst/>
          </a:prstGeom>
          <a:solidFill>
            <a:srgbClr val="92D050"/>
          </a:solidFill>
        </p:spPr>
        <p:txBody>
          <a:bodyPr wrap="none" rtlCol="0">
            <a:spAutoFit/>
          </a:bodyPr>
          <a:lstStyle/>
          <a:p>
            <a:r>
              <a:rPr lang="en-MY" dirty="0"/>
              <a:t>10000011 =-125</a:t>
            </a:r>
          </a:p>
        </p:txBody>
      </p:sp>
      <p:sp>
        <p:nvSpPr>
          <p:cNvPr id="17" name="TextBox 16">
            <a:extLst>
              <a:ext uri="{FF2B5EF4-FFF2-40B4-BE49-F238E27FC236}">
                <a16:creationId xmlns:a16="http://schemas.microsoft.com/office/drawing/2014/main" id="{884D6F3B-6E3D-E7C9-951B-F7721E4908F5}"/>
              </a:ext>
            </a:extLst>
          </p:cNvPr>
          <p:cNvSpPr txBox="1"/>
          <p:nvPr/>
        </p:nvSpPr>
        <p:spPr>
          <a:xfrm>
            <a:off x="514602" y="2047188"/>
            <a:ext cx="4282519" cy="707886"/>
          </a:xfrm>
          <a:prstGeom prst="rect">
            <a:avLst/>
          </a:prstGeom>
          <a:noFill/>
        </p:spPr>
        <p:txBody>
          <a:bodyPr wrap="none" rtlCol="0">
            <a:spAutoFit/>
          </a:bodyPr>
          <a:lstStyle/>
          <a:p>
            <a:r>
              <a:rPr lang="en-MY" dirty="0"/>
              <a:t>Example: </a:t>
            </a:r>
          </a:p>
          <a:p>
            <a:r>
              <a:rPr lang="en-MY" dirty="0"/>
              <a:t>Convert binary 10000011 to decimal</a:t>
            </a:r>
          </a:p>
        </p:txBody>
      </p:sp>
      <p:sp>
        <p:nvSpPr>
          <p:cNvPr id="3" name="TextBox 2">
            <a:extLst>
              <a:ext uri="{FF2B5EF4-FFF2-40B4-BE49-F238E27FC236}">
                <a16:creationId xmlns:a16="http://schemas.microsoft.com/office/drawing/2014/main" id="{07CBFAB5-8BCA-0693-5972-C71973579667}"/>
              </a:ext>
            </a:extLst>
          </p:cNvPr>
          <p:cNvSpPr txBox="1"/>
          <p:nvPr/>
        </p:nvSpPr>
        <p:spPr>
          <a:xfrm>
            <a:off x="807652" y="3627673"/>
            <a:ext cx="324128" cy="400110"/>
          </a:xfrm>
          <a:prstGeom prst="rect">
            <a:avLst/>
          </a:prstGeom>
          <a:noFill/>
        </p:spPr>
        <p:txBody>
          <a:bodyPr wrap="none" rtlCol="0">
            <a:spAutoFit/>
          </a:bodyPr>
          <a:lstStyle/>
          <a:p>
            <a:r>
              <a:rPr lang="en-MY" dirty="0"/>
              <a:t>1</a:t>
            </a:r>
          </a:p>
        </p:txBody>
      </p:sp>
      <p:sp>
        <p:nvSpPr>
          <p:cNvPr id="5" name="TextBox 4">
            <a:extLst>
              <a:ext uri="{FF2B5EF4-FFF2-40B4-BE49-F238E27FC236}">
                <a16:creationId xmlns:a16="http://schemas.microsoft.com/office/drawing/2014/main" id="{AAED841C-E30A-902D-BA48-E7B6727BDF47}"/>
              </a:ext>
            </a:extLst>
          </p:cNvPr>
          <p:cNvSpPr txBox="1"/>
          <p:nvPr/>
        </p:nvSpPr>
        <p:spPr>
          <a:xfrm>
            <a:off x="1763688" y="3627673"/>
            <a:ext cx="324128" cy="400110"/>
          </a:xfrm>
          <a:prstGeom prst="rect">
            <a:avLst/>
          </a:prstGeom>
          <a:noFill/>
        </p:spPr>
        <p:txBody>
          <a:bodyPr wrap="none" rtlCol="0">
            <a:spAutoFit/>
          </a:bodyPr>
          <a:lstStyle/>
          <a:p>
            <a:r>
              <a:rPr lang="en-MY" dirty="0"/>
              <a:t>0</a:t>
            </a:r>
          </a:p>
        </p:txBody>
      </p:sp>
      <p:sp>
        <p:nvSpPr>
          <p:cNvPr id="14" name="TextBox 13">
            <a:extLst>
              <a:ext uri="{FF2B5EF4-FFF2-40B4-BE49-F238E27FC236}">
                <a16:creationId xmlns:a16="http://schemas.microsoft.com/office/drawing/2014/main" id="{7F3620EA-C19D-40B6-E4A8-B5A67F3A281A}"/>
              </a:ext>
            </a:extLst>
          </p:cNvPr>
          <p:cNvSpPr txBox="1"/>
          <p:nvPr/>
        </p:nvSpPr>
        <p:spPr>
          <a:xfrm>
            <a:off x="2719724" y="3627673"/>
            <a:ext cx="324128" cy="400110"/>
          </a:xfrm>
          <a:prstGeom prst="rect">
            <a:avLst/>
          </a:prstGeom>
          <a:noFill/>
        </p:spPr>
        <p:txBody>
          <a:bodyPr wrap="none" rtlCol="0">
            <a:spAutoFit/>
          </a:bodyPr>
          <a:lstStyle/>
          <a:p>
            <a:r>
              <a:rPr lang="en-MY" dirty="0"/>
              <a:t>0</a:t>
            </a:r>
          </a:p>
        </p:txBody>
      </p:sp>
      <p:sp>
        <p:nvSpPr>
          <p:cNvPr id="15" name="TextBox 14">
            <a:extLst>
              <a:ext uri="{FF2B5EF4-FFF2-40B4-BE49-F238E27FC236}">
                <a16:creationId xmlns:a16="http://schemas.microsoft.com/office/drawing/2014/main" id="{AC9E7422-69C7-581D-34E1-7D00CB73ADB7}"/>
              </a:ext>
            </a:extLst>
          </p:cNvPr>
          <p:cNvSpPr txBox="1"/>
          <p:nvPr/>
        </p:nvSpPr>
        <p:spPr>
          <a:xfrm>
            <a:off x="3606003" y="3627673"/>
            <a:ext cx="324128" cy="400110"/>
          </a:xfrm>
          <a:prstGeom prst="rect">
            <a:avLst/>
          </a:prstGeom>
          <a:noFill/>
        </p:spPr>
        <p:txBody>
          <a:bodyPr wrap="none" rtlCol="0">
            <a:spAutoFit/>
          </a:bodyPr>
          <a:lstStyle/>
          <a:p>
            <a:r>
              <a:rPr lang="en-MY" dirty="0"/>
              <a:t>0</a:t>
            </a:r>
          </a:p>
        </p:txBody>
      </p:sp>
      <p:sp>
        <p:nvSpPr>
          <p:cNvPr id="16" name="TextBox 15">
            <a:extLst>
              <a:ext uri="{FF2B5EF4-FFF2-40B4-BE49-F238E27FC236}">
                <a16:creationId xmlns:a16="http://schemas.microsoft.com/office/drawing/2014/main" id="{4338B08C-61E9-C2F6-DDB9-82C5CBA1C711}"/>
              </a:ext>
            </a:extLst>
          </p:cNvPr>
          <p:cNvSpPr txBox="1"/>
          <p:nvPr/>
        </p:nvSpPr>
        <p:spPr>
          <a:xfrm>
            <a:off x="4534778" y="3627673"/>
            <a:ext cx="324128" cy="400110"/>
          </a:xfrm>
          <a:prstGeom prst="rect">
            <a:avLst/>
          </a:prstGeom>
          <a:noFill/>
        </p:spPr>
        <p:txBody>
          <a:bodyPr wrap="none" rtlCol="0">
            <a:spAutoFit/>
          </a:bodyPr>
          <a:lstStyle/>
          <a:p>
            <a:r>
              <a:rPr lang="en-MY" dirty="0"/>
              <a:t>0</a:t>
            </a:r>
          </a:p>
        </p:txBody>
      </p:sp>
      <p:sp>
        <p:nvSpPr>
          <p:cNvPr id="18" name="TextBox 17">
            <a:extLst>
              <a:ext uri="{FF2B5EF4-FFF2-40B4-BE49-F238E27FC236}">
                <a16:creationId xmlns:a16="http://schemas.microsoft.com/office/drawing/2014/main" id="{6A521A84-C4C6-C6FD-F261-95B1C4954FC0}"/>
              </a:ext>
            </a:extLst>
          </p:cNvPr>
          <p:cNvSpPr txBox="1"/>
          <p:nvPr/>
        </p:nvSpPr>
        <p:spPr>
          <a:xfrm>
            <a:off x="5463553" y="3627673"/>
            <a:ext cx="324128" cy="400110"/>
          </a:xfrm>
          <a:prstGeom prst="rect">
            <a:avLst/>
          </a:prstGeom>
          <a:noFill/>
        </p:spPr>
        <p:txBody>
          <a:bodyPr wrap="none" rtlCol="0">
            <a:spAutoFit/>
          </a:bodyPr>
          <a:lstStyle/>
          <a:p>
            <a:r>
              <a:rPr lang="en-MY" dirty="0"/>
              <a:t>0</a:t>
            </a:r>
          </a:p>
        </p:txBody>
      </p:sp>
      <p:sp>
        <p:nvSpPr>
          <p:cNvPr id="19" name="TextBox 18">
            <a:extLst>
              <a:ext uri="{FF2B5EF4-FFF2-40B4-BE49-F238E27FC236}">
                <a16:creationId xmlns:a16="http://schemas.microsoft.com/office/drawing/2014/main" id="{66F4C227-38E5-9694-2847-E07D3AA99EBD}"/>
              </a:ext>
            </a:extLst>
          </p:cNvPr>
          <p:cNvSpPr txBox="1"/>
          <p:nvPr/>
        </p:nvSpPr>
        <p:spPr>
          <a:xfrm>
            <a:off x="6393166" y="3627673"/>
            <a:ext cx="324128" cy="400110"/>
          </a:xfrm>
          <a:prstGeom prst="rect">
            <a:avLst/>
          </a:prstGeom>
          <a:noFill/>
        </p:spPr>
        <p:txBody>
          <a:bodyPr wrap="none" rtlCol="0">
            <a:spAutoFit/>
          </a:bodyPr>
          <a:lstStyle/>
          <a:p>
            <a:r>
              <a:rPr lang="en-MY" dirty="0"/>
              <a:t>1</a:t>
            </a:r>
          </a:p>
        </p:txBody>
      </p:sp>
      <p:sp>
        <p:nvSpPr>
          <p:cNvPr id="20" name="TextBox 19">
            <a:extLst>
              <a:ext uri="{FF2B5EF4-FFF2-40B4-BE49-F238E27FC236}">
                <a16:creationId xmlns:a16="http://schemas.microsoft.com/office/drawing/2014/main" id="{614A9D9E-03F6-92A1-725D-1C6CB7488643}"/>
              </a:ext>
            </a:extLst>
          </p:cNvPr>
          <p:cNvSpPr txBox="1"/>
          <p:nvPr/>
        </p:nvSpPr>
        <p:spPr>
          <a:xfrm>
            <a:off x="7322779" y="3627673"/>
            <a:ext cx="324128" cy="400110"/>
          </a:xfrm>
          <a:prstGeom prst="rect">
            <a:avLst/>
          </a:prstGeom>
          <a:noFill/>
        </p:spPr>
        <p:txBody>
          <a:bodyPr wrap="none" rtlCol="0">
            <a:spAutoFit/>
          </a:bodyPr>
          <a:lstStyle/>
          <a:p>
            <a:r>
              <a:rPr lang="en-MY" dirty="0"/>
              <a:t>1</a:t>
            </a:r>
          </a:p>
        </p:txBody>
      </p:sp>
      <p:sp>
        <p:nvSpPr>
          <p:cNvPr id="21" name="Oval 20">
            <a:extLst>
              <a:ext uri="{FF2B5EF4-FFF2-40B4-BE49-F238E27FC236}">
                <a16:creationId xmlns:a16="http://schemas.microsoft.com/office/drawing/2014/main" id="{88824C5B-4104-24CD-DE98-783E9D5E6A67}"/>
              </a:ext>
            </a:extLst>
          </p:cNvPr>
          <p:cNvSpPr/>
          <p:nvPr/>
        </p:nvSpPr>
        <p:spPr>
          <a:xfrm>
            <a:off x="611560" y="28049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Oval 21">
            <a:extLst>
              <a:ext uri="{FF2B5EF4-FFF2-40B4-BE49-F238E27FC236}">
                <a16:creationId xmlns:a16="http://schemas.microsoft.com/office/drawing/2014/main" id="{FA6AEB12-21DE-6268-BAF4-DF7C9FA9BCFE}"/>
              </a:ext>
            </a:extLst>
          </p:cNvPr>
          <p:cNvSpPr/>
          <p:nvPr/>
        </p:nvSpPr>
        <p:spPr>
          <a:xfrm>
            <a:off x="6100150" y="28049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Oval 22">
            <a:extLst>
              <a:ext uri="{FF2B5EF4-FFF2-40B4-BE49-F238E27FC236}">
                <a16:creationId xmlns:a16="http://schemas.microsoft.com/office/drawing/2014/main" id="{0E4C7A28-74B5-F6F4-C558-9D1A7657B3F5}"/>
              </a:ext>
            </a:extLst>
          </p:cNvPr>
          <p:cNvSpPr/>
          <p:nvPr/>
        </p:nvSpPr>
        <p:spPr>
          <a:xfrm>
            <a:off x="7022870" y="28049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TextBox 23">
            <a:extLst>
              <a:ext uri="{FF2B5EF4-FFF2-40B4-BE49-F238E27FC236}">
                <a16:creationId xmlns:a16="http://schemas.microsoft.com/office/drawing/2014/main" id="{93A2CBB7-C5A6-771C-51C5-979F8027BB79}"/>
              </a:ext>
            </a:extLst>
          </p:cNvPr>
          <p:cNvSpPr txBox="1"/>
          <p:nvPr/>
        </p:nvSpPr>
        <p:spPr>
          <a:xfrm>
            <a:off x="2526523" y="4944520"/>
            <a:ext cx="3129383" cy="400110"/>
          </a:xfrm>
          <a:prstGeom prst="rect">
            <a:avLst/>
          </a:prstGeom>
          <a:noFill/>
        </p:spPr>
        <p:txBody>
          <a:bodyPr wrap="none" rtlCol="0">
            <a:spAutoFit/>
          </a:bodyPr>
          <a:lstStyle/>
          <a:p>
            <a:r>
              <a:rPr lang="en-MY" dirty="0"/>
              <a:t>10000011 = -128 + 2 + 1</a:t>
            </a:r>
          </a:p>
        </p:txBody>
      </p:sp>
      <p:sp>
        <p:nvSpPr>
          <p:cNvPr id="25" name="TextBox 24">
            <a:extLst>
              <a:ext uri="{FF2B5EF4-FFF2-40B4-BE49-F238E27FC236}">
                <a16:creationId xmlns:a16="http://schemas.microsoft.com/office/drawing/2014/main" id="{C80C1215-2801-418B-4120-67889A63D8F5}"/>
              </a:ext>
            </a:extLst>
          </p:cNvPr>
          <p:cNvSpPr txBox="1"/>
          <p:nvPr/>
        </p:nvSpPr>
        <p:spPr>
          <a:xfrm>
            <a:off x="2526523" y="5544338"/>
            <a:ext cx="2643672" cy="400110"/>
          </a:xfrm>
          <a:prstGeom prst="rect">
            <a:avLst/>
          </a:prstGeom>
          <a:noFill/>
        </p:spPr>
        <p:txBody>
          <a:bodyPr wrap="none" rtlCol="0">
            <a:spAutoFit/>
          </a:bodyPr>
          <a:lstStyle/>
          <a:p>
            <a:r>
              <a:rPr lang="en-MY" dirty="0"/>
              <a:t>10000011 = -128 + 3</a:t>
            </a:r>
          </a:p>
        </p:txBody>
      </p:sp>
      <p:sp>
        <p:nvSpPr>
          <p:cNvPr id="4" name="Slide Number Placeholder 3">
            <a:extLst>
              <a:ext uri="{FF2B5EF4-FFF2-40B4-BE49-F238E27FC236}">
                <a16:creationId xmlns:a16="http://schemas.microsoft.com/office/drawing/2014/main" id="{0FA66F99-B211-3248-9F09-4B3E79445E01}"/>
              </a:ext>
            </a:extLst>
          </p:cNvPr>
          <p:cNvSpPr>
            <a:spLocks noGrp="1"/>
          </p:cNvSpPr>
          <p:nvPr>
            <p:ph type="sldNum" sz="quarter" idx="12"/>
          </p:nvPr>
        </p:nvSpPr>
        <p:spPr/>
        <p:txBody>
          <a:bodyPr/>
          <a:lstStyle/>
          <a:p>
            <a:pPr>
              <a:defRPr/>
            </a:pPr>
            <a:fld id="{B15F286D-88BF-4C85-84EF-53248539BE74}" type="slidenum">
              <a:rPr lang="en-US" altLang="en-US" smtClean="0"/>
              <a:pPr>
                <a:defRPr/>
              </a:pPr>
              <a:t>40</a:t>
            </a:fld>
            <a:endParaRPr lang="en-US" altLang="en-US"/>
          </a:p>
        </p:txBody>
      </p:sp>
    </p:spTree>
    <p:extLst>
      <p:ext uri="{BB962C8B-B14F-4D97-AF65-F5344CB8AC3E}">
        <p14:creationId xmlns:p14="http://schemas.microsoft.com/office/powerpoint/2010/main" val="60898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1000"/>
                                        <p:tgtEl>
                                          <p:spTgt spid="21"/>
                                        </p:tgtEl>
                                      </p:cBhvr>
                                    </p:animEffect>
                                    <p:anim calcmode="lin" valueType="num">
                                      <p:cBhvr>
                                        <p:cTn id="62" dur="1000" fill="hold"/>
                                        <p:tgtEl>
                                          <p:spTgt spid="21"/>
                                        </p:tgtEl>
                                        <p:attrNameLst>
                                          <p:attrName>ppt_x</p:attrName>
                                        </p:attrNameLst>
                                      </p:cBhvr>
                                      <p:tavLst>
                                        <p:tav tm="0">
                                          <p:val>
                                            <p:strVal val="#ppt_x"/>
                                          </p:val>
                                        </p:tav>
                                        <p:tav tm="100000">
                                          <p:val>
                                            <p:strVal val="#ppt_x"/>
                                          </p:val>
                                        </p:tav>
                                      </p:tavLst>
                                    </p:anim>
                                    <p:anim calcmode="lin" valueType="num">
                                      <p:cBhvr>
                                        <p:cTn id="63" dur="1000" fill="hold"/>
                                        <p:tgtEl>
                                          <p:spTgt spid="21"/>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1000"/>
                                        <p:tgtEl>
                                          <p:spTgt spid="22"/>
                                        </p:tgtEl>
                                      </p:cBhvr>
                                    </p:animEffect>
                                    <p:anim calcmode="lin" valueType="num">
                                      <p:cBhvr>
                                        <p:cTn id="67" dur="1000" fill="hold"/>
                                        <p:tgtEl>
                                          <p:spTgt spid="22"/>
                                        </p:tgtEl>
                                        <p:attrNameLst>
                                          <p:attrName>ppt_x</p:attrName>
                                        </p:attrNameLst>
                                      </p:cBhvr>
                                      <p:tavLst>
                                        <p:tav tm="0">
                                          <p:val>
                                            <p:strVal val="#ppt_x"/>
                                          </p:val>
                                        </p:tav>
                                        <p:tav tm="100000">
                                          <p:val>
                                            <p:strVal val="#ppt_x"/>
                                          </p:val>
                                        </p:tav>
                                      </p:tavLst>
                                    </p:anim>
                                    <p:anim calcmode="lin" valueType="num">
                                      <p:cBhvr>
                                        <p:cTn id="68" dur="1000" fill="hold"/>
                                        <p:tgtEl>
                                          <p:spTgt spid="22"/>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1000"/>
                                        <p:tgtEl>
                                          <p:spTgt spid="23"/>
                                        </p:tgtEl>
                                      </p:cBhvr>
                                    </p:animEffect>
                                    <p:anim calcmode="lin" valueType="num">
                                      <p:cBhvr>
                                        <p:cTn id="72" dur="1000" fill="hold"/>
                                        <p:tgtEl>
                                          <p:spTgt spid="23"/>
                                        </p:tgtEl>
                                        <p:attrNameLst>
                                          <p:attrName>ppt_x</p:attrName>
                                        </p:attrNameLst>
                                      </p:cBhvr>
                                      <p:tavLst>
                                        <p:tav tm="0">
                                          <p:val>
                                            <p:strVal val="#ppt_x"/>
                                          </p:val>
                                        </p:tav>
                                        <p:tav tm="100000">
                                          <p:val>
                                            <p:strVal val="#ppt_x"/>
                                          </p:val>
                                        </p:tav>
                                      </p:tavLst>
                                    </p:anim>
                                    <p:anim calcmode="lin" valueType="num">
                                      <p:cBhvr>
                                        <p:cTn id="7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500" fill="hold"/>
                                        <p:tgtEl>
                                          <p:spTgt spid="24"/>
                                        </p:tgtEl>
                                        <p:attrNameLst>
                                          <p:attrName>ppt_x</p:attrName>
                                        </p:attrNameLst>
                                      </p:cBhvr>
                                      <p:tavLst>
                                        <p:tav tm="0">
                                          <p:val>
                                            <p:strVal val="#ppt_x"/>
                                          </p:val>
                                        </p:tav>
                                        <p:tav tm="100000">
                                          <p:val>
                                            <p:strVal val="#ppt_x"/>
                                          </p:val>
                                        </p:tav>
                                      </p:tavLst>
                                    </p:anim>
                                    <p:anim calcmode="lin" valueType="num">
                                      <p:cBhvr additive="base">
                                        <p:cTn id="79" dur="500" fill="hold"/>
                                        <p:tgtEl>
                                          <p:spTgt spid="24"/>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12"/>
                                        </p:tgtEl>
                                        <p:attrNameLst>
                                          <p:attrName>style.visibility</p:attrName>
                                        </p:attrNameLst>
                                      </p:cBhvr>
                                      <p:to>
                                        <p:strVal val="visible"/>
                                      </p:to>
                                    </p:set>
                                    <p:anim calcmode="lin" valueType="num">
                                      <p:cBhvr additive="base">
                                        <p:cTn id="86" dur="500" fill="hold"/>
                                        <p:tgtEl>
                                          <p:spTgt spid="12"/>
                                        </p:tgtEl>
                                        <p:attrNameLst>
                                          <p:attrName>ppt_x</p:attrName>
                                        </p:attrNameLst>
                                      </p:cBhvr>
                                      <p:tavLst>
                                        <p:tav tm="0">
                                          <p:val>
                                            <p:strVal val="#ppt_x"/>
                                          </p:val>
                                        </p:tav>
                                        <p:tav tm="100000">
                                          <p:val>
                                            <p:strVal val="#ppt_x"/>
                                          </p:val>
                                        </p:tav>
                                      </p:tavLst>
                                    </p:anim>
                                    <p:anim calcmode="lin" valueType="num">
                                      <p:cBhvr additive="base">
                                        <p:cTn id="8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animBg="1"/>
      <p:bldP spid="3" grpId="0"/>
      <p:bldP spid="5" grpId="0"/>
      <p:bldP spid="14" grpId="0"/>
      <p:bldP spid="15" grpId="0"/>
      <p:bldP spid="16" grpId="0"/>
      <p:bldP spid="18" grpId="0"/>
      <p:bldP spid="19" grpId="0"/>
      <p:bldP spid="20" grpId="0"/>
      <p:bldP spid="21" grpId="0" animBg="1"/>
      <p:bldP spid="22" grpId="0" animBg="1"/>
      <p:bldP spid="23" grpId="0" animBg="1"/>
      <p:bldP spid="24" grpId="0"/>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A6EF-DA85-AA1C-9B6F-EEB6FF501011}"/>
              </a:ext>
            </a:extLst>
          </p:cNvPr>
          <p:cNvSpPr>
            <a:spLocks noGrp="1"/>
          </p:cNvSpPr>
          <p:nvPr>
            <p:ph type="title"/>
          </p:nvPr>
        </p:nvSpPr>
        <p:spPr>
          <a:xfrm>
            <a:off x="444663" y="235466"/>
            <a:ext cx="7943761" cy="1325562"/>
          </a:xfrm>
        </p:spPr>
        <p:txBody>
          <a:bodyPr>
            <a:normAutofit fontScale="90000"/>
          </a:bodyPr>
          <a:lstStyle/>
          <a:p>
            <a:r>
              <a:rPr lang="en-US" dirty="0"/>
              <a:t>Converting Between</a:t>
            </a:r>
            <a:br>
              <a:rPr lang="en-US" dirty="0"/>
            </a:br>
            <a:r>
              <a:rPr lang="en-US" dirty="0"/>
              <a:t>2’s Complement Decimal To Binary</a:t>
            </a:r>
            <a:endParaRPr lang="en-MY" dirty="0"/>
          </a:p>
        </p:txBody>
      </p:sp>
      <p:graphicFrame>
        <p:nvGraphicFramePr>
          <p:cNvPr id="8" name="Table 38">
            <a:extLst>
              <a:ext uri="{FF2B5EF4-FFF2-40B4-BE49-F238E27FC236}">
                <a16:creationId xmlns:a16="http://schemas.microsoft.com/office/drawing/2014/main" id="{DF77FCE2-06D0-AA59-5EA2-EA4D161FB365}"/>
              </a:ext>
            </a:extLst>
          </p:cNvPr>
          <p:cNvGraphicFramePr>
            <a:graphicFrameLocks noGrp="1"/>
          </p:cNvGraphicFramePr>
          <p:nvPr>
            <p:extLst>
              <p:ext uri="{D42A27DB-BD31-4B8C-83A1-F6EECF244321}">
                <p14:modId xmlns:p14="http://schemas.microsoft.com/office/powerpoint/2010/main" val="2556883295"/>
              </p:ext>
            </p:extLst>
          </p:nvPr>
        </p:nvGraphicFramePr>
        <p:xfrm>
          <a:off x="539552" y="3068960"/>
          <a:ext cx="7344816" cy="1056118"/>
        </p:xfrm>
        <a:graphic>
          <a:graphicData uri="http://schemas.openxmlformats.org/drawingml/2006/table">
            <a:tbl>
              <a:tblPr firstRow="1" bandRow="1">
                <a:tableStyleId>{5940675A-B579-460E-94D1-54222C63F5DA}</a:tableStyleId>
              </a:tblPr>
              <a:tblGrid>
                <a:gridCol w="918102">
                  <a:extLst>
                    <a:ext uri="{9D8B030D-6E8A-4147-A177-3AD203B41FA5}">
                      <a16:colId xmlns:a16="http://schemas.microsoft.com/office/drawing/2014/main" val="3646923306"/>
                    </a:ext>
                  </a:extLst>
                </a:gridCol>
                <a:gridCol w="918102">
                  <a:extLst>
                    <a:ext uri="{9D8B030D-6E8A-4147-A177-3AD203B41FA5}">
                      <a16:colId xmlns:a16="http://schemas.microsoft.com/office/drawing/2014/main" val="4127615042"/>
                    </a:ext>
                  </a:extLst>
                </a:gridCol>
                <a:gridCol w="918102">
                  <a:extLst>
                    <a:ext uri="{9D8B030D-6E8A-4147-A177-3AD203B41FA5}">
                      <a16:colId xmlns:a16="http://schemas.microsoft.com/office/drawing/2014/main" val="2313240651"/>
                    </a:ext>
                  </a:extLst>
                </a:gridCol>
                <a:gridCol w="918102">
                  <a:extLst>
                    <a:ext uri="{9D8B030D-6E8A-4147-A177-3AD203B41FA5}">
                      <a16:colId xmlns:a16="http://schemas.microsoft.com/office/drawing/2014/main" val="1781995488"/>
                    </a:ext>
                  </a:extLst>
                </a:gridCol>
                <a:gridCol w="918102">
                  <a:extLst>
                    <a:ext uri="{9D8B030D-6E8A-4147-A177-3AD203B41FA5}">
                      <a16:colId xmlns:a16="http://schemas.microsoft.com/office/drawing/2014/main" val="3730037320"/>
                    </a:ext>
                  </a:extLst>
                </a:gridCol>
                <a:gridCol w="918102">
                  <a:extLst>
                    <a:ext uri="{9D8B030D-6E8A-4147-A177-3AD203B41FA5}">
                      <a16:colId xmlns:a16="http://schemas.microsoft.com/office/drawing/2014/main" val="2900940008"/>
                    </a:ext>
                  </a:extLst>
                </a:gridCol>
                <a:gridCol w="918102">
                  <a:extLst>
                    <a:ext uri="{9D8B030D-6E8A-4147-A177-3AD203B41FA5}">
                      <a16:colId xmlns:a16="http://schemas.microsoft.com/office/drawing/2014/main" val="890559765"/>
                    </a:ext>
                  </a:extLst>
                </a:gridCol>
                <a:gridCol w="918102">
                  <a:extLst>
                    <a:ext uri="{9D8B030D-6E8A-4147-A177-3AD203B41FA5}">
                      <a16:colId xmlns:a16="http://schemas.microsoft.com/office/drawing/2014/main" val="997792698"/>
                    </a:ext>
                  </a:extLst>
                </a:gridCol>
              </a:tblGrid>
              <a:tr h="528059">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528059">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extLst>
                  <a:ext uri="{0D108BD9-81ED-4DB2-BD59-A6C34878D82A}">
                    <a16:rowId xmlns:a16="http://schemas.microsoft.com/office/drawing/2014/main" val="2527677058"/>
                  </a:ext>
                </a:extLst>
              </a:tr>
            </a:tbl>
          </a:graphicData>
        </a:graphic>
      </p:graphicFrame>
      <p:sp>
        <p:nvSpPr>
          <p:cNvPr id="10" name="TextBox 9">
            <a:extLst>
              <a:ext uri="{FF2B5EF4-FFF2-40B4-BE49-F238E27FC236}">
                <a16:creationId xmlns:a16="http://schemas.microsoft.com/office/drawing/2014/main" id="{30C13576-7FE9-B73C-8C86-FB8282BE6C70}"/>
              </a:ext>
            </a:extLst>
          </p:cNvPr>
          <p:cNvSpPr txBox="1"/>
          <p:nvPr/>
        </p:nvSpPr>
        <p:spPr>
          <a:xfrm>
            <a:off x="4390762" y="4186386"/>
            <a:ext cx="510076" cy="400110"/>
          </a:xfrm>
          <a:prstGeom prst="rect">
            <a:avLst/>
          </a:prstGeom>
          <a:noFill/>
        </p:spPr>
        <p:txBody>
          <a:bodyPr wrap="none" rtlCol="0">
            <a:spAutoFit/>
          </a:bodyPr>
          <a:lstStyle/>
          <a:p>
            <a:r>
              <a:rPr lang="en-MY" dirty="0"/>
              <a:t>+8</a:t>
            </a:r>
          </a:p>
        </p:txBody>
      </p:sp>
      <p:sp>
        <p:nvSpPr>
          <p:cNvPr id="12" name="TextBox 11">
            <a:extLst>
              <a:ext uri="{FF2B5EF4-FFF2-40B4-BE49-F238E27FC236}">
                <a16:creationId xmlns:a16="http://schemas.microsoft.com/office/drawing/2014/main" id="{0002CB44-0B60-EE23-8D84-36901317FEE6}"/>
              </a:ext>
            </a:extLst>
          </p:cNvPr>
          <p:cNvSpPr txBox="1"/>
          <p:nvPr/>
        </p:nvSpPr>
        <p:spPr>
          <a:xfrm>
            <a:off x="3255086" y="5633010"/>
            <a:ext cx="2145139" cy="400110"/>
          </a:xfrm>
          <a:prstGeom prst="rect">
            <a:avLst/>
          </a:prstGeom>
          <a:solidFill>
            <a:srgbClr val="92D050"/>
          </a:solidFill>
        </p:spPr>
        <p:txBody>
          <a:bodyPr wrap="none" rtlCol="0">
            <a:spAutoFit/>
          </a:bodyPr>
          <a:lstStyle/>
          <a:p>
            <a:r>
              <a:rPr lang="en-MY" dirty="0"/>
              <a:t>120  = 01111000</a:t>
            </a:r>
          </a:p>
        </p:txBody>
      </p:sp>
      <p:sp>
        <p:nvSpPr>
          <p:cNvPr id="17" name="TextBox 16">
            <a:extLst>
              <a:ext uri="{FF2B5EF4-FFF2-40B4-BE49-F238E27FC236}">
                <a16:creationId xmlns:a16="http://schemas.microsoft.com/office/drawing/2014/main" id="{884D6F3B-6E3D-E7C9-951B-F7721E4908F5}"/>
              </a:ext>
            </a:extLst>
          </p:cNvPr>
          <p:cNvSpPr txBox="1"/>
          <p:nvPr/>
        </p:nvSpPr>
        <p:spPr>
          <a:xfrm>
            <a:off x="514602" y="2047188"/>
            <a:ext cx="3678186" cy="707886"/>
          </a:xfrm>
          <a:prstGeom prst="rect">
            <a:avLst/>
          </a:prstGeom>
          <a:noFill/>
        </p:spPr>
        <p:txBody>
          <a:bodyPr wrap="none" rtlCol="0">
            <a:spAutoFit/>
          </a:bodyPr>
          <a:lstStyle/>
          <a:p>
            <a:r>
              <a:rPr lang="en-MY" dirty="0"/>
              <a:t>Example: </a:t>
            </a:r>
          </a:p>
          <a:p>
            <a:r>
              <a:rPr lang="en-MY" dirty="0"/>
              <a:t>Convert decimal 120 to binary</a:t>
            </a:r>
          </a:p>
        </p:txBody>
      </p:sp>
      <p:sp>
        <p:nvSpPr>
          <p:cNvPr id="3" name="TextBox 2">
            <a:extLst>
              <a:ext uri="{FF2B5EF4-FFF2-40B4-BE49-F238E27FC236}">
                <a16:creationId xmlns:a16="http://schemas.microsoft.com/office/drawing/2014/main" id="{07CBFAB5-8BCA-0693-5972-C71973579667}"/>
              </a:ext>
            </a:extLst>
          </p:cNvPr>
          <p:cNvSpPr txBox="1"/>
          <p:nvPr/>
        </p:nvSpPr>
        <p:spPr>
          <a:xfrm>
            <a:off x="807652" y="3627673"/>
            <a:ext cx="324128" cy="400110"/>
          </a:xfrm>
          <a:prstGeom prst="rect">
            <a:avLst/>
          </a:prstGeom>
          <a:noFill/>
        </p:spPr>
        <p:txBody>
          <a:bodyPr wrap="none" rtlCol="0">
            <a:spAutoFit/>
          </a:bodyPr>
          <a:lstStyle/>
          <a:p>
            <a:r>
              <a:rPr lang="en-MY" dirty="0"/>
              <a:t>0</a:t>
            </a:r>
          </a:p>
        </p:txBody>
      </p:sp>
      <p:sp>
        <p:nvSpPr>
          <p:cNvPr id="5" name="TextBox 4">
            <a:extLst>
              <a:ext uri="{FF2B5EF4-FFF2-40B4-BE49-F238E27FC236}">
                <a16:creationId xmlns:a16="http://schemas.microsoft.com/office/drawing/2014/main" id="{AAED841C-E30A-902D-BA48-E7B6727BDF47}"/>
              </a:ext>
            </a:extLst>
          </p:cNvPr>
          <p:cNvSpPr txBox="1"/>
          <p:nvPr/>
        </p:nvSpPr>
        <p:spPr>
          <a:xfrm>
            <a:off x="1763688" y="3627673"/>
            <a:ext cx="324128" cy="400110"/>
          </a:xfrm>
          <a:prstGeom prst="rect">
            <a:avLst/>
          </a:prstGeom>
          <a:noFill/>
        </p:spPr>
        <p:txBody>
          <a:bodyPr wrap="none" rtlCol="0">
            <a:spAutoFit/>
          </a:bodyPr>
          <a:lstStyle/>
          <a:p>
            <a:r>
              <a:rPr lang="en-MY" dirty="0"/>
              <a:t>1</a:t>
            </a:r>
          </a:p>
        </p:txBody>
      </p:sp>
      <p:sp>
        <p:nvSpPr>
          <p:cNvPr id="14" name="TextBox 13">
            <a:extLst>
              <a:ext uri="{FF2B5EF4-FFF2-40B4-BE49-F238E27FC236}">
                <a16:creationId xmlns:a16="http://schemas.microsoft.com/office/drawing/2014/main" id="{7F3620EA-C19D-40B6-E4A8-B5A67F3A281A}"/>
              </a:ext>
            </a:extLst>
          </p:cNvPr>
          <p:cNvSpPr txBox="1"/>
          <p:nvPr/>
        </p:nvSpPr>
        <p:spPr>
          <a:xfrm>
            <a:off x="2719724" y="3627673"/>
            <a:ext cx="324128" cy="400110"/>
          </a:xfrm>
          <a:prstGeom prst="rect">
            <a:avLst/>
          </a:prstGeom>
          <a:noFill/>
        </p:spPr>
        <p:txBody>
          <a:bodyPr wrap="none" rtlCol="0">
            <a:spAutoFit/>
          </a:bodyPr>
          <a:lstStyle/>
          <a:p>
            <a:r>
              <a:rPr lang="en-MY" dirty="0"/>
              <a:t>1</a:t>
            </a:r>
          </a:p>
        </p:txBody>
      </p:sp>
      <p:sp>
        <p:nvSpPr>
          <p:cNvPr id="15" name="TextBox 14">
            <a:extLst>
              <a:ext uri="{FF2B5EF4-FFF2-40B4-BE49-F238E27FC236}">
                <a16:creationId xmlns:a16="http://schemas.microsoft.com/office/drawing/2014/main" id="{AC9E7422-69C7-581D-34E1-7D00CB73ADB7}"/>
              </a:ext>
            </a:extLst>
          </p:cNvPr>
          <p:cNvSpPr txBox="1"/>
          <p:nvPr/>
        </p:nvSpPr>
        <p:spPr>
          <a:xfrm>
            <a:off x="3606003" y="3627673"/>
            <a:ext cx="324128" cy="400110"/>
          </a:xfrm>
          <a:prstGeom prst="rect">
            <a:avLst/>
          </a:prstGeom>
          <a:noFill/>
        </p:spPr>
        <p:txBody>
          <a:bodyPr wrap="none" rtlCol="0">
            <a:spAutoFit/>
          </a:bodyPr>
          <a:lstStyle/>
          <a:p>
            <a:r>
              <a:rPr lang="en-MY" dirty="0"/>
              <a:t>1</a:t>
            </a:r>
          </a:p>
        </p:txBody>
      </p:sp>
      <p:sp>
        <p:nvSpPr>
          <p:cNvPr id="16" name="TextBox 15">
            <a:extLst>
              <a:ext uri="{FF2B5EF4-FFF2-40B4-BE49-F238E27FC236}">
                <a16:creationId xmlns:a16="http://schemas.microsoft.com/office/drawing/2014/main" id="{4338B08C-61E9-C2F6-DDB9-82C5CBA1C711}"/>
              </a:ext>
            </a:extLst>
          </p:cNvPr>
          <p:cNvSpPr txBox="1"/>
          <p:nvPr/>
        </p:nvSpPr>
        <p:spPr>
          <a:xfrm>
            <a:off x="4534778" y="3627673"/>
            <a:ext cx="324128" cy="400110"/>
          </a:xfrm>
          <a:prstGeom prst="rect">
            <a:avLst/>
          </a:prstGeom>
          <a:noFill/>
        </p:spPr>
        <p:txBody>
          <a:bodyPr wrap="none" rtlCol="0">
            <a:spAutoFit/>
          </a:bodyPr>
          <a:lstStyle/>
          <a:p>
            <a:r>
              <a:rPr lang="en-MY" dirty="0"/>
              <a:t>1</a:t>
            </a:r>
          </a:p>
        </p:txBody>
      </p:sp>
      <p:sp>
        <p:nvSpPr>
          <p:cNvPr id="18" name="TextBox 17">
            <a:extLst>
              <a:ext uri="{FF2B5EF4-FFF2-40B4-BE49-F238E27FC236}">
                <a16:creationId xmlns:a16="http://schemas.microsoft.com/office/drawing/2014/main" id="{6A521A84-C4C6-C6FD-F261-95B1C4954FC0}"/>
              </a:ext>
            </a:extLst>
          </p:cNvPr>
          <p:cNvSpPr txBox="1"/>
          <p:nvPr/>
        </p:nvSpPr>
        <p:spPr>
          <a:xfrm>
            <a:off x="5463553" y="3627673"/>
            <a:ext cx="324128" cy="400110"/>
          </a:xfrm>
          <a:prstGeom prst="rect">
            <a:avLst/>
          </a:prstGeom>
          <a:noFill/>
        </p:spPr>
        <p:txBody>
          <a:bodyPr wrap="none" rtlCol="0">
            <a:spAutoFit/>
          </a:bodyPr>
          <a:lstStyle/>
          <a:p>
            <a:r>
              <a:rPr lang="en-MY" dirty="0"/>
              <a:t>0</a:t>
            </a:r>
          </a:p>
        </p:txBody>
      </p:sp>
      <p:sp>
        <p:nvSpPr>
          <p:cNvPr id="19" name="TextBox 18">
            <a:extLst>
              <a:ext uri="{FF2B5EF4-FFF2-40B4-BE49-F238E27FC236}">
                <a16:creationId xmlns:a16="http://schemas.microsoft.com/office/drawing/2014/main" id="{66F4C227-38E5-9694-2847-E07D3AA99EBD}"/>
              </a:ext>
            </a:extLst>
          </p:cNvPr>
          <p:cNvSpPr txBox="1"/>
          <p:nvPr/>
        </p:nvSpPr>
        <p:spPr>
          <a:xfrm>
            <a:off x="6393166" y="3627673"/>
            <a:ext cx="324128" cy="400110"/>
          </a:xfrm>
          <a:prstGeom prst="rect">
            <a:avLst/>
          </a:prstGeom>
          <a:noFill/>
        </p:spPr>
        <p:txBody>
          <a:bodyPr wrap="none" rtlCol="0">
            <a:spAutoFit/>
          </a:bodyPr>
          <a:lstStyle/>
          <a:p>
            <a:r>
              <a:rPr lang="en-MY" dirty="0"/>
              <a:t>0</a:t>
            </a:r>
          </a:p>
        </p:txBody>
      </p:sp>
      <p:sp>
        <p:nvSpPr>
          <p:cNvPr id="20" name="TextBox 19">
            <a:extLst>
              <a:ext uri="{FF2B5EF4-FFF2-40B4-BE49-F238E27FC236}">
                <a16:creationId xmlns:a16="http://schemas.microsoft.com/office/drawing/2014/main" id="{614A9D9E-03F6-92A1-725D-1C6CB7488643}"/>
              </a:ext>
            </a:extLst>
          </p:cNvPr>
          <p:cNvSpPr txBox="1"/>
          <p:nvPr/>
        </p:nvSpPr>
        <p:spPr>
          <a:xfrm>
            <a:off x="7322779" y="3627673"/>
            <a:ext cx="324128" cy="400110"/>
          </a:xfrm>
          <a:prstGeom prst="rect">
            <a:avLst/>
          </a:prstGeom>
          <a:noFill/>
        </p:spPr>
        <p:txBody>
          <a:bodyPr wrap="none" rtlCol="0">
            <a:spAutoFit/>
          </a:bodyPr>
          <a:lstStyle/>
          <a:p>
            <a:r>
              <a:rPr lang="en-MY" dirty="0"/>
              <a:t>0</a:t>
            </a:r>
          </a:p>
        </p:txBody>
      </p:sp>
      <p:sp>
        <p:nvSpPr>
          <p:cNvPr id="24" name="TextBox 23">
            <a:extLst>
              <a:ext uri="{FF2B5EF4-FFF2-40B4-BE49-F238E27FC236}">
                <a16:creationId xmlns:a16="http://schemas.microsoft.com/office/drawing/2014/main" id="{93A2CBB7-C5A6-771C-51C5-979F8027BB79}"/>
              </a:ext>
            </a:extLst>
          </p:cNvPr>
          <p:cNvSpPr txBox="1"/>
          <p:nvPr/>
        </p:nvSpPr>
        <p:spPr>
          <a:xfrm>
            <a:off x="2543352" y="4971537"/>
            <a:ext cx="3581430" cy="400110"/>
          </a:xfrm>
          <a:prstGeom prst="rect">
            <a:avLst/>
          </a:prstGeom>
          <a:noFill/>
        </p:spPr>
        <p:txBody>
          <a:bodyPr wrap="none" rtlCol="0">
            <a:spAutoFit/>
          </a:bodyPr>
          <a:lstStyle/>
          <a:p>
            <a:r>
              <a:rPr lang="en-MY" dirty="0"/>
              <a:t>64 + 32 + 16 + 8= 01111000</a:t>
            </a:r>
          </a:p>
        </p:txBody>
      </p:sp>
      <p:sp>
        <p:nvSpPr>
          <p:cNvPr id="4" name="TextBox 3">
            <a:extLst>
              <a:ext uri="{FF2B5EF4-FFF2-40B4-BE49-F238E27FC236}">
                <a16:creationId xmlns:a16="http://schemas.microsoft.com/office/drawing/2014/main" id="{A8C64721-8AA9-43D2-0171-45A189BE22F6}"/>
              </a:ext>
            </a:extLst>
          </p:cNvPr>
          <p:cNvSpPr txBox="1"/>
          <p:nvPr/>
        </p:nvSpPr>
        <p:spPr>
          <a:xfrm>
            <a:off x="3467066" y="4186386"/>
            <a:ext cx="649537" cy="400110"/>
          </a:xfrm>
          <a:prstGeom prst="rect">
            <a:avLst/>
          </a:prstGeom>
          <a:noFill/>
        </p:spPr>
        <p:txBody>
          <a:bodyPr wrap="none" rtlCol="0">
            <a:spAutoFit/>
          </a:bodyPr>
          <a:lstStyle/>
          <a:p>
            <a:r>
              <a:rPr lang="en-MY" dirty="0"/>
              <a:t>+16</a:t>
            </a:r>
          </a:p>
        </p:txBody>
      </p:sp>
      <p:sp>
        <p:nvSpPr>
          <p:cNvPr id="6" name="TextBox 5">
            <a:extLst>
              <a:ext uri="{FF2B5EF4-FFF2-40B4-BE49-F238E27FC236}">
                <a16:creationId xmlns:a16="http://schemas.microsoft.com/office/drawing/2014/main" id="{2658EB05-CBDB-53BE-65D5-95E033A02D4F}"/>
              </a:ext>
            </a:extLst>
          </p:cNvPr>
          <p:cNvSpPr txBox="1"/>
          <p:nvPr/>
        </p:nvSpPr>
        <p:spPr>
          <a:xfrm>
            <a:off x="2543369" y="4186386"/>
            <a:ext cx="649537" cy="400110"/>
          </a:xfrm>
          <a:prstGeom prst="rect">
            <a:avLst/>
          </a:prstGeom>
          <a:noFill/>
        </p:spPr>
        <p:txBody>
          <a:bodyPr wrap="none" rtlCol="0">
            <a:spAutoFit/>
          </a:bodyPr>
          <a:lstStyle/>
          <a:p>
            <a:r>
              <a:rPr lang="en-MY" dirty="0"/>
              <a:t>+32</a:t>
            </a:r>
          </a:p>
        </p:txBody>
      </p:sp>
      <p:sp>
        <p:nvSpPr>
          <p:cNvPr id="7" name="TextBox 6">
            <a:extLst>
              <a:ext uri="{FF2B5EF4-FFF2-40B4-BE49-F238E27FC236}">
                <a16:creationId xmlns:a16="http://schemas.microsoft.com/office/drawing/2014/main" id="{24819A45-F5B1-0997-607F-5C62BA26DA48}"/>
              </a:ext>
            </a:extLst>
          </p:cNvPr>
          <p:cNvSpPr txBox="1"/>
          <p:nvPr/>
        </p:nvSpPr>
        <p:spPr>
          <a:xfrm>
            <a:off x="1619672" y="4186386"/>
            <a:ext cx="649537" cy="400110"/>
          </a:xfrm>
          <a:prstGeom prst="rect">
            <a:avLst/>
          </a:prstGeom>
          <a:noFill/>
        </p:spPr>
        <p:txBody>
          <a:bodyPr wrap="none" rtlCol="0">
            <a:spAutoFit/>
          </a:bodyPr>
          <a:lstStyle/>
          <a:p>
            <a:r>
              <a:rPr lang="en-MY" dirty="0"/>
              <a:t>+64</a:t>
            </a:r>
          </a:p>
        </p:txBody>
      </p:sp>
      <p:sp>
        <p:nvSpPr>
          <p:cNvPr id="11" name="Oval 10">
            <a:extLst>
              <a:ext uri="{FF2B5EF4-FFF2-40B4-BE49-F238E27FC236}">
                <a16:creationId xmlns:a16="http://schemas.microsoft.com/office/drawing/2014/main" id="{5B75713B-9812-7531-3D6F-0360A5F8EF86}"/>
              </a:ext>
            </a:extLst>
          </p:cNvPr>
          <p:cNvSpPr/>
          <p:nvPr/>
        </p:nvSpPr>
        <p:spPr>
          <a:xfrm>
            <a:off x="1513820" y="26960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Oval 12">
            <a:extLst>
              <a:ext uri="{FF2B5EF4-FFF2-40B4-BE49-F238E27FC236}">
                <a16:creationId xmlns:a16="http://schemas.microsoft.com/office/drawing/2014/main" id="{829C420E-D281-E031-07FD-DE046FAD4E44}"/>
              </a:ext>
            </a:extLst>
          </p:cNvPr>
          <p:cNvSpPr/>
          <p:nvPr/>
        </p:nvSpPr>
        <p:spPr>
          <a:xfrm>
            <a:off x="2432536" y="26960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Oval 22">
            <a:extLst>
              <a:ext uri="{FF2B5EF4-FFF2-40B4-BE49-F238E27FC236}">
                <a16:creationId xmlns:a16="http://schemas.microsoft.com/office/drawing/2014/main" id="{3C88A381-12E7-377C-83AB-8138E668FD1F}"/>
              </a:ext>
            </a:extLst>
          </p:cNvPr>
          <p:cNvSpPr/>
          <p:nvPr/>
        </p:nvSpPr>
        <p:spPr>
          <a:xfrm>
            <a:off x="3351252" y="26960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Oval 24">
            <a:extLst>
              <a:ext uri="{FF2B5EF4-FFF2-40B4-BE49-F238E27FC236}">
                <a16:creationId xmlns:a16="http://schemas.microsoft.com/office/drawing/2014/main" id="{9C3AD0ED-CC51-E61E-4AC7-1D5E00DFA624}"/>
              </a:ext>
            </a:extLst>
          </p:cNvPr>
          <p:cNvSpPr/>
          <p:nvPr/>
        </p:nvSpPr>
        <p:spPr>
          <a:xfrm>
            <a:off x="4269967" y="26960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Slide Number Placeholder 8">
            <a:extLst>
              <a:ext uri="{FF2B5EF4-FFF2-40B4-BE49-F238E27FC236}">
                <a16:creationId xmlns:a16="http://schemas.microsoft.com/office/drawing/2014/main" id="{854442BC-6B49-3171-7D06-05BA7CDEDBA7}"/>
              </a:ext>
            </a:extLst>
          </p:cNvPr>
          <p:cNvSpPr>
            <a:spLocks noGrp="1"/>
          </p:cNvSpPr>
          <p:nvPr>
            <p:ph type="sldNum" sz="quarter" idx="12"/>
          </p:nvPr>
        </p:nvSpPr>
        <p:spPr/>
        <p:txBody>
          <a:bodyPr/>
          <a:lstStyle/>
          <a:p>
            <a:pPr>
              <a:defRPr/>
            </a:pPr>
            <a:fld id="{B15F286D-88BF-4C85-84EF-53248539BE74}" type="slidenum">
              <a:rPr lang="en-US" altLang="en-US" smtClean="0"/>
              <a:pPr>
                <a:defRPr/>
              </a:pPr>
              <a:t>41</a:t>
            </a:fld>
            <a:endParaRPr lang="en-US" altLang="en-US"/>
          </a:p>
        </p:txBody>
      </p:sp>
    </p:spTree>
    <p:extLst>
      <p:ext uri="{BB962C8B-B14F-4D97-AF65-F5344CB8AC3E}">
        <p14:creationId xmlns:p14="http://schemas.microsoft.com/office/powerpoint/2010/main" val="8232439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A6EF-DA85-AA1C-9B6F-EEB6FF501011}"/>
              </a:ext>
            </a:extLst>
          </p:cNvPr>
          <p:cNvSpPr>
            <a:spLocks noGrp="1"/>
          </p:cNvSpPr>
          <p:nvPr>
            <p:ph type="title"/>
          </p:nvPr>
        </p:nvSpPr>
        <p:spPr>
          <a:xfrm>
            <a:off x="444663" y="235466"/>
            <a:ext cx="7943761" cy="1325562"/>
          </a:xfrm>
        </p:spPr>
        <p:txBody>
          <a:bodyPr>
            <a:normAutofit fontScale="90000"/>
          </a:bodyPr>
          <a:lstStyle/>
          <a:p>
            <a:r>
              <a:rPr lang="en-US" dirty="0"/>
              <a:t>Converting Between</a:t>
            </a:r>
            <a:br>
              <a:rPr lang="en-US" dirty="0"/>
            </a:br>
            <a:r>
              <a:rPr lang="en-US" dirty="0"/>
              <a:t>2’s Complement Decimal To Binary</a:t>
            </a:r>
            <a:endParaRPr lang="en-MY" dirty="0"/>
          </a:p>
        </p:txBody>
      </p:sp>
      <p:graphicFrame>
        <p:nvGraphicFramePr>
          <p:cNvPr id="8" name="Table 38">
            <a:extLst>
              <a:ext uri="{FF2B5EF4-FFF2-40B4-BE49-F238E27FC236}">
                <a16:creationId xmlns:a16="http://schemas.microsoft.com/office/drawing/2014/main" id="{DF77FCE2-06D0-AA59-5EA2-EA4D161FB365}"/>
              </a:ext>
            </a:extLst>
          </p:cNvPr>
          <p:cNvGraphicFramePr>
            <a:graphicFrameLocks noGrp="1"/>
          </p:cNvGraphicFramePr>
          <p:nvPr/>
        </p:nvGraphicFramePr>
        <p:xfrm>
          <a:off x="539552" y="3068960"/>
          <a:ext cx="7344816" cy="1056118"/>
        </p:xfrm>
        <a:graphic>
          <a:graphicData uri="http://schemas.openxmlformats.org/drawingml/2006/table">
            <a:tbl>
              <a:tblPr firstRow="1" bandRow="1">
                <a:tableStyleId>{5940675A-B579-460E-94D1-54222C63F5DA}</a:tableStyleId>
              </a:tblPr>
              <a:tblGrid>
                <a:gridCol w="918102">
                  <a:extLst>
                    <a:ext uri="{9D8B030D-6E8A-4147-A177-3AD203B41FA5}">
                      <a16:colId xmlns:a16="http://schemas.microsoft.com/office/drawing/2014/main" val="3646923306"/>
                    </a:ext>
                  </a:extLst>
                </a:gridCol>
                <a:gridCol w="918102">
                  <a:extLst>
                    <a:ext uri="{9D8B030D-6E8A-4147-A177-3AD203B41FA5}">
                      <a16:colId xmlns:a16="http://schemas.microsoft.com/office/drawing/2014/main" val="4127615042"/>
                    </a:ext>
                  </a:extLst>
                </a:gridCol>
                <a:gridCol w="918102">
                  <a:extLst>
                    <a:ext uri="{9D8B030D-6E8A-4147-A177-3AD203B41FA5}">
                      <a16:colId xmlns:a16="http://schemas.microsoft.com/office/drawing/2014/main" val="2313240651"/>
                    </a:ext>
                  </a:extLst>
                </a:gridCol>
                <a:gridCol w="918102">
                  <a:extLst>
                    <a:ext uri="{9D8B030D-6E8A-4147-A177-3AD203B41FA5}">
                      <a16:colId xmlns:a16="http://schemas.microsoft.com/office/drawing/2014/main" val="1781995488"/>
                    </a:ext>
                  </a:extLst>
                </a:gridCol>
                <a:gridCol w="918102">
                  <a:extLst>
                    <a:ext uri="{9D8B030D-6E8A-4147-A177-3AD203B41FA5}">
                      <a16:colId xmlns:a16="http://schemas.microsoft.com/office/drawing/2014/main" val="3730037320"/>
                    </a:ext>
                  </a:extLst>
                </a:gridCol>
                <a:gridCol w="918102">
                  <a:extLst>
                    <a:ext uri="{9D8B030D-6E8A-4147-A177-3AD203B41FA5}">
                      <a16:colId xmlns:a16="http://schemas.microsoft.com/office/drawing/2014/main" val="2900940008"/>
                    </a:ext>
                  </a:extLst>
                </a:gridCol>
                <a:gridCol w="918102">
                  <a:extLst>
                    <a:ext uri="{9D8B030D-6E8A-4147-A177-3AD203B41FA5}">
                      <a16:colId xmlns:a16="http://schemas.microsoft.com/office/drawing/2014/main" val="890559765"/>
                    </a:ext>
                  </a:extLst>
                </a:gridCol>
                <a:gridCol w="918102">
                  <a:extLst>
                    <a:ext uri="{9D8B030D-6E8A-4147-A177-3AD203B41FA5}">
                      <a16:colId xmlns:a16="http://schemas.microsoft.com/office/drawing/2014/main" val="997792698"/>
                    </a:ext>
                  </a:extLst>
                </a:gridCol>
              </a:tblGrid>
              <a:tr h="528059">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528059">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extLst>
                  <a:ext uri="{0D108BD9-81ED-4DB2-BD59-A6C34878D82A}">
                    <a16:rowId xmlns:a16="http://schemas.microsoft.com/office/drawing/2014/main" val="2527677058"/>
                  </a:ext>
                </a:extLst>
              </a:tr>
            </a:tbl>
          </a:graphicData>
        </a:graphic>
      </p:graphicFrame>
      <p:sp>
        <p:nvSpPr>
          <p:cNvPr id="9" name="TextBox 8">
            <a:extLst>
              <a:ext uri="{FF2B5EF4-FFF2-40B4-BE49-F238E27FC236}">
                <a16:creationId xmlns:a16="http://schemas.microsoft.com/office/drawing/2014/main" id="{1A0536EE-8DF9-C2E3-B2BD-F524D15FCA12}"/>
              </a:ext>
            </a:extLst>
          </p:cNvPr>
          <p:cNvSpPr txBox="1"/>
          <p:nvPr/>
        </p:nvSpPr>
        <p:spPr>
          <a:xfrm>
            <a:off x="659592" y="4370546"/>
            <a:ext cx="696024" cy="400110"/>
          </a:xfrm>
          <a:prstGeom prst="rect">
            <a:avLst/>
          </a:prstGeom>
          <a:noFill/>
        </p:spPr>
        <p:txBody>
          <a:bodyPr wrap="none" rtlCol="0">
            <a:spAutoFit/>
          </a:bodyPr>
          <a:lstStyle/>
          <a:p>
            <a:r>
              <a:rPr lang="en-MY" dirty="0"/>
              <a:t>-128</a:t>
            </a:r>
          </a:p>
        </p:txBody>
      </p:sp>
      <p:sp>
        <p:nvSpPr>
          <p:cNvPr id="10" name="TextBox 9">
            <a:extLst>
              <a:ext uri="{FF2B5EF4-FFF2-40B4-BE49-F238E27FC236}">
                <a16:creationId xmlns:a16="http://schemas.microsoft.com/office/drawing/2014/main" id="{30C13576-7FE9-B73C-8C86-FB8282BE6C70}"/>
              </a:ext>
            </a:extLst>
          </p:cNvPr>
          <p:cNvSpPr txBox="1"/>
          <p:nvPr/>
        </p:nvSpPr>
        <p:spPr>
          <a:xfrm>
            <a:off x="4404617" y="4398718"/>
            <a:ext cx="510076" cy="400110"/>
          </a:xfrm>
          <a:prstGeom prst="rect">
            <a:avLst/>
          </a:prstGeom>
          <a:noFill/>
        </p:spPr>
        <p:txBody>
          <a:bodyPr wrap="none" rtlCol="0">
            <a:spAutoFit/>
          </a:bodyPr>
          <a:lstStyle/>
          <a:p>
            <a:r>
              <a:rPr lang="en-MY" dirty="0"/>
              <a:t>+8</a:t>
            </a:r>
          </a:p>
        </p:txBody>
      </p:sp>
      <p:sp>
        <p:nvSpPr>
          <p:cNvPr id="12" name="TextBox 11">
            <a:extLst>
              <a:ext uri="{FF2B5EF4-FFF2-40B4-BE49-F238E27FC236}">
                <a16:creationId xmlns:a16="http://schemas.microsoft.com/office/drawing/2014/main" id="{0002CB44-0B60-EE23-8D84-36901317FEE6}"/>
              </a:ext>
            </a:extLst>
          </p:cNvPr>
          <p:cNvSpPr txBox="1"/>
          <p:nvPr/>
        </p:nvSpPr>
        <p:spPr>
          <a:xfrm>
            <a:off x="3255086" y="5633010"/>
            <a:ext cx="2157963" cy="400110"/>
          </a:xfrm>
          <a:prstGeom prst="rect">
            <a:avLst/>
          </a:prstGeom>
          <a:solidFill>
            <a:srgbClr val="92D050"/>
          </a:solidFill>
        </p:spPr>
        <p:txBody>
          <a:bodyPr wrap="none" rtlCol="0">
            <a:spAutoFit/>
          </a:bodyPr>
          <a:lstStyle/>
          <a:p>
            <a:r>
              <a:rPr lang="en-MY" dirty="0"/>
              <a:t>-120 = 10001000</a:t>
            </a:r>
          </a:p>
        </p:txBody>
      </p:sp>
      <p:sp>
        <p:nvSpPr>
          <p:cNvPr id="17" name="TextBox 16">
            <a:extLst>
              <a:ext uri="{FF2B5EF4-FFF2-40B4-BE49-F238E27FC236}">
                <a16:creationId xmlns:a16="http://schemas.microsoft.com/office/drawing/2014/main" id="{884D6F3B-6E3D-E7C9-951B-F7721E4908F5}"/>
              </a:ext>
            </a:extLst>
          </p:cNvPr>
          <p:cNvSpPr txBox="1"/>
          <p:nvPr/>
        </p:nvSpPr>
        <p:spPr>
          <a:xfrm>
            <a:off x="514602" y="2047188"/>
            <a:ext cx="3678186" cy="707886"/>
          </a:xfrm>
          <a:prstGeom prst="rect">
            <a:avLst/>
          </a:prstGeom>
          <a:noFill/>
        </p:spPr>
        <p:txBody>
          <a:bodyPr wrap="none" rtlCol="0">
            <a:spAutoFit/>
          </a:bodyPr>
          <a:lstStyle/>
          <a:p>
            <a:r>
              <a:rPr lang="en-MY" dirty="0"/>
              <a:t>Example: </a:t>
            </a:r>
          </a:p>
          <a:p>
            <a:r>
              <a:rPr lang="en-MY" dirty="0"/>
              <a:t>Convert decimal -120 to binary</a:t>
            </a:r>
          </a:p>
        </p:txBody>
      </p:sp>
      <p:sp>
        <p:nvSpPr>
          <p:cNvPr id="3" name="TextBox 2">
            <a:extLst>
              <a:ext uri="{FF2B5EF4-FFF2-40B4-BE49-F238E27FC236}">
                <a16:creationId xmlns:a16="http://schemas.microsoft.com/office/drawing/2014/main" id="{07CBFAB5-8BCA-0693-5972-C71973579667}"/>
              </a:ext>
            </a:extLst>
          </p:cNvPr>
          <p:cNvSpPr txBox="1"/>
          <p:nvPr/>
        </p:nvSpPr>
        <p:spPr>
          <a:xfrm>
            <a:off x="807652" y="3627673"/>
            <a:ext cx="324128" cy="400110"/>
          </a:xfrm>
          <a:prstGeom prst="rect">
            <a:avLst/>
          </a:prstGeom>
          <a:noFill/>
        </p:spPr>
        <p:txBody>
          <a:bodyPr wrap="none" rtlCol="0">
            <a:spAutoFit/>
          </a:bodyPr>
          <a:lstStyle/>
          <a:p>
            <a:r>
              <a:rPr lang="en-MY" dirty="0"/>
              <a:t>1</a:t>
            </a:r>
          </a:p>
        </p:txBody>
      </p:sp>
      <p:sp>
        <p:nvSpPr>
          <p:cNvPr id="5" name="TextBox 4">
            <a:extLst>
              <a:ext uri="{FF2B5EF4-FFF2-40B4-BE49-F238E27FC236}">
                <a16:creationId xmlns:a16="http://schemas.microsoft.com/office/drawing/2014/main" id="{AAED841C-E30A-902D-BA48-E7B6727BDF47}"/>
              </a:ext>
            </a:extLst>
          </p:cNvPr>
          <p:cNvSpPr txBox="1"/>
          <p:nvPr/>
        </p:nvSpPr>
        <p:spPr>
          <a:xfrm>
            <a:off x="1763688" y="3627673"/>
            <a:ext cx="324128" cy="400110"/>
          </a:xfrm>
          <a:prstGeom prst="rect">
            <a:avLst/>
          </a:prstGeom>
          <a:noFill/>
        </p:spPr>
        <p:txBody>
          <a:bodyPr wrap="none" rtlCol="0">
            <a:spAutoFit/>
          </a:bodyPr>
          <a:lstStyle/>
          <a:p>
            <a:r>
              <a:rPr lang="en-MY" dirty="0"/>
              <a:t>0</a:t>
            </a:r>
          </a:p>
        </p:txBody>
      </p:sp>
      <p:sp>
        <p:nvSpPr>
          <p:cNvPr id="14" name="TextBox 13">
            <a:extLst>
              <a:ext uri="{FF2B5EF4-FFF2-40B4-BE49-F238E27FC236}">
                <a16:creationId xmlns:a16="http://schemas.microsoft.com/office/drawing/2014/main" id="{7F3620EA-C19D-40B6-E4A8-B5A67F3A281A}"/>
              </a:ext>
            </a:extLst>
          </p:cNvPr>
          <p:cNvSpPr txBox="1"/>
          <p:nvPr/>
        </p:nvSpPr>
        <p:spPr>
          <a:xfrm>
            <a:off x="2719724" y="3627673"/>
            <a:ext cx="324128" cy="400110"/>
          </a:xfrm>
          <a:prstGeom prst="rect">
            <a:avLst/>
          </a:prstGeom>
          <a:noFill/>
        </p:spPr>
        <p:txBody>
          <a:bodyPr wrap="none" rtlCol="0">
            <a:spAutoFit/>
          </a:bodyPr>
          <a:lstStyle/>
          <a:p>
            <a:r>
              <a:rPr lang="en-MY" dirty="0"/>
              <a:t>0</a:t>
            </a:r>
          </a:p>
        </p:txBody>
      </p:sp>
      <p:sp>
        <p:nvSpPr>
          <p:cNvPr id="15" name="TextBox 14">
            <a:extLst>
              <a:ext uri="{FF2B5EF4-FFF2-40B4-BE49-F238E27FC236}">
                <a16:creationId xmlns:a16="http://schemas.microsoft.com/office/drawing/2014/main" id="{AC9E7422-69C7-581D-34E1-7D00CB73ADB7}"/>
              </a:ext>
            </a:extLst>
          </p:cNvPr>
          <p:cNvSpPr txBox="1"/>
          <p:nvPr/>
        </p:nvSpPr>
        <p:spPr>
          <a:xfrm>
            <a:off x="3606003" y="3627673"/>
            <a:ext cx="324128" cy="400110"/>
          </a:xfrm>
          <a:prstGeom prst="rect">
            <a:avLst/>
          </a:prstGeom>
          <a:noFill/>
        </p:spPr>
        <p:txBody>
          <a:bodyPr wrap="none" rtlCol="0">
            <a:spAutoFit/>
          </a:bodyPr>
          <a:lstStyle/>
          <a:p>
            <a:r>
              <a:rPr lang="en-MY" dirty="0"/>
              <a:t>0</a:t>
            </a:r>
          </a:p>
        </p:txBody>
      </p:sp>
      <p:sp>
        <p:nvSpPr>
          <p:cNvPr id="16" name="TextBox 15">
            <a:extLst>
              <a:ext uri="{FF2B5EF4-FFF2-40B4-BE49-F238E27FC236}">
                <a16:creationId xmlns:a16="http://schemas.microsoft.com/office/drawing/2014/main" id="{4338B08C-61E9-C2F6-DDB9-82C5CBA1C711}"/>
              </a:ext>
            </a:extLst>
          </p:cNvPr>
          <p:cNvSpPr txBox="1"/>
          <p:nvPr/>
        </p:nvSpPr>
        <p:spPr>
          <a:xfrm>
            <a:off x="4534778" y="3627673"/>
            <a:ext cx="324128" cy="400110"/>
          </a:xfrm>
          <a:prstGeom prst="rect">
            <a:avLst/>
          </a:prstGeom>
          <a:noFill/>
        </p:spPr>
        <p:txBody>
          <a:bodyPr wrap="none" rtlCol="0">
            <a:spAutoFit/>
          </a:bodyPr>
          <a:lstStyle/>
          <a:p>
            <a:r>
              <a:rPr lang="en-MY" dirty="0"/>
              <a:t>1</a:t>
            </a:r>
          </a:p>
        </p:txBody>
      </p:sp>
      <p:sp>
        <p:nvSpPr>
          <p:cNvPr id="18" name="TextBox 17">
            <a:extLst>
              <a:ext uri="{FF2B5EF4-FFF2-40B4-BE49-F238E27FC236}">
                <a16:creationId xmlns:a16="http://schemas.microsoft.com/office/drawing/2014/main" id="{6A521A84-C4C6-C6FD-F261-95B1C4954FC0}"/>
              </a:ext>
            </a:extLst>
          </p:cNvPr>
          <p:cNvSpPr txBox="1"/>
          <p:nvPr/>
        </p:nvSpPr>
        <p:spPr>
          <a:xfrm>
            <a:off x="5463553" y="3627673"/>
            <a:ext cx="324128" cy="400110"/>
          </a:xfrm>
          <a:prstGeom prst="rect">
            <a:avLst/>
          </a:prstGeom>
          <a:noFill/>
        </p:spPr>
        <p:txBody>
          <a:bodyPr wrap="none" rtlCol="0">
            <a:spAutoFit/>
          </a:bodyPr>
          <a:lstStyle/>
          <a:p>
            <a:r>
              <a:rPr lang="en-MY" dirty="0"/>
              <a:t>0</a:t>
            </a:r>
          </a:p>
        </p:txBody>
      </p:sp>
      <p:sp>
        <p:nvSpPr>
          <p:cNvPr id="19" name="TextBox 18">
            <a:extLst>
              <a:ext uri="{FF2B5EF4-FFF2-40B4-BE49-F238E27FC236}">
                <a16:creationId xmlns:a16="http://schemas.microsoft.com/office/drawing/2014/main" id="{66F4C227-38E5-9694-2847-E07D3AA99EBD}"/>
              </a:ext>
            </a:extLst>
          </p:cNvPr>
          <p:cNvSpPr txBox="1"/>
          <p:nvPr/>
        </p:nvSpPr>
        <p:spPr>
          <a:xfrm>
            <a:off x="6393166" y="3627673"/>
            <a:ext cx="324128" cy="400110"/>
          </a:xfrm>
          <a:prstGeom prst="rect">
            <a:avLst/>
          </a:prstGeom>
          <a:noFill/>
        </p:spPr>
        <p:txBody>
          <a:bodyPr wrap="none" rtlCol="0">
            <a:spAutoFit/>
          </a:bodyPr>
          <a:lstStyle/>
          <a:p>
            <a:r>
              <a:rPr lang="en-MY" dirty="0"/>
              <a:t>0</a:t>
            </a:r>
          </a:p>
        </p:txBody>
      </p:sp>
      <p:sp>
        <p:nvSpPr>
          <p:cNvPr id="20" name="TextBox 19">
            <a:extLst>
              <a:ext uri="{FF2B5EF4-FFF2-40B4-BE49-F238E27FC236}">
                <a16:creationId xmlns:a16="http://schemas.microsoft.com/office/drawing/2014/main" id="{614A9D9E-03F6-92A1-725D-1C6CB7488643}"/>
              </a:ext>
            </a:extLst>
          </p:cNvPr>
          <p:cNvSpPr txBox="1"/>
          <p:nvPr/>
        </p:nvSpPr>
        <p:spPr>
          <a:xfrm>
            <a:off x="7322779" y="3627673"/>
            <a:ext cx="324128" cy="400110"/>
          </a:xfrm>
          <a:prstGeom prst="rect">
            <a:avLst/>
          </a:prstGeom>
          <a:noFill/>
        </p:spPr>
        <p:txBody>
          <a:bodyPr wrap="none" rtlCol="0">
            <a:spAutoFit/>
          </a:bodyPr>
          <a:lstStyle/>
          <a:p>
            <a:r>
              <a:rPr lang="en-MY" dirty="0"/>
              <a:t>0</a:t>
            </a:r>
          </a:p>
        </p:txBody>
      </p:sp>
      <p:sp>
        <p:nvSpPr>
          <p:cNvPr id="21" name="Oval 20">
            <a:extLst>
              <a:ext uri="{FF2B5EF4-FFF2-40B4-BE49-F238E27FC236}">
                <a16:creationId xmlns:a16="http://schemas.microsoft.com/office/drawing/2014/main" id="{88824C5B-4104-24CD-DE98-783E9D5E6A67}"/>
              </a:ext>
            </a:extLst>
          </p:cNvPr>
          <p:cNvSpPr/>
          <p:nvPr/>
        </p:nvSpPr>
        <p:spPr>
          <a:xfrm>
            <a:off x="611560" y="28049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Oval 21">
            <a:extLst>
              <a:ext uri="{FF2B5EF4-FFF2-40B4-BE49-F238E27FC236}">
                <a16:creationId xmlns:a16="http://schemas.microsoft.com/office/drawing/2014/main" id="{FA6AEB12-21DE-6268-BAF4-DF7C9FA9BCFE}"/>
              </a:ext>
            </a:extLst>
          </p:cNvPr>
          <p:cNvSpPr/>
          <p:nvPr/>
        </p:nvSpPr>
        <p:spPr>
          <a:xfrm>
            <a:off x="4263611" y="2804931"/>
            <a:ext cx="792088" cy="15841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TextBox 23">
            <a:extLst>
              <a:ext uri="{FF2B5EF4-FFF2-40B4-BE49-F238E27FC236}">
                <a16:creationId xmlns:a16="http://schemas.microsoft.com/office/drawing/2014/main" id="{93A2CBB7-C5A6-771C-51C5-979F8027BB79}"/>
              </a:ext>
            </a:extLst>
          </p:cNvPr>
          <p:cNvSpPr txBox="1"/>
          <p:nvPr/>
        </p:nvSpPr>
        <p:spPr>
          <a:xfrm>
            <a:off x="3012232" y="5036532"/>
            <a:ext cx="2643672" cy="400110"/>
          </a:xfrm>
          <a:prstGeom prst="rect">
            <a:avLst/>
          </a:prstGeom>
          <a:noFill/>
        </p:spPr>
        <p:txBody>
          <a:bodyPr wrap="none" rtlCol="0">
            <a:spAutoFit/>
          </a:bodyPr>
          <a:lstStyle/>
          <a:p>
            <a:r>
              <a:rPr lang="en-MY" dirty="0"/>
              <a:t>-128 + 8 = 10001000</a:t>
            </a:r>
          </a:p>
        </p:txBody>
      </p:sp>
      <p:sp>
        <p:nvSpPr>
          <p:cNvPr id="4" name="Slide Number Placeholder 3">
            <a:extLst>
              <a:ext uri="{FF2B5EF4-FFF2-40B4-BE49-F238E27FC236}">
                <a16:creationId xmlns:a16="http://schemas.microsoft.com/office/drawing/2014/main" id="{52DC48B4-2C52-53B0-CD9B-0BB973642A79}"/>
              </a:ext>
            </a:extLst>
          </p:cNvPr>
          <p:cNvSpPr>
            <a:spLocks noGrp="1"/>
          </p:cNvSpPr>
          <p:nvPr>
            <p:ph type="sldNum" sz="quarter" idx="12"/>
          </p:nvPr>
        </p:nvSpPr>
        <p:spPr/>
        <p:txBody>
          <a:bodyPr/>
          <a:lstStyle/>
          <a:p>
            <a:pPr>
              <a:defRPr/>
            </a:pPr>
            <a:fld id="{B15F286D-88BF-4C85-84EF-53248539BE74}" type="slidenum">
              <a:rPr lang="en-US" altLang="en-US" smtClean="0"/>
              <a:pPr>
                <a:defRPr/>
              </a:pPr>
              <a:t>42</a:t>
            </a:fld>
            <a:endParaRPr lang="en-US" altLang="en-US"/>
          </a:p>
        </p:txBody>
      </p:sp>
    </p:spTree>
    <p:extLst>
      <p:ext uri="{BB962C8B-B14F-4D97-AF65-F5344CB8AC3E}">
        <p14:creationId xmlns:p14="http://schemas.microsoft.com/office/powerpoint/2010/main" val="3407578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aphicFrame>
        <p:nvGraphicFramePr>
          <p:cNvPr id="5" name="Table 38">
            <a:extLst>
              <a:ext uri="{FF2B5EF4-FFF2-40B4-BE49-F238E27FC236}">
                <a16:creationId xmlns:a16="http://schemas.microsoft.com/office/drawing/2014/main" id="{E7BF93AD-576B-851F-DFFC-A86D362E2DF9}"/>
              </a:ext>
            </a:extLst>
          </p:cNvPr>
          <p:cNvGraphicFramePr>
            <a:graphicFrameLocks noGrp="1"/>
          </p:cNvGraphicFramePr>
          <p:nvPr>
            <p:extLst>
              <p:ext uri="{D42A27DB-BD31-4B8C-83A1-F6EECF244321}">
                <p14:modId xmlns:p14="http://schemas.microsoft.com/office/powerpoint/2010/main" val="1916429507"/>
              </p:ext>
            </p:extLst>
          </p:nvPr>
        </p:nvGraphicFramePr>
        <p:xfrm>
          <a:off x="566336" y="4293096"/>
          <a:ext cx="7344816" cy="1056118"/>
        </p:xfrm>
        <a:graphic>
          <a:graphicData uri="http://schemas.openxmlformats.org/drawingml/2006/table">
            <a:tbl>
              <a:tblPr firstRow="1" bandRow="1">
                <a:tableStyleId>{5940675A-B579-460E-94D1-54222C63F5DA}</a:tableStyleId>
              </a:tblPr>
              <a:tblGrid>
                <a:gridCol w="918102">
                  <a:extLst>
                    <a:ext uri="{9D8B030D-6E8A-4147-A177-3AD203B41FA5}">
                      <a16:colId xmlns:a16="http://schemas.microsoft.com/office/drawing/2014/main" val="3646923306"/>
                    </a:ext>
                  </a:extLst>
                </a:gridCol>
                <a:gridCol w="918102">
                  <a:extLst>
                    <a:ext uri="{9D8B030D-6E8A-4147-A177-3AD203B41FA5}">
                      <a16:colId xmlns:a16="http://schemas.microsoft.com/office/drawing/2014/main" val="4127615042"/>
                    </a:ext>
                  </a:extLst>
                </a:gridCol>
                <a:gridCol w="918102">
                  <a:extLst>
                    <a:ext uri="{9D8B030D-6E8A-4147-A177-3AD203B41FA5}">
                      <a16:colId xmlns:a16="http://schemas.microsoft.com/office/drawing/2014/main" val="2313240651"/>
                    </a:ext>
                  </a:extLst>
                </a:gridCol>
                <a:gridCol w="918102">
                  <a:extLst>
                    <a:ext uri="{9D8B030D-6E8A-4147-A177-3AD203B41FA5}">
                      <a16:colId xmlns:a16="http://schemas.microsoft.com/office/drawing/2014/main" val="1781995488"/>
                    </a:ext>
                  </a:extLst>
                </a:gridCol>
                <a:gridCol w="918102">
                  <a:extLst>
                    <a:ext uri="{9D8B030D-6E8A-4147-A177-3AD203B41FA5}">
                      <a16:colId xmlns:a16="http://schemas.microsoft.com/office/drawing/2014/main" val="3730037320"/>
                    </a:ext>
                  </a:extLst>
                </a:gridCol>
                <a:gridCol w="918102">
                  <a:extLst>
                    <a:ext uri="{9D8B030D-6E8A-4147-A177-3AD203B41FA5}">
                      <a16:colId xmlns:a16="http://schemas.microsoft.com/office/drawing/2014/main" val="2900940008"/>
                    </a:ext>
                  </a:extLst>
                </a:gridCol>
                <a:gridCol w="918102">
                  <a:extLst>
                    <a:ext uri="{9D8B030D-6E8A-4147-A177-3AD203B41FA5}">
                      <a16:colId xmlns:a16="http://schemas.microsoft.com/office/drawing/2014/main" val="890559765"/>
                    </a:ext>
                  </a:extLst>
                </a:gridCol>
                <a:gridCol w="918102">
                  <a:extLst>
                    <a:ext uri="{9D8B030D-6E8A-4147-A177-3AD203B41FA5}">
                      <a16:colId xmlns:a16="http://schemas.microsoft.com/office/drawing/2014/main" val="997792698"/>
                    </a:ext>
                  </a:extLst>
                </a:gridCol>
              </a:tblGrid>
              <a:tr h="528059">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528059">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extLst>
                  <a:ext uri="{0D108BD9-81ED-4DB2-BD59-A6C34878D82A}">
                    <a16:rowId xmlns:a16="http://schemas.microsoft.com/office/drawing/2014/main" val="2527677058"/>
                  </a:ext>
                </a:extLst>
              </a:tr>
            </a:tbl>
          </a:graphicData>
        </a:graphic>
      </p:graphicFrame>
      <p:sp>
        <p:nvSpPr>
          <p:cNvPr id="6" name="TextBox 5">
            <a:extLst>
              <a:ext uri="{FF2B5EF4-FFF2-40B4-BE49-F238E27FC236}">
                <a16:creationId xmlns:a16="http://schemas.microsoft.com/office/drawing/2014/main" id="{D51E926F-A55A-7CC7-27D2-63F28A4259E3}"/>
              </a:ext>
            </a:extLst>
          </p:cNvPr>
          <p:cNvSpPr txBox="1"/>
          <p:nvPr/>
        </p:nvSpPr>
        <p:spPr>
          <a:xfrm>
            <a:off x="1619672" y="2555418"/>
            <a:ext cx="1749197" cy="523220"/>
          </a:xfrm>
          <a:prstGeom prst="rect">
            <a:avLst/>
          </a:prstGeom>
          <a:noFill/>
        </p:spPr>
        <p:txBody>
          <a:bodyPr wrap="none" rtlCol="0">
            <a:spAutoFit/>
          </a:bodyPr>
          <a:lstStyle/>
          <a:p>
            <a:r>
              <a:rPr lang="en-MY" sz="2800" dirty="0"/>
              <a:t>10100101</a:t>
            </a:r>
          </a:p>
        </p:txBody>
      </p:sp>
      <p:sp>
        <p:nvSpPr>
          <p:cNvPr id="7" name="TextBox 6">
            <a:extLst>
              <a:ext uri="{FF2B5EF4-FFF2-40B4-BE49-F238E27FC236}">
                <a16:creationId xmlns:a16="http://schemas.microsoft.com/office/drawing/2014/main" id="{4A62D6C9-D611-7331-CFFA-48FAE2A8FE0D}"/>
              </a:ext>
            </a:extLst>
          </p:cNvPr>
          <p:cNvSpPr txBox="1"/>
          <p:nvPr/>
        </p:nvSpPr>
        <p:spPr>
          <a:xfrm>
            <a:off x="4663330" y="2567167"/>
            <a:ext cx="575799" cy="523220"/>
          </a:xfrm>
          <a:prstGeom prst="rect">
            <a:avLst/>
          </a:prstGeom>
          <a:noFill/>
        </p:spPr>
        <p:txBody>
          <a:bodyPr wrap="none" rtlCol="0">
            <a:spAutoFit/>
          </a:bodyPr>
          <a:lstStyle/>
          <a:p>
            <a:r>
              <a:rPr lang="en-MY" sz="2800" dirty="0"/>
              <a:t>66</a:t>
            </a:r>
          </a:p>
        </p:txBody>
      </p:sp>
      <p:sp>
        <p:nvSpPr>
          <p:cNvPr id="8" name="TextBox 7">
            <a:extLst>
              <a:ext uri="{FF2B5EF4-FFF2-40B4-BE49-F238E27FC236}">
                <a16:creationId xmlns:a16="http://schemas.microsoft.com/office/drawing/2014/main" id="{ED0AA748-6643-EF98-38E7-930E6441439A}"/>
              </a:ext>
            </a:extLst>
          </p:cNvPr>
          <p:cNvSpPr txBox="1"/>
          <p:nvPr/>
        </p:nvSpPr>
        <p:spPr>
          <a:xfrm>
            <a:off x="4533487" y="3168068"/>
            <a:ext cx="705642" cy="523220"/>
          </a:xfrm>
          <a:prstGeom prst="rect">
            <a:avLst/>
          </a:prstGeom>
          <a:noFill/>
        </p:spPr>
        <p:txBody>
          <a:bodyPr wrap="none" rtlCol="0">
            <a:spAutoFit/>
          </a:bodyPr>
          <a:lstStyle/>
          <a:p>
            <a:r>
              <a:rPr lang="en-MY" sz="2800" dirty="0"/>
              <a:t>-80</a:t>
            </a:r>
          </a:p>
        </p:txBody>
      </p:sp>
      <p:sp>
        <p:nvSpPr>
          <p:cNvPr id="3" name="Title 2">
            <a:extLst>
              <a:ext uri="{FF2B5EF4-FFF2-40B4-BE49-F238E27FC236}">
                <a16:creationId xmlns:a16="http://schemas.microsoft.com/office/drawing/2014/main" id="{35E6AC8C-70CD-4525-E451-CDBBA1E99525}"/>
              </a:ext>
            </a:extLst>
          </p:cNvPr>
          <p:cNvSpPr>
            <a:spLocks noGrp="1"/>
          </p:cNvSpPr>
          <p:nvPr>
            <p:ph type="title"/>
          </p:nvPr>
        </p:nvSpPr>
        <p:spPr/>
        <p:txBody>
          <a:bodyPr/>
          <a:lstStyle/>
          <a:p>
            <a:r>
              <a:rPr lang="en-MY" dirty="0"/>
              <a:t>In-class activity </a:t>
            </a:r>
          </a:p>
        </p:txBody>
      </p:sp>
      <p:sp>
        <p:nvSpPr>
          <p:cNvPr id="2" name="Slide Number Placeholder 1">
            <a:extLst>
              <a:ext uri="{FF2B5EF4-FFF2-40B4-BE49-F238E27FC236}">
                <a16:creationId xmlns:a16="http://schemas.microsoft.com/office/drawing/2014/main" id="{5BDC20BD-3902-C2F8-D4ED-1DC31682DE3C}"/>
              </a:ext>
            </a:extLst>
          </p:cNvPr>
          <p:cNvSpPr>
            <a:spLocks noGrp="1"/>
          </p:cNvSpPr>
          <p:nvPr>
            <p:ph type="sldNum" sz="quarter" idx="12"/>
          </p:nvPr>
        </p:nvSpPr>
        <p:spPr/>
        <p:txBody>
          <a:bodyPr/>
          <a:lstStyle/>
          <a:p>
            <a:pPr>
              <a:defRPr/>
            </a:pPr>
            <a:fld id="{F9839A35-988A-4C75-AB86-CE687B152A44}" type="slidenum">
              <a:rPr lang="en-US" altLang="en-US" smtClean="0"/>
              <a:pPr>
                <a:defRPr/>
              </a:pPr>
              <a:t>43</a:t>
            </a:fld>
            <a:endParaRPr lang="en-US" altLang="en-US"/>
          </a:p>
        </p:txBody>
      </p:sp>
      <p:sp>
        <p:nvSpPr>
          <p:cNvPr id="12" name="Content Placeholder 11">
            <a:extLst>
              <a:ext uri="{FF2B5EF4-FFF2-40B4-BE49-F238E27FC236}">
                <a16:creationId xmlns:a16="http://schemas.microsoft.com/office/drawing/2014/main" id="{CA65783C-D949-B69B-B517-5D23165D740D}"/>
              </a:ext>
            </a:extLst>
          </p:cNvPr>
          <p:cNvSpPr>
            <a:spLocks noGrp="1"/>
          </p:cNvSpPr>
          <p:nvPr>
            <p:ph idx="1"/>
          </p:nvPr>
        </p:nvSpPr>
        <p:spPr>
          <a:xfrm>
            <a:off x="325211" y="1828801"/>
            <a:ext cx="7887005" cy="736103"/>
          </a:xfrm>
        </p:spPr>
        <p:txBody>
          <a:bodyPr/>
          <a:lstStyle/>
          <a:p>
            <a:pPr marL="0" indent="0">
              <a:buNone/>
            </a:pPr>
            <a:r>
              <a:rPr lang="en-MY" dirty="0"/>
              <a:t>Convert the following: </a:t>
            </a:r>
          </a:p>
        </p:txBody>
      </p:sp>
      <p:sp>
        <p:nvSpPr>
          <p:cNvPr id="13" name="TextBox 12">
            <a:extLst>
              <a:ext uri="{FF2B5EF4-FFF2-40B4-BE49-F238E27FC236}">
                <a16:creationId xmlns:a16="http://schemas.microsoft.com/office/drawing/2014/main" id="{0A8CE869-E9DC-7FC0-FD21-4F8F558D429D}"/>
              </a:ext>
            </a:extLst>
          </p:cNvPr>
          <p:cNvSpPr txBox="1"/>
          <p:nvPr/>
        </p:nvSpPr>
        <p:spPr>
          <a:xfrm>
            <a:off x="1691680" y="3245071"/>
            <a:ext cx="1749197" cy="523220"/>
          </a:xfrm>
          <a:prstGeom prst="rect">
            <a:avLst/>
          </a:prstGeom>
          <a:noFill/>
        </p:spPr>
        <p:txBody>
          <a:bodyPr wrap="none" rtlCol="0">
            <a:spAutoFit/>
          </a:bodyPr>
          <a:lstStyle/>
          <a:p>
            <a:r>
              <a:rPr lang="en-MY" sz="2800" dirty="0"/>
              <a:t>01101101</a:t>
            </a:r>
          </a:p>
        </p:txBody>
      </p:sp>
    </p:spTree>
    <p:extLst>
      <p:ext uri="{BB962C8B-B14F-4D97-AF65-F5344CB8AC3E}">
        <p14:creationId xmlns:p14="http://schemas.microsoft.com/office/powerpoint/2010/main" val="3406559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338B-2F25-8E70-BC83-020E0AD66FA5}"/>
              </a:ext>
            </a:extLst>
          </p:cNvPr>
          <p:cNvSpPr>
            <a:spLocks noGrp="1"/>
          </p:cNvSpPr>
          <p:nvPr>
            <p:ph type="title"/>
          </p:nvPr>
        </p:nvSpPr>
        <p:spPr>
          <a:xfrm>
            <a:off x="325212" y="365760"/>
            <a:ext cx="7890672" cy="1325562"/>
          </a:xfrm>
        </p:spPr>
        <p:txBody>
          <a:bodyPr/>
          <a:lstStyle/>
          <a:p>
            <a:r>
              <a:rPr lang="en-MY" dirty="0"/>
              <a:t>Negation </a:t>
            </a:r>
          </a:p>
        </p:txBody>
      </p:sp>
      <p:sp>
        <p:nvSpPr>
          <p:cNvPr id="3" name="Content Placeholder 2">
            <a:extLst>
              <a:ext uri="{FF2B5EF4-FFF2-40B4-BE49-F238E27FC236}">
                <a16:creationId xmlns:a16="http://schemas.microsoft.com/office/drawing/2014/main" id="{2114E70D-D31D-0566-1C8C-910C71B38CDF}"/>
              </a:ext>
            </a:extLst>
          </p:cNvPr>
          <p:cNvSpPr>
            <a:spLocks noGrp="1"/>
          </p:cNvSpPr>
          <p:nvPr>
            <p:ph idx="1"/>
          </p:nvPr>
        </p:nvSpPr>
        <p:spPr>
          <a:xfrm>
            <a:off x="395536" y="1828801"/>
            <a:ext cx="7704856" cy="4351337"/>
          </a:xfrm>
        </p:spPr>
        <p:txBody>
          <a:bodyPr>
            <a:normAutofit/>
          </a:bodyPr>
          <a:lstStyle/>
          <a:p>
            <a:r>
              <a:rPr lang="en-US" sz="2400" dirty="0"/>
              <a:t>In signed-magnitude representation, the rule for forming the negation of an integer is simple: invert the sign bit. </a:t>
            </a:r>
          </a:p>
          <a:p>
            <a:r>
              <a:rPr lang="en-US" sz="2400" dirty="0"/>
              <a:t>In twos complement notation, the negation of an integer can be formed with the following rules:</a:t>
            </a:r>
          </a:p>
          <a:p>
            <a:pPr marL="0" indent="0">
              <a:buNone/>
            </a:pPr>
            <a:endParaRPr lang="en-US" sz="2400" dirty="0"/>
          </a:p>
          <a:p>
            <a:pPr marL="617220" lvl="1" indent="-342900">
              <a:buFont typeface="+mj-lt"/>
              <a:buAutoNum type="arabicPeriod"/>
            </a:pPr>
            <a:r>
              <a:rPr lang="en-US" sz="2000" dirty="0"/>
              <a:t>Find 1’s complement to the integer </a:t>
            </a:r>
          </a:p>
          <a:p>
            <a:pPr marL="617220" lvl="1" indent="-342900">
              <a:buFont typeface="+mj-lt"/>
              <a:buAutoNum type="arabicPeriod"/>
            </a:pPr>
            <a:r>
              <a:rPr lang="en-US" sz="2000" dirty="0"/>
              <a:t>Add 1 to 1’s complement integer </a:t>
            </a:r>
            <a:endParaRPr lang="en-MY" sz="2000" dirty="0"/>
          </a:p>
        </p:txBody>
      </p:sp>
      <p:sp>
        <p:nvSpPr>
          <p:cNvPr id="4" name="Slide Number Placeholder 3">
            <a:extLst>
              <a:ext uri="{FF2B5EF4-FFF2-40B4-BE49-F238E27FC236}">
                <a16:creationId xmlns:a16="http://schemas.microsoft.com/office/drawing/2014/main" id="{05DF2B66-484A-2C46-4611-C66813EDC91B}"/>
              </a:ext>
            </a:extLst>
          </p:cNvPr>
          <p:cNvSpPr>
            <a:spLocks noGrp="1"/>
          </p:cNvSpPr>
          <p:nvPr>
            <p:ph type="sldNum" sz="quarter" idx="12"/>
          </p:nvPr>
        </p:nvSpPr>
        <p:spPr/>
        <p:txBody>
          <a:bodyPr/>
          <a:lstStyle/>
          <a:p>
            <a:pPr>
              <a:defRPr/>
            </a:pPr>
            <a:fld id="{B15F286D-88BF-4C85-84EF-53248539BE74}" type="slidenum">
              <a:rPr lang="en-US" altLang="en-US" smtClean="0"/>
              <a:pPr>
                <a:defRPr/>
              </a:pPr>
              <a:t>44</a:t>
            </a:fld>
            <a:endParaRPr lang="en-US" altLang="en-US"/>
          </a:p>
        </p:txBody>
      </p:sp>
    </p:spTree>
    <p:extLst>
      <p:ext uri="{BB962C8B-B14F-4D97-AF65-F5344CB8AC3E}">
        <p14:creationId xmlns:p14="http://schemas.microsoft.com/office/powerpoint/2010/main" val="180689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A70FEB-5CA4-5CD7-4CA3-611E3CA593CD}"/>
              </a:ext>
            </a:extLst>
          </p:cNvPr>
          <p:cNvPicPr>
            <a:picLocks noChangeAspect="1"/>
          </p:cNvPicPr>
          <p:nvPr/>
        </p:nvPicPr>
        <p:blipFill>
          <a:blip r:embed="rId2"/>
          <a:stretch>
            <a:fillRect/>
          </a:stretch>
        </p:blipFill>
        <p:spPr>
          <a:xfrm>
            <a:off x="179512" y="260648"/>
            <a:ext cx="5924550" cy="1514475"/>
          </a:xfrm>
          <a:prstGeom prst="rect">
            <a:avLst/>
          </a:prstGeom>
        </p:spPr>
      </p:pic>
      <p:pic>
        <p:nvPicPr>
          <p:cNvPr id="7" name="Picture 6">
            <a:extLst>
              <a:ext uri="{FF2B5EF4-FFF2-40B4-BE49-F238E27FC236}">
                <a16:creationId xmlns:a16="http://schemas.microsoft.com/office/drawing/2014/main" id="{ADB60BBE-640F-8503-7473-A15E47054B98}"/>
              </a:ext>
            </a:extLst>
          </p:cNvPr>
          <p:cNvPicPr>
            <a:picLocks noChangeAspect="1"/>
          </p:cNvPicPr>
          <p:nvPr/>
        </p:nvPicPr>
        <p:blipFill>
          <a:blip r:embed="rId3"/>
          <a:stretch>
            <a:fillRect/>
          </a:stretch>
        </p:blipFill>
        <p:spPr>
          <a:xfrm>
            <a:off x="2483768" y="1819283"/>
            <a:ext cx="5848350" cy="1609725"/>
          </a:xfrm>
          <a:prstGeom prst="rect">
            <a:avLst/>
          </a:prstGeom>
        </p:spPr>
      </p:pic>
      <p:pic>
        <p:nvPicPr>
          <p:cNvPr id="9" name="Picture 8">
            <a:extLst>
              <a:ext uri="{FF2B5EF4-FFF2-40B4-BE49-F238E27FC236}">
                <a16:creationId xmlns:a16="http://schemas.microsoft.com/office/drawing/2014/main" id="{A88AFCB3-E08A-D297-55B6-A9435B3F3FB5}"/>
              </a:ext>
            </a:extLst>
          </p:cNvPr>
          <p:cNvPicPr>
            <a:picLocks noChangeAspect="1"/>
          </p:cNvPicPr>
          <p:nvPr/>
        </p:nvPicPr>
        <p:blipFill>
          <a:blip r:embed="rId4"/>
          <a:stretch>
            <a:fillRect/>
          </a:stretch>
        </p:blipFill>
        <p:spPr>
          <a:xfrm>
            <a:off x="121585" y="3473168"/>
            <a:ext cx="5953125" cy="1609725"/>
          </a:xfrm>
          <a:prstGeom prst="rect">
            <a:avLst/>
          </a:prstGeom>
        </p:spPr>
      </p:pic>
      <p:pic>
        <p:nvPicPr>
          <p:cNvPr id="11" name="Picture 10">
            <a:extLst>
              <a:ext uri="{FF2B5EF4-FFF2-40B4-BE49-F238E27FC236}">
                <a16:creationId xmlns:a16="http://schemas.microsoft.com/office/drawing/2014/main" id="{76FCF0BE-9BE8-C1C0-E9C4-A836A2DE9794}"/>
              </a:ext>
            </a:extLst>
          </p:cNvPr>
          <p:cNvPicPr>
            <a:picLocks noChangeAspect="1"/>
          </p:cNvPicPr>
          <p:nvPr/>
        </p:nvPicPr>
        <p:blipFill>
          <a:blip r:embed="rId5"/>
          <a:stretch>
            <a:fillRect/>
          </a:stretch>
        </p:blipFill>
        <p:spPr>
          <a:xfrm>
            <a:off x="2339752" y="5127053"/>
            <a:ext cx="5876925" cy="1495425"/>
          </a:xfrm>
          <a:prstGeom prst="rect">
            <a:avLst/>
          </a:prstGeom>
        </p:spPr>
      </p:pic>
      <p:sp>
        <p:nvSpPr>
          <p:cNvPr id="2" name="Slide Number Placeholder 1">
            <a:extLst>
              <a:ext uri="{FF2B5EF4-FFF2-40B4-BE49-F238E27FC236}">
                <a16:creationId xmlns:a16="http://schemas.microsoft.com/office/drawing/2014/main" id="{2E51BEBF-3700-B980-04A8-EC49153A0194}"/>
              </a:ext>
            </a:extLst>
          </p:cNvPr>
          <p:cNvSpPr>
            <a:spLocks noGrp="1"/>
          </p:cNvSpPr>
          <p:nvPr>
            <p:ph type="sldNum" sz="quarter" idx="12"/>
          </p:nvPr>
        </p:nvSpPr>
        <p:spPr/>
        <p:txBody>
          <a:bodyPr/>
          <a:lstStyle/>
          <a:p>
            <a:pPr>
              <a:defRPr/>
            </a:pPr>
            <a:fld id="{F9839A35-988A-4C75-AB86-CE687B152A44}" type="slidenum">
              <a:rPr lang="en-US" altLang="en-US" smtClean="0"/>
              <a:pPr>
                <a:defRPr/>
              </a:pPr>
              <a:t>45</a:t>
            </a:fld>
            <a:endParaRPr lang="en-US" altLang="en-US"/>
          </a:p>
        </p:txBody>
      </p:sp>
    </p:spTree>
    <p:extLst>
      <p:ext uri="{BB962C8B-B14F-4D97-AF65-F5344CB8AC3E}">
        <p14:creationId xmlns:p14="http://schemas.microsoft.com/office/powerpoint/2010/main" val="3308032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A6B8-CF0A-5BBF-DF00-FD58B9FC8FC7}"/>
              </a:ext>
            </a:extLst>
          </p:cNvPr>
          <p:cNvSpPr>
            <a:spLocks noGrp="1"/>
          </p:cNvSpPr>
          <p:nvPr>
            <p:ph type="title"/>
          </p:nvPr>
        </p:nvSpPr>
        <p:spPr/>
        <p:txBody>
          <a:bodyPr/>
          <a:lstStyle/>
          <a:p>
            <a:r>
              <a:rPr lang="en-MY" dirty="0"/>
              <a:t>Quick Activity #3</a:t>
            </a:r>
          </a:p>
        </p:txBody>
      </p:sp>
      <p:sp>
        <p:nvSpPr>
          <p:cNvPr id="3" name="Content Placeholder 2">
            <a:extLst>
              <a:ext uri="{FF2B5EF4-FFF2-40B4-BE49-F238E27FC236}">
                <a16:creationId xmlns:a16="http://schemas.microsoft.com/office/drawing/2014/main" id="{8450C50A-5A3B-710D-1431-4EAA10D2FC5B}"/>
              </a:ext>
            </a:extLst>
          </p:cNvPr>
          <p:cNvSpPr>
            <a:spLocks noGrp="1"/>
          </p:cNvSpPr>
          <p:nvPr>
            <p:ph idx="1"/>
          </p:nvPr>
        </p:nvSpPr>
        <p:spPr/>
        <p:txBody>
          <a:bodyPr>
            <a:normAutofit fontScale="92500" lnSpcReduction="20000"/>
          </a:bodyPr>
          <a:lstStyle/>
          <a:p>
            <a:pPr marL="0" indent="0">
              <a:buNone/>
            </a:pPr>
            <a:r>
              <a:rPr lang="en-US" dirty="0"/>
              <a:t>Represent these numbers in 8-bit 2’s complement</a:t>
            </a:r>
          </a:p>
          <a:p>
            <a:pPr marL="342900" indent="-342900">
              <a:buFont typeface="+mj-lt"/>
              <a:buAutoNum type="alphaLcPeriod"/>
            </a:pPr>
            <a:r>
              <a:rPr lang="en-MY" dirty="0"/>
              <a:t>+ 44</a:t>
            </a:r>
          </a:p>
          <a:p>
            <a:pPr marL="342900" indent="-342900">
              <a:buFont typeface="+mj-lt"/>
              <a:buAutoNum type="alphaLcPeriod"/>
            </a:pPr>
            <a:r>
              <a:rPr lang="en-MY" dirty="0"/>
              <a:t>+ 89</a:t>
            </a:r>
          </a:p>
          <a:p>
            <a:pPr marL="342900" indent="-342900">
              <a:buFont typeface="+mj-lt"/>
              <a:buAutoNum type="alphaLcPeriod"/>
            </a:pPr>
            <a:r>
              <a:rPr lang="en-MY" dirty="0"/>
              <a:t>+ 106</a:t>
            </a:r>
          </a:p>
          <a:p>
            <a:pPr marL="342900" indent="-342900">
              <a:buFont typeface="+mj-lt"/>
              <a:buAutoNum type="alphaLcPeriod"/>
            </a:pPr>
            <a:r>
              <a:rPr lang="en-MY" dirty="0"/>
              <a:t>- 18</a:t>
            </a:r>
          </a:p>
          <a:p>
            <a:pPr marL="342900" indent="-342900">
              <a:buFont typeface="+mj-lt"/>
              <a:buAutoNum type="alphaLcPeriod"/>
            </a:pPr>
            <a:r>
              <a:rPr lang="en-MY" dirty="0"/>
              <a:t>- 74</a:t>
            </a:r>
          </a:p>
          <a:p>
            <a:pPr marL="342900" indent="-342900">
              <a:buFont typeface="+mj-lt"/>
              <a:buAutoNum type="alphaLcPeriod"/>
            </a:pPr>
            <a:r>
              <a:rPr lang="en-MY" dirty="0"/>
              <a:t>- 86</a:t>
            </a:r>
          </a:p>
          <a:p>
            <a:pPr marL="342900" indent="-342900">
              <a:buFont typeface="+mj-lt"/>
              <a:buAutoNum type="alphaLcPeriod"/>
            </a:pPr>
            <a:r>
              <a:rPr lang="en-MY" dirty="0"/>
              <a:t>- 99</a:t>
            </a:r>
          </a:p>
          <a:p>
            <a:pPr marL="342900" indent="-342900">
              <a:buFont typeface="+mj-lt"/>
              <a:buAutoNum type="alphaLcPeriod"/>
            </a:pPr>
            <a:r>
              <a:rPr lang="en-MY" dirty="0"/>
              <a:t>- 110</a:t>
            </a:r>
          </a:p>
          <a:p>
            <a:pPr marL="342900" indent="-342900">
              <a:buFont typeface="+mj-lt"/>
              <a:buAutoNum type="alphaLcPeriod"/>
            </a:pPr>
            <a:r>
              <a:rPr lang="en-MY" dirty="0"/>
              <a:t>- 120</a:t>
            </a:r>
          </a:p>
          <a:p>
            <a:pPr marL="342900" indent="-342900">
              <a:buFont typeface="+mj-lt"/>
              <a:buAutoNum type="alphaLcPeriod"/>
            </a:pPr>
            <a:r>
              <a:rPr lang="en-MY" dirty="0"/>
              <a:t>- 128</a:t>
            </a:r>
          </a:p>
        </p:txBody>
      </p:sp>
      <p:sp>
        <p:nvSpPr>
          <p:cNvPr id="4" name="Slide Number Placeholder 3">
            <a:extLst>
              <a:ext uri="{FF2B5EF4-FFF2-40B4-BE49-F238E27FC236}">
                <a16:creationId xmlns:a16="http://schemas.microsoft.com/office/drawing/2014/main" id="{32778536-0F99-172F-EE4D-558390CD8EC3}"/>
              </a:ext>
            </a:extLst>
          </p:cNvPr>
          <p:cNvSpPr>
            <a:spLocks noGrp="1"/>
          </p:cNvSpPr>
          <p:nvPr>
            <p:ph type="sldNum" sz="quarter" idx="12"/>
          </p:nvPr>
        </p:nvSpPr>
        <p:spPr/>
        <p:txBody>
          <a:bodyPr/>
          <a:lstStyle/>
          <a:p>
            <a:pPr>
              <a:defRPr/>
            </a:pPr>
            <a:fld id="{B15F286D-88BF-4C85-84EF-53248539BE74}" type="slidenum">
              <a:rPr lang="en-US" altLang="en-US" smtClean="0"/>
              <a:pPr>
                <a:defRPr/>
              </a:pPr>
              <a:t>46</a:t>
            </a:fld>
            <a:endParaRPr lang="en-US" altLang="en-US"/>
          </a:p>
        </p:txBody>
      </p:sp>
    </p:spTree>
    <p:extLst>
      <p:ext uri="{BB962C8B-B14F-4D97-AF65-F5344CB8AC3E}">
        <p14:creationId xmlns:p14="http://schemas.microsoft.com/office/powerpoint/2010/main" val="3556109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2E779B-8158-1F0C-D191-FCED6CF92161}"/>
              </a:ext>
            </a:extLst>
          </p:cNvPr>
          <p:cNvSpPr>
            <a:spLocks noGrp="1"/>
          </p:cNvSpPr>
          <p:nvPr>
            <p:ph type="title"/>
          </p:nvPr>
        </p:nvSpPr>
        <p:spPr/>
        <p:txBody>
          <a:bodyPr/>
          <a:lstStyle/>
          <a:p>
            <a:r>
              <a:rPr lang="en-MY" dirty="0"/>
              <a:t>2’s complement operations</a:t>
            </a:r>
          </a:p>
        </p:txBody>
      </p:sp>
      <p:sp>
        <p:nvSpPr>
          <p:cNvPr id="7" name="Freeform: Shape 6">
            <a:extLst>
              <a:ext uri="{FF2B5EF4-FFF2-40B4-BE49-F238E27FC236}">
                <a16:creationId xmlns:a16="http://schemas.microsoft.com/office/drawing/2014/main" id="{865B07E9-9608-DC10-630A-068453081CBC}"/>
              </a:ext>
            </a:extLst>
          </p:cNvPr>
          <p:cNvSpPr/>
          <p:nvPr/>
        </p:nvSpPr>
        <p:spPr>
          <a:xfrm>
            <a:off x="754798" y="182918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Addition</a:t>
            </a:r>
            <a:endParaRPr lang="en-MY" sz="3600" kern="1200"/>
          </a:p>
        </p:txBody>
      </p:sp>
      <p:sp>
        <p:nvSpPr>
          <p:cNvPr id="8" name="Freeform: Shape 7">
            <a:extLst>
              <a:ext uri="{FF2B5EF4-FFF2-40B4-BE49-F238E27FC236}">
                <a16:creationId xmlns:a16="http://schemas.microsoft.com/office/drawing/2014/main" id="{CB7B737E-DCD4-D654-F2D5-B330247A3170}"/>
              </a:ext>
            </a:extLst>
          </p:cNvPr>
          <p:cNvSpPr/>
          <p:nvPr/>
        </p:nvSpPr>
        <p:spPr>
          <a:xfrm>
            <a:off x="4436042" y="182918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6039257"/>
              <a:satOff val="-2677"/>
              <a:lumOff val="-5359"/>
              <a:alphaOff val="0"/>
            </a:schemeClr>
          </a:fillRef>
          <a:effectRef idx="0">
            <a:schemeClr val="accent4">
              <a:hueOff val="6039257"/>
              <a:satOff val="-2677"/>
              <a:lumOff val="-5359"/>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Subtraction</a:t>
            </a:r>
            <a:endParaRPr lang="en-MY" sz="3600" kern="1200"/>
          </a:p>
        </p:txBody>
      </p:sp>
      <p:sp>
        <p:nvSpPr>
          <p:cNvPr id="9" name="Freeform: Shape 8">
            <a:extLst>
              <a:ext uri="{FF2B5EF4-FFF2-40B4-BE49-F238E27FC236}">
                <a16:creationId xmlns:a16="http://schemas.microsoft.com/office/drawing/2014/main" id="{3E847A2F-AC97-9C6F-3FDF-C7D387D8A196}"/>
              </a:ext>
            </a:extLst>
          </p:cNvPr>
          <p:cNvSpPr/>
          <p:nvPr/>
        </p:nvSpPr>
        <p:spPr>
          <a:xfrm>
            <a:off x="754798" y="417179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12078514"/>
              <a:satOff val="-5354"/>
              <a:lumOff val="-10719"/>
              <a:alphaOff val="0"/>
            </a:schemeClr>
          </a:fillRef>
          <a:effectRef idx="0">
            <a:schemeClr val="accent4">
              <a:hueOff val="12078514"/>
              <a:satOff val="-5354"/>
              <a:lumOff val="-10719"/>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Multiplication</a:t>
            </a:r>
            <a:endParaRPr lang="en-MY" sz="3600" kern="1200"/>
          </a:p>
        </p:txBody>
      </p:sp>
      <p:sp>
        <p:nvSpPr>
          <p:cNvPr id="10" name="Freeform: Shape 9">
            <a:extLst>
              <a:ext uri="{FF2B5EF4-FFF2-40B4-BE49-F238E27FC236}">
                <a16:creationId xmlns:a16="http://schemas.microsoft.com/office/drawing/2014/main" id="{6603432C-E74E-5792-009E-5C7FB788D075}"/>
              </a:ext>
            </a:extLst>
          </p:cNvPr>
          <p:cNvSpPr/>
          <p:nvPr/>
        </p:nvSpPr>
        <p:spPr>
          <a:xfrm>
            <a:off x="4436042" y="417179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18117770"/>
              <a:satOff val="-8031"/>
              <a:lumOff val="-16078"/>
              <a:alphaOff val="0"/>
            </a:schemeClr>
          </a:fillRef>
          <a:effectRef idx="0">
            <a:schemeClr val="accent4">
              <a:hueOff val="18117770"/>
              <a:satOff val="-8031"/>
              <a:lumOff val="-16078"/>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Division</a:t>
            </a:r>
            <a:endParaRPr lang="en-MY" sz="3600" kern="1200"/>
          </a:p>
        </p:txBody>
      </p:sp>
      <p:sp>
        <p:nvSpPr>
          <p:cNvPr id="2" name="Slide Number Placeholder 1">
            <a:extLst>
              <a:ext uri="{FF2B5EF4-FFF2-40B4-BE49-F238E27FC236}">
                <a16:creationId xmlns:a16="http://schemas.microsoft.com/office/drawing/2014/main" id="{CED37B29-7934-465E-7DC6-47D8D27ECFD5}"/>
              </a:ext>
            </a:extLst>
          </p:cNvPr>
          <p:cNvSpPr>
            <a:spLocks noGrp="1"/>
          </p:cNvSpPr>
          <p:nvPr>
            <p:ph type="sldNum" sz="quarter" idx="12"/>
          </p:nvPr>
        </p:nvSpPr>
        <p:spPr/>
        <p:txBody>
          <a:bodyPr/>
          <a:lstStyle/>
          <a:p>
            <a:pPr>
              <a:defRPr/>
            </a:pPr>
            <a:fld id="{B15F286D-88BF-4C85-84EF-53248539BE74}" type="slidenum">
              <a:rPr lang="en-US" altLang="en-US" smtClean="0"/>
              <a:pPr>
                <a:defRPr/>
              </a:pPr>
              <a:t>47</a:t>
            </a:fld>
            <a:endParaRPr lang="en-US" altLang="en-US"/>
          </a:p>
        </p:txBody>
      </p:sp>
    </p:spTree>
    <p:custDataLst>
      <p:tags r:id="rId1"/>
    </p:custDataLst>
    <p:extLst>
      <p:ext uri="{BB962C8B-B14F-4D97-AF65-F5344CB8AC3E}">
        <p14:creationId xmlns:p14="http://schemas.microsoft.com/office/powerpoint/2010/main" val="2161674133"/>
      </p:ext>
    </p:extLst>
  </p:cSld>
  <p:clrMapOvr>
    <a:masterClrMapping/>
  </p:clrMapOvr>
  <mc:AlternateContent xmlns:mc="http://schemas.openxmlformats.org/markup-compatibility/2006" xmlns:p14="http://schemas.microsoft.com/office/powerpoint/2010/main">
    <mc:Choice Requires="p14">
      <p:transition spd="slow" p14:dur="2000" advTm="27259"/>
    </mc:Choice>
    <mc:Fallback xmlns="">
      <p:transition spd="slow" advTm="27259"/>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7E67-5DD7-B4BD-A7DB-54758E6DB02F}"/>
              </a:ext>
            </a:extLst>
          </p:cNvPr>
          <p:cNvSpPr>
            <a:spLocks noGrp="1"/>
          </p:cNvSpPr>
          <p:nvPr>
            <p:ph type="title"/>
          </p:nvPr>
        </p:nvSpPr>
        <p:spPr/>
        <p:txBody>
          <a:bodyPr/>
          <a:lstStyle/>
          <a:p>
            <a:r>
              <a:rPr lang="en-MY" dirty="0"/>
              <a:t>Addition in 2’s in complement</a:t>
            </a:r>
          </a:p>
        </p:txBody>
      </p:sp>
      <p:pic>
        <p:nvPicPr>
          <p:cNvPr id="5" name="Picture 4">
            <a:extLst>
              <a:ext uri="{FF2B5EF4-FFF2-40B4-BE49-F238E27FC236}">
                <a16:creationId xmlns:a16="http://schemas.microsoft.com/office/drawing/2014/main" id="{F7EBB214-C79B-038A-1755-D2B4DACC380A}"/>
              </a:ext>
            </a:extLst>
          </p:cNvPr>
          <p:cNvPicPr>
            <a:picLocks noChangeAspect="1"/>
          </p:cNvPicPr>
          <p:nvPr/>
        </p:nvPicPr>
        <p:blipFill>
          <a:blip r:embed="rId2"/>
          <a:stretch>
            <a:fillRect/>
          </a:stretch>
        </p:blipFill>
        <p:spPr>
          <a:xfrm>
            <a:off x="1259632" y="1772816"/>
            <a:ext cx="6612310" cy="4719424"/>
          </a:xfrm>
          <a:prstGeom prst="rect">
            <a:avLst/>
          </a:prstGeom>
        </p:spPr>
      </p:pic>
      <p:sp>
        <p:nvSpPr>
          <p:cNvPr id="3" name="Slide Number Placeholder 2">
            <a:extLst>
              <a:ext uri="{FF2B5EF4-FFF2-40B4-BE49-F238E27FC236}">
                <a16:creationId xmlns:a16="http://schemas.microsoft.com/office/drawing/2014/main" id="{9C7E54CF-B0E6-3ED3-77D1-4C70C45FCF86}"/>
              </a:ext>
            </a:extLst>
          </p:cNvPr>
          <p:cNvSpPr>
            <a:spLocks noGrp="1"/>
          </p:cNvSpPr>
          <p:nvPr>
            <p:ph type="sldNum" sz="quarter" idx="12"/>
          </p:nvPr>
        </p:nvSpPr>
        <p:spPr/>
        <p:txBody>
          <a:bodyPr/>
          <a:lstStyle/>
          <a:p>
            <a:pPr>
              <a:defRPr/>
            </a:pPr>
            <a:fld id="{B15F286D-88BF-4C85-84EF-53248539BE74}" type="slidenum">
              <a:rPr lang="en-US" altLang="en-US" smtClean="0"/>
              <a:pPr>
                <a:defRPr/>
              </a:pPr>
              <a:t>48</a:t>
            </a:fld>
            <a:endParaRPr lang="en-US" altLang="en-US"/>
          </a:p>
        </p:txBody>
      </p:sp>
    </p:spTree>
    <p:extLst>
      <p:ext uri="{BB962C8B-B14F-4D97-AF65-F5344CB8AC3E}">
        <p14:creationId xmlns:p14="http://schemas.microsoft.com/office/powerpoint/2010/main" val="1661638367"/>
      </p:ext>
    </p:extLst>
  </p:cSld>
  <p:clrMapOvr>
    <a:masterClrMapping/>
  </p:clrMapOvr>
  <mc:AlternateContent xmlns:mc="http://schemas.openxmlformats.org/markup-compatibility/2006" xmlns:p14="http://schemas.microsoft.com/office/powerpoint/2010/main">
    <mc:Choice Requires="p14">
      <p:transition spd="slow" p14:dur="2000" advTm="40411"/>
    </mc:Choice>
    <mc:Fallback xmlns="">
      <p:transition spd="slow" advTm="40411"/>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7E67-5DD7-B4BD-A7DB-54758E6DB02F}"/>
              </a:ext>
            </a:extLst>
          </p:cNvPr>
          <p:cNvSpPr>
            <a:spLocks noGrp="1"/>
          </p:cNvSpPr>
          <p:nvPr>
            <p:ph type="title"/>
          </p:nvPr>
        </p:nvSpPr>
        <p:spPr/>
        <p:txBody>
          <a:bodyPr/>
          <a:lstStyle/>
          <a:p>
            <a:r>
              <a:rPr lang="en-MY" dirty="0"/>
              <a:t>Addition and Subtraction</a:t>
            </a:r>
          </a:p>
        </p:txBody>
      </p:sp>
      <p:sp>
        <p:nvSpPr>
          <p:cNvPr id="3" name="Content Placeholder 2">
            <a:extLst>
              <a:ext uri="{FF2B5EF4-FFF2-40B4-BE49-F238E27FC236}">
                <a16:creationId xmlns:a16="http://schemas.microsoft.com/office/drawing/2014/main" id="{13C47EB0-05F0-A911-92DC-96535F2B5107}"/>
              </a:ext>
            </a:extLst>
          </p:cNvPr>
          <p:cNvSpPr>
            <a:spLocks noGrp="1"/>
          </p:cNvSpPr>
          <p:nvPr>
            <p:ph idx="1"/>
          </p:nvPr>
        </p:nvSpPr>
        <p:spPr/>
        <p:txBody>
          <a:bodyPr>
            <a:normAutofit lnSpcReduction="10000"/>
          </a:bodyPr>
          <a:lstStyle/>
          <a:p>
            <a:r>
              <a:rPr lang="en-US" dirty="0"/>
              <a:t>Addition proceeds as if the two numbers were </a:t>
            </a:r>
            <a:r>
              <a:rPr lang="en-US" dirty="0">
                <a:highlight>
                  <a:srgbClr val="FFFF00"/>
                </a:highlight>
              </a:rPr>
              <a:t>unsigned integers</a:t>
            </a:r>
          </a:p>
          <a:p>
            <a:r>
              <a:rPr lang="en-US" dirty="0"/>
              <a:t>If the </a:t>
            </a:r>
            <a:r>
              <a:rPr lang="en-US" b="1" u="sng" dirty="0">
                <a:solidFill>
                  <a:srgbClr val="00B050"/>
                </a:solidFill>
              </a:rPr>
              <a:t>result</a:t>
            </a:r>
            <a:r>
              <a:rPr lang="en-US" dirty="0"/>
              <a:t> of the operation is </a:t>
            </a:r>
            <a:r>
              <a:rPr lang="en-US" b="1" u="sng" dirty="0">
                <a:solidFill>
                  <a:srgbClr val="00B050"/>
                </a:solidFill>
              </a:rPr>
              <a:t>positive</a:t>
            </a:r>
            <a:r>
              <a:rPr lang="en-US" dirty="0"/>
              <a:t>, we get a </a:t>
            </a:r>
            <a:r>
              <a:rPr lang="en-US" b="1" u="sng" dirty="0">
                <a:solidFill>
                  <a:srgbClr val="00B050"/>
                </a:solidFill>
              </a:rPr>
              <a:t>positive</a:t>
            </a:r>
            <a:r>
              <a:rPr lang="en-US" dirty="0"/>
              <a:t> number </a:t>
            </a:r>
            <a:r>
              <a:rPr lang="en-US" b="1" u="sng" dirty="0">
                <a:solidFill>
                  <a:srgbClr val="00B050"/>
                </a:solidFill>
              </a:rPr>
              <a:t>in</a:t>
            </a:r>
            <a:r>
              <a:rPr lang="en-US" dirty="0">
                <a:solidFill>
                  <a:srgbClr val="00B050"/>
                </a:solidFill>
              </a:rPr>
              <a:t> </a:t>
            </a:r>
            <a:r>
              <a:rPr lang="en-US" b="1" u="sng" dirty="0">
                <a:solidFill>
                  <a:srgbClr val="00B050"/>
                </a:solidFill>
              </a:rPr>
              <a:t>2’s complement </a:t>
            </a:r>
            <a:r>
              <a:rPr lang="en-US" dirty="0"/>
              <a:t>form, which is the same as in unsigned integer form</a:t>
            </a:r>
          </a:p>
          <a:p>
            <a:r>
              <a:rPr lang="en-US" dirty="0"/>
              <a:t>If the </a:t>
            </a:r>
            <a:r>
              <a:rPr lang="en-US" b="1" u="sng" dirty="0">
                <a:solidFill>
                  <a:srgbClr val="C00000"/>
                </a:solidFill>
              </a:rPr>
              <a:t>result</a:t>
            </a:r>
            <a:r>
              <a:rPr lang="en-US" dirty="0"/>
              <a:t> of the operation is </a:t>
            </a:r>
            <a:r>
              <a:rPr lang="en-US" b="1" u="sng" dirty="0">
                <a:solidFill>
                  <a:srgbClr val="C00000"/>
                </a:solidFill>
              </a:rPr>
              <a:t>negative</a:t>
            </a:r>
            <a:r>
              <a:rPr lang="en-US" dirty="0"/>
              <a:t>, we get a </a:t>
            </a:r>
            <a:r>
              <a:rPr lang="en-US" b="1" u="sng" dirty="0">
                <a:solidFill>
                  <a:srgbClr val="C00000"/>
                </a:solidFill>
              </a:rPr>
              <a:t>negativ</a:t>
            </a:r>
            <a:r>
              <a:rPr lang="en-US" dirty="0"/>
              <a:t>e number in </a:t>
            </a:r>
            <a:r>
              <a:rPr lang="en-US" b="1" u="sng" dirty="0">
                <a:solidFill>
                  <a:srgbClr val="C00000"/>
                </a:solidFill>
              </a:rPr>
              <a:t>2’s complement </a:t>
            </a:r>
            <a:r>
              <a:rPr lang="en-US" dirty="0"/>
              <a:t>form</a:t>
            </a:r>
          </a:p>
          <a:p>
            <a:r>
              <a:rPr lang="en-US" dirty="0"/>
              <a:t>In some instances, there is a </a:t>
            </a:r>
            <a:r>
              <a:rPr lang="en-US" b="1" u="sng" dirty="0">
                <a:solidFill>
                  <a:srgbClr val="C00000"/>
                </a:solidFill>
              </a:rPr>
              <a:t>carry bit </a:t>
            </a:r>
            <a:r>
              <a:rPr lang="en-US" dirty="0"/>
              <a:t>beyond the end of the word (indicated by shading), which is </a:t>
            </a:r>
            <a:r>
              <a:rPr lang="en-US" b="1" u="sng" dirty="0">
                <a:solidFill>
                  <a:srgbClr val="C00000"/>
                </a:solidFill>
              </a:rPr>
              <a:t>ignored</a:t>
            </a:r>
          </a:p>
          <a:p>
            <a:r>
              <a:rPr lang="en-US" dirty="0"/>
              <a:t>On any addition, the result may be larger than can be held in the word size being used = </a:t>
            </a:r>
            <a:r>
              <a:rPr lang="en-US" sz="2800" b="1" dirty="0">
                <a:solidFill>
                  <a:srgbClr val="FF0000"/>
                </a:solidFill>
              </a:rPr>
              <a:t>OVERFLOW</a:t>
            </a:r>
          </a:p>
          <a:p>
            <a:r>
              <a:rPr lang="en-US" dirty="0"/>
              <a:t>When overflow occurs, the ALU must signal this fact so that no attempt is made to use the result</a:t>
            </a:r>
            <a:endParaRPr lang="en-MY" b="1" dirty="0">
              <a:solidFill>
                <a:srgbClr val="FF0000"/>
              </a:solidFill>
            </a:endParaRPr>
          </a:p>
        </p:txBody>
      </p:sp>
      <p:sp>
        <p:nvSpPr>
          <p:cNvPr id="4" name="Slide Number Placeholder 3">
            <a:extLst>
              <a:ext uri="{FF2B5EF4-FFF2-40B4-BE49-F238E27FC236}">
                <a16:creationId xmlns:a16="http://schemas.microsoft.com/office/drawing/2014/main" id="{2A086716-8C4C-7263-C204-0446A74A1B11}"/>
              </a:ext>
            </a:extLst>
          </p:cNvPr>
          <p:cNvSpPr>
            <a:spLocks noGrp="1"/>
          </p:cNvSpPr>
          <p:nvPr>
            <p:ph type="sldNum" sz="quarter" idx="12"/>
          </p:nvPr>
        </p:nvSpPr>
        <p:spPr/>
        <p:txBody>
          <a:bodyPr/>
          <a:lstStyle/>
          <a:p>
            <a:pPr>
              <a:defRPr/>
            </a:pPr>
            <a:fld id="{B15F286D-88BF-4C85-84EF-53248539BE74}" type="slidenum">
              <a:rPr lang="en-US" altLang="en-US" smtClean="0"/>
              <a:pPr>
                <a:defRPr/>
              </a:pPr>
              <a:t>49</a:t>
            </a:fld>
            <a:endParaRPr lang="en-US" altLang="en-US"/>
          </a:p>
        </p:txBody>
      </p:sp>
    </p:spTree>
    <p:extLst>
      <p:ext uri="{BB962C8B-B14F-4D97-AF65-F5344CB8AC3E}">
        <p14:creationId xmlns:p14="http://schemas.microsoft.com/office/powerpoint/2010/main" val="31087520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7E67-5DD7-B4BD-A7DB-54758E6DB02F}"/>
              </a:ext>
            </a:extLst>
          </p:cNvPr>
          <p:cNvSpPr>
            <a:spLocks noGrp="1"/>
          </p:cNvSpPr>
          <p:nvPr>
            <p:ph type="title"/>
          </p:nvPr>
        </p:nvSpPr>
        <p:spPr/>
        <p:txBody>
          <a:bodyPr/>
          <a:lstStyle/>
          <a:p>
            <a:r>
              <a:rPr lang="en-MY" dirty="0"/>
              <a:t>Overflow rule</a:t>
            </a:r>
          </a:p>
        </p:txBody>
      </p:sp>
      <p:sp>
        <p:nvSpPr>
          <p:cNvPr id="3" name="Content Placeholder 2">
            <a:extLst>
              <a:ext uri="{FF2B5EF4-FFF2-40B4-BE49-F238E27FC236}">
                <a16:creationId xmlns:a16="http://schemas.microsoft.com/office/drawing/2014/main" id="{13C47EB0-05F0-A911-92DC-96535F2B5107}"/>
              </a:ext>
            </a:extLst>
          </p:cNvPr>
          <p:cNvSpPr>
            <a:spLocks noGrp="1"/>
          </p:cNvSpPr>
          <p:nvPr>
            <p:ph idx="1"/>
          </p:nvPr>
        </p:nvSpPr>
        <p:spPr>
          <a:xfrm>
            <a:off x="467544" y="1828801"/>
            <a:ext cx="7488832" cy="4351337"/>
          </a:xfrm>
        </p:spPr>
        <p:txBody>
          <a:bodyPr>
            <a:normAutofit/>
          </a:bodyPr>
          <a:lstStyle/>
          <a:p>
            <a:pPr algn="ctr"/>
            <a:r>
              <a:rPr lang="en-US" sz="3200" dirty="0"/>
              <a:t>If two numbers are added, and they are both positive or both negative, then overflow occurs if and only if the result has the opposite sign.</a:t>
            </a:r>
            <a:endParaRPr lang="en-MY" sz="3200" b="1" dirty="0">
              <a:solidFill>
                <a:srgbClr val="FF0000"/>
              </a:solidFill>
            </a:endParaRPr>
          </a:p>
        </p:txBody>
      </p:sp>
      <p:sp>
        <p:nvSpPr>
          <p:cNvPr id="4" name="TextBox 3">
            <a:extLst>
              <a:ext uri="{FF2B5EF4-FFF2-40B4-BE49-F238E27FC236}">
                <a16:creationId xmlns:a16="http://schemas.microsoft.com/office/drawing/2014/main" id="{D91186A6-A49B-399C-BB36-2A639979551F}"/>
              </a:ext>
            </a:extLst>
          </p:cNvPr>
          <p:cNvSpPr txBox="1"/>
          <p:nvPr/>
        </p:nvSpPr>
        <p:spPr>
          <a:xfrm>
            <a:off x="2721006" y="4437112"/>
            <a:ext cx="2981907" cy="584775"/>
          </a:xfrm>
          <a:prstGeom prst="rect">
            <a:avLst/>
          </a:prstGeom>
          <a:noFill/>
        </p:spPr>
        <p:txBody>
          <a:bodyPr wrap="none" rtlCol="0">
            <a:spAutoFit/>
          </a:bodyPr>
          <a:lstStyle/>
          <a:p>
            <a:r>
              <a:rPr lang="en-MY" sz="3200" dirty="0"/>
              <a:t>(+) + (+) = (-)</a:t>
            </a:r>
          </a:p>
        </p:txBody>
      </p:sp>
      <p:sp>
        <p:nvSpPr>
          <p:cNvPr id="8" name="TextBox 7">
            <a:extLst>
              <a:ext uri="{FF2B5EF4-FFF2-40B4-BE49-F238E27FC236}">
                <a16:creationId xmlns:a16="http://schemas.microsoft.com/office/drawing/2014/main" id="{3A3F93AB-0028-9C40-D308-A7DA613ED1E8}"/>
              </a:ext>
            </a:extLst>
          </p:cNvPr>
          <p:cNvSpPr txBox="1"/>
          <p:nvPr/>
        </p:nvSpPr>
        <p:spPr>
          <a:xfrm>
            <a:off x="2870086" y="5159366"/>
            <a:ext cx="2961067" cy="584775"/>
          </a:xfrm>
          <a:prstGeom prst="rect">
            <a:avLst/>
          </a:prstGeom>
          <a:noFill/>
        </p:spPr>
        <p:txBody>
          <a:bodyPr wrap="none" rtlCol="0">
            <a:spAutoFit/>
          </a:bodyPr>
          <a:lstStyle/>
          <a:p>
            <a:r>
              <a:rPr lang="en-MY" sz="3200" dirty="0"/>
              <a:t>(-) + (-)  = (+)</a:t>
            </a:r>
          </a:p>
        </p:txBody>
      </p:sp>
      <p:sp>
        <p:nvSpPr>
          <p:cNvPr id="10" name="Rectangle 9">
            <a:extLst>
              <a:ext uri="{FF2B5EF4-FFF2-40B4-BE49-F238E27FC236}">
                <a16:creationId xmlns:a16="http://schemas.microsoft.com/office/drawing/2014/main" id="{2D717ECD-3E31-4C48-AB05-F639C71E4BAF}"/>
              </a:ext>
            </a:extLst>
          </p:cNvPr>
          <p:cNvSpPr/>
          <p:nvPr/>
        </p:nvSpPr>
        <p:spPr>
          <a:xfrm>
            <a:off x="5023104" y="4331274"/>
            <a:ext cx="808049" cy="1656184"/>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1" name="Callout: Line 10">
            <a:extLst>
              <a:ext uri="{FF2B5EF4-FFF2-40B4-BE49-F238E27FC236}">
                <a16:creationId xmlns:a16="http://schemas.microsoft.com/office/drawing/2014/main" id="{647F1B12-C0F6-902B-D8EE-D0C0BD2575D2}"/>
              </a:ext>
            </a:extLst>
          </p:cNvPr>
          <p:cNvSpPr/>
          <p:nvPr/>
        </p:nvSpPr>
        <p:spPr>
          <a:xfrm>
            <a:off x="6588224" y="4437112"/>
            <a:ext cx="1736371" cy="690613"/>
          </a:xfrm>
          <a:prstGeom prst="borderCallout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solidFill>
                  <a:schemeClr val="tx1"/>
                </a:solidFill>
              </a:rPr>
              <a:t>Sign bit </a:t>
            </a:r>
          </a:p>
        </p:txBody>
      </p:sp>
      <p:pic>
        <p:nvPicPr>
          <p:cNvPr id="12" name="Picture 11">
            <a:extLst>
              <a:ext uri="{FF2B5EF4-FFF2-40B4-BE49-F238E27FC236}">
                <a16:creationId xmlns:a16="http://schemas.microsoft.com/office/drawing/2014/main" id="{58EACCB0-4081-CACE-6706-2A25286173A4}"/>
              </a:ext>
            </a:extLst>
          </p:cNvPr>
          <p:cNvPicPr>
            <a:picLocks noChangeAspect="1"/>
          </p:cNvPicPr>
          <p:nvPr/>
        </p:nvPicPr>
        <p:blipFill rotWithShape="1">
          <a:blip r:embed="rId2"/>
          <a:srcRect r="4611"/>
          <a:stretch/>
        </p:blipFill>
        <p:spPr>
          <a:xfrm>
            <a:off x="325211" y="476975"/>
            <a:ext cx="7890673" cy="5904050"/>
          </a:xfrm>
          <a:prstGeom prst="rect">
            <a:avLst/>
          </a:prstGeom>
        </p:spPr>
      </p:pic>
      <p:sp>
        <p:nvSpPr>
          <p:cNvPr id="13" name="Rectangle 12">
            <a:extLst>
              <a:ext uri="{FF2B5EF4-FFF2-40B4-BE49-F238E27FC236}">
                <a16:creationId xmlns:a16="http://schemas.microsoft.com/office/drawing/2014/main" id="{FBD8964E-CADA-E9EB-E2C1-BA029A1F6A07}"/>
              </a:ext>
            </a:extLst>
          </p:cNvPr>
          <p:cNvSpPr/>
          <p:nvPr/>
        </p:nvSpPr>
        <p:spPr>
          <a:xfrm>
            <a:off x="467544" y="4331274"/>
            <a:ext cx="7632848" cy="2049751"/>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TextBox 13">
            <a:extLst>
              <a:ext uri="{FF2B5EF4-FFF2-40B4-BE49-F238E27FC236}">
                <a16:creationId xmlns:a16="http://schemas.microsoft.com/office/drawing/2014/main" id="{8044E3E8-6455-5418-285B-418D7D420738}"/>
              </a:ext>
            </a:extLst>
          </p:cNvPr>
          <p:cNvSpPr txBox="1"/>
          <p:nvPr/>
        </p:nvSpPr>
        <p:spPr>
          <a:xfrm>
            <a:off x="8232048" y="116632"/>
            <a:ext cx="865035" cy="995422"/>
          </a:xfrm>
          <a:prstGeom prst="ellipse">
            <a:avLst/>
          </a:prstGeom>
          <a:solidFill>
            <a:srgbClr val="FFFF00"/>
          </a:solidFill>
        </p:spPr>
        <p:txBody>
          <a:bodyPr wrap="square" rtlCol="0">
            <a:spAutoFit/>
          </a:bodyPr>
          <a:lstStyle/>
          <a:p>
            <a:pPr algn="ctr"/>
            <a:r>
              <a:rPr lang="en-MY" dirty="0">
                <a:solidFill>
                  <a:srgbClr val="FF0000"/>
                </a:solidFill>
              </a:rPr>
              <a:t>0 +</a:t>
            </a:r>
          </a:p>
          <a:p>
            <a:pPr algn="ctr"/>
            <a:r>
              <a:rPr lang="en-MY" dirty="0">
                <a:solidFill>
                  <a:srgbClr val="FF0000"/>
                </a:solidFill>
              </a:rPr>
              <a:t>1-</a:t>
            </a:r>
          </a:p>
        </p:txBody>
      </p:sp>
      <p:cxnSp>
        <p:nvCxnSpPr>
          <p:cNvPr id="16" name="Straight Arrow Connector 15">
            <a:extLst>
              <a:ext uri="{FF2B5EF4-FFF2-40B4-BE49-F238E27FC236}">
                <a16:creationId xmlns:a16="http://schemas.microsoft.com/office/drawing/2014/main" id="{E9D449F4-9EB8-F488-53EF-F4CAE3B0914F}"/>
              </a:ext>
            </a:extLst>
          </p:cNvPr>
          <p:cNvCxnSpPr>
            <a:cxnSpLocks/>
          </p:cNvCxnSpPr>
          <p:nvPr/>
        </p:nvCxnSpPr>
        <p:spPr>
          <a:xfrm flipH="1" flipV="1">
            <a:off x="1331640" y="5517232"/>
            <a:ext cx="216024" cy="5760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52B5460-A710-2471-176C-615A3AEE23A7}"/>
              </a:ext>
            </a:extLst>
          </p:cNvPr>
          <p:cNvCxnSpPr>
            <a:cxnSpLocks/>
          </p:cNvCxnSpPr>
          <p:nvPr/>
        </p:nvCxnSpPr>
        <p:spPr>
          <a:xfrm flipH="1" flipV="1">
            <a:off x="5211104" y="5507734"/>
            <a:ext cx="216024" cy="5760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36A07EB-F9FE-6C7A-9017-46CB1C4C1DB0}"/>
              </a:ext>
            </a:extLst>
          </p:cNvPr>
          <p:cNvSpPr>
            <a:spLocks noGrp="1"/>
          </p:cNvSpPr>
          <p:nvPr>
            <p:ph type="sldNum" sz="quarter" idx="12"/>
          </p:nvPr>
        </p:nvSpPr>
        <p:spPr/>
        <p:txBody>
          <a:bodyPr/>
          <a:lstStyle/>
          <a:p>
            <a:pPr>
              <a:defRPr/>
            </a:pPr>
            <a:fld id="{B15F286D-88BF-4C85-84EF-53248539BE74}" type="slidenum">
              <a:rPr lang="en-US" altLang="en-US" smtClean="0"/>
              <a:pPr>
                <a:defRPr/>
              </a:pPr>
              <a:t>50</a:t>
            </a:fld>
            <a:endParaRPr lang="en-US" altLang="en-US"/>
          </a:p>
        </p:txBody>
      </p:sp>
    </p:spTree>
    <p:extLst>
      <p:ext uri="{BB962C8B-B14F-4D97-AF65-F5344CB8AC3E}">
        <p14:creationId xmlns:p14="http://schemas.microsoft.com/office/powerpoint/2010/main" val="81374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animBg="1"/>
      <p:bldP spid="11" grpId="0" animBg="1"/>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FECD-13B7-CB65-8299-11A8DACF067F}"/>
              </a:ext>
            </a:extLst>
          </p:cNvPr>
          <p:cNvSpPr>
            <a:spLocks noGrp="1"/>
          </p:cNvSpPr>
          <p:nvPr>
            <p:ph type="title"/>
          </p:nvPr>
        </p:nvSpPr>
        <p:spPr/>
        <p:txBody>
          <a:bodyPr/>
          <a:lstStyle/>
          <a:p>
            <a:r>
              <a:rPr lang="en-MY" dirty="0"/>
              <a:t>Rules of Binary Arithmetic</a:t>
            </a:r>
          </a:p>
        </p:txBody>
      </p:sp>
      <p:sp>
        <p:nvSpPr>
          <p:cNvPr id="4" name="Content Placeholder 3">
            <a:extLst>
              <a:ext uri="{FF2B5EF4-FFF2-40B4-BE49-F238E27FC236}">
                <a16:creationId xmlns:a16="http://schemas.microsoft.com/office/drawing/2014/main" id="{CAE825CE-3E15-E7C8-46C5-C3493726ECAD}"/>
              </a:ext>
            </a:extLst>
          </p:cNvPr>
          <p:cNvSpPr>
            <a:spLocks noGrp="1"/>
          </p:cNvSpPr>
          <p:nvPr>
            <p:ph sz="half" idx="1"/>
          </p:nvPr>
        </p:nvSpPr>
        <p:spPr>
          <a:xfrm>
            <a:off x="539552" y="1828801"/>
            <a:ext cx="4392488" cy="2248271"/>
          </a:xfrm>
          <a:solidFill>
            <a:schemeClr val="accent3">
              <a:lumMod val="20000"/>
              <a:lumOff val="80000"/>
            </a:schemeClr>
          </a:solidFill>
        </p:spPr>
        <p:txBody>
          <a:bodyPr>
            <a:normAutofit/>
          </a:bodyPr>
          <a:lstStyle/>
          <a:p>
            <a:pPr marL="0" indent="0">
              <a:buNone/>
            </a:pPr>
            <a:r>
              <a:rPr lang="en-US" b="1" dirty="0">
                <a:solidFill>
                  <a:srgbClr val="00B050"/>
                </a:solidFill>
              </a:rPr>
              <a:t>Binary Addition</a:t>
            </a:r>
          </a:p>
          <a:p>
            <a:r>
              <a:rPr lang="en-US" dirty="0"/>
              <a:t>0 + 0 = 0</a:t>
            </a:r>
          </a:p>
          <a:p>
            <a:r>
              <a:rPr lang="en-US" dirty="0"/>
              <a:t>0 + 1 = 1</a:t>
            </a:r>
          </a:p>
          <a:p>
            <a:r>
              <a:rPr lang="en-US" dirty="0"/>
              <a:t>1 + 0 = 1 </a:t>
            </a:r>
          </a:p>
          <a:p>
            <a:r>
              <a:rPr lang="en-US" dirty="0"/>
              <a:t>1 + 1 = 0 Sum of 0 with a carry of 1</a:t>
            </a:r>
            <a:endParaRPr lang="en-MY" dirty="0"/>
          </a:p>
        </p:txBody>
      </p:sp>
      <p:sp>
        <p:nvSpPr>
          <p:cNvPr id="6" name="Content Placeholder 3">
            <a:extLst>
              <a:ext uri="{FF2B5EF4-FFF2-40B4-BE49-F238E27FC236}">
                <a16:creationId xmlns:a16="http://schemas.microsoft.com/office/drawing/2014/main" id="{F544C075-A4C2-3771-29F7-5D3E07F9287B}"/>
              </a:ext>
            </a:extLst>
          </p:cNvPr>
          <p:cNvSpPr txBox="1">
            <a:spLocks/>
          </p:cNvSpPr>
          <p:nvPr/>
        </p:nvSpPr>
        <p:spPr>
          <a:xfrm>
            <a:off x="541328" y="4243969"/>
            <a:ext cx="4390712" cy="2248271"/>
          </a:xfrm>
          <a:prstGeom prst="rect">
            <a:avLst/>
          </a:prstGeom>
          <a:solidFill>
            <a:schemeClr val="accent5">
              <a:lumMod val="20000"/>
              <a:lumOff val="80000"/>
            </a:schemeClr>
          </a:solidFill>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fontAlgn="auto">
              <a:buFont typeface="Arial" pitchFamily="34" charset="0"/>
              <a:buNone/>
            </a:pPr>
            <a:r>
              <a:rPr kumimoji="0" lang="en-US" b="1" dirty="0">
                <a:solidFill>
                  <a:srgbClr val="7030A0"/>
                </a:solidFill>
              </a:rPr>
              <a:t>Binary Subtraction</a:t>
            </a:r>
          </a:p>
          <a:p>
            <a:pPr fontAlgn="auto"/>
            <a:r>
              <a:rPr kumimoji="0" lang="en-US" dirty="0"/>
              <a:t>0 – 0 = 0</a:t>
            </a:r>
          </a:p>
          <a:p>
            <a:pPr fontAlgn="auto"/>
            <a:r>
              <a:rPr kumimoji="0" lang="en-US" dirty="0"/>
              <a:t>1 – 0 = 1 </a:t>
            </a:r>
          </a:p>
          <a:p>
            <a:pPr fontAlgn="auto"/>
            <a:r>
              <a:rPr kumimoji="0" lang="en-US" dirty="0"/>
              <a:t>1 – 1 = 0 </a:t>
            </a:r>
          </a:p>
          <a:p>
            <a:pPr fontAlgn="auto"/>
            <a:r>
              <a:rPr kumimoji="0" lang="en-US" dirty="0"/>
              <a:t>0 = 1 = 1 (Borrow 1) </a:t>
            </a:r>
          </a:p>
        </p:txBody>
      </p:sp>
      <p:sp>
        <p:nvSpPr>
          <p:cNvPr id="7" name="Content Placeholder 3">
            <a:extLst>
              <a:ext uri="{FF2B5EF4-FFF2-40B4-BE49-F238E27FC236}">
                <a16:creationId xmlns:a16="http://schemas.microsoft.com/office/drawing/2014/main" id="{6D094963-D286-CDE1-D877-73EF4D85C4B8}"/>
              </a:ext>
            </a:extLst>
          </p:cNvPr>
          <p:cNvSpPr txBox="1">
            <a:spLocks/>
          </p:cNvSpPr>
          <p:nvPr/>
        </p:nvSpPr>
        <p:spPr>
          <a:xfrm>
            <a:off x="5119540" y="2614031"/>
            <a:ext cx="3096344" cy="2248271"/>
          </a:xfrm>
          <a:prstGeom prst="rect">
            <a:avLst/>
          </a:prstGeom>
          <a:solidFill>
            <a:schemeClr val="accent6">
              <a:lumMod val="20000"/>
              <a:lumOff val="80000"/>
            </a:schemeClr>
          </a:solidFill>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fontAlgn="auto">
              <a:buFont typeface="Arial" pitchFamily="34" charset="0"/>
              <a:buNone/>
            </a:pPr>
            <a:r>
              <a:rPr kumimoji="0" lang="en-US" b="1" dirty="0">
                <a:solidFill>
                  <a:srgbClr val="FF0000"/>
                </a:solidFill>
              </a:rPr>
              <a:t>Binary Multiplication</a:t>
            </a:r>
          </a:p>
          <a:p>
            <a:pPr fontAlgn="auto"/>
            <a:r>
              <a:rPr kumimoji="0" lang="en-US" dirty="0"/>
              <a:t>0 × 0 = 0</a:t>
            </a:r>
          </a:p>
          <a:p>
            <a:pPr fontAlgn="auto"/>
            <a:r>
              <a:rPr kumimoji="0" lang="en-US" dirty="0"/>
              <a:t>0 × 1 = 0</a:t>
            </a:r>
          </a:p>
          <a:p>
            <a:pPr fontAlgn="auto"/>
            <a:r>
              <a:rPr kumimoji="0" lang="en-US" dirty="0"/>
              <a:t>1 × 0 = 0</a:t>
            </a:r>
          </a:p>
          <a:p>
            <a:pPr fontAlgn="auto"/>
            <a:r>
              <a:rPr kumimoji="0" lang="en-US" dirty="0"/>
              <a:t>1 × 1 = 1</a:t>
            </a:r>
            <a:endParaRPr kumimoji="0" lang="en-MY" dirty="0"/>
          </a:p>
        </p:txBody>
      </p:sp>
      <p:sp>
        <p:nvSpPr>
          <p:cNvPr id="3" name="Slide Number Placeholder 2">
            <a:extLst>
              <a:ext uri="{FF2B5EF4-FFF2-40B4-BE49-F238E27FC236}">
                <a16:creationId xmlns:a16="http://schemas.microsoft.com/office/drawing/2014/main" id="{E03BDE22-C36D-AA1F-F628-DF242F279FF8}"/>
              </a:ext>
            </a:extLst>
          </p:cNvPr>
          <p:cNvSpPr>
            <a:spLocks noGrp="1"/>
          </p:cNvSpPr>
          <p:nvPr>
            <p:ph type="sldNum" sz="quarter" idx="12"/>
          </p:nvPr>
        </p:nvSpPr>
        <p:spPr/>
        <p:txBody>
          <a:bodyPr/>
          <a:lstStyle/>
          <a:p>
            <a:pPr>
              <a:defRPr/>
            </a:pPr>
            <a:fld id="{CC9E3ACB-4A13-4076-B03A-38C2B1598E0C}" type="slidenum">
              <a:rPr lang="en-US" altLang="en-US" smtClean="0"/>
              <a:pPr>
                <a:defRPr/>
              </a:pPr>
              <a:t>51</a:t>
            </a:fld>
            <a:endParaRPr lang="en-US" altLang="en-US"/>
          </a:p>
        </p:txBody>
      </p:sp>
    </p:spTree>
    <p:extLst>
      <p:ext uri="{BB962C8B-B14F-4D97-AF65-F5344CB8AC3E}">
        <p14:creationId xmlns:p14="http://schemas.microsoft.com/office/powerpoint/2010/main" val="2967175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AD11-ACF1-DBC6-79E6-4FBB56C83F18}"/>
              </a:ext>
            </a:extLst>
          </p:cNvPr>
          <p:cNvSpPr>
            <a:spLocks noGrp="1"/>
          </p:cNvSpPr>
          <p:nvPr>
            <p:ph type="title"/>
          </p:nvPr>
        </p:nvSpPr>
        <p:spPr>
          <a:xfrm>
            <a:off x="321544" y="230582"/>
            <a:ext cx="7890672" cy="614968"/>
          </a:xfrm>
        </p:spPr>
        <p:txBody>
          <a:bodyPr>
            <a:normAutofit fontScale="90000"/>
          </a:bodyPr>
          <a:lstStyle/>
          <a:p>
            <a:r>
              <a:rPr lang="en-MY" dirty="0"/>
              <a:t>Addition (Example 1)  </a:t>
            </a:r>
          </a:p>
        </p:txBody>
      </p:sp>
      <p:sp>
        <p:nvSpPr>
          <p:cNvPr id="3" name="Content Placeholder 2">
            <a:extLst>
              <a:ext uri="{FF2B5EF4-FFF2-40B4-BE49-F238E27FC236}">
                <a16:creationId xmlns:a16="http://schemas.microsoft.com/office/drawing/2014/main" id="{C8CB4011-4F87-D003-1A51-11C1CC0C04C7}"/>
              </a:ext>
            </a:extLst>
          </p:cNvPr>
          <p:cNvSpPr>
            <a:spLocks noGrp="1"/>
          </p:cNvSpPr>
          <p:nvPr>
            <p:ph idx="1"/>
          </p:nvPr>
        </p:nvSpPr>
        <p:spPr>
          <a:xfrm>
            <a:off x="346298" y="1020744"/>
            <a:ext cx="7887005" cy="416297"/>
          </a:xfrm>
        </p:spPr>
        <p:txBody>
          <a:bodyPr/>
          <a:lstStyle/>
          <a:p>
            <a:pPr marL="0" indent="0">
              <a:buNone/>
            </a:pPr>
            <a:r>
              <a:rPr lang="en-MY" dirty="0"/>
              <a:t>Add two 4-bits 2’s complement of 4 and 3</a:t>
            </a:r>
          </a:p>
        </p:txBody>
      </p:sp>
      <p:graphicFrame>
        <p:nvGraphicFramePr>
          <p:cNvPr id="4" name="Table 38">
            <a:extLst>
              <a:ext uri="{FF2B5EF4-FFF2-40B4-BE49-F238E27FC236}">
                <a16:creationId xmlns:a16="http://schemas.microsoft.com/office/drawing/2014/main" id="{35F24F6B-6FE1-F473-C6FA-64BA7953597F}"/>
              </a:ext>
            </a:extLst>
          </p:cNvPr>
          <p:cNvGraphicFramePr>
            <a:graphicFrameLocks noGrp="1"/>
          </p:cNvGraphicFramePr>
          <p:nvPr>
            <p:extLst>
              <p:ext uri="{D42A27DB-BD31-4B8C-83A1-F6EECF244321}">
                <p14:modId xmlns:p14="http://schemas.microsoft.com/office/powerpoint/2010/main" val="543165301"/>
              </p:ext>
            </p:extLst>
          </p:nvPr>
        </p:nvGraphicFramePr>
        <p:xfrm>
          <a:off x="467544" y="1892399"/>
          <a:ext cx="7344819" cy="124798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2990339236"/>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5996">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5996">
                <a:tc>
                  <a:txBody>
                    <a:bodyPr/>
                    <a:lstStyle/>
                    <a:p>
                      <a:pPr algn="ctr"/>
                      <a:r>
                        <a:rPr lang="en-MY" sz="1800" dirty="0">
                          <a:solidFill>
                            <a:schemeClr val="tx1"/>
                          </a:solidFill>
                        </a:rPr>
                        <a:t>4</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2527677058"/>
                  </a:ext>
                </a:extLst>
              </a:tr>
              <a:tr h="415996">
                <a:tc>
                  <a:txBody>
                    <a:bodyPr/>
                    <a:lstStyle/>
                    <a:p>
                      <a:pPr algn="ctr"/>
                      <a:r>
                        <a:rPr lang="en-MY" sz="1800" dirty="0">
                          <a:solidFill>
                            <a:schemeClr val="tx1"/>
                          </a:solidFill>
                        </a:rPr>
                        <a:t>3</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197574701"/>
                  </a:ext>
                </a:extLst>
              </a:tr>
            </a:tbl>
          </a:graphicData>
        </a:graphic>
      </p:graphicFrame>
      <p:sp>
        <p:nvSpPr>
          <p:cNvPr id="6" name="Slide Number Placeholder 5">
            <a:extLst>
              <a:ext uri="{FF2B5EF4-FFF2-40B4-BE49-F238E27FC236}">
                <a16:creationId xmlns:a16="http://schemas.microsoft.com/office/drawing/2014/main" id="{584E8905-3D99-BBEF-2F00-44C078A56ACB}"/>
              </a:ext>
            </a:extLst>
          </p:cNvPr>
          <p:cNvSpPr>
            <a:spLocks noGrp="1"/>
          </p:cNvSpPr>
          <p:nvPr>
            <p:ph type="sldNum" sz="quarter" idx="12"/>
          </p:nvPr>
        </p:nvSpPr>
        <p:spPr/>
        <p:txBody>
          <a:bodyPr/>
          <a:lstStyle/>
          <a:p>
            <a:pPr>
              <a:defRPr/>
            </a:pPr>
            <a:fld id="{B15F286D-88BF-4C85-84EF-53248539BE74}" type="slidenum">
              <a:rPr lang="en-US" altLang="en-US" smtClean="0"/>
              <a:pPr>
                <a:defRPr/>
              </a:pPr>
              <a:t>52</a:t>
            </a:fld>
            <a:endParaRPr lang="en-US" altLang="en-US"/>
          </a:p>
        </p:txBody>
      </p:sp>
      <p:sp>
        <p:nvSpPr>
          <p:cNvPr id="8" name="TextBox 7">
            <a:extLst>
              <a:ext uri="{FF2B5EF4-FFF2-40B4-BE49-F238E27FC236}">
                <a16:creationId xmlns:a16="http://schemas.microsoft.com/office/drawing/2014/main" id="{B8958D38-5344-CD88-5D97-2E8D673329A0}"/>
              </a:ext>
            </a:extLst>
          </p:cNvPr>
          <p:cNvSpPr txBox="1"/>
          <p:nvPr/>
        </p:nvSpPr>
        <p:spPr>
          <a:xfrm>
            <a:off x="447546" y="1460152"/>
            <a:ext cx="4625788" cy="400110"/>
          </a:xfrm>
          <a:prstGeom prst="rect">
            <a:avLst/>
          </a:prstGeom>
          <a:noFill/>
        </p:spPr>
        <p:txBody>
          <a:bodyPr wrap="square">
            <a:spAutoFit/>
          </a:bodyPr>
          <a:lstStyle/>
          <a:p>
            <a:r>
              <a:rPr lang="en-MY" dirty="0">
                <a:solidFill>
                  <a:srgbClr val="00B0F0"/>
                </a:solidFill>
              </a:rPr>
              <a:t>Step 1 – Convert 4 and 3 to binary </a:t>
            </a:r>
          </a:p>
        </p:txBody>
      </p:sp>
      <p:sp>
        <p:nvSpPr>
          <p:cNvPr id="12" name="TextBox 11">
            <a:extLst>
              <a:ext uri="{FF2B5EF4-FFF2-40B4-BE49-F238E27FC236}">
                <a16:creationId xmlns:a16="http://schemas.microsoft.com/office/drawing/2014/main" id="{C1B0D9E2-C9B1-FFB4-8E49-D100F5EF04B2}"/>
              </a:ext>
            </a:extLst>
          </p:cNvPr>
          <p:cNvSpPr txBox="1"/>
          <p:nvPr/>
        </p:nvSpPr>
        <p:spPr>
          <a:xfrm>
            <a:off x="342126" y="3315582"/>
            <a:ext cx="4625788" cy="400110"/>
          </a:xfrm>
          <a:prstGeom prst="rect">
            <a:avLst/>
          </a:prstGeom>
          <a:noFill/>
        </p:spPr>
        <p:txBody>
          <a:bodyPr wrap="square">
            <a:spAutoFit/>
          </a:bodyPr>
          <a:lstStyle/>
          <a:p>
            <a:r>
              <a:rPr lang="en-MY" dirty="0">
                <a:solidFill>
                  <a:srgbClr val="00B0F0"/>
                </a:solidFill>
              </a:rPr>
              <a:t>Step 2 – Perform binary addition</a:t>
            </a:r>
          </a:p>
        </p:txBody>
      </p:sp>
      <p:graphicFrame>
        <p:nvGraphicFramePr>
          <p:cNvPr id="13" name="Table 38">
            <a:extLst>
              <a:ext uri="{FF2B5EF4-FFF2-40B4-BE49-F238E27FC236}">
                <a16:creationId xmlns:a16="http://schemas.microsoft.com/office/drawing/2014/main" id="{7E527E3D-AB6F-8A6D-AFBB-20FD1E1A2FDE}"/>
              </a:ext>
            </a:extLst>
          </p:cNvPr>
          <p:cNvGraphicFramePr>
            <a:graphicFrameLocks noGrp="1"/>
          </p:cNvGraphicFramePr>
          <p:nvPr>
            <p:extLst>
              <p:ext uri="{D42A27DB-BD31-4B8C-83A1-F6EECF244321}">
                <p14:modId xmlns:p14="http://schemas.microsoft.com/office/powerpoint/2010/main" val="4239923707"/>
              </p:ext>
            </p:extLst>
          </p:nvPr>
        </p:nvGraphicFramePr>
        <p:xfrm>
          <a:off x="447546" y="3738803"/>
          <a:ext cx="7344819" cy="124798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2990339236"/>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5996">
                <a:tc>
                  <a:txBody>
                    <a:bodyPr/>
                    <a:lstStyle/>
                    <a:p>
                      <a:pPr algn="ctr"/>
                      <a:r>
                        <a:rPr lang="en-MY" sz="1800" b="1" dirty="0">
                          <a:solidFill>
                            <a:schemeClr val="tx1"/>
                          </a:solidFill>
                        </a:rPr>
                        <a:t>4</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747683975"/>
                  </a:ext>
                </a:extLst>
              </a:tr>
              <a:tr h="415996">
                <a:tc>
                  <a:txBody>
                    <a:bodyPr/>
                    <a:lstStyle/>
                    <a:p>
                      <a:pPr algn="ctr"/>
                      <a:r>
                        <a:rPr lang="en-MY" sz="1800" b="1" dirty="0">
                          <a:solidFill>
                            <a:schemeClr val="tx1"/>
                          </a:solidFill>
                        </a:rPr>
                        <a:t>3</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2527677058"/>
                  </a:ext>
                </a:extLst>
              </a:tr>
              <a:tr h="415996">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197574701"/>
                  </a:ext>
                </a:extLst>
              </a:tr>
            </a:tbl>
          </a:graphicData>
        </a:graphic>
      </p:graphicFrame>
      <p:sp>
        <p:nvSpPr>
          <p:cNvPr id="14" name="TextBox 13">
            <a:extLst>
              <a:ext uri="{FF2B5EF4-FFF2-40B4-BE49-F238E27FC236}">
                <a16:creationId xmlns:a16="http://schemas.microsoft.com/office/drawing/2014/main" id="{2C0C8B6A-9424-666C-8815-1F69C776C02A}"/>
              </a:ext>
            </a:extLst>
          </p:cNvPr>
          <p:cNvSpPr txBox="1"/>
          <p:nvPr/>
        </p:nvSpPr>
        <p:spPr>
          <a:xfrm>
            <a:off x="342126" y="5385152"/>
            <a:ext cx="4625788" cy="400110"/>
          </a:xfrm>
          <a:prstGeom prst="rect">
            <a:avLst/>
          </a:prstGeom>
          <a:solidFill>
            <a:srgbClr val="FFFF00"/>
          </a:solidFill>
        </p:spPr>
        <p:txBody>
          <a:bodyPr wrap="square">
            <a:spAutoFit/>
          </a:bodyPr>
          <a:lstStyle/>
          <a:p>
            <a:r>
              <a:rPr lang="en-MY" dirty="0">
                <a:solidFill>
                  <a:srgbClr val="00B050"/>
                </a:solidFill>
              </a:rPr>
              <a:t>Answer: 4 + 3 = 7 = 0111</a:t>
            </a:r>
          </a:p>
        </p:txBody>
      </p:sp>
    </p:spTree>
    <p:extLst>
      <p:ext uri="{BB962C8B-B14F-4D97-AF65-F5344CB8AC3E}">
        <p14:creationId xmlns:p14="http://schemas.microsoft.com/office/powerpoint/2010/main" val="28888997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AD11-ACF1-DBC6-79E6-4FBB56C83F18}"/>
              </a:ext>
            </a:extLst>
          </p:cNvPr>
          <p:cNvSpPr>
            <a:spLocks noGrp="1"/>
          </p:cNvSpPr>
          <p:nvPr>
            <p:ph type="title"/>
          </p:nvPr>
        </p:nvSpPr>
        <p:spPr>
          <a:xfrm>
            <a:off x="325211" y="265678"/>
            <a:ext cx="7890672" cy="744152"/>
          </a:xfrm>
        </p:spPr>
        <p:txBody>
          <a:bodyPr/>
          <a:lstStyle/>
          <a:p>
            <a:r>
              <a:rPr lang="en-MY" dirty="0"/>
              <a:t>Addition (Example 2)  </a:t>
            </a:r>
          </a:p>
        </p:txBody>
      </p:sp>
      <p:sp>
        <p:nvSpPr>
          <p:cNvPr id="3" name="Content Placeholder 2">
            <a:extLst>
              <a:ext uri="{FF2B5EF4-FFF2-40B4-BE49-F238E27FC236}">
                <a16:creationId xmlns:a16="http://schemas.microsoft.com/office/drawing/2014/main" id="{C8CB4011-4F87-D003-1A51-11C1CC0C04C7}"/>
              </a:ext>
            </a:extLst>
          </p:cNvPr>
          <p:cNvSpPr>
            <a:spLocks noGrp="1"/>
          </p:cNvSpPr>
          <p:nvPr>
            <p:ph idx="1"/>
          </p:nvPr>
        </p:nvSpPr>
        <p:spPr>
          <a:xfrm>
            <a:off x="347496" y="1196752"/>
            <a:ext cx="7887005" cy="432048"/>
          </a:xfrm>
        </p:spPr>
        <p:txBody>
          <a:bodyPr/>
          <a:lstStyle/>
          <a:p>
            <a:pPr marL="0" indent="0">
              <a:buNone/>
            </a:pPr>
            <a:r>
              <a:rPr lang="en-MY" dirty="0"/>
              <a:t>Add two 5-bit 2’s complement of 13 and -6</a:t>
            </a:r>
          </a:p>
        </p:txBody>
      </p:sp>
      <p:graphicFrame>
        <p:nvGraphicFramePr>
          <p:cNvPr id="4" name="Table 38">
            <a:extLst>
              <a:ext uri="{FF2B5EF4-FFF2-40B4-BE49-F238E27FC236}">
                <a16:creationId xmlns:a16="http://schemas.microsoft.com/office/drawing/2014/main" id="{35F24F6B-6FE1-F473-C6FA-64BA7953597F}"/>
              </a:ext>
            </a:extLst>
          </p:cNvPr>
          <p:cNvGraphicFramePr>
            <a:graphicFrameLocks noGrp="1"/>
          </p:cNvGraphicFramePr>
          <p:nvPr>
            <p:extLst>
              <p:ext uri="{D42A27DB-BD31-4B8C-83A1-F6EECF244321}">
                <p14:modId xmlns:p14="http://schemas.microsoft.com/office/powerpoint/2010/main" val="2319678215"/>
              </p:ext>
            </p:extLst>
          </p:nvPr>
        </p:nvGraphicFramePr>
        <p:xfrm>
          <a:off x="147592" y="1991722"/>
          <a:ext cx="7344819" cy="83355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820671404"/>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6779">
                <a:tc>
                  <a:txBody>
                    <a:bodyPr/>
                    <a:lstStyle/>
                    <a:p>
                      <a:pPr algn="ctr"/>
                      <a:endParaRPr lang="en-MY" sz="1800" b="1"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13</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2527677058"/>
                  </a:ext>
                </a:extLst>
              </a:tr>
            </a:tbl>
          </a:graphicData>
        </a:graphic>
      </p:graphicFrame>
      <p:graphicFrame>
        <p:nvGraphicFramePr>
          <p:cNvPr id="5" name="Table 38">
            <a:extLst>
              <a:ext uri="{FF2B5EF4-FFF2-40B4-BE49-F238E27FC236}">
                <a16:creationId xmlns:a16="http://schemas.microsoft.com/office/drawing/2014/main" id="{373118B3-9BA8-A2F5-0518-0B09B8359481}"/>
              </a:ext>
            </a:extLst>
          </p:cNvPr>
          <p:cNvGraphicFramePr>
            <a:graphicFrameLocks noGrp="1"/>
          </p:cNvGraphicFramePr>
          <p:nvPr>
            <p:extLst>
              <p:ext uri="{D42A27DB-BD31-4B8C-83A1-F6EECF244321}">
                <p14:modId xmlns:p14="http://schemas.microsoft.com/office/powerpoint/2010/main" val="2977663264"/>
              </p:ext>
            </p:extLst>
          </p:nvPr>
        </p:nvGraphicFramePr>
        <p:xfrm>
          <a:off x="147592" y="3133669"/>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801183076"/>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+6</a:t>
                      </a:r>
                    </a:p>
                  </a:txBody>
                  <a:tcPr anchor="ctr"/>
                </a:tc>
                <a:tc>
                  <a:txBody>
                    <a:bodyPr/>
                    <a:lstStyle/>
                    <a:p>
                      <a:pPr algn="ctr"/>
                      <a:endParaRPr lang="en-MY" sz="1800" b="1"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r>
                        <a:rPr lang="en-MY" sz="1800" b="1" dirty="0">
                          <a:solidFill>
                            <a:schemeClr val="tx1"/>
                          </a:solidFill>
                        </a:rPr>
                        <a:t>-6</a:t>
                      </a:r>
                    </a:p>
                  </a:txBody>
                  <a:tcPr anchor="ctr">
                    <a:solidFill>
                      <a:schemeClr val="accent2">
                        <a:lumMod val="20000"/>
                        <a:lumOff val="80000"/>
                      </a:schemeClr>
                    </a:solidFill>
                  </a:tcPr>
                </a:tc>
                <a:tc>
                  <a:txBody>
                    <a:bodyPr/>
                    <a:lstStyle/>
                    <a:p>
                      <a:pPr algn="ctr"/>
                      <a:endParaRPr lang="en-MY" sz="1800" b="1"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9E65CB23-68F6-F3B3-3997-66EB7857316A}"/>
              </a:ext>
            </a:extLst>
          </p:cNvPr>
          <p:cNvSpPr>
            <a:spLocks noGrp="1"/>
          </p:cNvSpPr>
          <p:nvPr>
            <p:ph type="sldNum" sz="quarter" idx="12"/>
          </p:nvPr>
        </p:nvSpPr>
        <p:spPr/>
        <p:txBody>
          <a:bodyPr/>
          <a:lstStyle/>
          <a:p>
            <a:pPr>
              <a:defRPr/>
            </a:pPr>
            <a:fld id="{B15F286D-88BF-4C85-84EF-53248539BE74}" type="slidenum">
              <a:rPr lang="en-US" altLang="en-US" smtClean="0"/>
              <a:pPr>
                <a:defRPr/>
              </a:pPr>
              <a:t>53</a:t>
            </a:fld>
            <a:endParaRPr lang="en-US" altLang="en-US"/>
          </a:p>
        </p:txBody>
      </p:sp>
      <p:graphicFrame>
        <p:nvGraphicFramePr>
          <p:cNvPr id="8" name="Table 38">
            <a:extLst>
              <a:ext uri="{FF2B5EF4-FFF2-40B4-BE49-F238E27FC236}">
                <a16:creationId xmlns:a16="http://schemas.microsoft.com/office/drawing/2014/main" id="{EBF34371-7C6D-E65B-93A1-A2C8191B7B6C}"/>
              </a:ext>
            </a:extLst>
          </p:cNvPr>
          <p:cNvGraphicFramePr>
            <a:graphicFrameLocks noGrp="1"/>
          </p:cNvGraphicFramePr>
          <p:nvPr>
            <p:extLst>
              <p:ext uri="{D42A27DB-BD31-4B8C-83A1-F6EECF244321}">
                <p14:modId xmlns:p14="http://schemas.microsoft.com/office/powerpoint/2010/main" val="216005154"/>
              </p:ext>
            </p:extLst>
          </p:nvPr>
        </p:nvGraphicFramePr>
        <p:xfrm>
          <a:off x="131633" y="4923395"/>
          <a:ext cx="7376736" cy="1250337"/>
        </p:xfrm>
        <a:graphic>
          <a:graphicData uri="http://schemas.openxmlformats.org/drawingml/2006/table">
            <a:tbl>
              <a:tblPr firstRow="1" bandRow="1">
                <a:tableStyleId>{5940675A-B579-460E-94D1-54222C63F5DA}</a:tableStyleId>
              </a:tblPr>
              <a:tblGrid>
                <a:gridCol w="922092">
                  <a:extLst>
                    <a:ext uri="{9D8B030D-6E8A-4147-A177-3AD203B41FA5}">
                      <a16:colId xmlns:a16="http://schemas.microsoft.com/office/drawing/2014/main" val="3646923306"/>
                    </a:ext>
                  </a:extLst>
                </a:gridCol>
                <a:gridCol w="922092">
                  <a:extLst>
                    <a:ext uri="{9D8B030D-6E8A-4147-A177-3AD203B41FA5}">
                      <a16:colId xmlns:a16="http://schemas.microsoft.com/office/drawing/2014/main" val="4127615042"/>
                    </a:ext>
                  </a:extLst>
                </a:gridCol>
                <a:gridCol w="922092">
                  <a:extLst>
                    <a:ext uri="{9D8B030D-6E8A-4147-A177-3AD203B41FA5}">
                      <a16:colId xmlns:a16="http://schemas.microsoft.com/office/drawing/2014/main" val="2313240651"/>
                    </a:ext>
                  </a:extLst>
                </a:gridCol>
                <a:gridCol w="922092">
                  <a:extLst>
                    <a:ext uri="{9D8B030D-6E8A-4147-A177-3AD203B41FA5}">
                      <a16:colId xmlns:a16="http://schemas.microsoft.com/office/drawing/2014/main" val="1781995488"/>
                    </a:ext>
                  </a:extLst>
                </a:gridCol>
                <a:gridCol w="922092">
                  <a:extLst>
                    <a:ext uri="{9D8B030D-6E8A-4147-A177-3AD203B41FA5}">
                      <a16:colId xmlns:a16="http://schemas.microsoft.com/office/drawing/2014/main" val="3730037320"/>
                    </a:ext>
                  </a:extLst>
                </a:gridCol>
                <a:gridCol w="922092">
                  <a:extLst>
                    <a:ext uri="{9D8B030D-6E8A-4147-A177-3AD203B41FA5}">
                      <a16:colId xmlns:a16="http://schemas.microsoft.com/office/drawing/2014/main" val="2900940008"/>
                    </a:ext>
                  </a:extLst>
                </a:gridCol>
                <a:gridCol w="922092">
                  <a:extLst>
                    <a:ext uri="{9D8B030D-6E8A-4147-A177-3AD203B41FA5}">
                      <a16:colId xmlns:a16="http://schemas.microsoft.com/office/drawing/2014/main" val="890559765"/>
                    </a:ext>
                  </a:extLst>
                </a:gridCol>
                <a:gridCol w="922092">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13</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-6</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bg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0B02FC5E-47E7-B58A-AB92-5BE431030115}"/>
              </a:ext>
            </a:extLst>
          </p:cNvPr>
          <p:cNvSpPr txBox="1"/>
          <p:nvPr/>
        </p:nvSpPr>
        <p:spPr>
          <a:xfrm>
            <a:off x="149334" y="445364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69EBF10D-D592-0959-0627-A31F0B1AE250}"/>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13 and -6 to binary </a:t>
            </a:r>
          </a:p>
        </p:txBody>
      </p:sp>
      <p:sp>
        <p:nvSpPr>
          <p:cNvPr id="14" name="Speech Bubble: Rectangle 13">
            <a:extLst>
              <a:ext uri="{FF2B5EF4-FFF2-40B4-BE49-F238E27FC236}">
                <a16:creationId xmlns:a16="http://schemas.microsoft.com/office/drawing/2014/main" id="{54CBA16D-3BBA-9B2A-9794-63CFC8A060F3}"/>
              </a:ext>
            </a:extLst>
          </p:cNvPr>
          <p:cNvSpPr/>
          <p:nvPr/>
        </p:nvSpPr>
        <p:spPr>
          <a:xfrm>
            <a:off x="7596336" y="2487966"/>
            <a:ext cx="1510630" cy="1152128"/>
          </a:xfrm>
          <a:prstGeom prst="wedgeRectCallout">
            <a:avLst>
              <a:gd name="adj1" fmla="val -53163"/>
              <a:gd name="adj2" fmla="val 9595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t>In 2s complement</a:t>
            </a:r>
          </a:p>
        </p:txBody>
      </p:sp>
      <p:sp>
        <p:nvSpPr>
          <p:cNvPr id="17" name="TextBox 16">
            <a:extLst>
              <a:ext uri="{FF2B5EF4-FFF2-40B4-BE49-F238E27FC236}">
                <a16:creationId xmlns:a16="http://schemas.microsoft.com/office/drawing/2014/main" id="{31F8C8F2-FC7B-723F-B3A1-7747E2F79937}"/>
              </a:ext>
            </a:extLst>
          </p:cNvPr>
          <p:cNvSpPr txBox="1"/>
          <p:nvPr/>
        </p:nvSpPr>
        <p:spPr>
          <a:xfrm>
            <a:off x="149334" y="6313011"/>
            <a:ext cx="4625788" cy="400110"/>
          </a:xfrm>
          <a:prstGeom prst="rect">
            <a:avLst/>
          </a:prstGeom>
          <a:solidFill>
            <a:srgbClr val="FFFF00"/>
          </a:solidFill>
        </p:spPr>
        <p:txBody>
          <a:bodyPr wrap="square">
            <a:spAutoFit/>
          </a:bodyPr>
          <a:lstStyle/>
          <a:p>
            <a:r>
              <a:rPr lang="en-MY" dirty="0">
                <a:solidFill>
                  <a:srgbClr val="00B050"/>
                </a:solidFill>
              </a:rPr>
              <a:t>Answer: 13 + (-6) = 7 = 00111</a:t>
            </a:r>
          </a:p>
        </p:txBody>
      </p:sp>
    </p:spTree>
    <p:extLst>
      <p:ext uri="{BB962C8B-B14F-4D97-AF65-F5344CB8AC3E}">
        <p14:creationId xmlns:p14="http://schemas.microsoft.com/office/powerpoint/2010/main" val="2512350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5399-01C9-295D-742C-2D8C08134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81B86-E2B2-E960-D0A5-C95D550E6F5A}"/>
              </a:ext>
            </a:extLst>
          </p:cNvPr>
          <p:cNvSpPr>
            <a:spLocks noGrp="1"/>
          </p:cNvSpPr>
          <p:nvPr>
            <p:ph type="title"/>
          </p:nvPr>
        </p:nvSpPr>
        <p:spPr>
          <a:xfrm>
            <a:off x="325211" y="265678"/>
            <a:ext cx="7890672" cy="744152"/>
          </a:xfrm>
        </p:spPr>
        <p:txBody>
          <a:bodyPr/>
          <a:lstStyle/>
          <a:p>
            <a:r>
              <a:rPr lang="en-MY" dirty="0"/>
              <a:t>Addition (Example 3)  </a:t>
            </a:r>
          </a:p>
        </p:txBody>
      </p:sp>
      <p:sp>
        <p:nvSpPr>
          <p:cNvPr id="3" name="Content Placeholder 2">
            <a:extLst>
              <a:ext uri="{FF2B5EF4-FFF2-40B4-BE49-F238E27FC236}">
                <a16:creationId xmlns:a16="http://schemas.microsoft.com/office/drawing/2014/main" id="{D0D3A774-47D1-234A-3F98-0F4995F11A16}"/>
              </a:ext>
            </a:extLst>
          </p:cNvPr>
          <p:cNvSpPr>
            <a:spLocks noGrp="1"/>
          </p:cNvSpPr>
          <p:nvPr>
            <p:ph idx="1"/>
          </p:nvPr>
        </p:nvSpPr>
        <p:spPr>
          <a:xfrm>
            <a:off x="347496" y="1196752"/>
            <a:ext cx="7887005" cy="432048"/>
          </a:xfrm>
        </p:spPr>
        <p:txBody>
          <a:bodyPr/>
          <a:lstStyle/>
          <a:p>
            <a:pPr marL="0" indent="0">
              <a:buNone/>
            </a:pPr>
            <a:r>
              <a:rPr lang="en-MY" dirty="0"/>
              <a:t>Add two 5-bit 2’s complement of -15 and 9</a:t>
            </a:r>
          </a:p>
        </p:txBody>
      </p:sp>
      <p:graphicFrame>
        <p:nvGraphicFramePr>
          <p:cNvPr id="4" name="Table 38">
            <a:extLst>
              <a:ext uri="{FF2B5EF4-FFF2-40B4-BE49-F238E27FC236}">
                <a16:creationId xmlns:a16="http://schemas.microsoft.com/office/drawing/2014/main" id="{C82560F0-90A2-5C4A-E848-C38360E0244B}"/>
              </a:ext>
            </a:extLst>
          </p:cNvPr>
          <p:cNvGraphicFramePr>
            <a:graphicFrameLocks noGrp="1"/>
          </p:cNvGraphicFramePr>
          <p:nvPr>
            <p:extLst>
              <p:ext uri="{D42A27DB-BD31-4B8C-83A1-F6EECF244321}">
                <p14:modId xmlns:p14="http://schemas.microsoft.com/office/powerpoint/2010/main" val="1681235133"/>
              </p:ext>
            </p:extLst>
          </p:nvPr>
        </p:nvGraphicFramePr>
        <p:xfrm>
          <a:off x="219600" y="3581122"/>
          <a:ext cx="7344819" cy="83355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820671404"/>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6779">
                <a:tc>
                  <a:txBody>
                    <a:bodyPr/>
                    <a:lstStyle/>
                    <a:p>
                      <a:pPr algn="ctr"/>
                      <a:endParaRPr lang="en-MY" sz="1800" b="1"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9</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2527677058"/>
                  </a:ext>
                </a:extLst>
              </a:tr>
            </a:tbl>
          </a:graphicData>
        </a:graphic>
      </p:graphicFrame>
      <p:graphicFrame>
        <p:nvGraphicFramePr>
          <p:cNvPr id="5" name="Table 38">
            <a:extLst>
              <a:ext uri="{FF2B5EF4-FFF2-40B4-BE49-F238E27FC236}">
                <a16:creationId xmlns:a16="http://schemas.microsoft.com/office/drawing/2014/main" id="{1AE7FD3E-7C3F-4AD5-EBDB-7D4008819BC7}"/>
              </a:ext>
            </a:extLst>
          </p:cNvPr>
          <p:cNvGraphicFramePr>
            <a:graphicFrameLocks noGrp="1"/>
          </p:cNvGraphicFramePr>
          <p:nvPr>
            <p:extLst>
              <p:ext uri="{D42A27DB-BD31-4B8C-83A1-F6EECF244321}">
                <p14:modId xmlns:p14="http://schemas.microsoft.com/office/powerpoint/2010/main" val="1481563572"/>
              </p:ext>
            </p:extLst>
          </p:nvPr>
        </p:nvGraphicFramePr>
        <p:xfrm>
          <a:off x="219600"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+15</a:t>
                      </a:r>
                    </a:p>
                  </a:txBody>
                  <a:tcPr anchor="ctr"/>
                </a:tc>
                <a:tc>
                  <a:txBody>
                    <a:bodyPr/>
                    <a:lstStyle/>
                    <a:p>
                      <a:pPr algn="ctr"/>
                      <a:endParaRPr lang="en-MY" sz="1800" b="1"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r>
                        <a:rPr lang="en-MY" sz="1800" b="1" dirty="0">
                          <a:solidFill>
                            <a:schemeClr val="tx1"/>
                          </a:solidFill>
                        </a:rPr>
                        <a:t>-15</a:t>
                      </a:r>
                    </a:p>
                  </a:txBody>
                  <a:tcPr anchor="ctr">
                    <a:solidFill>
                      <a:schemeClr val="accent2">
                        <a:lumMod val="20000"/>
                        <a:lumOff val="80000"/>
                      </a:schemeClr>
                    </a:solidFill>
                  </a:tcPr>
                </a:tc>
                <a:tc>
                  <a:txBody>
                    <a:bodyPr/>
                    <a:lstStyle/>
                    <a:p>
                      <a:pPr algn="ctr"/>
                      <a:endParaRPr lang="en-MY" sz="1800" b="1"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AA5F63E9-96F1-5F4F-CC1F-A736AF0B42D0}"/>
              </a:ext>
            </a:extLst>
          </p:cNvPr>
          <p:cNvSpPr>
            <a:spLocks noGrp="1"/>
          </p:cNvSpPr>
          <p:nvPr>
            <p:ph type="sldNum" sz="quarter" idx="12"/>
          </p:nvPr>
        </p:nvSpPr>
        <p:spPr/>
        <p:txBody>
          <a:bodyPr/>
          <a:lstStyle/>
          <a:p>
            <a:pPr>
              <a:defRPr/>
            </a:pPr>
            <a:fld id="{B15F286D-88BF-4C85-84EF-53248539BE74}" type="slidenum">
              <a:rPr lang="en-US" altLang="en-US" smtClean="0"/>
              <a:pPr>
                <a:defRPr/>
              </a:pPr>
              <a:t>54</a:t>
            </a:fld>
            <a:endParaRPr lang="en-US" altLang="en-US"/>
          </a:p>
        </p:txBody>
      </p:sp>
      <p:graphicFrame>
        <p:nvGraphicFramePr>
          <p:cNvPr id="8" name="Table 38">
            <a:extLst>
              <a:ext uri="{FF2B5EF4-FFF2-40B4-BE49-F238E27FC236}">
                <a16:creationId xmlns:a16="http://schemas.microsoft.com/office/drawing/2014/main" id="{6CA6C89D-A4DB-C992-838B-C396ABCDF114}"/>
              </a:ext>
            </a:extLst>
          </p:cNvPr>
          <p:cNvGraphicFramePr>
            <a:graphicFrameLocks noGrp="1"/>
          </p:cNvGraphicFramePr>
          <p:nvPr>
            <p:extLst>
              <p:ext uri="{D42A27DB-BD31-4B8C-83A1-F6EECF244321}">
                <p14:modId xmlns:p14="http://schemas.microsoft.com/office/powerpoint/2010/main" val="3917994716"/>
              </p:ext>
            </p:extLst>
          </p:nvPr>
        </p:nvGraphicFramePr>
        <p:xfrm>
          <a:off x="131633" y="4923395"/>
          <a:ext cx="7376736" cy="1250337"/>
        </p:xfrm>
        <a:graphic>
          <a:graphicData uri="http://schemas.openxmlformats.org/drawingml/2006/table">
            <a:tbl>
              <a:tblPr firstRow="1" bandRow="1">
                <a:tableStyleId>{5940675A-B579-460E-94D1-54222C63F5DA}</a:tableStyleId>
              </a:tblPr>
              <a:tblGrid>
                <a:gridCol w="922092">
                  <a:extLst>
                    <a:ext uri="{9D8B030D-6E8A-4147-A177-3AD203B41FA5}">
                      <a16:colId xmlns:a16="http://schemas.microsoft.com/office/drawing/2014/main" val="3646923306"/>
                    </a:ext>
                  </a:extLst>
                </a:gridCol>
                <a:gridCol w="922092">
                  <a:extLst>
                    <a:ext uri="{9D8B030D-6E8A-4147-A177-3AD203B41FA5}">
                      <a16:colId xmlns:a16="http://schemas.microsoft.com/office/drawing/2014/main" val="4127615042"/>
                    </a:ext>
                  </a:extLst>
                </a:gridCol>
                <a:gridCol w="922092">
                  <a:extLst>
                    <a:ext uri="{9D8B030D-6E8A-4147-A177-3AD203B41FA5}">
                      <a16:colId xmlns:a16="http://schemas.microsoft.com/office/drawing/2014/main" val="2313240651"/>
                    </a:ext>
                  </a:extLst>
                </a:gridCol>
                <a:gridCol w="922092">
                  <a:extLst>
                    <a:ext uri="{9D8B030D-6E8A-4147-A177-3AD203B41FA5}">
                      <a16:colId xmlns:a16="http://schemas.microsoft.com/office/drawing/2014/main" val="1781995488"/>
                    </a:ext>
                  </a:extLst>
                </a:gridCol>
                <a:gridCol w="922092">
                  <a:extLst>
                    <a:ext uri="{9D8B030D-6E8A-4147-A177-3AD203B41FA5}">
                      <a16:colId xmlns:a16="http://schemas.microsoft.com/office/drawing/2014/main" val="3730037320"/>
                    </a:ext>
                  </a:extLst>
                </a:gridCol>
                <a:gridCol w="922092">
                  <a:extLst>
                    <a:ext uri="{9D8B030D-6E8A-4147-A177-3AD203B41FA5}">
                      <a16:colId xmlns:a16="http://schemas.microsoft.com/office/drawing/2014/main" val="2900940008"/>
                    </a:ext>
                  </a:extLst>
                </a:gridCol>
                <a:gridCol w="922092">
                  <a:extLst>
                    <a:ext uri="{9D8B030D-6E8A-4147-A177-3AD203B41FA5}">
                      <a16:colId xmlns:a16="http://schemas.microsoft.com/office/drawing/2014/main" val="890559765"/>
                    </a:ext>
                  </a:extLst>
                </a:gridCol>
                <a:gridCol w="922092">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15</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-6</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bg1"/>
                        </a:solidFill>
                      </a:endParaRP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C336617A-BB9C-9B5D-C86E-9C3EBBEF34E3}"/>
              </a:ext>
            </a:extLst>
          </p:cNvPr>
          <p:cNvSpPr txBox="1"/>
          <p:nvPr/>
        </p:nvSpPr>
        <p:spPr>
          <a:xfrm>
            <a:off x="149334" y="445364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7388B698-0051-9652-2696-363E0A0A6491}"/>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-15 and 9 to binary </a:t>
            </a:r>
          </a:p>
        </p:txBody>
      </p:sp>
      <p:sp>
        <p:nvSpPr>
          <p:cNvPr id="14" name="Speech Bubble: Rectangle 13">
            <a:extLst>
              <a:ext uri="{FF2B5EF4-FFF2-40B4-BE49-F238E27FC236}">
                <a16:creationId xmlns:a16="http://schemas.microsoft.com/office/drawing/2014/main" id="{77EF1E39-1042-1503-62AB-D4760AF48EF0}"/>
              </a:ext>
            </a:extLst>
          </p:cNvPr>
          <p:cNvSpPr/>
          <p:nvPr/>
        </p:nvSpPr>
        <p:spPr>
          <a:xfrm>
            <a:off x="7633370" y="1380838"/>
            <a:ext cx="1510630" cy="1152128"/>
          </a:xfrm>
          <a:prstGeom prst="wedgeRectCallout">
            <a:avLst>
              <a:gd name="adj1" fmla="val -53163"/>
              <a:gd name="adj2" fmla="val 9595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t>In 2s complement</a:t>
            </a:r>
          </a:p>
        </p:txBody>
      </p:sp>
      <p:sp>
        <p:nvSpPr>
          <p:cNvPr id="17" name="TextBox 16">
            <a:extLst>
              <a:ext uri="{FF2B5EF4-FFF2-40B4-BE49-F238E27FC236}">
                <a16:creationId xmlns:a16="http://schemas.microsoft.com/office/drawing/2014/main" id="{F0CC5E3F-22AA-9734-E3A9-509BFBA58464}"/>
              </a:ext>
            </a:extLst>
          </p:cNvPr>
          <p:cNvSpPr txBox="1"/>
          <p:nvPr/>
        </p:nvSpPr>
        <p:spPr>
          <a:xfrm>
            <a:off x="149334" y="6313011"/>
            <a:ext cx="4625788" cy="400110"/>
          </a:xfrm>
          <a:prstGeom prst="rect">
            <a:avLst/>
          </a:prstGeom>
          <a:solidFill>
            <a:srgbClr val="FFFF00"/>
          </a:solidFill>
        </p:spPr>
        <p:txBody>
          <a:bodyPr wrap="square">
            <a:spAutoFit/>
          </a:bodyPr>
          <a:lstStyle/>
          <a:p>
            <a:r>
              <a:rPr lang="en-MY" dirty="0">
                <a:solidFill>
                  <a:srgbClr val="00B050"/>
                </a:solidFill>
              </a:rPr>
              <a:t>Answer: -15 + 9= -6 = 11010</a:t>
            </a:r>
          </a:p>
        </p:txBody>
      </p:sp>
    </p:spTree>
    <p:extLst>
      <p:ext uri="{BB962C8B-B14F-4D97-AF65-F5344CB8AC3E}">
        <p14:creationId xmlns:p14="http://schemas.microsoft.com/office/powerpoint/2010/main" val="1223874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C745D-3395-5244-11E2-581A1F146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FBA13-B2B3-D82E-C4FE-ACCB09A375BB}"/>
              </a:ext>
            </a:extLst>
          </p:cNvPr>
          <p:cNvSpPr>
            <a:spLocks noGrp="1"/>
          </p:cNvSpPr>
          <p:nvPr>
            <p:ph type="title"/>
          </p:nvPr>
        </p:nvSpPr>
        <p:spPr>
          <a:xfrm>
            <a:off x="325211" y="265678"/>
            <a:ext cx="7890672" cy="744152"/>
          </a:xfrm>
        </p:spPr>
        <p:txBody>
          <a:bodyPr/>
          <a:lstStyle/>
          <a:p>
            <a:r>
              <a:rPr lang="en-MY" dirty="0"/>
              <a:t>Addition (Example 4)  </a:t>
            </a:r>
          </a:p>
        </p:txBody>
      </p:sp>
      <p:sp>
        <p:nvSpPr>
          <p:cNvPr id="3" name="Content Placeholder 2">
            <a:extLst>
              <a:ext uri="{FF2B5EF4-FFF2-40B4-BE49-F238E27FC236}">
                <a16:creationId xmlns:a16="http://schemas.microsoft.com/office/drawing/2014/main" id="{9E546CE7-711B-D314-39ED-13C67C515A59}"/>
              </a:ext>
            </a:extLst>
          </p:cNvPr>
          <p:cNvSpPr>
            <a:spLocks noGrp="1"/>
          </p:cNvSpPr>
          <p:nvPr>
            <p:ph idx="1"/>
          </p:nvPr>
        </p:nvSpPr>
        <p:spPr>
          <a:xfrm>
            <a:off x="347496" y="1196752"/>
            <a:ext cx="7887005" cy="432048"/>
          </a:xfrm>
        </p:spPr>
        <p:txBody>
          <a:bodyPr/>
          <a:lstStyle/>
          <a:p>
            <a:pPr marL="0" indent="0">
              <a:buNone/>
            </a:pPr>
            <a:r>
              <a:rPr lang="en-MY" dirty="0"/>
              <a:t>Add two 8-bit 2’s complement of -39 and 92</a:t>
            </a:r>
          </a:p>
        </p:txBody>
      </p:sp>
      <p:graphicFrame>
        <p:nvGraphicFramePr>
          <p:cNvPr id="4" name="Table 38">
            <a:extLst>
              <a:ext uri="{FF2B5EF4-FFF2-40B4-BE49-F238E27FC236}">
                <a16:creationId xmlns:a16="http://schemas.microsoft.com/office/drawing/2014/main" id="{C124539D-A6B0-E50D-4E82-78F58C49359D}"/>
              </a:ext>
            </a:extLst>
          </p:cNvPr>
          <p:cNvGraphicFramePr>
            <a:graphicFrameLocks noGrp="1"/>
          </p:cNvGraphicFramePr>
          <p:nvPr>
            <p:extLst>
              <p:ext uri="{D42A27DB-BD31-4B8C-83A1-F6EECF244321}">
                <p14:modId xmlns:p14="http://schemas.microsoft.com/office/powerpoint/2010/main" val="4242539313"/>
              </p:ext>
            </p:extLst>
          </p:nvPr>
        </p:nvGraphicFramePr>
        <p:xfrm>
          <a:off x="219597" y="3581122"/>
          <a:ext cx="7344819" cy="83355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820671404"/>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6779">
                <a:tc>
                  <a:txBody>
                    <a:bodyPr/>
                    <a:lstStyle/>
                    <a:p>
                      <a:pPr algn="ctr"/>
                      <a:endParaRPr lang="en-MY" sz="1800" b="1"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92</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2527677058"/>
                  </a:ext>
                </a:extLst>
              </a:tr>
            </a:tbl>
          </a:graphicData>
        </a:graphic>
      </p:graphicFrame>
      <p:graphicFrame>
        <p:nvGraphicFramePr>
          <p:cNvPr id="5" name="Table 38">
            <a:extLst>
              <a:ext uri="{FF2B5EF4-FFF2-40B4-BE49-F238E27FC236}">
                <a16:creationId xmlns:a16="http://schemas.microsoft.com/office/drawing/2014/main" id="{D7875DB3-44CD-DC8E-4A84-241EF6126DE7}"/>
              </a:ext>
            </a:extLst>
          </p:cNvPr>
          <p:cNvGraphicFramePr>
            <a:graphicFrameLocks noGrp="1"/>
          </p:cNvGraphicFramePr>
          <p:nvPr>
            <p:extLst>
              <p:ext uri="{D42A27DB-BD31-4B8C-83A1-F6EECF244321}">
                <p14:modId xmlns:p14="http://schemas.microsoft.com/office/powerpoint/2010/main" val="525064939"/>
              </p:ext>
            </p:extLst>
          </p:nvPr>
        </p:nvGraphicFramePr>
        <p:xfrm>
          <a:off x="219597"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4254941070"/>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+39</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r>
                        <a:rPr lang="en-MY" sz="1800" b="1" dirty="0">
                          <a:solidFill>
                            <a:schemeClr val="tx1"/>
                          </a:solidFill>
                        </a:rPr>
                        <a:t>-39</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E3701281-23FE-D217-459B-EB05E3F832B4}"/>
              </a:ext>
            </a:extLst>
          </p:cNvPr>
          <p:cNvSpPr>
            <a:spLocks noGrp="1"/>
          </p:cNvSpPr>
          <p:nvPr>
            <p:ph type="sldNum" sz="quarter" idx="12"/>
          </p:nvPr>
        </p:nvSpPr>
        <p:spPr/>
        <p:txBody>
          <a:bodyPr/>
          <a:lstStyle/>
          <a:p>
            <a:pPr>
              <a:defRPr/>
            </a:pPr>
            <a:fld id="{B15F286D-88BF-4C85-84EF-53248539BE74}" type="slidenum">
              <a:rPr lang="en-US" altLang="en-US" smtClean="0"/>
              <a:pPr>
                <a:defRPr/>
              </a:pPr>
              <a:t>55</a:t>
            </a:fld>
            <a:endParaRPr lang="en-US" altLang="en-US"/>
          </a:p>
        </p:txBody>
      </p:sp>
      <p:graphicFrame>
        <p:nvGraphicFramePr>
          <p:cNvPr id="8" name="Table 38">
            <a:extLst>
              <a:ext uri="{FF2B5EF4-FFF2-40B4-BE49-F238E27FC236}">
                <a16:creationId xmlns:a16="http://schemas.microsoft.com/office/drawing/2014/main" id="{BC6C146E-4C54-078C-29D5-88F97876974F}"/>
              </a:ext>
            </a:extLst>
          </p:cNvPr>
          <p:cNvGraphicFramePr>
            <a:graphicFrameLocks noGrp="1"/>
          </p:cNvGraphicFramePr>
          <p:nvPr>
            <p:extLst>
              <p:ext uri="{D42A27DB-BD31-4B8C-83A1-F6EECF244321}">
                <p14:modId xmlns:p14="http://schemas.microsoft.com/office/powerpoint/2010/main" val="847003954"/>
              </p:ext>
            </p:extLst>
          </p:nvPr>
        </p:nvGraphicFramePr>
        <p:xfrm>
          <a:off x="219597" y="4853755"/>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639712503"/>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-39</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92</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r>
                        <a:rPr lang="en-MY" sz="1800" dirty="0">
                          <a:solidFill>
                            <a:schemeClr val="bg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C0822A64-6EA4-AEE5-C46B-4E204F516639}"/>
              </a:ext>
            </a:extLst>
          </p:cNvPr>
          <p:cNvSpPr txBox="1"/>
          <p:nvPr/>
        </p:nvSpPr>
        <p:spPr>
          <a:xfrm>
            <a:off x="149334" y="445364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D4672321-AD51-063F-B837-EB285158069D}"/>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-39 and 92 to binary </a:t>
            </a:r>
          </a:p>
        </p:txBody>
      </p:sp>
      <p:sp>
        <p:nvSpPr>
          <p:cNvPr id="14" name="Speech Bubble: Rectangle 13">
            <a:extLst>
              <a:ext uri="{FF2B5EF4-FFF2-40B4-BE49-F238E27FC236}">
                <a16:creationId xmlns:a16="http://schemas.microsoft.com/office/drawing/2014/main" id="{B0A9F0C2-D43D-DF40-E82F-7165940968E4}"/>
              </a:ext>
            </a:extLst>
          </p:cNvPr>
          <p:cNvSpPr/>
          <p:nvPr/>
        </p:nvSpPr>
        <p:spPr>
          <a:xfrm>
            <a:off x="7633370" y="1380838"/>
            <a:ext cx="1510630" cy="1152128"/>
          </a:xfrm>
          <a:prstGeom prst="wedgeRectCallout">
            <a:avLst>
              <a:gd name="adj1" fmla="val -53163"/>
              <a:gd name="adj2" fmla="val 9595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dirty="0"/>
              <a:t>In 2s complement</a:t>
            </a:r>
          </a:p>
        </p:txBody>
      </p:sp>
      <p:sp>
        <p:nvSpPr>
          <p:cNvPr id="17" name="TextBox 16">
            <a:extLst>
              <a:ext uri="{FF2B5EF4-FFF2-40B4-BE49-F238E27FC236}">
                <a16:creationId xmlns:a16="http://schemas.microsoft.com/office/drawing/2014/main" id="{B0C2227D-1BB2-3A49-D368-5B36979C60B8}"/>
              </a:ext>
            </a:extLst>
          </p:cNvPr>
          <p:cNvSpPr txBox="1"/>
          <p:nvPr/>
        </p:nvSpPr>
        <p:spPr>
          <a:xfrm>
            <a:off x="149334" y="6313011"/>
            <a:ext cx="4625788" cy="400110"/>
          </a:xfrm>
          <a:prstGeom prst="rect">
            <a:avLst/>
          </a:prstGeom>
          <a:solidFill>
            <a:srgbClr val="FFFF00"/>
          </a:solidFill>
        </p:spPr>
        <p:txBody>
          <a:bodyPr wrap="square">
            <a:spAutoFit/>
          </a:bodyPr>
          <a:lstStyle/>
          <a:p>
            <a:r>
              <a:rPr lang="en-MY" dirty="0">
                <a:solidFill>
                  <a:srgbClr val="00B050"/>
                </a:solidFill>
              </a:rPr>
              <a:t>Answer: -39 + 92= 53= 00110101</a:t>
            </a:r>
          </a:p>
        </p:txBody>
      </p:sp>
    </p:spTree>
    <p:extLst>
      <p:ext uri="{BB962C8B-B14F-4D97-AF65-F5344CB8AC3E}">
        <p14:creationId xmlns:p14="http://schemas.microsoft.com/office/powerpoint/2010/main" val="17450755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E7A1C-E2A5-0EDD-B658-7DB3968AC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58D38-B9B1-EC27-429E-8EAC25EB264F}"/>
              </a:ext>
            </a:extLst>
          </p:cNvPr>
          <p:cNvSpPr>
            <a:spLocks noGrp="1"/>
          </p:cNvSpPr>
          <p:nvPr>
            <p:ph type="title"/>
          </p:nvPr>
        </p:nvSpPr>
        <p:spPr>
          <a:xfrm>
            <a:off x="325211" y="265678"/>
            <a:ext cx="7890672" cy="744152"/>
          </a:xfrm>
        </p:spPr>
        <p:txBody>
          <a:bodyPr/>
          <a:lstStyle/>
          <a:p>
            <a:r>
              <a:rPr lang="en-MY" dirty="0"/>
              <a:t>Addition (Example 5)  </a:t>
            </a:r>
          </a:p>
        </p:txBody>
      </p:sp>
      <p:sp>
        <p:nvSpPr>
          <p:cNvPr id="3" name="Content Placeholder 2">
            <a:extLst>
              <a:ext uri="{FF2B5EF4-FFF2-40B4-BE49-F238E27FC236}">
                <a16:creationId xmlns:a16="http://schemas.microsoft.com/office/drawing/2014/main" id="{2C25D802-E28F-2CCF-0DA2-58CE7ED45CC4}"/>
              </a:ext>
            </a:extLst>
          </p:cNvPr>
          <p:cNvSpPr>
            <a:spLocks noGrp="1"/>
          </p:cNvSpPr>
          <p:nvPr>
            <p:ph idx="1"/>
          </p:nvPr>
        </p:nvSpPr>
        <p:spPr>
          <a:xfrm>
            <a:off x="347496" y="1196752"/>
            <a:ext cx="7887005" cy="432048"/>
          </a:xfrm>
        </p:spPr>
        <p:txBody>
          <a:bodyPr/>
          <a:lstStyle/>
          <a:p>
            <a:pPr marL="0" indent="0">
              <a:buNone/>
            </a:pPr>
            <a:r>
              <a:rPr lang="en-MY" dirty="0"/>
              <a:t>Add two 5-bit 2’s complement of -8 and -4</a:t>
            </a:r>
          </a:p>
        </p:txBody>
      </p:sp>
      <p:graphicFrame>
        <p:nvGraphicFramePr>
          <p:cNvPr id="5" name="Table 38">
            <a:extLst>
              <a:ext uri="{FF2B5EF4-FFF2-40B4-BE49-F238E27FC236}">
                <a16:creationId xmlns:a16="http://schemas.microsoft.com/office/drawing/2014/main" id="{4EED56F6-A800-4AA8-8FF5-37F1D8063CF3}"/>
              </a:ext>
            </a:extLst>
          </p:cNvPr>
          <p:cNvGraphicFramePr>
            <a:graphicFrameLocks noGrp="1"/>
          </p:cNvGraphicFramePr>
          <p:nvPr>
            <p:extLst>
              <p:ext uri="{D42A27DB-BD31-4B8C-83A1-F6EECF244321}">
                <p14:modId xmlns:p14="http://schemas.microsoft.com/office/powerpoint/2010/main" val="2304444360"/>
              </p:ext>
            </p:extLst>
          </p:nvPr>
        </p:nvGraphicFramePr>
        <p:xfrm>
          <a:off x="219600" y="2026542"/>
          <a:ext cx="7376736" cy="2083895"/>
        </p:xfrm>
        <a:graphic>
          <a:graphicData uri="http://schemas.openxmlformats.org/drawingml/2006/table">
            <a:tbl>
              <a:tblPr firstRow="1" bandRow="1">
                <a:tableStyleId>{5940675A-B579-460E-94D1-54222C63F5DA}</a:tableStyleId>
              </a:tblPr>
              <a:tblGrid>
                <a:gridCol w="922092">
                  <a:extLst>
                    <a:ext uri="{9D8B030D-6E8A-4147-A177-3AD203B41FA5}">
                      <a16:colId xmlns:a16="http://schemas.microsoft.com/office/drawing/2014/main" val="3646923306"/>
                    </a:ext>
                  </a:extLst>
                </a:gridCol>
                <a:gridCol w="922092">
                  <a:extLst>
                    <a:ext uri="{9D8B030D-6E8A-4147-A177-3AD203B41FA5}">
                      <a16:colId xmlns:a16="http://schemas.microsoft.com/office/drawing/2014/main" val="4127615042"/>
                    </a:ext>
                  </a:extLst>
                </a:gridCol>
                <a:gridCol w="922092">
                  <a:extLst>
                    <a:ext uri="{9D8B030D-6E8A-4147-A177-3AD203B41FA5}">
                      <a16:colId xmlns:a16="http://schemas.microsoft.com/office/drawing/2014/main" val="2313240651"/>
                    </a:ext>
                  </a:extLst>
                </a:gridCol>
                <a:gridCol w="922092">
                  <a:extLst>
                    <a:ext uri="{9D8B030D-6E8A-4147-A177-3AD203B41FA5}">
                      <a16:colId xmlns:a16="http://schemas.microsoft.com/office/drawing/2014/main" val="1781995488"/>
                    </a:ext>
                  </a:extLst>
                </a:gridCol>
                <a:gridCol w="922092">
                  <a:extLst>
                    <a:ext uri="{9D8B030D-6E8A-4147-A177-3AD203B41FA5}">
                      <a16:colId xmlns:a16="http://schemas.microsoft.com/office/drawing/2014/main" val="3730037320"/>
                    </a:ext>
                  </a:extLst>
                </a:gridCol>
                <a:gridCol w="922092">
                  <a:extLst>
                    <a:ext uri="{9D8B030D-6E8A-4147-A177-3AD203B41FA5}">
                      <a16:colId xmlns:a16="http://schemas.microsoft.com/office/drawing/2014/main" val="2900940008"/>
                    </a:ext>
                  </a:extLst>
                </a:gridCol>
                <a:gridCol w="922092">
                  <a:extLst>
                    <a:ext uri="{9D8B030D-6E8A-4147-A177-3AD203B41FA5}">
                      <a16:colId xmlns:a16="http://schemas.microsoft.com/office/drawing/2014/main" val="890559765"/>
                    </a:ext>
                  </a:extLst>
                </a:gridCol>
                <a:gridCol w="922092">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+8</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r>
                        <a:rPr lang="en-MY" sz="1800" b="1" dirty="0">
                          <a:solidFill>
                            <a:schemeClr val="tx1"/>
                          </a:solidFill>
                        </a:rPr>
                        <a:t>-8</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3889793438"/>
                  </a:ext>
                </a:extLst>
              </a:tr>
              <a:tr h="416779">
                <a:tc>
                  <a:txBody>
                    <a:bodyPr/>
                    <a:lstStyle/>
                    <a:p>
                      <a:pPr algn="ctr"/>
                      <a:r>
                        <a:rPr lang="en-MY" sz="1800" b="1" dirty="0">
                          <a:solidFill>
                            <a:schemeClr val="tx1"/>
                          </a:solidFill>
                        </a:rPr>
                        <a:t>+4</a:t>
                      </a: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1</a:t>
                      </a: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0</a:t>
                      </a:r>
                    </a:p>
                  </a:txBody>
                  <a:tcPr anchor="ctr">
                    <a:noFill/>
                  </a:tcPr>
                </a:tc>
                <a:extLst>
                  <a:ext uri="{0D108BD9-81ED-4DB2-BD59-A6C34878D82A}">
                    <a16:rowId xmlns:a16="http://schemas.microsoft.com/office/drawing/2014/main" val="310231040"/>
                  </a:ext>
                </a:extLst>
              </a:tr>
              <a:tr h="416779">
                <a:tc>
                  <a:txBody>
                    <a:bodyPr/>
                    <a:lstStyle/>
                    <a:p>
                      <a:pPr algn="ctr"/>
                      <a:r>
                        <a:rPr lang="en-MY" sz="1800" b="1" dirty="0">
                          <a:solidFill>
                            <a:schemeClr val="tx1"/>
                          </a:solidFill>
                        </a:rPr>
                        <a:t>-4</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3721223439"/>
                  </a:ext>
                </a:extLst>
              </a:tr>
            </a:tbl>
          </a:graphicData>
        </a:graphic>
      </p:graphicFrame>
      <p:sp>
        <p:nvSpPr>
          <p:cNvPr id="7" name="Slide Number Placeholder 6">
            <a:extLst>
              <a:ext uri="{FF2B5EF4-FFF2-40B4-BE49-F238E27FC236}">
                <a16:creationId xmlns:a16="http://schemas.microsoft.com/office/drawing/2014/main" id="{0ACAE6E0-C3BE-D257-833D-BEB23348850C}"/>
              </a:ext>
            </a:extLst>
          </p:cNvPr>
          <p:cNvSpPr>
            <a:spLocks noGrp="1"/>
          </p:cNvSpPr>
          <p:nvPr>
            <p:ph type="sldNum" sz="quarter" idx="12"/>
          </p:nvPr>
        </p:nvSpPr>
        <p:spPr/>
        <p:txBody>
          <a:bodyPr/>
          <a:lstStyle/>
          <a:p>
            <a:pPr>
              <a:defRPr/>
            </a:pPr>
            <a:fld id="{B15F286D-88BF-4C85-84EF-53248539BE74}" type="slidenum">
              <a:rPr lang="en-US" altLang="en-US" smtClean="0"/>
              <a:pPr>
                <a:defRPr/>
              </a:pPr>
              <a:t>56</a:t>
            </a:fld>
            <a:endParaRPr lang="en-US" altLang="en-US"/>
          </a:p>
        </p:txBody>
      </p:sp>
      <p:graphicFrame>
        <p:nvGraphicFramePr>
          <p:cNvPr id="8" name="Table 38">
            <a:extLst>
              <a:ext uri="{FF2B5EF4-FFF2-40B4-BE49-F238E27FC236}">
                <a16:creationId xmlns:a16="http://schemas.microsoft.com/office/drawing/2014/main" id="{046116FF-D0CC-6E40-BDEB-276162674A84}"/>
              </a:ext>
            </a:extLst>
          </p:cNvPr>
          <p:cNvGraphicFramePr>
            <a:graphicFrameLocks noGrp="1"/>
          </p:cNvGraphicFramePr>
          <p:nvPr>
            <p:extLst>
              <p:ext uri="{D42A27DB-BD31-4B8C-83A1-F6EECF244321}">
                <p14:modId xmlns:p14="http://schemas.microsoft.com/office/powerpoint/2010/main" val="527609781"/>
              </p:ext>
            </p:extLst>
          </p:nvPr>
        </p:nvGraphicFramePr>
        <p:xfrm>
          <a:off x="131633" y="4923395"/>
          <a:ext cx="7376736" cy="1250337"/>
        </p:xfrm>
        <a:graphic>
          <a:graphicData uri="http://schemas.openxmlformats.org/drawingml/2006/table">
            <a:tbl>
              <a:tblPr firstRow="1" bandRow="1">
                <a:tableStyleId>{5940675A-B579-460E-94D1-54222C63F5DA}</a:tableStyleId>
              </a:tblPr>
              <a:tblGrid>
                <a:gridCol w="922092">
                  <a:extLst>
                    <a:ext uri="{9D8B030D-6E8A-4147-A177-3AD203B41FA5}">
                      <a16:colId xmlns:a16="http://schemas.microsoft.com/office/drawing/2014/main" val="3646923306"/>
                    </a:ext>
                  </a:extLst>
                </a:gridCol>
                <a:gridCol w="922092">
                  <a:extLst>
                    <a:ext uri="{9D8B030D-6E8A-4147-A177-3AD203B41FA5}">
                      <a16:colId xmlns:a16="http://schemas.microsoft.com/office/drawing/2014/main" val="4127615042"/>
                    </a:ext>
                  </a:extLst>
                </a:gridCol>
                <a:gridCol w="922092">
                  <a:extLst>
                    <a:ext uri="{9D8B030D-6E8A-4147-A177-3AD203B41FA5}">
                      <a16:colId xmlns:a16="http://schemas.microsoft.com/office/drawing/2014/main" val="2313240651"/>
                    </a:ext>
                  </a:extLst>
                </a:gridCol>
                <a:gridCol w="922092">
                  <a:extLst>
                    <a:ext uri="{9D8B030D-6E8A-4147-A177-3AD203B41FA5}">
                      <a16:colId xmlns:a16="http://schemas.microsoft.com/office/drawing/2014/main" val="1781995488"/>
                    </a:ext>
                  </a:extLst>
                </a:gridCol>
                <a:gridCol w="922092">
                  <a:extLst>
                    <a:ext uri="{9D8B030D-6E8A-4147-A177-3AD203B41FA5}">
                      <a16:colId xmlns:a16="http://schemas.microsoft.com/office/drawing/2014/main" val="3730037320"/>
                    </a:ext>
                  </a:extLst>
                </a:gridCol>
                <a:gridCol w="922092">
                  <a:extLst>
                    <a:ext uri="{9D8B030D-6E8A-4147-A177-3AD203B41FA5}">
                      <a16:colId xmlns:a16="http://schemas.microsoft.com/office/drawing/2014/main" val="2900940008"/>
                    </a:ext>
                  </a:extLst>
                </a:gridCol>
                <a:gridCol w="922092">
                  <a:extLst>
                    <a:ext uri="{9D8B030D-6E8A-4147-A177-3AD203B41FA5}">
                      <a16:colId xmlns:a16="http://schemas.microsoft.com/office/drawing/2014/main" val="890559765"/>
                    </a:ext>
                  </a:extLst>
                </a:gridCol>
                <a:gridCol w="922092">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-8</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-4</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bg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B48B989D-CD1D-30B8-9D15-4DB3814DA4A7}"/>
              </a:ext>
            </a:extLst>
          </p:cNvPr>
          <p:cNvSpPr txBox="1"/>
          <p:nvPr/>
        </p:nvSpPr>
        <p:spPr>
          <a:xfrm>
            <a:off x="149334" y="445364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4AB0D5AF-0B2A-EF91-1F1A-731F5919DC6C}"/>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-8 and -4 to binary </a:t>
            </a:r>
          </a:p>
        </p:txBody>
      </p:sp>
      <p:sp>
        <p:nvSpPr>
          <p:cNvPr id="17" name="TextBox 16">
            <a:extLst>
              <a:ext uri="{FF2B5EF4-FFF2-40B4-BE49-F238E27FC236}">
                <a16:creationId xmlns:a16="http://schemas.microsoft.com/office/drawing/2014/main" id="{1F724794-FA05-0342-43F6-E37A8574F67F}"/>
              </a:ext>
            </a:extLst>
          </p:cNvPr>
          <p:cNvSpPr txBox="1"/>
          <p:nvPr/>
        </p:nvSpPr>
        <p:spPr>
          <a:xfrm>
            <a:off x="149334" y="6313011"/>
            <a:ext cx="4625788" cy="400110"/>
          </a:xfrm>
          <a:prstGeom prst="rect">
            <a:avLst/>
          </a:prstGeom>
          <a:solidFill>
            <a:srgbClr val="FFFF00"/>
          </a:solidFill>
        </p:spPr>
        <p:txBody>
          <a:bodyPr wrap="square">
            <a:spAutoFit/>
          </a:bodyPr>
          <a:lstStyle/>
          <a:p>
            <a:r>
              <a:rPr lang="en-MY" dirty="0">
                <a:solidFill>
                  <a:srgbClr val="00B050"/>
                </a:solidFill>
              </a:rPr>
              <a:t>Answer: -8 + (-4)= -12 = 10100</a:t>
            </a:r>
          </a:p>
        </p:txBody>
      </p:sp>
    </p:spTree>
    <p:extLst>
      <p:ext uri="{BB962C8B-B14F-4D97-AF65-F5344CB8AC3E}">
        <p14:creationId xmlns:p14="http://schemas.microsoft.com/office/powerpoint/2010/main" val="3648598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B877-A2BF-AEA3-7E38-3B68EC134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07600-0E50-B549-2808-D7B5840E64EC}"/>
              </a:ext>
            </a:extLst>
          </p:cNvPr>
          <p:cNvSpPr>
            <a:spLocks noGrp="1"/>
          </p:cNvSpPr>
          <p:nvPr>
            <p:ph type="title"/>
          </p:nvPr>
        </p:nvSpPr>
        <p:spPr>
          <a:xfrm>
            <a:off x="325211" y="265678"/>
            <a:ext cx="7890672" cy="744152"/>
          </a:xfrm>
        </p:spPr>
        <p:txBody>
          <a:bodyPr/>
          <a:lstStyle/>
          <a:p>
            <a:r>
              <a:rPr lang="en-MY" dirty="0"/>
              <a:t>Addition (Example 4)  </a:t>
            </a:r>
          </a:p>
        </p:txBody>
      </p:sp>
      <p:sp>
        <p:nvSpPr>
          <p:cNvPr id="3" name="Content Placeholder 2">
            <a:extLst>
              <a:ext uri="{FF2B5EF4-FFF2-40B4-BE49-F238E27FC236}">
                <a16:creationId xmlns:a16="http://schemas.microsoft.com/office/drawing/2014/main" id="{8573F881-43B6-31D1-BC83-C63F5BF3D559}"/>
              </a:ext>
            </a:extLst>
          </p:cNvPr>
          <p:cNvSpPr>
            <a:spLocks noGrp="1"/>
          </p:cNvSpPr>
          <p:nvPr>
            <p:ph idx="1"/>
          </p:nvPr>
        </p:nvSpPr>
        <p:spPr>
          <a:xfrm>
            <a:off x="347496" y="1196752"/>
            <a:ext cx="7887005" cy="432048"/>
          </a:xfrm>
        </p:spPr>
        <p:txBody>
          <a:bodyPr/>
          <a:lstStyle/>
          <a:p>
            <a:pPr marL="0" indent="0">
              <a:buNone/>
            </a:pPr>
            <a:r>
              <a:rPr lang="en-MY" dirty="0"/>
              <a:t>Add two 8-bit 2’s complement of 104 + 45 </a:t>
            </a:r>
          </a:p>
        </p:txBody>
      </p:sp>
      <p:graphicFrame>
        <p:nvGraphicFramePr>
          <p:cNvPr id="5" name="Table 38">
            <a:extLst>
              <a:ext uri="{FF2B5EF4-FFF2-40B4-BE49-F238E27FC236}">
                <a16:creationId xmlns:a16="http://schemas.microsoft.com/office/drawing/2014/main" id="{F44CAB3F-2829-539C-EA65-B379E5D1F137}"/>
              </a:ext>
            </a:extLst>
          </p:cNvPr>
          <p:cNvGraphicFramePr>
            <a:graphicFrameLocks noGrp="1"/>
          </p:cNvGraphicFramePr>
          <p:nvPr>
            <p:extLst>
              <p:ext uri="{D42A27DB-BD31-4B8C-83A1-F6EECF244321}">
                <p14:modId xmlns:p14="http://schemas.microsoft.com/office/powerpoint/2010/main" val="1671592566"/>
              </p:ext>
            </p:extLst>
          </p:nvPr>
        </p:nvGraphicFramePr>
        <p:xfrm>
          <a:off x="219597"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4254941070"/>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104</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3111067467"/>
                  </a:ext>
                </a:extLst>
              </a:tr>
              <a:tr h="416779">
                <a:tc>
                  <a:txBody>
                    <a:bodyPr/>
                    <a:lstStyle/>
                    <a:p>
                      <a:pPr algn="ctr"/>
                      <a:r>
                        <a:rPr lang="en-MY" sz="1800" b="1" dirty="0">
                          <a:solidFill>
                            <a:schemeClr val="tx1"/>
                          </a:solidFill>
                        </a:rPr>
                        <a:t>45</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tc>
                  <a:txBody>
                    <a:bodyPr/>
                    <a:lstStyle/>
                    <a:p>
                      <a:pPr algn="ctr"/>
                      <a:r>
                        <a:rPr lang="en-MY" sz="1800" b="0" dirty="0">
                          <a:solidFill>
                            <a:schemeClr val="tx1"/>
                          </a:solidFill>
                        </a:rPr>
                        <a:t>0</a:t>
                      </a:r>
                    </a:p>
                  </a:txBody>
                  <a:tcPr anchor="ctr">
                    <a:solidFill>
                      <a:schemeClr val="accent2">
                        <a:lumMod val="20000"/>
                        <a:lumOff val="80000"/>
                      </a:schemeClr>
                    </a:solidFill>
                  </a:tcPr>
                </a:tc>
                <a:tc>
                  <a:txBody>
                    <a:bodyPr/>
                    <a:lstStyle/>
                    <a:p>
                      <a:pPr algn="ctr"/>
                      <a:r>
                        <a:rPr lang="en-MY" sz="1800" b="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958CDD8C-92B3-9E36-1607-170BC4446588}"/>
              </a:ext>
            </a:extLst>
          </p:cNvPr>
          <p:cNvSpPr>
            <a:spLocks noGrp="1"/>
          </p:cNvSpPr>
          <p:nvPr>
            <p:ph type="sldNum" sz="quarter" idx="12"/>
          </p:nvPr>
        </p:nvSpPr>
        <p:spPr/>
        <p:txBody>
          <a:bodyPr/>
          <a:lstStyle/>
          <a:p>
            <a:pPr>
              <a:defRPr/>
            </a:pPr>
            <a:fld id="{B15F286D-88BF-4C85-84EF-53248539BE74}" type="slidenum">
              <a:rPr lang="en-US" altLang="en-US" smtClean="0"/>
              <a:pPr>
                <a:defRPr/>
              </a:pPr>
              <a:t>57</a:t>
            </a:fld>
            <a:endParaRPr lang="en-US" altLang="en-US"/>
          </a:p>
        </p:txBody>
      </p:sp>
      <p:graphicFrame>
        <p:nvGraphicFramePr>
          <p:cNvPr id="8" name="Table 38">
            <a:extLst>
              <a:ext uri="{FF2B5EF4-FFF2-40B4-BE49-F238E27FC236}">
                <a16:creationId xmlns:a16="http://schemas.microsoft.com/office/drawing/2014/main" id="{16803E44-7D32-43AA-CB1A-C10EEC715825}"/>
              </a:ext>
            </a:extLst>
          </p:cNvPr>
          <p:cNvGraphicFramePr>
            <a:graphicFrameLocks noGrp="1"/>
          </p:cNvGraphicFramePr>
          <p:nvPr>
            <p:extLst>
              <p:ext uri="{D42A27DB-BD31-4B8C-83A1-F6EECF244321}">
                <p14:modId xmlns:p14="http://schemas.microsoft.com/office/powerpoint/2010/main" val="2192792636"/>
              </p:ext>
            </p:extLst>
          </p:nvPr>
        </p:nvGraphicFramePr>
        <p:xfrm>
          <a:off x="219597" y="4033849"/>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639712503"/>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104</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45</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1</a:t>
                      </a:r>
                    </a:p>
                  </a:txBody>
                  <a:tcPr anchor="ctr"/>
                </a:tc>
                <a:tc>
                  <a:txBody>
                    <a:bodyPr/>
                    <a:lstStyle/>
                    <a:p>
                      <a:pPr algn="ctr"/>
                      <a:r>
                        <a:rPr lang="en-MY" sz="1800" b="0" dirty="0">
                          <a:solidFill>
                            <a:schemeClr val="tx1"/>
                          </a:solidFill>
                        </a:rPr>
                        <a:t>0</a:t>
                      </a:r>
                    </a:p>
                  </a:txBody>
                  <a:tcPr anchor="ctr"/>
                </a:tc>
                <a:tc>
                  <a:txBody>
                    <a:bodyPr/>
                    <a:lstStyle/>
                    <a:p>
                      <a:pPr algn="ctr"/>
                      <a:r>
                        <a:rPr lang="en-MY" sz="1800" b="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B87BA955-E6F9-04E2-62C7-15ACF8D41E09}"/>
              </a:ext>
            </a:extLst>
          </p:cNvPr>
          <p:cNvSpPr txBox="1"/>
          <p:nvPr/>
        </p:nvSpPr>
        <p:spPr>
          <a:xfrm>
            <a:off x="163962" y="3506840"/>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C715117E-B16D-2E84-277F-AC44181F6734}"/>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104 and 45 to binary </a:t>
            </a:r>
          </a:p>
        </p:txBody>
      </p:sp>
      <p:sp>
        <p:nvSpPr>
          <p:cNvPr id="17" name="TextBox 16">
            <a:extLst>
              <a:ext uri="{FF2B5EF4-FFF2-40B4-BE49-F238E27FC236}">
                <a16:creationId xmlns:a16="http://schemas.microsoft.com/office/drawing/2014/main" id="{0067909D-34C2-5680-A3EA-4535D4CA64F4}"/>
              </a:ext>
            </a:extLst>
          </p:cNvPr>
          <p:cNvSpPr txBox="1"/>
          <p:nvPr/>
        </p:nvSpPr>
        <p:spPr>
          <a:xfrm>
            <a:off x="219537" y="5517232"/>
            <a:ext cx="4625788" cy="400110"/>
          </a:xfrm>
          <a:prstGeom prst="rect">
            <a:avLst/>
          </a:prstGeom>
          <a:solidFill>
            <a:srgbClr val="FFFF00"/>
          </a:solidFill>
        </p:spPr>
        <p:txBody>
          <a:bodyPr wrap="square">
            <a:spAutoFit/>
          </a:bodyPr>
          <a:lstStyle/>
          <a:p>
            <a:r>
              <a:rPr lang="en-MY" dirty="0">
                <a:solidFill>
                  <a:srgbClr val="00B050"/>
                </a:solidFill>
              </a:rPr>
              <a:t>Answer: 104 + 45 = 149 = 10010101 </a:t>
            </a:r>
          </a:p>
        </p:txBody>
      </p:sp>
      <p:sp>
        <p:nvSpPr>
          <p:cNvPr id="9" name="Oval 8">
            <a:extLst>
              <a:ext uri="{FF2B5EF4-FFF2-40B4-BE49-F238E27FC236}">
                <a16:creationId xmlns:a16="http://schemas.microsoft.com/office/drawing/2014/main" id="{4113C029-72DB-121D-44FD-20CB339A5922}"/>
              </a:ext>
            </a:extLst>
          </p:cNvPr>
          <p:cNvSpPr/>
          <p:nvPr/>
        </p:nvSpPr>
        <p:spPr>
          <a:xfrm>
            <a:off x="5775985" y="136706"/>
            <a:ext cx="3216231" cy="136312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3200" b="1" dirty="0"/>
              <a:t>Overflow example</a:t>
            </a:r>
          </a:p>
        </p:txBody>
      </p:sp>
      <p:sp>
        <p:nvSpPr>
          <p:cNvPr id="11" name="Multiplication Sign 10">
            <a:extLst>
              <a:ext uri="{FF2B5EF4-FFF2-40B4-BE49-F238E27FC236}">
                <a16:creationId xmlns:a16="http://schemas.microsoft.com/office/drawing/2014/main" id="{401093E2-0556-2A28-D200-E1FE57AA6521}"/>
              </a:ext>
            </a:extLst>
          </p:cNvPr>
          <p:cNvSpPr/>
          <p:nvPr/>
        </p:nvSpPr>
        <p:spPr>
          <a:xfrm>
            <a:off x="2915816" y="5411085"/>
            <a:ext cx="2271260" cy="630071"/>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Rounded Corners 12">
            <a:extLst>
              <a:ext uri="{FF2B5EF4-FFF2-40B4-BE49-F238E27FC236}">
                <a16:creationId xmlns:a16="http://schemas.microsoft.com/office/drawing/2014/main" id="{C900CA17-2B2E-7AE3-2E9B-ACF1532E716C}"/>
              </a:ext>
            </a:extLst>
          </p:cNvPr>
          <p:cNvSpPr/>
          <p:nvPr/>
        </p:nvSpPr>
        <p:spPr>
          <a:xfrm>
            <a:off x="1115616" y="4871114"/>
            <a:ext cx="648072" cy="4140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7336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E65B-FB9B-DB82-96A9-DDFC4443F0A7}"/>
              </a:ext>
            </a:extLst>
          </p:cNvPr>
          <p:cNvSpPr>
            <a:spLocks noGrp="1"/>
          </p:cNvSpPr>
          <p:nvPr>
            <p:ph type="title"/>
          </p:nvPr>
        </p:nvSpPr>
        <p:spPr/>
        <p:txBody>
          <a:bodyPr/>
          <a:lstStyle/>
          <a:p>
            <a:r>
              <a:rPr lang="en-MY" dirty="0"/>
              <a:t>How do we handle overflow? </a:t>
            </a:r>
          </a:p>
        </p:txBody>
      </p:sp>
      <p:sp>
        <p:nvSpPr>
          <p:cNvPr id="3" name="Content Placeholder 2">
            <a:extLst>
              <a:ext uri="{FF2B5EF4-FFF2-40B4-BE49-F238E27FC236}">
                <a16:creationId xmlns:a16="http://schemas.microsoft.com/office/drawing/2014/main" id="{653787CF-B6B0-CFCD-1049-EA1E210ADBFA}"/>
              </a:ext>
            </a:extLst>
          </p:cNvPr>
          <p:cNvSpPr>
            <a:spLocks noGrp="1"/>
          </p:cNvSpPr>
          <p:nvPr>
            <p:ph idx="1"/>
          </p:nvPr>
        </p:nvSpPr>
        <p:spPr/>
        <p:txBody>
          <a:bodyPr/>
          <a:lstStyle/>
          <a:p>
            <a:r>
              <a:rPr lang="en-US" dirty="0"/>
              <a:t>Since we added two positive numbers and got a negative result, overflow has indeed occurred. Therefore, this answer is </a:t>
            </a:r>
            <a:r>
              <a:rPr lang="en-US" b="1" u="sng" dirty="0">
                <a:solidFill>
                  <a:srgbClr val="FF0000"/>
                </a:solidFill>
              </a:rPr>
              <a:t>not correct </a:t>
            </a:r>
            <a:r>
              <a:rPr lang="en-US" dirty="0"/>
              <a:t>for 8-bit representation.</a:t>
            </a:r>
          </a:p>
          <a:p>
            <a:r>
              <a:rPr lang="en-US" dirty="0"/>
              <a:t>So, the correct answer cannot be represented within an 8-bit signed integer and would </a:t>
            </a:r>
            <a:r>
              <a:rPr lang="en-US" sz="4400" b="1" dirty="0">
                <a:solidFill>
                  <a:srgbClr val="00B050"/>
                </a:solidFill>
              </a:rPr>
              <a:t>require a larger bit width </a:t>
            </a:r>
            <a:r>
              <a:rPr lang="en-US" dirty="0"/>
              <a:t>(like 9 bits or more) to hold the value accurately.</a:t>
            </a:r>
            <a:endParaRPr lang="en-MY" dirty="0"/>
          </a:p>
        </p:txBody>
      </p:sp>
      <p:sp>
        <p:nvSpPr>
          <p:cNvPr id="4" name="Slide Number Placeholder 3">
            <a:extLst>
              <a:ext uri="{FF2B5EF4-FFF2-40B4-BE49-F238E27FC236}">
                <a16:creationId xmlns:a16="http://schemas.microsoft.com/office/drawing/2014/main" id="{1B70F5A5-33A4-30C3-AB13-06B336417FB8}"/>
              </a:ext>
            </a:extLst>
          </p:cNvPr>
          <p:cNvSpPr>
            <a:spLocks noGrp="1"/>
          </p:cNvSpPr>
          <p:nvPr>
            <p:ph type="sldNum" sz="quarter" idx="12"/>
          </p:nvPr>
        </p:nvSpPr>
        <p:spPr/>
        <p:txBody>
          <a:bodyPr/>
          <a:lstStyle/>
          <a:p>
            <a:pPr>
              <a:defRPr/>
            </a:pPr>
            <a:fld id="{B15F286D-88BF-4C85-84EF-53248539BE74}" type="slidenum">
              <a:rPr lang="en-US" altLang="en-US" smtClean="0"/>
              <a:pPr>
                <a:defRPr/>
              </a:pPr>
              <a:t>58</a:t>
            </a:fld>
            <a:endParaRPr lang="en-US" altLang="en-US"/>
          </a:p>
        </p:txBody>
      </p:sp>
    </p:spTree>
    <p:extLst>
      <p:ext uri="{BB962C8B-B14F-4D97-AF65-F5344CB8AC3E}">
        <p14:creationId xmlns:p14="http://schemas.microsoft.com/office/powerpoint/2010/main" val="3534888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029C-4CED-E76C-3580-758DB4F0FF01}"/>
              </a:ext>
            </a:extLst>
          </p:cNvPr>
          <p:cNvSpPr>
            <a:spLocks noGrp="1"/>
          </p:cNvSpPr>
          <p:nvPr>
            <p:ph type="title"/>
          </p:nvPr>
        </p:nvSpPr>
        <p:spPr/>
        <p:txBody>
          <a:bodyPr/>
          <a:lstStyle/>
          <a:p>
            <a:r>
              <a:rPr lang="en-MY" dirty="0"/>
              <a:t>Quick Activity #4 </a:t>
            </a:r>
          </a:p>
        </p:txBody>
      </p:sp>
      <p:sp>
        <p:nvSpPr>
          <p:cNvPr id="3" name="Content Placeholder 2">
            <a:extLst>
              <a:ext uri="{FF2B5EF4-FFF2-40B4-BE49-F238E27FC236}">
                <a16:creationId xmlns:a16="http://schemas.microsoft.com/office/drawing/2014/main" id="{008233EE-E060-CFD9-5CCE-B0FB709B86B6}"/>
              </a:ext>
            </a:extLst>
          </p:cNvPr>
          <p:cNvSpPr>
            <a:spLocks noGrp="1"/>
          </p:cNvSpPr>
          <p:nvPr>
            <p:ph idx="1"/>
          </p:nvPr>
        </p:nvSpPr>
        <p:spPr>
          <a:xfrm>
            <a:off x="325211" y="1828801"/>
            <a:ext cx="8115844" cy="4351337"/>
          </a:xfrm>
        </p:spPr>
        <p:txBody>
          <a:bodyPr>
            <a:normAutofit lnSpcReduction="10000"/>
          </a:bodyPr>
          <a:lstStyle/>
          <a:p>
            <a:pPr marL="0" indent="0">
              <a:buNone/>
            </a:pPr>
            <a:r>
              <a:rPr lang="en-US" sz="2400" dirty="0"/>
              <a:t>Assume numbers are represented in 8-bit twos-complement representation. Show the calculation of the following: </a:t>
            </a:r>
          </a:p>
          <a:p>
            <a:pPr marL="342900" indent="-342900">
              <a:buFont typeface="+mj-lt"/>
              <a:buAutoNum type="arabicPeriod"/>
            </a:pPr>
            <a:r>
              <a:rPr lang="en-US" sz="2400" dirty="0"/>
              <a:t>-19 + (-7)</a:t>
            </a:r>
          </a:p>
          <a:p>
            <a:pPr marL="342900" indent="-342900">
              <a:buFont typeface="+mj-lt"/>
              <a:buAutoNum type="arabicPeriod"/>
            </a:pPr>
            <a:r>
              <a:rPr lang="en-US" sz="2400" dirty="0"/>
              <a:t>44 + 45 </a:t>
            </a:r>
          </a:p>
          <a:p>
            <a:pPr marL="342900" indent="-342900">
              <a:buFont typeface="+mj-lt"/>
              <a:buAutoNum type="arabicPeriod"/>
            </a:pPr>
            <a:r>
              <a:rPr lang="en-US" sz="2400" dirty="0"/>
              <a:t>-75 + 59 </a:t>
            </a:r>
          </a:p>
          <a:p>
            <a:pPr marL="342900" indent="-342900">
              <a:buFont typeface="+mj-lt"/>
              <a:buAutoNum type="arabicPeriod"/>
            </a:pPr>
            <a:r>
              <a:rPr lang="en-US" sz="2400" dirty="0">
                <a:solidFill>
                  <a:srgbClr val="FF0000"/>
                </a:solidFill>
              </a:rPr>
              <a:t>127 + 1 </a:t>
            </a:r>
          </a:p>
          <a:p>
            <a:pPr marL="342900" indent="-342900">
              <a:buFont typeface="+mj-lt"/>
              <a:buAutoNum type="arabicPeriod"/>
            </a:pPr>
            <a:r>
              <a:rPr lang="en-US" sz="2400" dirty="0"/>
              <a:t>-1+1</a:t>
            </a:r>
          </a:p>
          <a:p>
            <a:pPr marL="342900" indent="-342900">
              <a:buFont typeface="+mj-lt"/>
              <a:buAutoNum type="arabicPeriod"/>
            </a:pPr>
            <a:r>
              <a:rPr lang="en-US" sz="2400" dirty="0">
                <a:solidFill>
                  <a:srgbClr val="FF0000"/>
                </a:solidFill>
              </a:rPr>
              <a:t>-103 + (-69)</a:t>
            </a:r>
          </a:p>
        </p:txBody>
      </p:sp>
      <p:sp>
        <p:nvSpPr>
          <p:cNvPr id="4" name="Slide Number Placeholder 3">
            <a:extLst>
              <a:ext uri="{FF2B5EF4-FFF2-40B4-BE49-F238E27FC236}">
                <a16:creationId xmlns:a16="http://schemas.microsoft.com/office/drawing/2014/main" id="{85D1162A-B185-EF50-57BB-7EF86E20C511}"/>
              </a:ext>
            </a:extLst>
          </p:cNvPr>
          <p:cNvSpPr>
            <a:spLocks noGrp="1"/>
          </p:cNvSpPr>
          <p:nvPr>
            <p:ph type="sldNum" sz="quarter" idx="12"/>
          </p:nvPr>
        </p:nvSpPr>
        <p:spPr/>
        <p:txBody>
          <a:bodyPr/>
          <a:lstStyle/>
          <a:p>
            <a:pPr>
              <a:defRPr/>
            </a:pPr>
            <a:fld id="{B15F286D-88BF-4C85-84EF-53248539BE74}" type="slidenum">
              <a:rPr lang="en-US" altLang="en-US" smtClean="0"/>
              <a:pPr>
                <a:defRPr/>
              </a:pPr>
              <a:t>59</a:t>
            </a:fld>
            <a:endParaRPr lang="en-US" altLang="en-US"/>
          </a:p>
        </p:txBody>
      </p:sp>
    </p:spTree>
    <p:extLst>
      <p:ext uri="{BB962C8B-B14F-4D97-AF65-F5344CB8AC3E}">
        <p14:creationId xmlns:p14="http://schemas.microsoft.com/office/powerpoint/2010/main" val="20239619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312F73-D640-BB89-F0CA-0BCC34E461BF}"/>
              </a:ext>
            </a:extLst>
          </p:cNvPr>
          <p:cNvSpPr>
            <a:spLocks noGrp="1"/>
          </p:cNvSpPr>
          <p:nvPr>
            <p:ph type="sldNum" sz="quarter" idx="12"/>
          </p:nvPr>
        </p:nvSpPr>
        <p:spPr/>
        <p:txBody>
          <a:bodyPr/>
          <a:lstStyle/>
          <a:p>
            <a:pPr>
              <a:defRPr/>
            </a:pPr>
            <a:fld id="{B15F286D-88BF-4C85-84EF-53248539BE74}" type="slidenum">
              <a:rPr lang="en-US" altLang="en-US" smtClean="0"/>
              <a:pPr>
                <a:defRPr/>
              </a:pPr>
              <a:t>60</a:t>
            </a:fld>
            <a:endParaRPr lang="en-US" altLang="en-US"/>
          </a:p>
        </p:txBody>
      </p:sp>
      <p:pic>
        <p:nvPicPr>
          <p:cNvPr id="6" name="Picture 5">
            <a:extLst>
              <a:ext uri="{FF2B5EF4-FFF2-40B4-BE49-F238E27FC236}">
                <a16:creationId xmlns:a16="http://schemas.microsoft.com/office/drawing/2014/main" id="{0644FA28-7774-F9CC-2D1F-0AE71ED810C0}"/>
              </a:ext>
            </a:extLst>
          </p:cNvPr>
          <p:cNvPicPr>
            <a:picLocks noChangeAspect="1"/>
          </p:cNvPicPr>
          <p:nvPr/>
        </p:nvPicPr>
        <p:blipFill>
          <a:blip r:embed="rId2"/>
          <a:stretch>
            <a:fillRect/>
          </a:stretch>
        </p:blipFill>
        <p:spPr>
          <a:xfrm>
            <a:off x="157162" y="138112"/>
            <a:ext cx="8829675" cy="6581775"/>
          </a:xfrm>
          <a:prstGeom prst="rect">
            <a:avLst/>
          </a:prstGeom>
        </p:spPr>
      </p:pic>
    </p:spTree>
    <p:extLst>
      <p:ext uri="{BB962C8B-B14F-4D97-AF65-F5344CB8AC3E}">
        <p14:creationId xmlns:p14="http://schemas.microsoft.com/office/powerpoint/2010/main" val="35535103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2E779B-8158-1F0C-D191-FCED6CF92161}"/>
              </a:ext>
            </a:extLst>
          </p:cNvPr>
          <p:cNvSpPr>
            <a:spLocks noGrp="1"/>
          </p:cNvSpPr>
          <p:nvPr>
            <p:ph type="title"/>
          </p:nvPr>
        </p:nvSpPr>
        <p:spPr/>
        <p:txBody>
          <a:bodyPr/>
          <a:lstStyle/>
          <a:p>
            <a:r>
              <a:rPr lang="en-MY" dirty="0"/>
              <a:t>2’s complement operations</a:t>
            </a:r>
          </a:p>
        </p:txBody>
      </p:sp>
      <p:sp>
        <p:nvSpPr>
          <p:cNvPr id="7" name="Freeform: Shape 6">
            <a:extLst>
              <a:ext uri="{FF2B5EF4-FFF2-40B4-BE49-F238E27FC236}">
                <a16:creationId xmlns:a16="http://schemas.microsoft.com/office/drawing/2014/main" id="{865B07E9-9608-DC10-630A-068453081CBC}"/>
              </a:ext>
            </a:extLst>
          </p:cNvPr>
          <p:cNvSpPr/>
          <p:nvPr/>
        </p:nvSpPr>
        <p:spPr>
          <a:xfrm>
            <a:off x="754798" y="182918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Addition</a:t>
            </a:r>
            <a:endParaRPr lang="en-MY" sz="3600" kern="1200"/>
          </a:p>
        </p:txBody>
      </p:sp>
      <p:sp>
        <p:nvSpPr>
          <p:cNvPr id="8" name="Freeform: Shape 7">
            <a:extLst>
              <a:ext uri="{FF2B5EF4-FFF2-40B4-BE49-F238E27FC236}">
                <a16:creationId xmlns:a16="http://schemas.microsoft.com/office/drawing/2014/main" id="{CB7B737E-DCD4-D654-F2D5-B330247A3170}"/>
              </a:ext>
            </a:extLst>
          </p:cNvPr>
          <p:cNvSpPr/>
          <p:nvPr/>
        </p:nvSpPr>
        <p:spPr>
          <a:xfrm>
            <a:off x="4436042" y="182918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6039257"/>
              <a:satOff val="-2677"/>
              <a:lumOff val="-5359"/>
              <a:alphaOff val="0"/>
            </a:schemeClr>
          </a:fillRef>
          <a:effectRef idx="0">
            <a:schemeClr val="accent4">
              <a:hueOff val="6039257"/>
              <a:satOff val="-2677"/>
              <a:lumOff val="-5359"/>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dirty="0"/>
              <a:t>Subtraction</a:t>
            </a:r>
            <a:endParaRPr lang="en-MY" sz="3600" kern="1200" dirty="0"/>
          </a:p>
        </p:txBody>
      </p:sp>
      <p:sp>
        <p:nvSpPr>
          <p:cNvPr id="9" name="Freeform: Shape 8">
            <a:extLst>
              <a:ext uri="{FF2B5EF4-FFF2-40B4-BE49-F238E27FC236}">
                <a16:creationId xmlns:a16="http://schemas.microsoft.com/office/drawing/2014/main" id="{3E847A2F-AC97-9C6F-3FDF-C7D387D8A196}"/>
              </a:ext>
            </a:extLst>
          </p:cNvPr>
          <p:cNvSpPr/>
          <p:nvPr/>
        </p:nvSpPr>
        <p:spPr>
          <a:xfrm>
            <a:off x="754798" y="417179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12078514"/>
              <a:satOff val="-5354"/>
              <a:lumOff val="-10719"/>
              <a:alphaOff val="0"/>
            </a:schemeClr>
          </a:fillRef>
          <a:effectRef idx="0">
            <a:schemeClr val="accent4">
              <a:hueOff val="12078514"/>
              <a:satOff val="-5354"/>
              <a:lumOff val="-10719"/>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Multiplication</a:t>
            </a:r>
            <a:endParaRPr lang="en-MY" sz="3600" kern="1200"/>
          </a:p>
        </p:txBody>
      </p:sp>
      <p:sp>
        <p:nvSpPr>
          <p:cNvPr id="10" name="Freeform: Shape 9">
            <a:extLst>
              <a:ext uri="{FF2B5EF4-FFF2-40B4-BE49-F238E27FC236}">
                <a16:creationId xmlns:a16="http://schemas.microsoft.com/office/drawing/2014/main" id="{6603432C-E74E-5792-009E-5C7FB788D075}"/>
              </a:ext>
            </a:extLst>
          </p:cNvPr>
          <p:cNvSpPr/>
          <p:nvPr/>
        </p:nvSpPr>
        <p:spPr>
          <a:xfrm>
            <a:off x="4436042" y="4171798"/>
            <a:ext cx="3346585" cy="2007951"/>
          </a:xfrm>
          <a:custGeom>
            <a:avLst/>
            <a:gdLst>
              <a:gd name="connsiteX0" fmla="*/ 0 w 3346585"/>
              <a:gd name="connsiteY0" fmla="*/ 0 h 2007951"/>
              <a:gd name="connsiteX1" fmla="*/ 3346585 w 3346585"/>
              <a:gd name="connsiteY1" fmla="*/ 0 h 2007951"/>
              <a:gd name="connsiteX2" fmla="*/ 3346585 w 3346585"/>
              <a:gd name="connsiteY2" fmla="*/ 2007951 h 2007951"/>
              <a:gd name="connsiteX3" fmla="*/ 0 w 3346585"/>
              <a:gd name="connsiteY3" fmla="*/ 2007951 h 2007951"/>
              <a:gd name="connsiteX4" fmla="*/ 0 w 3346585"/>
              <a:gd name="connsiteY4" fmla="*/ 0 h 2007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585" h="2007951">
                <a:moveTo>
                  <a:pt x="0" y="0"/>
                </a:moveTo>
                <a:lnTo>
                  <a:pt x="3346585" y="0"/>
                </a:lnTo>
                <a:lnTo>
                  <a:pt x="3346585" y="2007951"/>
                </a:lnTo>
                <a:lnTo>
                  <a:pt x="0" y="2007951"/>
                </a:lnTo>
                <a:lnTo>
                  <a:pt x="0" y="0"/>
                </a:lnTo>
                <a:close/>
              </a:path>
            </a:pathLst>
          </a:custGeom>
        </p:spPr>
        <p:style>
          <a:lnRef idx="2">
            <a:schemeClr val="lt1">
              <a:hueOff val="0"/>
              <a:satOff val="0"/>
              <a:lumOff val="0"/>
              <a:alphaOff val="0"/>
            </a:schemeClr>
          </a:lnRef>
          <a:fillRef idx="1">
            <a:schemeClr val="accent4">
              <a:hueOff val="18117770"/>
              <a:satOff val="-8031"/>
              <a:lumOff val="-16078"/>
              <a:alphaOff val="0"/>
            </a:schemeClr>
          </a:fillRef>
          <a:effectRef idx="0">
            <a:schemeClr val="accent4">
              <a:hueOff val="18117770"/>
              <a:satOff val="-8031"/>
              <a:lumOff val="-16078"/>
              <a:alphaOff val="0"/>
            </a:schemeClr>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MY" sz="3600" kern="1200" baseline="0"/>
              <a:t>Division</a:t>
            </a:r>
            <a:endParaRPr lang="en-MY" sz="3600" kern="1200"/>
          </a:p>
        </p:txBody>
      </p:sp>
      <p:sp>
        <p:nvSpPr>
          <p:cNvPr id="2" name="Slide Number Placeholder 1">
            <a:extLst>
              <a:ext uri="{FF2B5EF4-FFF2-40B4-BE49-F238E27FC236}">
                <a16:creationId xmlns:a16="http://schemas.microsoft.com/office/drawing/2014/main" id="{E6DDCF87-B3E7-3DE1-7DA4-E7B07D77DCF0}"/>
              </a:ext>
            </a:extLst>
          </p:cNvPr>
          <p:cNvSpPr>
            <a:spLocks noGrp="1"/>
          </p:cNvSpPr>
          <p:nvPr>
            <p:ph type="sldNum" sz="quarter" idx="12"/>
          </p:nvPr>
        </p:nvSpPr>
        <p:spPr/>
        <p:txBody>
          <a:bodyPr/>
          <a:lstStyle/>
          <a:p>
            <a:pPr>
              <a:defRPr/>
            </a:pPr>
            <a:fld id="{B15F286D-88BF-4C85-84EF-53248539BE74}" type="slidenum">
              <a:rPr lang="en-US" altLang="en-US" smtClean="0"/>
              <a:pPr>
                <a:defRPr/>
              </a:pPr>
              <a:t>61</a:t>
            </a:fld>
            <a:endParaRPr lang="en-US" altLang="en-US"/>
          </a:p>
        </p:txBody>
      </p:sp>
    </p:spTree>
    <p:extLst>
      <p:ext uri="{BB962C8B-B14F-4D97-AF65-F5344CB8AC3E}">
        <p14:creationId xmlns:p14="http://schemas.microsoft.com/office/powerpoint/2010/main" val="39128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7"/>
                                        </p:tgtEl>
                                      </p:cBhvr>
                                    </p:animEffect>
                                    <p:anim calcmode="lin" valueType="num">
                                      <p:cBhvr>
                                        <p:cTn id="7" dur="1000"/>
                                        <p:tgtEl>
                                          <p:spTgt spid="7"/>
                                        </p:tgtEl>
                                        <p:attrNameLst>
                                          <p:attrName>ppt_x</p:attrName>
                                        </p:attrNameLst>
                                      </p:cBhvr>
                                      <p:tavLst>
                                        <p:tav tm="0">
                                          <p:val>
                                            <p:strVal val="ppt_x"/>
                                          </p:val>
                                        </p:tav>
                                        <p:tav tm="100000">
                                          <p:val>
                                            <p:strVal val="ppt_x"/>
                                          </p:val>
                                        </p:tav>
                                      </p:tavLst>
                                    </p:anim>
                                    <p:anim calcmode="lin" valueType="num">
                                      <p:cBhvr>
                                        <p:cTn id="8" dur="1000"/>
                                        <p:tgtEl>
                                          <p:spTgt spid="7"/>
                                        </p:tgtEl>
                                        <p:attrNameLst>
                                          <p:attrName>ppt_y</p:attrName>
                                        </p:attrNameLst>
                                      </p:cBhvr>
                                      <p:tavLst>
                                        <p:tav tm="0">
                                          <p:val>
                                            <p:strVal val="ppt_y"/>
                                          </p:val>
                                        </p:tav>
                                        <p:tav tm="100000">
                                          <p:val>
                                            <p:strVal val="ppt_y+.1"/>
                                          </p:val>
                                        </p:tav>
                                      </p:tavLst>
                                    </p:anim>
                                    <p:set>
                                      <p:cBhvr>
                                        <p:cTn id="9" dur="1" fill="hold">
                                          <p:stCondLst>
                                            <p:cond delay="999"/>
                                          </p:stCondLst>
                                        </p:cTn>
                                        <p:tgtEl>
                                          <p:spTgt spid="7"/>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9"/>
                                        </p:tgtEl>
                                      </p:cBhvr>
                                    </p:animEffect>
                                    <p:anim calcmode="lin" valueType="num">
                                      <p:cBhvr>
                                        <p:cTn id="12" dur="1000"/>
                                        <p:tgtEl>
                                          <p:spTgt spid="9"/>
                                        </p:tgtEl>
                                        <p:attrNameLst>
                                          <p:attrName>ppt_x</p:attrName>
                                        </p:attrNameLst>
                                      </p:cBhvr>
                                      <p:tavLst>
                                        <p:tav tm="0">
                                          <p:val>
                                            <p:strVal val="ppt_x"/>
                                          </p:val>
                                        </p:tav>
                                        <p:tav tm="100000">
                                          <p:val>
                                            <p:strVal val="ppt_x"/>
                                          </p:val>
                                        </p:tav>
                                      </p:tavLst>
                                    </p:anim>
                                    <p:anim calcmode="lin" valueType="num">
                                      <p:cBhvr>
                                        <p:cTn id="13" dur="1000"/>
                                        <p:tgtEl>
                                          <p:spTgt spid="9"/>
                                        </p:tgtEl>
                                        <p:attrNameLst>
                                          <p:attrName>ppt_y</p:attrName>
                                        </p:attrNameLst>
                                      </p:cBhvr>
                                      <p:tavLst>
                                        <p:tav tm="0">
                                          <p:val>
                                            <p:strVal val="ppt_y"/>
                                          </p:val>
                                        </p:tav>
                                        <p:tav tm="100000">
                                          <p:val>
                                            <p:strVal val="ppt_y+.1"/>
                                          </p:val>
                                        </p:tav>
                                      </p:tavLst>
                                    </p:anim>
                                    <p:set>
                                      <p:cBhvr>
                                        <p:cTn id="14" dur="1" fill="hold">
                                          <p:stCondLst>
                                            <p:cond delay="999"/>
                                          </p:stCondLst>
                                        </p:cTn>
                                        <p:tgtEl>
                                          <p:spTgt spid="9"/>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10"/>
                                        </p:tgtEl>
                                      </p:cBhvr>
                                    </p:animEffect>
                                    <p:anim calcmode="lin" valueType="num">
                                      <p:cBhvr>
                                        <p:cTn id="17" dur="1000"/>
                                        <p:tgtEl>
                                          <p:spTgt spid="10"/>
                                        </p:tgtEl>
                                        <p:attrNameLst>
                                          <p:attrName>ppt_x</p:attrName>
                                        </p:attrNameLst>
                                      </p:cBhvr>
                                      <p:tavLst>
                                        <p:tav tm="0">
                                          <p:val>
                                            <p:strVal val="ppt_x"/>
                                          </p:val>
                                        </p:tav>
                                        <p:tav tm="100000">
                                          <p:val>
                                            <p:strVal val="ppt_x"/>
                                          </p:val>
                                        </p:tav>
                                      </p:tavLst>
                                    </p:anim>
                                    <p:anim calcmode="lin" valueType="num">
                                      <p:cBhvr>
                                        <p:cTn id="18" dur="1000"/>
                                        <p:tgtEl>
                                          <p:spTgt spid="10"/>
                                        </p:tgtEl>
                                        <p:attrNameLst>
                                          <p:attrName>ppt_y</p:attrName>
                                        </p:attrNameLst>
                                      </p:cBhvr>
                                      <p:tavLst>
                                        <p:tav tm="0">
                                          <p:val>
                                            <p:strVal val="ppt_y"/>
                                          </p:val>
                                        </p:tav>
                                        <p:tav tm="100000">
                                          <p:val>
                                            <p:strVal val="ppt_y+.1"/>
                                          </p:val>
                                        </p:tav>
                                      </p:tavLst>
                                    </p:anim>
                                    <p:set>
                                      <p:cBhvr>
                                        <p:cTn id="19"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4449-4E43-B655-1E13-F1CA555585F7}"/>
              </a:ext>
            </a:extLst>
          </p:cNvPr>
          <p:cNvSpPr>
            <a:spLocks noGrp="1"/>
          </p:cNvSpPr>
          <p:nvPr>
            <p:ph type="title"/>
          </p:nvPr>
        </p:nvSpPr>
        <p:spPr/>
        <p:txBody>
          <a:bodyPr/>
          <a:lstStyle/>
          <a:p>
            <a:r>
              <a:rPr lang="en-MY" dirty="0"/>
              <a:t>Subtraction in 2’s complement</a:t>
            </a:r>
          </a:p>
        </p:txBody>
      </p:sp>
      <p:sp>
        <p:nvSpPr>
          <p:cNvPr id="3" name="Content Placeholder 2">
            <a:extLst>
              <a:ext uri="{FF2B5EF4-FFF2-40B4-BE49-F238E27FC236}">
                <a16:creationId xmlns:a16="http://schemas.microsoft.com/office/drawing/2014/main" id="{0AEC5E14-50AF-381E-8378-9BB34BE606A8}"/>
              </a:ext>
            </a:extLst>
          </p:cNvPr>
          <p:cNvSpPr>
            <a:spLocks noGrp="1"/>
          </p:cNvSpPr>
          <p:nvPr>
            <p:ph idx="1"/>
          </p:nvPr>
        </p:nvSpPr>
        <p:spPr>
          <a:xfrm>
            <a:off x="325211" y="1828801"/>
            <a:ext cx="7991205" cy="880119"/>
          </a:xfrm>
        </p:spPr>
        <p:txBody>
          <a:bodyPr>
            <a:normAutofit fontScale="62500" lnSpcReduction="20000"/>
          </a:bodyPr>
          <a:lstStyle/>
          <a:p>
            <a:pPr marL="0" indent="0" algn="ctr">
              <a:buNone/>
            </a:pPr>
            <a:r>
              <a:rPr lang="en-US" sz="3600" dirty="0"/>
              <a:t>To subtract one number (subtrahend)</a:t>
            </a:r>
            <a:r>
              <a:rPr lang="en-US" sz="3600" dirty="0">
                <a:solidFill>
                  <a:srgbClr val="FF0000"/>
                </a:solidFill>
              </a:rPr>
              <a:t> [S] </a:t>
            </a:r>
            <a:r>
              <a:rPr lang="en-US" sz="3600" dirty="0"/>
              <a:t>from another (minuend)</a:t>
            </a:r>
            <a:r>
              <a:rPr lang="en-US" sz="3600" dirty="0">
                <a:solidFill>
                  <a:srgbClr val="FF0000"/>
                </a:solidFill>
              </a:rPr>
              <a:t> [M]</a:t>
            </a:r>
            <a:r>
              <a:rPr lang="en-US" sz="3600" dirty="0"/>
              <a:t>, take the 2s complement (negation) of the subtrahend and add them to the minuend</a:t>
            </a:r>
          </a:p>
        </p:txBody>
      </p:sp>
      <p:sp>
        <p:nvSpPr>
          <p:cNvPr id="4" name="Slide Number Placeholder 3">
            <a:extLst>
              <a:ext uri="{FF2B5EF4-FFF2-40B4-BE49-F238E27FC236}">
                <a16:creationId xmlns:a16="http://schemas.microsoft.com/office/drawing/2014/main" id="{92D28E0E-0E28-460F-5BDD-F7F8DBDD3DA8}"/>
              </a:ext>
            </a:extLst>
          </p:cNvPr>
          <p:cNvSpPr>
            <a:spLocks noGrp="1"/>
          </p:cNvSpPr>
          <p:nvPr>
            <p:ph type="sldNum" sz="quarter" idx="12"/>
          </p:nvPr>
        </p:nvSpPr>
        <p:spPr/>
        <p:txBody>
          <a:bodyPr/>
          <a:lstStyle/>
          <a:p>
            <a:pPr>
              <a:defRPr/>
            </a:pPr>
            <a:fld id="{B15F286D-88BF-4C85-84EF-53248539BE74}" type="slidenum">
              <a:rPr lang="en-US" altLang="en-US" smtClean="0"/>
              <a:pPr>
                <a:defRPr/>
              </a:pPr>
              <a:t>62</a:t>
            </a:fld>
            <a:endParaRPr lang="en-US" altLang="en-US"/>
          </a:p>
        </p:txBody>
      </p:sp>
      <p:sp>
        <p:nvSpPr>
          <p:cNvPr id="5" name="TextBox 4">
            <a:extLst>
              <a:ext uri="{FF2B5EF4-FFF2-40B4-BE49-F238E27FC236}">
                <a16:creationId xmlns:a16="http://schemas.microsoft.com/office/drawing/2014/main" id="{A3910269-EF5C-D061-0B42-7E389E79B5AC}"/>
              </a:ext>
            </a:extLst>
          </p:cNvPr>
          <p:cNvSpPr txBox="1"/>
          <p:nvPr/>
        </p:nvSpPr>
        <p:spPr>
          <a:xfrm>
            <a:off x="2231740" y="2704209"/>
            <a:ext cx="4680520" cy="830997"/>
          </a:xfrm>
          <a:prstGeom prst="rect">
            <a:avLst/>
          </a:prstGeom>
          <a:noFill/>
        </p:spPr>
        <p:txBody>
          <a:bodyPr wrap="square" rtlCol="0">
            <a:spAutoFit/>
          </a:bodyPr>
          <a:lstStyle/>
          <a:p>
            <a:r>
              <a:rPr lang="en-MY" sz="4800" b="1" dirty="0">
                <a:solidFill>
                  <a:srgbClr val="00B050"/>
                </a:solidFill>
              </a:rPr>
              <a:t>[M] + 2s [S]</a:t>
            </a:r>
          </a:p>
        </p:txBody>
      </p:sp>
      <p:sp>
        <p:nvSpPr>
          <p:cNvPr id="6" name="Content Placeholder 2">
            <a:extLst>
              <a:ext uri="{FF2B5EF4-FFF2-40B4-BE49-F238E27FC236}">
                <a16:creationId xmlns:a16="http://schemas.microsoft.com/office/drawing/2014/main" id="{6FF3BCAD-5B94-4784-455C-6231035C4525}"/>
              </a:ext>
            </a:extLst>
          </p:cNvPr>
          <p:cNvSpPr txBox="1">
            <a:spLocks/>
          </p:cNvSpPr>
          <p:nvPr/>
        </p:nvSpPr>
        <p:spPr>
          <a:xfrm>
            <a:off x="288365" y="4175543"/>
            <a:ext cx="8567269" cy="1656184"/>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fontAlgn="auto">
              <a:buNone/>
            </a:pPr>
            <a:r>
              <a:rPr kumimoji="0" lang="en-US" sz="1200" b="1" dirty="0"/>
              <a:t>Step 1: Find 2s complement of subtrahend [S]</a:t>
            </a:r>
          </a:p>
          <a:p>
            <a:pPr marL="0" indent="0" fontAlgn="auto">
              <a:buNone/>
            </a:pPr>
            <a:r>
              <a:rPr kumimoji="0" lang="en-US" sz="1200" b="1" dirty="0"/>
              <a:t>Step 2: Perform the addition </a:t>
            </a:r>
          </a:p>
          <a:p>
            <a:pPr marL="0" indent="0" fontAlgn="auto">
              <a:buNone/>
            </a:pPr>
            <a:r>
              <a:rPr kumimoji="0" lang="en-US" sz="1200" b="1" dirty="0"/>
              <a:t>Step 3: If the carry bit is generated and the result is positive, and in its true form</a:t>
            </a:r>
          </a:p>
          <a:p>
            <a:pPr marL="0" indent="0" fontAlgn="auto">
              <a:buNone/>
            </a:pPr>
            <a:r>
              <a:rPr kumimoji="0" lang="en-US" sz="1200" b="1" dirty="0"/>
              <a:t>             If carry bit is not produced, then the result is negative and in its 2s complement form </a:t>
            </a:r>
          </a:p>
        </p:txBody>
      </p:sp>
      <p:sp>
        <p:nvSpPr>
          <p:cNvPr id="7" name="TextBox 6">
            <a:extLst>
              <a:ext uri="{FF2B5EF4-FFF2-40B4-BE49-F238E27FC236}">
                <a16:creationId xmlns:a16="http://schemas.microsoft.com/office/drawing/2014/main" id="{A4093523-3DB4-5301-B6AB-26866E5011CA}"/>
              </a:ext>
            </a:extLst>
          </p:cNvPr>
          <p:cNvSpPr txBox="1"/>
          <p:nvPr/>
        </p:nvSpPr>
        <p:spPr>
          <a:xfrm>
            <a:off x="8232048" y="116632"/>
            <a:ext cx="865035" cy="995422"/>
          </a:xfrm>
          <a:prstGeom prst="ellipse">
            <a:avLst/>
          </a:prstGeom>
          <a:solidFill>
            <a:srgbClr val="FFFF00"/>
          </a:solidFill>
        </p:spPr>
        <p:txBody>
          <a:bodyPr wrap="square" rtlCol="0">
            <a:spAutoFit/>
          </a:bodyPr>
          <a:lstStyle/>
          <a:p>
            <a:pPr algn="ctr"/>
            <a:r>
              <a:rPr lang="en-MY" dirty="0">
                <a:solidFill>
                  <a:srgbClr val="FF0000"/>
                </a:solidFill>
              </a:rPr>
              <a:t>0 +</a:t>
            </a:r>
          </a:p>
          <a:p>
            <a:pPr algn="ctr"/>
            <a:r>
              <a:rPr lang="en-MY" dirty="0">
                <a:solidFill>
                  <a:srgbClr val="FF0000"/>
                </a:solidFill>
              </a:rPr>
              <a:t>1-</a:t>
            </a:r>
          </a:p>
        </p:txBody>
      </p:sp>
    </p:spTree>
    <p:extLst>
      <p:ext uri="{BB962C8B-B14F-4D97-AF65-F5344CB8AC3E}">
        <p14:creationId xmlns:p14="http://schemas.microsoft.com/office/powerpoint/2010/main" val="37005760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9AD6-80C3-B878-AF90-D2EAAE232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5C210-82FA-B956-3FAD-528121D9E242}"/>
              </a:ext>
            </a:extLst>
          </p:cNvPr>
          <p:cNvSpPr>
            <a:spLocks noGrp="1"/>
          </p:cNvSpPr>
          <p:nvPr>
            <p:ph type="title"/>
          </p:nvPr>
        </p:nvSpPr>
        <p:spPr>
          <a:xfrm>
            <a:off x="325211" y="265678"/>
            <a:ext cx="7890672" cy="744152"/>
          </a:xfrm>
        </p:spPr>
        <p:txBody>
          <a:bodyPr/>
          <a:lstStyle/>
          <a:p>
            <a:r>
              <a:rPr lang="en-MY" dirty="0"/>
              <a:t>Subtraction (Example 1)  </a:t>
            </a:r>
          </a:p>
        </p:txBody>
      </p:sp>
      <p:sp>
        <p:nvSpPr>
          <p:cNvPr id="3" name="Content Placeholder 2">
            <a:extLst>
              <a:ext uri="{FF2B5EF4-FFF2-40B4-BE49-F238E27FC236}">
                <a16:creationId xmlns:a16="http://schemas.microsoft.com/office/drawing/2014/main" id="{AD8E42FA-4559-112B-4132-EF1F3559BAEC}"/>
              </a:ext>
            </a:extLst>
          </p:cNvPr>
          <p:cNvSpPr>
            <a:spLocks noGrp="1"/>
          </p:cNvSpPr>
          <p:nvPr>
            <p:ph idx="1"/>
          </p:nvPr>
        </p:nvSpPr>
        <p:spPr>
          <a:xfrm>
            <a:off x="347496" y="1196752"/>
            <a:ext cx="7887005" cy="432048"/>
          </a:xfrm>
        </p:spPr>
        <p:txBody>
          <a:bodyPr/>
          <a:lstStyle/>
          <a:p>
            <a:pPr marL="0" indent="0">
              <a:buNone/>
            </a:pPr>
            <a:r>
              <a:rPr lang="en-MY" dirty="0"/>
              <a:t>Subtract two 4-bit 2’s complement of 2 and -7</a:t>
            </a:r>
          </a:p>
        </p:txBody>
      </p:sp>
      <p:graphicFrame>
        <p:nvGraphicFramePr>
          <p:cNvPr id="4" name="Table 38">
            <a:extLst>
              <a:ext uri="{FF2B5EF4-FFF2-40B4-BE49-F238E27FC236}">
                <a16:creationId xmlns:a16="http://schemas.microsoft.com/office/drawing/2014/main" id="{545B5C8C-329D-798B-BD43-04D06ED007DC}"/>
              </a:ext>
            </a:extLst>
          </p:cNvPr>
          <p:cNvGraphicFramePr>
            <a:graphicFrameLocks noGrp="1"/>
          </p:cNvGraphicFramePr>
          <p:nvPr>
            <p:extLst>
              <p:ext uri="{D42A27DB-BD31-4B8C-83A1-F6EECF244321}">
                <p14:modId xmlns:p14="http://schemas.microsoft.com/office/powerpoint/2010/main" val="2297515718"/>
              </p:ext>
            </p:extLst>
          </p:nvPr>
        </p:nvGraphicFramePr>
        <p:xfrm>
          <a:off x="251520" y="3073125"/>
          <a:ext cx="7344819" cy="1250337"/>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820671404"/>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S</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4217251547"/>
                  </a:ext>
                </a:extLst>
              </a:tr>
              <a:tr h="416779">
                <a:tc>
                  <a:txBody>
                    <a:bodyPr/>
                    <a:lstStyle/>
                    <a:p>
                      <a:pPr algn="ctr"/>
                      <a:r>
                        <a:rPr lang="en-MY" sz="1800" b="1" dirty="0">
                          <a:solidFill>
                            <a:schemeClr val="tx1"/>
                          </a:solidFill>
                        </a:rPr>
                        <a:t>-7</a:t>
                      </a: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2527677058"/>
                  </a:ext>
                </a:extLst>
              </a:tr>
            </a:tbl>
          </a:graphicData>
        </a:graphic>
      </p:graphicFrame>
      <p:graphicFrame>
        <p:nvGraphicFramePr>
          <p:cNvPr id="5" name="Table 38">
            <a:extLst>
              <a:ext uri="{FF2B5EF4-FFF2-40B4-BE49-F238E27FC236}">
                <a16:creationId xmlns:a16="http://schemas.microsoft.com/office/drawing/2014/main" id="{12040C6D-1EE1-723E-BD94-C1E5DF89060E}"/>
              </a:ext>
            </a:extLst>
          </p:cNvPr>
          <p:cNvGraphicFramePr>
            <a:graphicFrameLocks noGrp="1"/>
          </p:cNvGraphicFramePr>
          <p:nvPr>
            <p:extLst>
              <p:ext uri="{D42A27DB-BD31-4B8C-83A1-F6EECF244321}">
                <p14:modId xmlns:p14="http://schemas.microsoft.com/office/powerpoint/2010/main" val="3819886094"/>
              </p:ext>
            </p:extLst>
          </p:nvPr>
        </p:nvGraphicFramePr>
        <p:xfrm>
          <a:off x="251520" y="2026542"/>
          <a:ext cx="7376733" cy="833558"/>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M</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2</a:t>
                      </a:r>
                    </a:p>
                  </a:txBody>
                  <a:tcPr anchor="ctr">
                    <a:solidFill>
                      <a:schemeClr val="accent3">
                        <a:lumMod val="40000"/>
                        <a:lumOff val="60000"/>
                      </a:schemeClr>
                    </a:solidFill>
                  </a:tcPr>
                </a:tc>
                <a:tc>
                  <a:txBody>
                    <a:bodyPr/>
                    <a:lstStyle/>
                    <a:p>
                      <a:pPr algn="ctr"/>
                      <a:endParaRPr lang="en-MY" sz="1800" b="1"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85A12743-D58C-C8D2-5AE4-589C4EFD3ECC}"/>
              </a:ext>
            </a:extLst>
          </p:cNvPr>
          <p:cNvSpPr>
            <a:spLocks noGrp="1"/>
          </p:cNvSpPr>
          <p:nvPr>
            <p:ph type="sldNum" sz="quarter" idx="12"/>
          </p:nvPr>
        </p:nvSpPr>
        <p:spPr/>
        <p:txBody>
          <a:bodyPr/>
          <a:lstStyle/>
          <a:p>
            <a:pPr>
              <a:defRPr/>
            </a:pPr>
            <a:fld id="{B15F286D-88BF-4C85-84EF-53248539BE74}" type="slidenum">
              <a:rPr lang="en-US" altLang="en-US" smtClean="0"/>
              <a:pPr>
                <a:defRPr/>
              </a:pPr>
              <a:t>63</a:t>
            </a:fld>
            <a:endParaRPr lang="en-US" altLang="en-US"/>
          </a:p>
        </p:txBody>
      </p:sp>
      <p:graphicFrame>
        <p:nvGraphicFramePr>
          <p:cNvPr id="8" name="Table 38">
            <a:extLst>
              <a:ext uri="{FF2B5EF4-FFF2-40B4-BE49-F238E27FC236}">
                <a16:creationId xmlns:a16="http://schemas.microsoft.com/office/drawing/2014/main" id="{38F48E4D-7CCA-1572-E851-8F9CB21FE694}"/>
              </a:ext>
            </a:extLst>
          </p:cNvPr>
          <p:cNvGraphicFramePr>
            <a:graphicFrameLocks noGrp="1"/>
          </p:cNvGraphicFramePr>
          <p:nvPr>
            <p:extLst>
              <p:ext uri="{D42A27DB-BD31-4B8C-83A1-F6EECF244321}">
                <p14:modId xmlns:p14="http://schemas.microsoft.com/office/powerpoint/2010/main" val="1046605328"/>
              </p:ext>
            </p:extLst>
          </p:nvPr>
        </p:nvGraphicFramePr>
        <p:xfrm>
          <a:off x="251520" y="4923395"/>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+2</a:t>
                      </a:r>
                    </a:p>
                  </a:txBody>
                  <a:tcPr anchor="ctr"/>
                </a:tc>
                <a:tc>
                  <a:txBody>
                    <a:bodyPr/>
                    <a:lstStyle/>
                    <a:p>
                      <a:pPr algn="ctr"/>
                      <a:endParaRPr lang="en-MY" sz="1800" b="1"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bg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C7B4CCD7-FCCA-95FA-1E9A-419B18C67502}"/>
              </a:ext>
            </a:extLst>
          </p:cNvPr>
          <p:cNvSpPr txBox="1"/>
          <p:nvPr/>
        </p:nvSpPr>
        <p:spPr>
          <a:xfrm>
            <a:off x="149334" y="445364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D0A3C089-B0DF-EDBE-A850-FCEE1A9FD1E9}"/>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2 and -7 to binary </a:t>
            </a:r>
          </a:p>
        </p:txBody>
      </p:sp>
      <p:sp>
        <p:nvSpPr>
          <p:cNvPr id="17" name="TextBox 16">
            <a:extLst>
              <a:ext uri="{FF2B5EF4-FFF2-40B4-BE49-F238E27FC236}">
                <a16:creationId xmlns:a16="http://schemas.microsoft.com/office/drawing/2014/main" id="{54D51DAE-E3B3-851B-DF30-4BC2CF6D119E}"/>
              </a:ext>
            </a:extLst>
          </p:cNvPr>
          <p:cNvSpPr txBox="1"/>
          <p:nvPr/>
        </p:nvSpPr>
        <p:spPr>
          <a:xfrm>
            <a:off x="1626992" y="6269008"/>
            <a:ext cx="4625788" cy="400110"/>
          </a:xfrm>
          <a:prstGeom prst="rect">
            <a:avLst/>
          </a:prstGeom>
          <a:solidFill>
            <a:srgbClr val="FFFF00"/>
          </a:solidFill>
        </p:spPr>
        <p:txBody>
          <a:bodyPr wrap="square">
            <a:spAutoFit/>
          </a:bodyPr>
          <a:lstStyle/>
          <a:p>
            <a:pPr algn="ctr"/>
            <a:r>
              <a:rPr lang="en-MY" dirty="0">
                <a:solidFill>
                  <a:srgbClr val="00B050"/>
                </a:solidFill>
              </a:rPr>
              <a:t>Answer: 2 –(-7) = 2 + 7 = 9 </a:t>
            </a:r>
          </a:p>
        </p:txBody>
      </p:sp>
      <p:sp>
        <p:nvSpPr>
          <p:cNvPr id="9" name="TextBox 8">
            <a:extLst>
              <a:ext uri="{FF2B5EF4-FFF2-40B4-BE49-F238E27FC236}">
                <a16:creationId xmlns:a16="http://schemas.microsoft.com/office/drawing/2014/main" id="{8EAA0F64-8714-BEA3-B073-4FCDC50501BB}"/>
              </a:ext>
            </a:extLst>
          </p:cNvPr>
          <p:cNvSpPr txBox="1"/>
          <p:nvPr/>
        </p:nvSpPr>
        <p:spPr>
          <a:xfrm>
            <a:off x="5514601" y="1079898"/>
            <a:ext cx="981359" cy="707886"/>
          </a:xfrm>
          <a:prstGeom prst="rect">
            <a:avLst/>
          </a:prstGeom>
          <a:noFill/>
        </p:spPr>
        <p:txBody>
          <a:bodyPr wrap="none" rtlCol="0">
            <a:spAutoFit/>
          </a:bodyPr>
          <a:lstStyle/>
          <a:p>
            <a:r>
              <a:rPr lang="en-MY" b="1" dirty="0">
                <a:solidFill>
                  <a:srgbClr val="FF0000"/>
                </a:solidFill>
              </a:rPr>
              <a:t>M = 2</a:t>
            </a:r>
          </a:p>
          <a:p>
            <a:r>
              <a:rPr lang="en-MY" b="1" dirty="0">
                <a:solidFill>
                  <a:srgbClr val="FF0000"/>
                </a:solidFill>
              </a:rPr>
              <a:t>S = -7</a:t>
            </a:r>
          </a:p>
        </p:txBody>
      </p:sp>
      <p:sp>
        <p:nvSpPr>
          <p:cNvPr id="6" name="Oval 5">
            <a:extLst>
              <a:ext uri="{FF2B5EF4-FFF2-40B4-BE49-F238E27FC236}">
                <a16:creationId xmlns:a16="http://schemas.microsoft.com/office/drawing/2014/main" id="{CF944739-006F-C44A-0FD9-4628039C37F4}"/>
              </a:ext>
            </a:extLst>
          </p:cNvPr>
          <p:cNvSpPr/>
          <p:nvPr/>
        </p:nvSpPr>
        <p:spPr>
          <a:xfrm>
            <a:off x="6720083" y="136706"/>
            <a:ext cx="2272133" cy="75633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Overflow example</a:t>
            </a:r>
          </a:p>
        </p:txBody>
      </p:sp>
    </p:spTree>
    <p:extLst>
      <p:ext uri="{BB962C8B-B14F-4D97-AF65-F5344CB8AC3E}">
        <p14:creationId xmlns:p14="http://schemas.microsoft.com/office/powerpoint/2010/main" val="30431562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6CD90-0E2D-5ADC-5F5F-F50EAFA8E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44161-EE68-6207-1766-8A6293EA664B}"/>
              </a:ext>
            </a:extLst>
          </p:cNvPr>
          <p:cNvSpPr>
            <a:spLocks noGrp="1"/>
          </p:cNvSpPr>
          <p:nvPr>
            <p:ph type="title"/>
          </p:nvPr>
        </p:nvSpPr>
        <p:spPr>
          <a:xfrm>
            <a:off x="325211" y="265678"/>
            <a:ext cx="7890672" cy="744152"/>
          </a:xfrm>
        </p:spPr>
        <p:txBody>
          <a:bodyPr/>
          <a:lstStyle/>
          <a:p>
            <a:r>
              <a:rPr lang="en-MY" dirty="0"/>
              <a:t>Subtraction (Example 2)  </a:t>
            </a:r>
          </a:p>
        </p:txBody>
      </p:sp>
      <p:sp>
        <p:nvSpPr>
          <p:cNvPr id="3" name="Content Placeholder 2">
            <a:extLst>
              <a:ext uri="{FF2B5EF4-FFF2-40B4-BE49-F238E27FC236}">
                <a16:creationId xmlns:a16="http://schemas.microsoft.com/office/drawing/2014/main" id="{10901348-40EF-D6F7-770F-A7873B55970F}"/>
              </a:ext>
            </a:extLst>
          </p:cNvPr>
          <p:cNvSpPr>
            <a:spLocks noGrp="1"/>
          </p:cNvSpPr>
          <p:nvPr>
            <p:ph idx="1"/>
          </p:nvPr>
        </p:nvSpPr>
        <p:spPr>
          <a:xfrm>
            <a:off x="347496" y="1196752"/>
            <a:ext cx="7887005" cy="432048"/>
          </a:xfrm>
        </p:spPr>
        <p:txBody>
          <a:bodyPr/>
          <a:lstStyle/>
          <a:p>
            <a:pPr marL="0" indent="0">
              <a:buNone/>
            </a:pPr>
            <a:r>
              <a:rPr lang="en-MY" dirty="0"/>
              <a:t>Subtract two 4-bit 2’s complement of 5 and -2</a:t>
            </a:r>
          </a:p>
        </p:txBody>
      </p:sp>
      <p:graphicFrame>
        <p:nvGraphicFramePr>
          <p:cNvPr id="4" name="Table 38">
            <a:extLst>
              <a:ext uri="{FF2B5EF4-FFF2-40B4-BE49-F238E27FC236}">
                <a16:creationId xmlns:a16="http://schemas.microsoft.com/office/drawing/2014/main" id="{2716CCE5-430E-6BFF-AF01-E1C577DC870E}"/>
              </a:ext>
            </a:extLst>
          </p:cNvPr>
          <p:cNvGraphicFramePr>
            <a:graphicFrameLocks noGrp="1"/>
          </p:cNvGraphicFramePr>
          <p:nvPr>
            <p:extLst>
              <p:ext uri="{D42A27DB-BD31-4B8C-83A1-F6EECF244321}">
                <p14:modId xmlns:p14="http://schemas.microsoft.com/office/powerpoint/2010/main" val="3646816414"/>
              </p:ext>
            </p:extLst>
          </p:nvPr>
        </p:nvGraphicFramePr>
        <p:xfrm>
          <a:off x="251520" y="3073125"/>
          <a:ext cx="7344819" cy="833558"/>
        </p:xfrm>
        <a:graphic>
          <a:graphicData uri="http://schemas.openxmlformats.org/drawingml/2006/table">
            <a:tbl>
              <a:tblPr firstRow="1" bandRow="1">
                <a:tableStyleId>{5940675A-B579-460E-94D1-54222C63F5DA}</a:tableStyleId>
              </a:tblPr>
              <a:tblGrid>
                <a:gridCol w="816091">
                  <a:extLst>
                    <a:ext uri="{9D8B030D-6E8A-4147-A177-3AD203B41FA5}">
                      <a16:colId xmlns:a16="http://schemas.microsoft.com/office/drawing/2014/main" val="820671404"/>
                    </a:ext>
                  </a:extLst>
                </a:gridCol>
                <a:gridCol w="816091">
                  <a:extLst>
                    <a:ext uri="{9D8B030D-6E8A-4147-A177-3AD203B41FA5}">
                      <a16:colId xmlns:a16="http://schemas.microsoft.com/office/drawing/2014/main" val="3646923306"/>
                    </a:ext>
                  </a:extLst>
                </a:gridCol>
                <a:gridCol w="816091">
                  <a:extLst>
                    <a:ext uri="{9D8B030D-6E8A-4147-A177-3AD203B41FA5}">
                      <a16:colId xmlns:a16="http://schemas.microsoft.com/office/drawing/2014/main" val="4127615042"/>
                    </a:ext>
                  </a:extLst>
                </a:gridCol>
                <a:gridCol w="816091">
                  <a:extLst>
                    <a:ext uri="{9D8B030D-6E8A-4147-A177-3AD203B41FA5}">
                      <a16:colId xmlns:a16="http://schemas.microsoft.com/office/drawing/2014/main" val="2313240651"/>
                    </a:ext>
                  </a:extLst>
                </a:gridCol>
                <a:gridCol w="816091">
                  <a:extLst>
                    <a:ext uri="{9D8B030D-6E8A-4147-A177-3AD203B41FA5}">
                      <a16:colId xmlns:a16="http://schemas.microsoft.com/office/drawing/2014/main" val="1781995488"/>
                    </a:ext>
                  </a:extLst>
                </a:gridCol>
                <a:gridCol w="816091">
                  <a:extLst>
                    <a:ext uri="{9D8B030D-6E8A-4147-A177-3AD203B41FA5}">
                      <a16:colId xmlns:a16="http://schemas.microsoft.com/office/drawing/2014/main" val="3730037320"/>
                    </a:ext>
                  </a:extLst>
                </a:gridCol>
                <a:gridCol w="816091">
                  <a:extLst>
                    <a:ext uri="{9D8B030D-6E8A-4147-A177-3AD203B41FA5}">
                      <a16:colId xmlns:a16="http://schemas.microsoft.com/office/drawing/2014/main" val="2900940008"/>
                    </a:ext>
                  </a:extLst>
                </a:gridCol>
                <a:gridCol w="816091">
                  <a:extLst>
                    <a:ext uri="{9D8B030D-6E8A-4147-A177-3AD203B41FA5}">
                      <a16:colId xmlns:a16="http://schemas.microsoft.com/office/drawing/2014/main" val="890559765"/>
                    </a:ext>
                  </a:extLst>
                </a:gridCol>
                <a:gridCol w="816091">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S</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2</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4217251547"/>
                  </a:ext>
                </a:extLst>
              </a:tr>
            </a:tbl>
          </a:graphicData>
        </a:graphic>
      </p:graphicFrame>
      <p:graphicFrame>
        <p:nvGraphicFramePr>
          <p:cNvPr id="5" name="Table 38">
            <a:extLst>
              <a:ext uri="{FF2B5EF4-FFF2-40B4-BE49-F238E27FC236}">
                <a16:creationId xmlns:a16="http://schemas.microsoft.com/office/drawing/2014/main" id="{00574CD9-579B-D8EC-44D3-7ED00089902A}"/>
              </a:ext>
            </a:extLst>
          </p:cNvPr>
          <p:cNvGraphicFramePr>
            <a:graphicFrameLocks noGrp="1"/>
          </p:cNvGraphicFramePr>
          <p:nvPr>
            <p:extLst>
              <p:ext uri="{D42A27DB-BD31-4B8C-83A1-F6EECF244321}">
                <p14:modId xmlns:p14="http://schemas.microsoft.com/office/powerpoint/2010/main" val="2145536948"/>
              </p:ext>
            </p:extLst>
          </p:nvPr>
        </p:nvGraphicFramePr>
        <p:xfrm>
          <a:off x="251520" y="2026542"/>
          <a:ext cx="7376733" cy="833558"/>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M</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5</a:t>
                      </a:r>
                    </a:p>
                  </a:txBody>
                  <a:tcPr anchor="ctr">
                    <a:solidFill>
                      <a:schemeClr val="accent3">
                        <a:lumMod val="60000"/>
                        <a:lumOff val="40000"/>
                      </a:schemeClr>
                    </a:solidFill>
                  </a:tcPr>
                </a:tc>
                <a:tc>
                  <a:txBody>
                    <a:bodyPr/>
                    <a:lstStyle/>
                    <a:p>
                      <a:pPr algn="ctr"/>
                      <a:endParaRPr lang="en-MY" sz="1800" b="1" dirty="0">
                        <a:solidFill>
                          <a:schemeClr val="tx1"/>
                        </a:solidFill>
                      </a:endParaRPr>
                    </a:p>
                  </a:txBody>
                  <a:tcPr anchor="ctr">
                    <a:solidFill>
                      <a:schemeClr val="accent3">
                        <a:lumMod val="60000"/>
                        <a:lumOff val="40000"/>
                      </a:schemeClr>
                    </a:solidFill>
                  </a:tcPr>
                </a:tc>
                <a:tc>
                  <a:txBody>
                    <a:bodyPr/>
                    <a:lstStyle/>
                    <a:p>
                      <a:pPr algn="ctr"/>
                      <a:endParaRPr lang="en-MY" sz="1800" dirty="0">
                        <a:solidFill>
                          <a:schemeClr val="tx1"/>
                        </a:solidFill>
                      </a:endParaRPr>
                    </a:p>
                  </a:txBody>
                  <a:tcPr anchor="ctr">
                    <a:solidFill>
                      <a:schemeClr val="accent3">
                        <a:lumMod val="60000"/>
                        <a:lumOff val="40000"/>
                      </a:schemeClr>
                    </a:solidFill>
                  </a:tcPr>
                </a:tc>
                <a:tc>
                  <a:txBody>
                    <a:bodyPr/>
                    <a:lstStyle/>
                    <a:p>
                      <a:pPr algn="ctr"/>
                      <a:endParaRPr lang="en-MY" sz="1800" dirty="0">
                        <a:solidFill>
                          <a:schemeClr val="tx1"/>
                        </a:solidFill>
                      </a:endParaRPr>
                    </a:p>
                  </a:txBody>
                  <a:tcPr anchor="ctr">
                    <a:solidFill>
                      <a:schemeClr val="accent3">
                        <a:lumMod val="60000"/>
                        <a:lumOff val="40000"/>
                      </a:schemeClr>
                    </a:solidFill>
                  </a:tcPr>
                </a:tc>
                <a:tc>
                  <a:txBody>
                    <a:bodyPr/>
                    <a:lstStyle/>
                    <a:p>
                      <a:pPr algn="ctr"/>
                      <a:endParaRPr lang="en-MY" sz="1800" dirty="0">
                        <a:solidFill>
                          <a:schemeClr val="tx1"/>
                        </a:solidFill>
                      </a:endParaRPr>
                    </a:p>
                  </a:txBody>
                  <a:tcPr anchor="ctr">
                    <a:solidFill>
                      <a:schemeClr val="accent3">
                        <a:lumMod val="60000"/>
                        <a:lumOff val="40000"/>
                      </a:schemeClr>
                    </a:solidFill>
                  </a:tcPr>
                </a:tc>
                <a:tc>
                  <a:txBody>
                    <a:bodyPr/>
                    <a:lstStyle/>
                    <a:p>
                      <a:pPr algn="ctr"/>
                      <a:r>
                        <a:rPr lang="en-MY" sz="1800" dirty="0">
                          <a:solidFill>
                            <a:schemeClr val="tx1"/>
                          </a:solidFill>
                        </a:rPr>
                        <a:t>0</a:t>
                      </a:r>
                    </a:p>
                  </a:txBody>
                  <a:tcPr anchor="ctr">
                    <a:solidFill>
                      <a:schemeClr val="accent3">
                        <a:lumMod val="60000"/>
                        <a:lumOff val="40000"/>
                      </a:schemeClr>
                    </a:solidFill>
                  </a:tcPr>
                </a:tc>
                <a:tc>
                  <a:txBody>
                    <a:bodyPr/>
                    <a:lstStyle/>
                    <a:p>
                      <a:pPr algn="ctr"/>
                      <a:r>
                        <a:rPr lang="en-MY" sz="1800" dirty="0">
                          <a:solidFill>
                            <a:schemeClr val="tx1"/>
                          </a:solidFill>
                        </a:rPr>
                        <a:t>1</a:t>
                      </a:r>
                    </a:p>
                  </a:txBody>
                  <a:tcPr anchor="ctr">
                    <a:solidFill>
                      <a:schemeClr val="accent3">
                        <a:lumMod val="60000"/>
                        <a:lumOff val="40000"/>
                      </a:schemeClr>
                    </a:solidFill>
                  </a:tcPr>
                </a:tc>
                <a:tc>
                  <a:txBody>
                    <a:bodyPr/>
                    <a:lstStyle/>
                    <a:p>
                      <a:pPr algn="ctr"/>
                      <a:r>
                        <a:rPr lang="en-MY" sz="1800" dirty="0">
                          <a:solidFill>
                            <a:schemeClr val="tx1"/>
                          </a:solidFill>
                        </a:rPr>
                        <a:t>0</a:t>
                      </a:r>
                    </a:p>
                  </a:txBody>
                  <a:tcPr anchor="ctr">
                    <a:solidFill>
                      <a:schemeClr val="accent3">
                        <a:lumMod val="60000"/>
                        <a:lumOff val="40000"/>
                      </a:schemeClr>
                    </a:solidFill>
                  </a:tcPr>
                </a:tc>
                <a:tc>
                  <a:txBody>
                    <a:bodyPr/>
                    <a:lstStyle/>
                    <a:p>
                      <a:pPr algn="ctr"/>
                      <a:r>
                        <a:rPr lang="en-MY" sz="1800" dirty="0">
                          <a:solidFill>
                            <a:schemeClr val="tx1"/>
                          </a:solidFill>
                        </a:rPr>
                        <a:t>1</a:t>
                      </a:r>
                    </a:p>
                  </a:txBody>
                  <a:tcPr anchor="ctr">
                    <a:solidFill>
                      <a:schemeClr val="accent3">
                        <a:lumMod val="60000"/>
                        <a:lumOff val="4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AA3A2D5F-AEFE-0505-5A3C-EBBDB9F05AD6}"/>
              </a:ext>
            </a:extLst>
          </p:cNvPr>
          <p:cNvSpPr>
            <a:spLocks noGrp="1"/>
          </p:cNvSpPr>
          <p:nvPr>
            <p:ph type="sldNum" sz="quarter" idx="12"/>
          </p:nvPr>
        </p:nvSpPr>
        <p:spPr/>
        <p:txBody>
          <a:bodyPr/>
          <a:lstStyle/>
          <a:p>
            <a:pPr>
              <a:defRPr/>
            </a:pPr>
            <a:fld id="{B15F286D-88BF-4C85-84EF-53248539BE74}" type="slidenum">
              <a:rPr lang="en-US" altLang="en-US" smtClean="0"/>
              <a:pPr>
                <a:defRPr/>
              </a:pPr>
              <a:t>64</a:t>
            </a:fld>
            <a:endParaRPr lang="en-US" altLang="en-US"/>
          </a:p>
        </p:txBody>
      </p:sp>
      <p:graphicFrame>
        <p:nvGraphicFramePr>
          <p:cNvPr id="8" name="Table 38">
            <a:extLst>
              <a:ext uri="{FF2B5EF4-FFF2-40B4-BE49-F238E27FC236}">
                <a16:creationId xmlns:a16="http://schemas.microsoft.com/office/drawing/2014/main" id="{71C18541-3FAE-F2ED-FD8C-6369BCB39C62}"/>
              </a:ext>
            </a:extLst>
          </p:cNvPr>
          <p:cNvGraphicFramePr>
            <a:graphicFrameLocks noGrp="1"/>
          </p:cNvGraphicFramePr>
          <p:nvPr>
            <p:extLst>
              <p:ext uri="{D42A27DB-BD31-4B8C-83A1-F6EECF244321}">
                <p14:modId xmlns:p14="http://schemas.microsoft.com/office/powerpoint/2010/main" val="2901437461"/>
              </p:ext>
            </p:extLst>
          </p:nvPr>
        </p:nvGraphicFramePr>
        <p:xfrm>
          <a:off x="251519" y="4553605"/>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5</a:t>
                      </a:r>
                    </a:p>
                  </a:txBody>
                  <a:tcPr anchor="ctr"/>
                </a:tc>
                <a:tc>
                  <a:txBody>
                    <a:bodyPr/>
                    <a:lstStyle/>
                    <a:p>
                      <a:pPr algn="ctr"/>
                      <a:endParaRPr lang="en-MY" sz="1800" b="1"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2</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bg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5F9BE276-10A3-8D52-C216-DBED7D6639C2}"/>
              </a:ext>
            </a:extLst>
          </p:cNvPr>
          <p:cNvSpPr txBox="1"/>
          <p:nvPr/>
        </p:nvSpPr>
        <p:spPr>
          <a:xfrm>
            <a:off x="131633" y="4030089"/>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226D401C-44F9-8D43-6685-B4F3FEDB80AA}"/>
              </a:ext>
            </a:extLst>
          </p:cNvPr>
          <p:cNvSpPr txBox="1"/>
          <p:nvPr/>
        </p:nvSpPr>
        <p:spPr>
          <a:xfrm>
            <a:off x="131633" y="1556792"/>
            <a:ext cx="4625788" cy="400110"/>
          </a:xfrm>
          <a:prstGeom prst="rect">
            <a:avLst/>
          </a:prstGeom>
          <a:noFill/>
        </p:spPr>
        <p:txBody>
          <a:bodyPr wrap="square">
            <a:spAutoFit/>
          </a:bodyPr>
          <a:lstStyle/>
          <a:p>
            <a:r>
              <a:rPr lang="en-MY" dirty="0">
                <a:solidFill>
                  <a:srgbClr val="00B0F0"/>
                </a:solidFill>
              </a:rPr>
              <a:t>Step 1 – Convert 5 and -2 to binary </a:t>
            </a:r>
          </a:p>
        </p:txBody>
      </p:sp>
      <p:sp>
        <p:nvSpPr>
          <p:cNvPr id="17" name="TextBox 16">
            <a:extLst>
              <a:ext uri="{FF2B5EF4-FFF2-40B4-BE49-F238E27FC236}">
                <a16:creationId xmlns:a16="http://schemas.microsoft.com/office/drawing/2014/main" id="{202E8710-9415-8B00-F3AE-D1D03F3DD792}"/>
              </a:ext>
            </a:extLst>
          </p:cNvPr>
          <p:cNvSpPr txBox="1"/>
          <p:nvPr/>
        </p:nvSpPr>
        <p:spPr>
          <a:xfrm>
            <a:off x="1691679" y="5941793"/>
            <a:ext cx="4625788" cy="400110"/>
          </a:xfrm>
          <a:prstGeom prst="rect">
            <a:avLst/>
          </a:prstGeom>
          <a:solidFill>
            <a:srgbClr val="FFFF00"/>
          </a:solidFill>
        </p:spPr>
        <p:txBody>
          <a:bodyPr wrap="square">
            <a:spAutoFit/>
          </a:bodyPr>
          <a:lstStyle/>
          <a:p>
            <a:pPr algn="ctr"/>
            <a:r>
              <a:rPr lang="en-MY" dirty="0">
                <a:solidFill>
                  <a:srgbClr val="00B050"/>
                </a:solidFill>
              </a:rPr>
              <a:t>Answer: 5 – (-2) = 5 + 2 = 7 = 0111</a:t>
            </a:r>
          </a:p>
        </p:txBody>
      </p:sp>
      <p:sp>
        <p:nvSpPr>
          <p:cNvPr id="9" name="TextBox 8">
            <a:extLst>
              <a:ext uri="{FF2B5EF4-FFF2-40B4-BE49-F238E27FC236}">
                <a16:creationId xmlns:a16="http://schemas.microsoft.com/office/drawing/2014/main" id="{F4A0B7EB-F442-5B43-1C5A-C7955E42A882}"/>
              </a:ext>
            </a:extLst>
          </p:cNvPr>
          <p:cNvSpPr txBox="1"/>
          <p:nvPr/>
        </p:nvSpPr>
        <p:spPr>
          <a:xfrm>
            <a:off x="5580112" y="1180805"/>
            <a:ext cx="981359" cy="707886"/>
          </a:xfrm>
          <a:prstGeom prst="rect">
            <a:avLst/>
          </a:prstGeom>
          <a:noFill/>
        </p:spPr>
        <p:txBody>
          <a:bodyPr wrap="none" rtlCol="0">
            <a:spAutoFit/>
          </a:bodyPr>
          <a:lstStyle/>
          <a:p>
            <a:r>
              <a:rPr lang="en-MY" b="1" dirty="0">
                <a:solidFill>
                  <a:srgbClr val="FF0000"/>
                </a:solidFill>
              </a:rPr>
              <a:t>M = 5</a:t>
            </a:r>
          </a:p>
          <a:p>
            <a:r>
              <a:rPr lang="en-MY" b="1" dirty="0">
                <a:solidFill>
                  <a:srgbClr val="FF0000"/>
                </a:solidFill>
              </a:rPr>
              <a:t>S = -2</a:t>
            </a:r>
          </a:p>
        </p:txBody>
      </p:sp>
    </p:spTree>
    <p:extLst>
      <p:ext uri="{BB962C8B-B14F-4D97-AF65-F5344CB8AC3E}">
        <p14:creationId xmlns:p14="http://schemas.microsoft.com/office/powerpoint/2010/main" val="36961219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DBBD-307D-9E41-2924-F5FF35754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18A8F-03DE-BAB5-E2CC-F0C02826C293}"/>
              </a:ext>
            </a:extLst>
          </p:cNvPr>
          <p:cNvSpPr>
            <a:spLocks noGrp="1"/>
          </p:cNvSpPr>
          <p:nvPr>
            <p:ph type="title"/>
          </p:nvPr>
        </p:nvSpPr>
        <p:spPr>
          <a:xfrm>
            <a:off x="325211" y="265678"/>
            <a:ext cx="7890672" cy="744152"/>
          </a:xfrm>
        </p:spPr>
        <p:txBody>
          <a:bodyPr/>
          <a:lstStyle/>
          <a:p>
            <a:r>
              <a:rPr lang="en-MY" dirty="0"/>
              <a:t>Subtraction (Example 3)  </a:t>
            </a:r>
          </a:p>
        </p:txBody>
      </p:sp>
      <p:sp>
        <p:nvSpPr>
          <p:cNvPr id="3" name="Content Placeholder 2">
            <a:extLst>
              <a:ext uri="{FF2B5EF4-FFF2-40B4-BE49-F238E27FC236}">
                <a16:creationId xmlns:a16="http://schemas.microsoft.com/office/drawing/2014/main" id="{168A6895-CFE0-5ECC-D5E7-5767A7078748}"/>
              </a:ext>
            </a:extLst>
          </p:cNvPr>
          <p:cNvSpPr>
            <a:spLocks noGrp="1"/>
          </p:cNvSpPr>
          <p:nvPr>
            <p:ph idx="1"/>
          </p:nvPr>
        </p:nvSpPr>
        <p:spPr>
          <a:xfrm>
            <a:off x="347496" y="1196752"/>
            <a:ext cx="7887005" cy="432048"/>
          </a:xfrm>
        </p:spPr>
        <p:txBody>
          <a:bodyPr/>
          <a:lstStyle/>
          <a:p>
            <a:pPr marL="0" indent="0">
              <a:buNone/>
            </a:pPr>
            <a:r>
              <a:rPr lang="en-MY" dirty="0"/>
              <a:t>Subtract two 4-bit 2’s complement of 5 and -3</a:t>
            </a:r>
          </a:p>
        </p:txBody>
      </p:sp>
      <p:graphicFrame>
        <p:nvGraphicFramePr>
          <p:cNvPr id="5" name="Table 38">
            <a:extLst>
              <a:ext uri="{FF2B5EF4-FFF2-40B4-BE49-F238E27FC236}">
                <a16:creationId xmlns:a16="http://schemas.microsoft.com/office/drawing/2014/main" id="{C521FEAF-1698-EF60-8565-0095962CCC6D}"/>
              </a:ext>
            </a:extLst>
          </p:cNvPr>
          <p:cNvGraphicFramePr>
            <a:graphicFrameLocks noGrp="1"/>
          </p:cNvGraphicFramePr>
          <p:nvPr>
            <p:extLst>
              <p:ext uri="{D42A27DB-BD31-4B8C-83A1-F6EECF244321}">
                <p14:modId xmlns:p14="http://schemas.microsoft.com/office/powerpoint/2010/main" val="1811886780"/>
              </p:ext>
            </p:extLst>
          </p:nvPr>
        </p:nvGraphicFramePr>
        <p:xfrm>
          <a:off x="507635"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M</a:t>
                      </a:r>
                    </a:p>
                  </a:txBody>
                  <a:tcPr anchor="ctr">
                    <a:noFill/>
                  </a:tcPr>
                </a:tc>
                <a:tc>
                  <a:txBody>
                    <a:bodyPr/>
                    <a:lstStyle/>
                    <a:p>
                      <a:pPr algn="ctr"/>
                      <a:r>
                        <a:rPr lang="en-MY" sz="1800" dirty="0">
                          <a:solidFill>
                            <a:schemeClr val="tx1"/>
                          </a:solidFill>
                        </a:rPr>
                        <a:t>128</a:t>
                      </a:r>
                    </a:p>
                  </a:txBody>
                  <a:tcPr anchor="ctr">
                    <a:noFill/>
                  </a:tcPr>
                </a:tc>
                <a:tc>
                  <a:txBody>
                    <a:bodyPr/>
                    <a:lstStyle/>
                    <a:p>
                      <a:pPr algn="ctr"/>
                      <a:r>
                        <a:rPr lang="en-MY" sz="1800" dirty="0">
                          <a:solidFill>
                            <a:schemeClr val="tx1"/>
                          </a:solidFill>
                        </a:rPr>
                        <a:t>64</a:t>
                      </a:r>
                    </a:p>
                  </a:txBody>
                  <a:tcPr anchor="ctr">
                    <a:noFill/>
                  </a:tcPr>
                </a:tc>
                <a:tc>
                  <a:txBody>
                    <a:bodyPr/>
                    <a:lstStyle/>
                    <a:p>
                      <a:pPr algn="ctr"/>
                      <a:r>
                        <a:rPr lang="en-MY" sz="1800" dirty="0">
                          <a:solidFill>
                            <a:schemeClr val="tx1"/>
                          </a:solidFill>
                        </a:rPr>
                        <a:t>32</a:t>
                      </a:r>
                    </a:p>
                  </a:txBody>
                  <a:tcPr anchor="ctr">
                    <a:noFill/>
                  </a:tcPr>
                </a:tc>
                <a:tc>
                  <a:txBody>
                    <a:bodyPr/>
                    <a:lstStyle/>
                    <a:p>
                      <a:pPr algn="ctr"/>
                      <a:r>
                        <a:rPr lang="en-MY" sz="1800" dirty="0">
                          <a:solidFill>
                            <a:schemeClr val="tx1"/>
                          </a:solidFill>
                        </a:rPr>
                        <a:t>16</a:t>
                      </a:r>
                    </a:p>
                  </a:txBody>
                  <a:tcPr anchor="ctr">
                    <a:noFill/>
                  </a:tcPr>
                </a:tc>
                <a:tc>
                  <a:txBody>
                    <a:bodyPr/>
                    <a:lstStyle/>
                    <a:p>
                      <a:pPr algn="ctr"/>
                      <a:r>
                        <a:rPr lang="en-MY" sz="1800" dirty="0">
                          <a:solidFill>
                            <a:schemeClr val="tx1"/>
                          </a:solidFill>
                        </a:rPr>
                        <a:t>8</a:t>
                      </a:r>
                    </a:p>
                  </a:txBody>
                  <a:tcPr anchor="ctr">
                    <a:noFill/>
                  </a:tcPr>
                </a:tc>
                <a:tc>
                  <a:txBody>
                    <a:bodyPr/>
                    <a:lstStyle/>
                    <a:p>
                      <a:pPr algn="ctr"/>
                      <a:r>
                        <a:rPr lang="en-MY" sz="1800" dirty="0">
                          <a:solidFill>
                            <a:schemeClr val="tx1"/>
                          </a:solidFill>
                        </a:rPr>
                        <a:t>4</a:t>
                      </a:r>
                    </a:p>
                  </a:txBody>
                  <a:tcPr anchor="ctr">
                    <a:noFill/>
                  </a:tcPr>
                </a:tc>
                <a:tc>
                  <a:txBody>
                    <a:bodyPr/>
                    <a:lstStyle/>
                    <a:p>
                      <a:pPr algn="ctr"/>
                      <a:r>
                        <a:rPr lang="en-MY" sz="1800" dirty="0">
                          <a:solidFill>
                            <a:schemeClr val="tx1"/>
                          </a:solidFill>
                        </a:rPr>
                        <a:t>2</a:t>
                      </a:r>
                    </a:p>
                  </a:txBody>
                  <a:tcPr anchor="ctr">
                    <a:noFill/>
                  </a:tcPr>
                </a:tc>
                <a:tc>
                  <a:txBody>
                    <a:bodyPr/>
                    <a:lstStyle/>
                    <a:p>
                      <a:pPr algn="ctr"/>
                      <a:r>
                        <a:rPr lang="en-MY" sz="1800" dirty="0">
                          <a:solidFill>
                            <a:schemeClr val="tx1"/>
                          </a:solidFill>
                        </a:rPr>
                        <a:t>1</a:t>
                      </a:r>
                    </a:p>
                  </a:txBody>
                  <a:tcPr anchor="ctr">
                    <a:noFill/>
                  </a:tcPr>
                </a:tc>
                <a:extLst>
                  <a:ext uri="{0D108BD9-81ED-4DB2-BD59-A6C34878D82A}">
                    <a16:rowId xmlns:a16="http://schemas.microsoft.com/office/drawing/2014/main" val="2747683975"/>
                  </a:ext>
                </a:extLst>
              </a:tr>
              <a:tr h="416779">
                <a:tc>
                  <a:txBody>
                    <a:bodyPr/>
                    <a:lstStyle/>
                    <a:p>
                      <a:pPr algn="ctr"/>
                      <a:endParaRPr lang="en-MY" sz="1800" b="1"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extLst>
                  <a:ext uri="{0D108BD9-81ED-4DB2-BD59-A6C34878D82A}">
                    <a16:rowId xmlns:a16="http://schemas.microsoft.com/office/drawing/2014/main" val="3889793438"/>
                  </a:ext>
                </a:extLst>
              </a:tr>
              <a:tr h="416779">
                <a:tc>
                  <a:txBody>
                    <a:bodyPr/>
                    <a:lstStyle/>
                    <a:p>
                      <a:pPr algn="ctr"/>
                      <a:r>
                        <a:rPr lang="en-MY" sz="1800" b="1" dirty="0">
                          <a:solidFill>
                            <a:schemeClr val="tx1"/>
                          </a:solidFill>
                        </a:rPr>
                        <a:t>+5</a:t>
                      </a: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2700976279"/>
                  </a:ext>
                </a:extLst>
              </a:tr>
            </a:tbl>
          </a:graphicData>
        </a:graphic>
      </p:graphicFrame>
      <p:sp>
        <p:nvSpPr>
          <p:cNvPr id="7" name="Slide Number Placeholder 6">
            <a:extLst>
              <a:ext uri="{FF2B5EF4-FFF2-40B4-BE49-F238E27FC236}">
                <a16:creationId xmlns:a16="http://schemas.microsoft.com/office/drawing/2014/main" id="{3F0318FE-B010-9592-008F-F6473AE74DF9}"/>
              </a:ext>
            </a:extLst>
          </p:cNvPr>
          <p:cNvSpPr>
            <a:spLocks noGrp="1"/>
          </p:cNvSpPr>
          <p:nvPr>
            <p:ph type="sldNum" sz="quarter" idx="12"/>
          </p:nvPr>
        </p:nvSpPr>
        <p:spPr/>
        <p:txBody>
          <a:bodyPr/>
          <a:lstStyle/>
          <a:p>
            <a:pPr>
              <a:defRPr/>
            </a:pPr>
            <a:fld id="{B15F286D-88BF-4C85-84EF-53248539BE74}" type="slidenum">
              <a:rPr lang="en-US" altLang="en-US" smtClean="0"/>
              <a:pPr>
                <a:defRPr/>
              </a:pPr>
              <a:t>65</a:t>
            </a:fld>
            <a:endParaRPr lang="en-US" altLang="en-US"/>
          </a:p>
        </p:txBody>
      </p:sp>
      <p:graphicFrame>
        <p:nvGraphicFramePr>
          <p:cNvPr id="8" name="Table 38">
            <a:extLst>
              <a:ext uri="{FF2B5EF4-FFF2-40B4-BE49-F238E27FC236}">
                <a16:creationId xmlns:a16="http://schemas.microsoft.com/office/drawing/2014/main" id="{44C48D6A-CE64-0373-982F-3D1622E3D296}"/>
              </a:ext>
            </a:extLst>
          </p:cNvPr>
          <p:cNvGraphicFramePr>
            <a:graphicFrameLocks noGrp="1"/>
          </p:cNvGraphicFramePr>
          <p:nvPr>
            <p:extLst>
              <p:ext uri="{D42A27DB-BD31-4B8C-83A1-F6EECF244321}">
                <p14:modId xmlns:p14="http://schemas.microsoft.com/office/powerpoint/2010/main" val="786949626"/>
              </p:ext>
            </p:extLst>
          </p:nvPr>
        </p:nvGraphicFramePr>
        <p:xfrm>
          <a:off x="493117" y="5036079"/>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+5</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+3</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r>
                        <a:rPr lang="en-MY" sz="1800" dirty="0">
                          <a:solidFill>
                            <a:srgbClr val="FF0000"/>
                          </a:solidFill>
                        </a:rPr>
                        <a:t>1</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107371E7-359A-B3B2-1853-2C2DD5A294D9}"/>
              </a:ext>
            </a:extLst>
          </p:cNvPr>
          <p:cNvSpPr txBox="1"/>
          <p:nvPr/>
        </p:nvSpPr>
        <p:spPr>
          <a:xfrm>
            <a:off x="484814" y="455778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D29FB2B4-317C-7671-1706-941844B026D7}"/>
              </a:ext>
            </a:extLst>
          </p:cNvPr>
          <p:cNvSpPr txBox="1"/>
          <p:nvPr/>
        </p:nvSpPr>
        <p:spPr>
          <a:xfrm>
            <a:off x="507635" y="1556792"/>
            <a:ext cx="4625788" cy="400110"/>
          </a:xfrm>
          <a:prstGeom prst="rect">
            <a:avLst/>
          </a:prstGeom>
          <a:noFill/>
        </p:spPr>
        <p:txBody>
          <a:bodyPr wrap="square">
            <a:spAutoFit/>
          </a:bodyPr>
          <a:lstStyle/>
          <a:p>
            <a:r>
              <a:rPr lang="en-MY" dirty="0">
                <a:solidFill>
                  <a:srgbClr val="00B0F0"/>
                </a:solidFill>
              </a:rPr>
              <a:t>Step 1 – Convert -5 and -2 to binary </a:t>
            </a:r>
          </a:p>
        </p:txBody>
      </p:sp>
      <p:sp>
        <p:nvSpPr>
          <p:cNvPr id="17" name="TextBox 16">
            <a:extLst>
              <a:ext uri="{FF2B5EF4-FFF2-40B4-BE49-F238E27FC236}">
                <a16:creationId xmlns:a16="http://schemas.microsoft.com/office/drawing/2014/main" id="{E30675B4-E18F-7025-D902-7F5D521E24AD}"/>
              </a:ext>
            </a:extLst>
          </p:cNvPr>
          <p:cNvSpPr txBox="1"/>
          <p:nvPr/>
        </p:nvSpPr>
        <p:spPr>
          <a:xfrm>
            <a:off x="323204" y="470999"/>
            <a:ext cx="7092788" cy="584775"/>
          </a:xfrm>
          <a:prstGeom prst="rect">
            <a:avLst/>
          </a:prstGeom>
          <a:solidFill>
            <a:srgbClr val="FFFF00"/>
          </a:solidFill>
        </p:spPr>
        <p:txBody>
          <a:bodyPr wrap="square">
            <a:spAutoFit/>
          </a:bodyPr>
          <a:lstStyle/>
          <a:p>
            <a:r>
              <a:rPr lang="en-MY" sz="3200" dirty="0">
                <a:solidFill>
                  <a:srgbClr val="00B050"/>
                </a:solidFill>
              </a:rPr>
              <a:t>Answer: 5 –(-3) = 5 +3 = 8 </a:t>
            </a:r>
          </a:p>
        </p:txBody>
      </p:sp>
      <p:graphicFrame>
        <p:nvGraphicFramePr>
          <p:cNvPr id="11" name="Table 38">
            <a:extLst>
              <a:ext uri="{FF2B5EF4-FFF2-40B4-BE49-F238E27FC236}">
                <a16:creationId xmlns:a16="http://schemas.microsoft.com/office/drawing/2014/main" id="{F49678A0-1506-FE67-4449-41F4F79F81CF}"/>
              </a:ext>
            </a:extLst>
          </p:cNvPr>
          <p:cNvGraphicFramePr>
            <a:graphicFrameLocks noGrp="1"/>
          </p:cNvGraphicFramePr>
          <p:nvPr>
            <p:extLst>
              <p:ext uri="{D42A27DB-BD31-4B8C-83A1-F6EECF244321}">
                <p14:modId xmlns:p14="http://schemas.microsoft.com/office/powerpoint/2010/main" val="2349679124"/>
              </p:ext>
            </p:extLst>
          </p:nvPr>
        </p:nvGraphicFramePr>
        <p:xfrm>
          <a:off x="507633" y="3512611"/>
          <a:ext cx="7376733" cy="833558"/>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S</a:t>
                      </a:r>
                    </a:p>
                  </a:txBody>
                  <a:tcPr anchor="ctr">
                    <a:noFill/>
                  </a:tcPr>
                </a:tc>
                <a:tc>
                  <a:txBody>
                    <a:bodyPr/>
                    <a:lstStyle/>
                    <a:p>
                      <a:pPr algn="ctr"/>
                      <a:r>
                        <a:rPr lang="en-MY" sz="1800" dirty="0">
                          <a:solidFill>
                            <a:schemeClr val="tx1"/>
                          </a:solidFill>
                        </a:rPr>
                        <a:t>128</a:t>
                      </a:r>
                    </a:p>
                  </a:txBody>
                  <a:tcPr anchor="ctr">
                    <a:noFill/>
                  </a:tcPr>
                </a:tc>
                <a:tc>
                  <a:txBody>
                    <a:bodyPr/>
                    <a:lstStyle/>
                    <a:p>
                      <a:pPr algn="ctr"/>
                      <a:r>
                        <a:rPr lang="en-MY" sz="1800" dirty="0">
                          <a:solidFill>
                            <a:schemeClr val="tx1"/>
                          </a:solidFill>
                        </a:rPr>
                        <a:t>64</a:t>
                      </a:r>
                    </a:p>
                  </a:txBody>
                  <a:tcPr anchor="ctr">
                    <a:noFill/>
                  </a:tcPr>
                </a:tc>
                <a:tc>
                  <a:txBody>
                    <a:bodyPr/>
                    <a:lstStyle/>
                    <a:p>
                      <a:pPr algn="ctr"/>
                      <a:r>
                        <a:rPr lang="en-MY" sz="1800" dirty="0">
                          <a:solidFill>
                            <a:schemeClr val="tx1"/>
                          </a:solidFill>
                        </a:rPr>
                        <a:t>32</a:t>
                      </a:r>
                    </a:p>
                  </a:txBody>
                  <a:tcPr anchor="ctr">
                    <a:noFill/>
                  </a:tcPr>
                </a:tc>
                <a:tc>
                  <a:txBody>
                    <a:bodyPr/>
                    <a:lstStyle/>
                    <a:p>
                      <a:pPr algn="ctr"/>
                      <a:r>
                        <a:rPr lang="en-MY" sz="1800" dirty="0">
                          <a:solidFill>
                            <a:schemeClr val="tx1"/>
                          </a:solidFill>
                        </a:rPr>
                        <a:t>16</a:t>
                      </a:r>
                    </a:p>
                  </a:txBody>
                  <a:tcPr anchor="ctr">
                    <a:noFill/>
                  </a:tcPr>
                </a:tc>
                <a:tc>
                  <a:txBody>
                    <a:bodyPr/>
                    <a:lstStyle/>
                    <a:p>
                      <a:pPr algn="ctr"/>
                      <a:r>
                        <a:rPr lang="en-MY" sz="1800" dirty="0">
                          <a:solidFill>
                            <a:schemeClr val="tx1"/>
                          </a:solidFill>
                        </a:rPr>
                        <a:t>8</a:t>
                      </a:r>
                    </a:p>
                  </a:txBody>
                  <a:tcPr anchor="ctr">
                    <a:noFill/>
                  </a:tcPr>
                </a:tc>
                <a:tc>
                  <a:txBody>
                    <a:bodyPr/>
                    <a:lstStyle/>
                    <a:p>
                      <a:pPr algn="ctr"/>
                      <a:r>
                        <a:rPr lang="en-MY" sz="1800" dirty="0">
                          <a:solidFill>
                            <a:schemeClr val="tx1"/>
                          </a:solidFill>
                        </a:rPr>
                        <a:t>4</a:t>
                      </a:r>
                    </a:p>
                  </a:txBody>
                  <a:tcPr anchor="ctr">
                    <a:noFill/>
                  </a:tcPr>
                </a:tc>
                <a:tc>
                  <a:txBody>
                    <a:bodyPr/>
                    <a:lstStyle/>
                    <a:p>
                      <a:pPr algn="ctr"/>
                      <a:r>
                        <a:rPr lang="en-MY" sz="1800" dirty="0">
                          <a:solidFill>
                            <a:schemeClr val="tx1"/>
                          </a:solidFill>
                        </a:rPr>
                        <a:t>2</a:t>
                      </a:r>
                    </a:p>
                  </a:txBody>
                  <a:tcPr anchor="ctr">
                    <a:noFill/>
                  </a:tcPr>
                </a:tc>
                <a:tc>
                  <a:txBody>
                    <a:bodyPr/>
                    <a:lstStyle/>
                    <a:p>
                      <a:pPr algn="ctr"/>
                      <a:r>
                        <a:rPr lang="en-MY" sz="1800" dirty="0">
                          <a:solidFill>
                            <a:schemeClr val="tx1"/>
                          </a:solidFill>
                        </a:rPr>
                        <a:t>1</a:t>
                      </a:r>
                    </a:p>
                  </a:txBody>
                  <a:tcPr anchor="ctr">
                    <a:noFill/>
                  </a:tcP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+3</a:t>
                      </a: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1</a:t>
                      </a:r>
                    </a:p>
                  </a:txBody>
                  <a:tcPr anchor="ctr">
                    <a:noFill/>
                  </a:tcPr>
                </a:tc>
                <a:tc>
                  <a:txBody>
                    <a:bodyPr/>
                    <a:lstStyle/>
                    <a:p>
                      <a:pPr algn="ctr"/>
                      <a:r>
                        <a:rPr lang="en-MY" sz="1800" dirty="0">
                          <a:solidFill>
                            <a:schemeClr val="tx1"/>
                          </a:solidFill>
                        </a:rPr>
                        <a:t>1</a:t>
                      </a:r>
                    </a:p>
                  </a:txBody>
                  <a:tcPr anchor="ctr">
                    <a:noFill/>
                  </a:tcPr>
                </a:tc>
                <a:extLst>
                  <a:ext uri="{0D108BD9-81ED-4DB2-BD59-A6C34878D82A}">
                    <a16:rowId xmlns:a16="http://schemas.microsoft.com/office/drawing/2014/main" val="3889793438"/>
                  </a:ext>
                </a:extLst>
              </a:tr>
            </a:tbl>
          </a:graphicData>
        </a:graphic>
      </p:graphicFrame>
      <p:sp>
        <p:nvSpPr>
          <p:cNvPr id="6" name="TextBox 5">
            <a:extLst>
              <a:ext uri="{FF2B5EF4-FFF2-40B4-BE49-F238E27FC236}">
                <a16:creationId xmlns:a16="http://schemas.microsoft.com/office/drawing/2014/main" id="{55CAEA10-B2EA-F81B-5689-2C436F46B85D}"/>
              </a:ext>
            </a:extLst>
          </p:cNvPr>
          <p:cNvSpPr txBox="1"/>
          <p:nvPr/>
        </p:nvSpPr>
        <p:spPr>
          <a:xfrm>
            <a:off x="5702602" y="1196752"/>
            <a:ext cx="981359" cy="707886"/>
          </a:xfrm>
          <a:prstGeom prst="rect">
            <a:avLst/>
          </a:prstGeom>
          <a:noFill/>
        </p:spPr>
        <p:txBody>
          <a:bodyPr wrap="none" rtlCol="0">
            <a:spAutoFit/>
          </a:bodyPr>
          <a:lstStyle/>
          <a:p>
            <a:r>
              <a:rPr lang="en-MY" b="1" dirty="0">
                <a:solidFill>
                  <a:srgbClr val="FF0000"/>
                </a:solidFill>
              </a:rPr>
              <a:t>M =5</a:t>
            </a:r>
          </a:p>
          <a:p>
            <a:r>
              <a:rPr lang="en-MY" b="1" dirty="0">
                <a:solidFill>
                  <a:srgbClr val="FF0000"/>
                </a:solidFill>
              </a:rPr>
              <a:t>S  =-3</a:t>
            </a:r>
          </a:p>
        </p:txBody>
      </p:sp>
      <p:sp>
        <p:nvSpPr>
          <p:cNvPr id="4" name="Rectangle 3">
            <a:extLst>
              <a:ext uri="{FF2B5EF4-FFF2-40B4-BE49-F238E27FC236}">
                <a16:creationId xmlns:a16="http://schemas.microsoft.com/office/drawing/2014/main" id="{2F3F8AC0-0BF7-702C-94D7-3BF045128810}"/>
              </a:ext>
            </a:extLst>
          </p:cNvPr>
          <p:cNvSpPr/>
          <p:nvPr/>
        </p:nvSpPr>
        <p:spPr>
          <a:xfrm>
            <a:off x="3965459" y="5877762"/>
            <a:ext cx="432048" cy="4001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Oval 8">
            <a:extLst>
              <a:ext uri="{FF2B5EF4-FFF2-40B4-BE49-F238E27FC236}">
                <a16:creationId xmlns:a16="http://schemas.microsoft.com/office/drawing/2014/main" id="{63645E2B-3FCC-3482-8439-1C6C2ADCB1D3}"/>
              </a:ext>
            </a:extLst>
          </p:cNvPr>
          <p:cNvSpPr/>
          <p:nvPr/>
        </p:nvSpPr>
        <p:spPr>
          <a:xfrm>
            <a:off x="6720083" y="136706"/>
            <a:ext cx="2272133" cy="75633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Overflow example</a:t>
            </a:r>
          </a:p>
        </p:txBody>
      </p:sp>
    </p:spTree>
    <p:extLst>
      <p:ext uri="{BB962C8B-B14F-4D97-AF65-F5344CB8AC3E}">
        <p14:creationId xmlns:p14="http://schemas.microsoft.com/office/powerpoint/2010/main" val="1366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64CF-8213-F3DD-4888-145433119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6BED0-C7AC-8FC5-40E0-7E24CA5D2643}"/>
              </a:ext>
            </a:extLst>
          </p:cNvPr>
          <p:cNvSpPr>
            <a:spLocks noGrp="1"/>
          </p:cNvSpPr>
          <p:nvPr>
            <p:ph type="title"/>
          </p:nvPr>
        </p:nvSpPr>
        <p:spPr>
          <a:xfrm>
            <a:off x="325211" y="265678"/>
            <a:ext cx="7890672" cy="744152"/>
          </a:xfrm>
        </p:spPr>
        <p:txBody>
          <a:bodyPr/>
          <a:lstStyle/>
          <a:p>
            <a:r>
              <a:rPr lang="en-MY" dirty="0"/>
              <a:t>Subtraction (Example 4)  </a:t>
            </a:r>
          </a:p>
        </p:txBody>
      </p:sp>
      <p:sp>
        <p:nvSpPr>
          <p:cNvPr id="3" name="Content Placeholder 2">
            <a:extLst>
              <a:ext uri="{FF2B5EF4-FFF2-40B4-BE49-F238E27FC236}">
                <a16:creationId xmlns:a16="http://schemas.microsoft.com/office/drawing/2014/main" id="{8F3F3CE5-680B-9B6E-2956-F994484F725B}"/>
              </a:ext>
            </a:extLst>
          </p:cNvPr>
          <p:cNvSpPr>
            <a:spLocks noGrp="1"/>
          </p:cNvSpPr>
          <p:nvPr>
            <p:ph idx="1"/>
          </p:nvPr>
        </p:nvSpPr>
        <p:spPr>
          <a:xfrm>
            <a:off x="347496" y="1196752"/>
            <a:ext cx="7887005" cy="432048"/>
          </a:xfrm>
        </p:spPr>
        <p:txBody>
          <a:bodyPr/>
          <a:lstStyle/>
          <a:p>
            <a:pPr marL="0" indent="0">
              <a:buNone/>
            </a:pPr>
            <a:r>
              <a:rPr lang="en-MY" dirty="0"/>
              <a:t>Subtract two 4-bit 2’s complement of 5 and 2</a:t>
            </a:r>
          </a:p>
        </p:txBody>
      </p:sp>
      <p:graphicFrame>
        <p:nvGraphicFramePr>
          <p:cNvPr id="5" name="Table 38">
            <a:extLst>
              <a:ext uri="{FF2B5EF4-FFF2-40B4-BE49-F238E27FC236}">
                <a16:creationId xmlns:a16="http://schemas.microsoft.com/office/drawing/2014/main" id="{2B37BE7E-9E26-B34A-A4E7-B77EA966FE6E}"/>
              </a:ext>
            </a:extLst>
          </p:cNvPr>
          <p:cNvGraphicFramePr>
            <a:graphicFrameLocks noGrp="1"/>
          </p:cNvGraphicFramePr>
          <p:nvPr>
            <p:extLst>
              <p:ext uri="{D42A27DB-BD31-4B8C-83A1-F6EECF244321}">
                <p14:modId xmlns:p14="http://schemas.microsoft.com/office/powerpoint/2010/main" val="3127703254"/>
              </p:ext>
            </p:extLst>
          </p:nvPr>
        </p:nvGraphicFramePr>
        <p:xfrm>
          <a:off x="507635" y="2026542"/>
          <a:ext cx="7376733" cy="1667116"/>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M</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+5</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r h="416779">
                <a:tc>
                  <a:txBody>
                    <a:bodyPr/>
                    <a:lstStyle/>
                    <a:p>
                      <a:pPr algn="ctr"/>
                      <a:r>
                        <a:rPr lang="en-MY" sz="1800" b="1" dirty="0">
                          <a:solidFill>
                            <a:schemeClr val="tx1"/>
                          </a:solidFill>
                        </a:rPr>
                        <a:t>+2</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2700976279"/>
                  </a:ext>
                </a:extLst>
              </a:tr>
              <a:tr h="416779">
                <a:tc>
                  <a:txBody>
                    <a:bodyPr/>
                    <a:lstStyle/>
                    <a:p>
                      <a:pPr algn="ctr"/>
                      <a:r>
                        <a:rPr lang="en-MY" sz="1800" b="1" dirty="0">
                          <a:solidFill>
                            <a:schemeClr val="tx1"/>
                          </a:solidFill>
                        </a:rPr>
                        <a:t>-2</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extLst>
                  <a:ext uri="{0D108BD9-81ED-4DB2-BD59-A6C34878D82A}">
                    <a16:rowId xmlns:a16="http://schemas.microsoft.com/office/drawing/2014/main" val="3534425749"/>
                  </a:ext>
                </a:extLst>
              </a:tr>
            </a:tbl>
          </a:graphicData>
        </a:graphic>
      </p:graphicFrame>
      <p:sp>
        <p:nvSpPr>
          <p:cNvPr id="7" name="Slide Number Placeholder 6">
            <a:extLst>
              <a:ext uri="{FF2B5EF4-FFF2-40B4-BE49-F238E27FC236}">
                <a16:creationId xmlns:a16="http://schemas.microsoft.com/office/drawing/2014/main" id="{487EFA31-14F2-EBA5-89E8-07298960DA36}"/>
              </a:ext>
            </a:extLst>
          </p:cNvPr>
          <p:cNvSpPr>
            <a:spLocks noGrp="1"/>
          </p:cNvSpPr>
          <p:nvPr>
            <p:ph type="sldNum" sz="quarter" idx="12"/>
          </p:nvPr>
        </p:nvSpPr>
        <p:spPr/>
        <p:txBody>
          <a:bodyPr/>
          <a:lstStyle/>
          <a:p>
            <a:pPr>
              <a:defRPr/>
            </a:pPr>
            <a:fld id="{B15F286D-88BF-4C85-84EF-53248539BE74}" type="slidenum">
              <a:rPr lang="en-US" altLang="en-US" smtClean="0"/>
              <a:pPr>
                <a:defRPr/>
              </a:pPr>
              <a:t>66</a:t>
            </a:fld>
            <a:endParaRPr lang="en-US" altLang="en-US"/>
          </a:p>
        </p:txBody>
      </p:sp>
      <p:graphicFrame>
        <p:nvGraphicFramePr>
          <p:cNvPr id="8" name="Table 38">
            <a:extLst>
              <a:ext uri="{FF2B5EF4-FFF2-40B4-BE49-F238E27FC236}">
                <a16:creationId xmlns:a16="http://schemas.microsoft.com/office/drawing/2014/main" id="{88DD321C-D322-AEEA-D3D2-AC527EEC6083}"/>
              </a:ext>
            </a:extLst>
          </p:cNvPr>
          <p:cNvGraphicFramePr>
            <a:graphicFrameLocks noGrp="1"/>
          </p:cNvGraphicFramePr>
          <p:nvPr>
            <p:extLst>
              <p:ext uri="{D42A27DB-BD31-4B8C-83A1-F6EECF244321}">
                <p14:modId xmlns:p14="http://schemas.microsoft.com/office/powerpoint/2010/main" val="2328229359"/>
              </p:ext>
            </p:extLst>
          </p:nvPr>
        </p:nvGraphicFramePr>
        <p:xfrm>
          <a:off x="451970" y="4583495"/>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5</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-2</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rgbClr val="FF0000"/>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43C1D864-C747-EF39-439A-B31AECD6C86F}"/>
              </a:ext>
            </a:extLst>
          </p:cNvPr>
          <p:cNvSpPr txBox="1"/>
          <p:nvPr/>
        </p:nvSpPr>
        <p:spPr>
          <a:xfrm>
            <a:off x="449882" y="4091400"/>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C98C3EF8-5864-1F83-1E49-9820CB4EB74A}"/>
              </a:ext>
            </a:extLst>
          </p:cNvPr>
          <p:cNvSpPr txBox="1"/>
          <p:nvPr/>
        </p:nvSpPr>
        <p:spPr>
          <a:xfrm>
            <a:off x="507635" y="1556792"/>
            <a:ext cx="4625788" cy="400110"/>
          </a:xfrm>
          <a:prstGeom prst="rect">
            <a:avLst/>
          </a:prstGeom>
          <a:noFill/>
        </p:spPr>
        <p:txBody>
          <a:bodyPr wrap="square">
            <a:spAutoFit/>
          </a:bodyPr>
          <a:lstStyle/>
          <a:p>
            <a:r>
              <a:rPr lang="en-MY" dirty="0">
                <a:solidFill>
                  <a:srgbClr val="00B0F0"/>
                </a:solidFill>
              </a:rPr>
              <a:t>Step 1 – Convert 5 and 2 to binary </a:t>
            </a:r>
          </a:p>
        </p:txBody>
      </p:sp>
      <p:sp>
        <p:nvSpPr>
          <p:cNvPr id="17" name="TextBox 16">
            <a:extLst>
              <a:ext uri="{FF2B5EF4-FFF2-40B4-BE49-F238E27FC236}">
                <a16:creationId xmlns:a16="http://schemas.microsoft.com/office/drawing/2014/main" id="{0632B699-C621-3908-F80D-B822C8C01006}"/>
              </a:ext>
            </a:extLst>
          </p:cNvPr>
          <p:cNvSpPr txBox="1"/>
          <p:nvPr/>
        </p:nvSpPr>
        <p:spPr>
          <a:xfrm>
            <a:off x="724153" y="6041233"/>
            <a:ext cx="7092788" cy="584775"/>
          </a:xfrm>
          <a:prstGeom prst="rect">
            <a:avLst/>
          </a:prstGeom>
          <a:solidFill>
            <a:srgbClr val="FFFF00"/>
          </a:solidFill>
        </p:spPr>
        <p:txBody>
          <a:bodyPr wrap="square">
            <a:spAutoFit/>
          </a:bodyPr>
          <a:lstStyle/>
          <a:p>
            <a:r>
              <a:rPr lang="en-MY" sz="3200" dirty="0">
                <a:solidFill>
                  <a:srgbClr val="00B050"/>
                </a:solidFill>
              </a:rPr>
              <a:t>Answer: 5 – (+2) = 5 – 2 = 3 = 0011 </a:t>
            </a:r>
          </a:p>
        </p:txBody>
      </p:sp>
      <p:sp>
        <p:nvSpPr>
          <p:cNvPr id="6" name="TextBox 5">
            <a:extLst>
              <a:ext uri="{FF2B5EF4-FFF2-40B4-BE49-F238E27FC236}">
                <a16:creationId xmlns:a16="http://schemas.microsoft.com/office/drawing/2014/main" id="{3B9E74C9-724B-F554-9C25-12C2FCA21AEE}"/>
              </a:ext>
            </a:extLst>
          </p:cNvPr>
          <p:cNvSpPr txBox="1"/>
          <p:nvPr/>
        </p:nvSpPr>
        <p:spPr>
          <a:xfrm>
            <a:off x="7466940" y="1048961"/>
            <a:ext cx="870751" cy="707886"/>
          </a:xfrm>
          <a:prstGeom prst="rect">
            <a:avLst/>
          </a:prstGeom>
          <a:noFill/>
        </p:spPr>
        <p:txBody>
          <a:bodyPr wrap="none" rtlCol="0">
            <a:spAutoFit/>
          </a:bodyPr>
          <a:lstStyle/>
          <a:p>
            <a:r>
              <a:rPr lang="en-MY" b="1" dirty="0">
                <a:solidFill>
                  <a:srgbClr val="FF0000"/>
                </a:solidFill>
              </a:rPr>
              <a:t>M =5</a:t>
            </a:r>
          </a:p>
          <a:p>
            <a:r>
              <a:rPr lang="en-MY" b="1" dirty="0">
                <a:solidFill>
                  <a:srgbClr val="FF0000"/>
                </a:solidFill>
              </a:rPr>
              <a:t>S  =2</a:t>
            </a:r>
          </a:p>
        </p:txBody>
      </p:sp>
      <p:sp>
        <p:nvSpPr>
          <p:cNvPr id="4" name="Rectangle 3">
            <a:extLst>
              <a:ext uri="{FF2B5EF4-FFF2-40B4-BE49-F238E27FC236}">
                <a16:creationId xmlns:a16="http://schemas.microsoft.com/office/drawing/2014/main" id="{1808CC88-AA22-9B20-A46C-DE5A146857DC}"/>
              </a:ext>
            </a:extLst>
          </p:cNvPr>
          <p:cNvSpPr/>
          <p:nvPr/>
        </p:nvSpPr>
        <p:spPr>
          <a:xfrm>
            <a:off x="3924312" y="5428046"/>
            <a:ext cx="432048" cy="4001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37955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1BF2-10D1-A086-6096-5F6306549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5ECC9-67C8-E5F3-26F7-9DF7B6908D80}"/>
              </a:ext>
            </a:extLst>
          </p:cNvPr>
          <p:cNvSpPr>
            <a:spLocks noGrp="1"/>
          </p:cNvSpPr>
          <p:nvPr>
            <p:ph type="title"/>
          </p:nvPr>
        </p:nvSpPr>
        <p:spPr>
          <a:xfrm>
            <a:off x="325211" y="265678"/>
            <a:ext cx="7890672" cy="744152"/>
          </a:xfrm>
        </p:spPr>
        <p:txBody>
          <a:bodyPr/>
          <a:lstStyle/>
          <a:p>
            <a:r>
              <a:rPr lang="en-MY" dirty="0"/>
              <a:t>Subtraction (Example 5)  </a:t>
            </a:r>
          </a:p>
        </p:txBody>
      </p:sp>
      <p:sp>
        <p:nvSpPr>
          <p:cNvPr id="3" name="Content Placeholder 2">
            <a:extLst>
              <a:ext uri="{FF2B5EF4-FFF2-40B4-BE49-F238E27FC236}">
                <a16:creationId xmlns:a16="http://schemas.microsoft.com/office/drawing/2014/main" id="{6584250F-ADE1-71D0-1D16-AA85D8A6E40F}"/>
              </a:ext>
            </a:extLst>
          </p:cNvPr>
          <p:cNvSpPr>
            <a:spLocks noGrp="1"/>
          </p:cNvSpPr>
          <p:nvPr>
            <p:ph idx="1"/>
          </p:nvPr>
        </p:nvSpPr>
        <p:spPr>
          <a:xfrm>
            <a:off x="347496" y="1196752"/>
            <a:ext cx="7887005" cy="432048"/>
          </a:xfrm>
        </p:spPr>
        <p:txBody>
          <a:bodyPr/>
          <a:lstStyle/>
          <a:p>
            <a:pPr marL="0" indent="0">
              <a:buNone/>
            </a:pPr>
            <a:r>
              <a:rPr lang="en-MY" dirty="0"/>
              <a:t>Subtract two 4-bit 2’s complement of 7and 7</a:t>
            </a:r>
          </a:p>
        </p:txBody>
      </p:sp>
      <p:graphicFrame>
        <p:nvGraphicFramePr>
          <p:cNvPr id="5" name="Table 38">
            <a:extLst>
              <a:ext uri="{FF2B5EF4-FFF2-40B4-BE49-F238E27FC236}">
                <a16:creationId xmlns:a16="http://schemas.microsoft.com/office/drawing/2014/main" id="{7FC53A9F-8502-A476-6259-A77FB8706FD6}"/>
              </a:ext>
            </a:extLst>
          </p:cNvPr>
          <p:cNvGraphicFramePr>
            <a:graphicFrameLocks noGrp="1"/>
          </p:cNvGraphicFramePr>
          <p:nvPr>
            <p:extLst>
              <p:ext uri="{D42A27DB-BD31-4B8C-83A1-F6EECF244321}">
                <p14:modId xmlns:p14="http://schemas.microsoft.com/office/powerpoint/2010/main" val="4081823510"/>
              </p:ext>
            </p:extLst>
          </p:nvPr>
        </p:nvGraphicFramePr>
        <p:xfrm>
          <a:off x="507635"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M</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r h="416779">
                <a:tc>
                  <a:txBody>
                    <a:bodyPr/>
                    <a:lstStyle/>
                    <a:p>
                      <a:pPr algn="ctr"/>
                      <a:r>
                        <a:rPr lang="en-MY" sz="1800" b="1" dirty="0">
                          <a:solidFill>
                            <a:schemeClr val="tx1"/>
                          </a:solidFill>
                        </a:rPr>
                        <a:t>-7</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839885356"/>
                  </a:ext>
                </a:extLst>
              </a:tr>
            </a:tbl>
          </a:graphicData>
        </a:graphic>
      </p:graphicFrame>
      <p:sp>
        <p:nvSpPr>
          <p:cNvPr id="7" name="Slide Number Placeholder 6">
            <a:extLst>
              <a:ext uri="{FF2B5EF4-FFF2-40B4-BE49-F238E27FC236}">
                <a16:creationId xmlns:a16="http://schemas.microsoft.com/office/drawing/2014/main" id="{1FD4FB15-C3EF-935E-E778-D1B2C319EFDE}"/>
              </a:ext>
            </a:extLst>
          </p:cNvPr>
          <p:cNvSpPr>
            <a:spLocks noGrp="1"/>
          </p:cNvSpPr>
          <p:nvPr>
            <p:ph type="sldNum" sz="quarter" idx="12"/>
          </p:nvPr>
        </p:nvSpPr>
        <p:spPr/>
        <p:txBody>
          <a:bodyPr/>
          <a:lstStyle/>
          <a:p>
            <a:pPr>
              <a:defRPr/>
            </a:pPr>
            <a:fld id="{B15F286D-88BF-4C85-84EF-53248539BE74}" type="slidenum">
              <a:rPr lang="en-US" altLang="en-US" smtClean="0"/>
              <a:pPr>
                <a:defRPr/>
              </a:pPr>
              <a:t>67</a:t>
            </a:fld>
            <a:endParaRPr lang="en-US" altLang="en-US"/>
          </a:p>
        </p:txBody>
      </p:sp>
      <p:graphicFrame>
        <p:nvGraphicFramePr>
          <p:cNvPr id="8" name="Table 38">
            <a:extLst>
              <a:ext uri="{FF2B5EF4-FFF2-40B4-BE49-F238E27FC236}">
                <a16:creationId xmlns:a16="http://schemas.microsoft.com/office/drawing/2014/main" id="{60982249-1BE4-0E95-619F-2FB40E559046}"/>
              </a:ext>
            </a:extLst>
          </p:cNvPr>
          <p:cNvGraphicFramePr>
            <a:graphicFrameLocks noGrp="1"/>
          </p:cNvGraphicFramePr>
          <p:nvPr>
            <p:extLst>
              <p:ext uri="{D42A27DB-BD31-4B8C-83A1-F6EECF244321}">
                <p14:modId xmlns:p14="http://schemas.microsoft.com/office/powerpoint/2010/main" val="3730982221"/>
              </p:ext>
            </p:extLst>
          </p:nvPr>
        </p:nvGraphicFramePr>
        <p:xfrm>
          <a:off x="507635" y="4058881"/>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rgbClr val="FF0000"/>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D6C9982F-B5F6-421E-BB1D-4C1E7F008077}"/>
              </a:ext>
            </a:extLst>
          </p:cNvPr>
          <p:cNvSpPr txBox="1"/>
          <p:nvPr/>
        </p:nvSpPr>
        <p:spPr>
          <a:xfrm>
            <a:off x="499332" y="3580587"/>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001BDB19-23AE-E3FF-F612-AF747E422411}"/>
              </a:ext>
            </a:extLst>
          </p:cNvPr>
          <p:cNvSpPr txBox="1"/>
          <p:nvPr/>
        </p:nvSpPr>
        <p:spPr>
          <a:xfrm>
            <a:off x="507635" y="1556792"/>
            <a:ext cx="4625788" cy="400110"/>
          </a:xfrm>
          <a:prstGeom prst="rect">
            <a:avLst/>
          </a:prstGeom>
          <a:noFill/>
        </p:spPr>
        <p:txBody>
          <a:bodyPr wrap="square">
            <a:spAutoFit/>
          </a:bodyPr>
          <a:lstStyle/>
          <a:p>
            <a:r>
              <a:rPr lang="en-MY" dirty="0">
                <a:solidFill>
                  <a:srgbClr val="00B0F0"/>
                </a:solidFill>
              </a:rPr>
              <a:t>Step 1 – Convert 7 to binary </a:t>
            </a:r>
          </a:p>
        </p:txBody>
      </p:sp>
      <p:sp>
        <p:nvSpPr>
          <p:cNvPr id="17" name="TextBox 16">
            <a:extLst>
              <a:ext uri="{FF2B5EF4-FFF2-40B4-BE49-F238E27FC236}">
                <a16:creationId xmlns:a16="http://schemas.microsoft.com/office/drawing/2014/main" id="{37A15EEA-5388-F66E-FD8B-52C5E39686E4}"/>
              </a:ext>
            </a:extLst>
          </p:cNvPr>
          <p:cNvSpPr txBox="1"/>
          <p:nvPr/>
        </p:nvSpPr>
        <p:spPr>
          <a:xfrm>
            <a:off x="490495" y="5609751"/>
            <a:ext cx="7092788" cy="584775"/>
          </a:xfrm>
          <a:prstGeom prst="rect">
            <a:avLst/>
          </a:prstGeom>
          <a:solidFill>
            <a:srgbClr val="FFFF00"/>
          </a:solidFill>
        </p:spPr>
        <p:txBody>
          <a:bodyPr wrap="square">
            <a:spAutoFit/>
          </a:bodyPr>
          <a:lstStyle/>
          <a:p>
            <a:r>
              <a:rPr lang="en-MY" sz="3200" dirty="0">
                <a:solidFill>
                  <a:srgbClr val="00B050"/>
                </a:solidFill>
              </a:rPr>
              <a:t>Answer: 7– 7= 0 = 10000</a:t>
            </a:r>
          </a:p>
        </p:txBody>
      </p:sp>
      <p:sp>
        <p:nvSpPr>
          <p:cNvPr id="6" name="TextBox 5">
            <a:extLst>
              <a:ext uri="{FF2B5EF4-FFF2-40B4-BE49-F238E27FC236}">
                <a16:creationId xmlns:a16="http://schemas.microsoft.com/office/drawing/2014/main" id="{4F6842FB-D8EB-0ADE-99CA-575FBC0668F2}"/>
              </a:ext>
            </a:extLst>
          </p:cNvPr>
          <p:cNvSpPr txBox="1"/>
          <p:nvPr/>
        </p:nvSpPr>
        <p:spPr>
          <a:xfrm>
            <a:off x="5738724" y="1105739"/>
            <a:ext cx="870751" cy="707886"/>
          </a:xfrm>
          <a:prstGeom prst="rect">
            <a:avLst/>
          </a:prstGeom>
          <a:noFill/>
        </p:spPr>
        <p:txBody>
          <a:bodyPr wrap="none" rtlCol="0">
            <a:spAutoFit/>
          </a:bodyPr>
          <a:lstStyle/>
          <a:p>
            <a:r>
              <a:rPr lang="en-MY" b="1" dirty="0">
                <a:solidFill>
                  <a:srgbClr val="FF0000"/>
                </a:solidFill>
              </a:rPr>
              <a:t>M =7</a:t>
            </a:r>
          </a:p>
          <a:p>
            <a:r>
              <a:rPr lang="en-MY" b="1" dirty="0">
                <a:solidFill>
                  <a:srgbClr val="FF0000"/>
                </a:solidFill>
              </a:rPr>
              <a:t>S  =7</a:t>
            </a:r>
          </a:p>
        </p:txBody>
      </p:sp>
    </p:spTree>
    <p:extLst>
      <p:ext uri="{BB962C8B-B14F-4D97-AF65-F5344CB8AC3E}">
        <p14:creationId xmlns:p14="http://schemas.microsoft.com/office/powerpoint/2010/main" val="373811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17991-DAF8-1F40-C5CE-00AEE50B5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E23CA-4130-F9B4-CCAB-2307F8E01536}"/>
              </a:ext>
            </a:extLst>
          </p:cNvPr>
          <p:cNvSpPr>
            <a:spLocks noGrp="1"/>
          </p:cNvSpPr>
          <p:nvPr>
            <p:ph type="title"/>
          </p:nvPr>
        </p:nvSpPr>
        <p:spPr>
          <a:xfrm>
            <a:off x="325211" y="265678"/>
            <a:ext cx="7890672" cy="744152"/>
          </a:xfrm>
        </p:spPr>
        <p:txBody>
          <a:bodyPr/>
          <a:lstStyle/>
          <a:p>
            <a:r>
              <a:rPr lang="en-MY" dirty="0"/>
              <a:t>Subtraction (Example 6)  </a:t>
            </a:r>
          </a:p>
        </p:txBody>
      </p:sp>
      <p:sp>
        <p:nvSpPr>
          <p:cNvPr id="3" name="Content Placeholder 2">
            <a:extLst>
              <a:ext uri="{FF2B5EF4-FFF2-40B4-BE49-F238E27FC236}">
                <a16:creationId xmlns:a16="http://schemas.microsoft.com/office/drawing/2014/main" id="{5F1D0807-A71C-BBC7-B5E4-3B72417123CA}"/>
              </a:ext>
            </a:extLst>
          </p:cNvPr>
          <p:cNvSpPr>
            <a:spLocks noGrp="1"/>
          </p:cNvSpPr>
          <p:nvPr>
            <p:ph idx="1"/>
          </p:nvPr>
        </p:nvSpPr>
        <p:spPr>
          <a:xfrm>
            <a:off x="347496" y="1196752"/>
            <a:ext cx="7887005" cy="432048"/>
          </a:xfrm>
        </p:spPr>
        <p:txBody>
          <a:bodyPr/>
          <a:lstStyle/>
          <a:p>
            <a:pPr marL="0" indent="0">
              <a:buNone/>
            </a:pPr>
            <a:r>
              <a:rPr lang="en-MY" dirty="0"/>
              <a:t>Subtract two 4-bit 2’s complement of 7and -7</a:t>
            </a:r>
          </a:p>
        </p:txBody>
      </p:sp>
      <p:graphicFrame>
        <p:nvGraphicFramePr>
          <p:cNvPr id="5" name="Table 38">
            <a:extLst>
              <a:ext uri="{FF2B5EF4-FFF2-40B4-BE49-F238E27FC236}">
                <a16:creationId xmlns:a16="http://schemas.microsoft.com/office/drawing/2014/main" id="{B36EF3D2-C346-FE51-1BAE-54122B20E8E1}"/>
              </a:ext>
            </a:extLst>
          </p:cNvPr>
          <p:cNvGraphicFramePr>
            <a:graphicFrameLocks noGrp="1"/>
          </p:cNvGraphicFramePr>
          <p:nvPr>
            <p:extLst>
              <p:ext uri="{D42A27DB-BD31-4B8C-83A1-F6EECF244321}">
                <p14:modId xmlns:p14="http://schemas.microsoft.com/office/powerpoint/2010/main" val="2351975209"/>
              </p:ext>
            </p:extLst>
          </p:nvPr>
        </p:nvGraphicFramePr>
        <p:xfrm>
          <a:off x="507635" y="2026542"/>
          <a:ext cx="7376733" cy="833558"/>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M</a:t>
                      </a:r>
                    </a:p>
                  </a:txBody>
                  <a:tcPr anchor="ctr"/>
                </a:tc>
                <a:tc>
                  <a:txBody>
                    <a:bodyPr/>
                    <a:lstStyle/>
                    <a:p>
                      <a:pPr algn="ctr"/>
                      <a:r>
                        <a:rPr lang="en-MY" sz="1800" dirty="0">
                          <a:solidFill>
                            <a:schemeClr val="tx1"/>
                          </a:solidFill>
                        </a:rPr>
                        <a:t>128</a:t>
                      </a:r>
                    </a:p>
                  </a:txBody>
                  <a:tcPr anchor="ctr"/>
                </a:tc>
                <a:tc>
                  <a:txBody>
                    <a:bodyPr/>
                    <a:lstStyle/>
                    <a:p>
                      <a:pPr algn="ctr"/>
                      <a:r>
                        <a:rPr lang="en-MY" sz="1800" dirty="0">
                          <a:solidFill>
                            <a:schemeClr val="tx1"/>
                          </a:solidFill>
                        </a:rPr>
                        <a:t>64</a:t>
                      </a:r>
                    </a:p>
                  </a:txBody>
                  <a:tcPr anchor="ctr"/>
                </a:tc>
                <a:tc>
                  <a:txBody>
                    <a:bodyPr/>
                    <a:lstStyle/>
                    <a:p>
                      <a:pPr algn="ctr"/>
                      <a:r>
                        <a:rPr lang="en-MY" sz="1800" dirty="0">
                          <a:solidFill>
                            <a:schemeClr val="tx1"/>
                          </a:solidFill>
                        </a:rPr>
                        <a:t>32</a:t>
                      </a:r>
                    </a:p>
                  </a:txBody>
                  <a:tcPr anchor="ctr"/>
                </a:tc>
                <a:tc>
                  <a:txBody>
                    <a:bodyPr/>
                    <a:lstStyle/>
                    <a:p>
                      <a:pPr algn="ctr"/>
                      <a:r>
                        <a:rPr lang="en-MY" sz="1800" dirty="0">
                          <a:solidFill>
                            <a:schemeClr val="tx1"/>
                          </a:solidFill>
                        </a:rPr>
                        <a:t>16</a:t>
                      </a:r>
                    </a:p>
                  </a:txBody>
                  <a:tcPr anchor="ctr"/>
                </a:tc>
                <a:tc>
                  <a:txBody>
                    <a:bodyPr/>
                    <a:lstStyle/>
                    <a:p>
                      <a:pPr algn="ctr"/>
                      <a:r>
                        <a:rPr lang="en-MY" sz="1800" dirty="0">
                          <a:solidFill>
                            <a:schemeClr val="tx1"/>
                          </a:solidFill>
                        </a:rPr>
                        <a:t>8</a:t>
                      </a:r>
                    </a:p>
                  </a:txBody>
                  <a:tcPr anchor="ctr"/>
                </a:tc>
                <a:tc>
                  <a:txBody>
                    <a:bodyPr/>
                    <a:lstStyle/>
                    <a:p>
                      <a:pPr algn="ctr"/>
                      <a:r>
                        <a:rPr lang="en-MY" sz="1800" dirty="0">
                          <a:solidFill>
                            <a:schemeClr val="tx1"/>
                          </a:solidFill>
                        </a:rPr>
                        <a:t>4</a:t>
                      </a:r>
                    </a:p>
                  </a:txBody>
                  <a:tcPr anchor="ctr"/>
                </a:tc>
                <a:tc>
                  <a:txBody>
                    <a:bodyPr/>
                    <a:lstStyle/>
                    <a:p>
                      <a:pPr algn="ctr"/>
                      <a:r>
                        <a:rPr lang="en-MY" sz="1800" dirty="0">
                          <a:solidFill>
                            <a:schemeClr val="tx1"/>
                          </a:solidFill>
                        </a:rPr>
                        <a:t>2</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endParaRPr lang="en-MY" sz="1800" dirty="0">
                        <a:solidFill>
                          <a:schemeClr val="tx1"/>
                        </a:solidFill>
                      </a:endParaRPr>
                    </a:p>
                  </a:txBody>
                  <a:tcPr anchor="ctr">
                    <a:solidFill>
                      <a:schemeClr val="accent2">
                        <a:lumMod val="20000"/>
                        <a:lumOff val="80000"/>
                      </a:schemeClr>
                    </a:solidFill>
                  </a:tcPr>
                </a:tc>
                <a:tc>
                  <a:txBody>
                    <a:bodyPr/>
                    <a:lstStyle/>
                    <a:p>
                      <a:pPr algn="ctr"/>
                      <a:r>
                        <a:rPr lang="en-MY" sz="1800" dirty="0">
                          <a:solidFill>
                            <a:schemeClr val="tx1"/>
                          </a:solidFill>
                        </a:rPr>
                        <a:t>0</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tc>
                  <a:txBody>
                    <a:bodyPr/>
                    <a:lstStyle/>
                    <a:p>
                      <a:pPr algn="ctr"/>
                      <a:r>
                        <a:rPr lang="en-MY" sz="1800" dirty="0">
                          <a:solidFill>
                            <a:schemeClr val="tx1"/>
                          </a:solidFill>
                        </a:rPr>
                        <a:t>1</a:t>
                      </a:r>
                    </a:p>
                  </a:txBody>
                  <a:tcPr anchor="ctr">
                    <a:solidFill>
                      <a:schemeClr val="accent2">
                        <a:lumMod val="20000"/>
                        <a:lumOff val="80000"/>
                      </a:schemeClr>
                    </a:solidFill>
                  </a:tcPr>
                </a:tc>
                <a:extLst>
                  <a:ext uri="{0D108BD9-81ED-4DB2-BD59-A6C34878D82A}">
                    <a16:rowId xmlns:a16="http://schemas.microsoft.com/office/drawing/2014/main" val="3889793438"/>
                  </a:ext>
                </a:extLst>
              </a:tr>
            </a:tbl>
          </a:graphicData>
        </a:graphic>
      </p:graphicFrame>
      <p:sp>
        <p:nvSpPr>
          <p:cNvPr id="7" name="Slide Number Placeholder 6">
            <a:extLst>
              <a:ext uri="{FF2B5EF4-FFF2-40B4-BE49-F238E27FC236}">
                <a16:creationId xmlns:a16="http://schemas.microsoft.com/office/drawing/2014/main" id="{323B5EB5-6863-1238-5CCD-8C9CED92BF73}"/>
              </a:ext>
            </a:extLst>
          </p:cNvPr>
          <p:cNvSpPr>
            <a:spLocks noGrp="1"/>
          </p:cNvSpPr>
          <p:nvPr>
            <p:ph type="sldNum" sz="quarter" idx="12"/>
          </p:nvPr>
        </p:nvSpPr>
        <p:spPr/>
        <p:txBody>
          <a:bodyPr/>
          <a:lstStyle/>
          <a:p>
            <a:pPr>
              <a:defRPr/>
            </a:pPr>
            <a:fld id="{B15F286D-88BF-4C85-84EF-53248539BE74}" type="slidenum">
              <a:rPr lang="en-US" altLang="en-US" smtClean="0"/>
              <a:pPr>
                <a:defRPr/>
              </a:pPr>
              <a:t>68</a:t>
            </a:fld>
            <a:endParaRPr lang="en-US" altLang="en-US"/>
          </a:p>
        </p:txBody>
      </p:sp>
      <p:graphicFrame>
        <p:nvGraphicFramePr>
          <p:cNvPr id="8" name="Table 38">
            <a:extLst>
              <a:ext uri="{FF2B5EF4-FFF2-40B4-BE49-F238E27FC236}">
                <a16:creationId xmlns:a16="http://schemas.microsoft.com/office/drawing/2014/main" id="{3B4B51A2-65ED-B57F-0EDA-B1D23683303E}"/>
              </a:ext>
            </a:extLst>
          </p:cNvPr>
          <p:cNvGraphicFramePr>
            <a:graphicFrameLocks noGrp="1"/>
          </p:cNvGraphicFramePr>
          <p:nvPr>
            <p:extLst>
              <p:ext uri="{D42A27DB-BD31-4B8C-83A1-F6EECF244321}">
                <p14:modId xmlns:p14="http://schemas.microsoft.com/office/powerpoint/2010/main" val="1295808863"/>
              </p:ext>
            </p:extLst>
          </p:nvPr>
        </p:nvGraphicFramePr>
        <p:xfrm>
          <a:off x="515938" y="3543190"/>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7</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rgbClr val="FF0000"/>
                        </a:solidFill>
                      </a:endParaRP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6104B389-5039-2E68-AF39-2800DEE11452}"/>
              </a:ext>
            </a:extLst>
          </p:cNvPr>
          <p:cNvSpPr txBox="1"/>
          <p:nvPr/>
        </p:nvSpPr>
        <p:spPr>
          <a:xfrm>
            <a:off x="507635" y="3064896"/>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35126116-D505-C10C-C451-4CBAF1B71BCA}"/>
              </a:ext>
            </a:extLst>
          </p:cNvPr>
          <p:cNvSpPr txBox="1"/>
          <p:nvPr/>
        </p:nvSpPr>
        <p:spPr>
          <a:xfrm>
            <a:off x="507635" y="1556792"/>
            <a:ext cx="4625788" cy="400110"/>
          </a:xfrm>
          <a:prstGeom prst="rect">
            <a:avLst/>
          </a:prstGeom>
          <a:noFill/>
        </p:spPr>
        <p:txBody>
          <a:bodyPr wrap="square">
            <a:spAutoFit/>
          </a:bodyPr>
          <a:lstStyle/>
          <a:p>
            <a:r>
              <a:rPr lang="en-MY" dirty="0">
                <a:solidFill>
                  <a:srgbClr val="00B0F0"/>
                </a:solidFill>
              </a:rPr>
              <a:t>Step 1 – Convert 7 to binary </a:t>
            </a:r>
          </a:p>
        </p:txBody>
      </p:sp>
      <p:sp>
        <p:nvSpPr>
          <p:cNvPr id="17" name="TextBox 16">
            <a:extLst>
              <a:ext uri="{FF2B5EF4-FFF2-40B4-BE49-F238E27FC236}">
                <a16:creationId xmlns:a16="http://schemas.microsoft.com/office/drawing/2014/main" id="{F1250906-213C-0DED-638C-0C293503EAC9}"/>
              </a:ext>
            </a:extLst>
          </p:cNvPr>
          <p:cNvSpPr txBox="1"/>
          <p:nvPr/>
        </p:nvSpPr>
        <p:spPr>
          <a:xfrm>
            <a:off x="507635" y="5200924"/>
            <a:ext cx="7092788" cy="584775"/>
          </a:xfrm>
          <a:prstGeom prst="rect">
            <a:avLst/>
          </a:prstGeom>
          <a:solidFill>
            <a:srgbClr val="FFFF00"/>
          </a:solidFill>
        </p:spPr>
        <p:txBody>
          <a:bodyPr wrap="square">
            <a:spAutoFit/>
          </a:bodyPr>
          <a:lstStyle/>
          <a:p>
            <a:r>
              <a:rPr lang="en-MY" sz="3200" dirty="0">
                <a:solidFill>
                  <a:srgbClr val="00B050"/>
                </a:solidFill>
              </a:rPr>
              <a:t>Answer: 7–(-7) = 14 = 1110</a:t>
            </a:r>
          </a:p>
        </p:txBody>
      </p:sp>
      <p:sp>
        <p:nvSpPr>
          <p:cNvPr id="6" name="TextBox 5">
            <a:extLst>
              <a:ext uri="{FF2B5EF4-FFF2-40B4-BE49-F238E27FC236}">
                <a16:creationId xmlns:a16="http://schemas.microsoft.com/office/drawing/2014/main" id="{34F6AFA1-C5C5-66A4-666F-F64568CA86E1}"/>
              </a:ext>
            </a:extLst>
          </p:cNvPr>
          <p:cNvSpPr txBox="1"/>
          <p:nvPr/>
        </p:nvSpPr>
        <p:spPr>
          <a:xfrm>
            <a:off x="5738724" y="1105739"/>
            <a:ext cx="981359" cy="707886"/>
          </a:xfrm>
          <a:prstGeom prst="rect">
            <a:avLst/>
          </a:prstGeom>
          <a:noFill/>
        </p:spPr>
        <p:txBody>
          <a:bodyPr wrap="none" rtlCol="0">
            <a:spAutoFit/>
          </a:bodyPr>
          <a:lstStyle/>
          <a:p>
            <a:r>
              <a:rPr lang="en-MY" b="1" dirty="0">
                <a:solidFill>
                  <a:srgbClr val="FF0000"/>
                </a:solidFill>
              </a:rPr>
              <a:t>M =7</a:t>
            </a:r>
          </a:p>
          <a:p>
            <a:r>
              <a:rPr lang="en-MY" b="1" dirty="0">
                <a:solidFill>
                  <a:srgbClr val="FF0000"/>
                </a:solidFill>
              </a:rPr>
              <a:t>S  =-7</a:t>
            </a:r>
          </a:p>
        </p:txBody>
      </p:sp>
      <p:sp>
        <p:nvSpPr>
          <p:cNvPr id="4" name="Oval 3">
            <a:extLst>
              <a:ext uri="{FF2B5EF4-FFF2-40B4-BE49-F238E27FC236}">
                <a16:creationId xmlns:a16="http://schemas.microsoft.com/office/drawing/2014/main" id="{2B7902C2-6123-B8F2-E989-94FE3792703B}"/>
              </a:ext>
            </a:extLst>
          </p:cNvPr>
          <p:cNvSpPr/>
          <p:nvPr/>
        </p:nvSpPr>
        <p:spPr>
          <a:xfrm>
            <a:off x="6720083" y="136706"/>
            <a:ext cx="2272133" cy="75633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Overflow example</a:t>
            </a:r>
          </a:p>
        </p:txBody>
      </p:sp>
    </p:spTree>
    <p:extLst>
      <p:ext uri="{BB962C8B-B14F-4D97-AF65-F5344CB8AC3E}">
        <p14:creationId xmlns:p14="http://schemas.microsoft.com/office/powerpoint/2010/main" val="227679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30CD6-2A6E-4D89-1284-01D17A73F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76377-2930-ECFB-1A4C-3E771F743EE5}"/>
              </a:ext>
            </a:extLst>
          </p:cNvPr>
          <p:cNvSpPr>
            <a:spLocks noGrp="1"/>
          </p:cNvSpPr>
          <p:nvPr>
            <p:ph type="title"/>
          </p:nvPr>
        </p:nvSpPr>
        <p:spPr>
          <a:xfrm>
            <a:off x="325211" y="265678"/>
            <a:ext cx="7890672" cy="744152"/>
          </a:xfrm>
        </p:spPr>
        <p:txBody>
          <a:bodyPr/>
          <a:lstStyle/>
          <a:p>
            <a:r>
              <a:rPr lang="en-MY" dirty="0"/>
              <a:t>Subtraction (Example 3)  </a:t>
            </a:r>
          </a:p>
        </p:txBody>
      </p:sp>
      <p:sp>
        <p:nvSpPr>
          <p:cNvPr id="3" name="Content Placeholder 2">
            <a:extLst>
              <a:ext uri="{FF2B5EF4-FFF2-40B4-BE49-F238E27FC236}">
                <a16:creationId xmlns:a16="http://schemas.microsoft.com/office/drawing/2014/main" id="{0D4EC650-1FCB-A830-E7BE-13CB50664486}"/>
              </a:ext>
            </a:extLst>
          </p:cNvPr>
          <p:cNvSpPr>
            <a:spLocks noGrp="1"/>
          </p:cNvSpPr>
          <p:nvPr>
            <p:ph idx="1"/>
          </p:nvPr>
        </p:nvSpPr>
        <p:spPr>
          <a:xfrm>
            <a:off x="347496" y="1196752"/>
            <a:ext cx="7887005" cy="432048"/>
          </a:xfrm>
        </p:spPr>
        <p:txBody>
          <a:bodyPr/>
          <a:lstStyle/>
          <a:p>
            <a:pPr marL="0" indent="0">
              <a:buNone/>
            </a:pPr>
            <a:r>
              <a:rPr lang="en-MY" dirty="0"/>
              <a:t>Subtract two 4-bit 2’s complement of 5 and -6</a:t>
            </a:r>
          </a:p>
        </p:txBody>
      </p:sp>
      <p:graphicFrame>
        <p:nvGraphicFramePr>
          <p:cNvPr id="5" name="Table 38">
            <a:extLst>
              <a:ext uri="{FF2B5EF4-FFF2-40B4-BE49-F238E27FC236}">
                <a16:creationId xmlns:a16="http://schemas.microsoft.com/office/drawing/2014/main" id="{826881A1-C7A4-F43B-6F8B-BA99826894B1}"/>
              </a:ext>
            </a:extLst>
          </p:cNvPr>
          <p:cNvGraphicFramePr>
            <a:graphicFrameLocks noGrp="1"/>
          </p:cNvGraphicFramePr>
          <p:nvPr/>
        </p:nvGraphicFramePr>
        <p:xfrm>
          <a:off x="507635" y="2026542"/>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M</a:t>
                      </a:r>
                    </a:p>
                  </a:txBody>
                  <a:tcPr anchor="ctr">
                    <a:noFill/>
                  </a:tcPr>
                </a:tc>
                <a:tc>
                  <a:txBody>
                    <a:bodyPr/>
                    <a:lstStyle/>
                    <a:p>
                      <a:pPr algn="ctr"/>
                      <a:r>
                        <a:rPr lang="en-MY" sz="1800" dirty="0">
                          <a:solidFill>
                            <a:schemeClr val="tx1"/>
                          </a:solidFill>
                        </a:rPr>
                        <a:t>128</a:t>
                      </a:r>
                    </a:p>
                  </a:txBody>
                  <a:tcPr anchor="ctr">
                    <a:noFill/>
                  </a:tcPr>
                </a:tc>
                <a:tc>
                  <a:txBody>
                    <a:bodyPr/>
                    <a:lstStyle/>
                    <a:p>
                      <a:pPr algn="ctr"/>
                      <a:r>
                        <a:rPr lang="en-MY" sz="1800" dirty="0">
                          <a:solidFill>
                            <a:schemeClr val="tx1"/>
                          </a:solidFill>
                        </a:rPr>
                        <a:t>64</a:t>
                      </a:r>
                    </a:p>
                  </a:txBody>
                  <a:tcPr anchor="ctr">
                    <a:noFill/>
                  </a:tcPr>
                </a:tc>
                <a:tc>
                  <a:txBody>
                    <a:bodyPr/>
                    <a:lstStyle/>
                    <a:p>
                      <a:pPr algn="ctr"/>
                      <a:r>
                        <a:rPr lang="en-MY" sz="1800" dirty="0">
                          <a:solidFill>
                            <a:schemeClr val="tx1"/>
                          </a:solidFill>
                        </a:rPr>
                        <a:t>32</a:t>
                      </a:r>
                    </a:p>
                  </a:txBody>
                  <a:tcPr anchor="ctr">
                    <a:noFill/>
                  </a:tcPr>
                </a:tc>
                <a:tc>
                  <a:txBody>
                    <a:bodyPr/>
                    <a:lstStyle/>
                    <a:p>
                      <a:pPr algn="ctr"/>
                      <a:r>
                        <a:rPr lang="en-MY" sz="1800" dirty="0">
                          <a:solidFill>
                            <a:schemeClr val="tx1"/>
                          </a:solidFill>
                        </a:rPr>
                        <a:t>16</a:t>
                      </a:r>
                    </a:p>
                  </a:txBody>
                  <a:tcPr anchor="ctr">
                    <a:noFill/>
                  </a:tcPr>
                </a:tc>
                <a:tc>
                  <a:txBody>
                    <a:bodyPr/>
                    <a:lstStyle/>
                    <a:p>
                      <a:pPr algn="ctr"/>
                      <a:r>
                        <a:rPr lang="en-MY" sz="1800" dirty="0">
                          <a:solidFill>
                            <a:schemeClr val="tx1"/>
                          </a:solidFill>
                        </a:rPr>
                        <a:t>8</a:t>
                      </a:r>
                    </a:p>
                  </a:txBody>
                  <a:tcPr anchor="ctr">
                    <a:noFill/>
                  </a:tcPr>
                </a:tc>
                <a:tc>
                  <a:txBody>
                    <a:bodyPr/>
                    <a:lstStyle/>
                    <a:p>
                      <a:pPr algn="ctr"/>
                      <a:r>
                        <a:rPr lang="en-MY" sz="1800" dirty="0">
                          <a:solidFill>
                            <a:schemeClr val="tx1"/>
                          </a:solidFill>
                        </a:rPr>
                        <a:t>4</a:t>
                      </a:r>
                    </a:p>
                  </a:txBody>
                  <a:tcPr anchor="ctr">
                    <a:noFill/>
                  </a:tcPr>
                </a:tc>
                <a:tc>
                  <a:txBody>
                    <a:bodyPr/>
                    <a:lstStyle/>
                    <a:p>
                      <a:pPr algn="ctr"/>
                      <a:r>
                        <a:rPr lang="en-MY" sz="1800" dirty="0">
                          <a:solidFill>
                            <a:schemeClr val="tx1"/>
                          </a:solidFill>
                        </a:rPr>
                        <a:t>2</a:t>
                      </a:r>
                    </a:p>
                  </a:txBody>
                  <a:tcPr anchor="ctr">
                    <a:noFill/>
                  </a:tcPr>
                </a:tc>
                <a:tc>
                  <a:txBody>
                    <a:bodyPr/>
                    <a:lstStyle/>
                    <a:p>
                      <a:pPr algn="ctr"/>
                      <a:r>
                        <a:rPr lang="en-MY" sz="1800" dirty="0">
                          <a:solidFill>
                            <a:schemeClr val="tx1"/>
                          </a:solidFill>
                        </a:rPr>
                        <a:t>1</a:t>
                      </a:r>
                    </a:p>
                  </a:txBody>
                  <a:tcPr anchor="ctr">
                    <a:noFill/>
                  </a:tcPr>
                </a:tc>
                <a:extLst>
                  <a:ext uri="{0D108BD9-81ED-4DB2-BD59-A6C34878D82A}">
                    <a16:rowId xmlns:a16="http://schemas.microsoft.com/office/drawing/2014/main" val="2747683975"/>
                  </a:ext>
                </a:extLst>
              </a:tr>
              <a:tr h="416779">
                <a:tc>
                  <a:txBody>
                    <a:bodyPr/>
                    <a:lstStyle/>
                    <a:p>
                      <a:pPr algn="ctr"/>
                      <a:endParaRPr lang="en-MY" sz="1800" b="1"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extLst>
                  <a:ext uri="{0D108BD9-81ED-4DB2-BD59-A6C34878D82A}">
                    <a16:rowId xmlns:a16="http://schemas.microsoft.com/office/drawing/2014/main" val="3889793438"/>
                  </a:ext>
                </a:extLst>
              </a:tr>
              <a:tr h="416779">
                <a:tc>
                  <a:txBody>
                    <a:bodyPr/>
                    <a:lstStyle/>
                    <a:p>
                      <a:pPr algn="ctr"/>
                      <a:r>
                        <a:rPr lang="en-MY" sz="1800" b="1" dirty="0">
                          <a:solidFill>
                            <a:schemeClr val="tx1"/>
                          </a:solidFill>
                        </a:rPr>
                        <a:t>+5</a:t>
                      </a: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endParaRPr lang="en-MY" sz="1800" dirty="0">
                        <a:solidFill>
                          <a:schemeClr val="tx1"/>
                        </a:solidFill>
                      </a:endParaRP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tc>
                  <a:txBody>
                    <a:bodyPr/>
                    <a:lstStyle/>
                    <a:p>
                      <a:pPr algn="ctr"/>
                      <a:r>
                        <a:rPr lang="en-MY" sz="1800" dirty="0">
                          <a:solidFill>
                            <a:schemeClr val="tx1"/>
                          </a:solidFill>
                        </a:rPr>
                        <a:t>0</a:t>
                      </a:r>
                    </a:p>
                  </a:txBody>
                  <a:tcPr anchor="ctr">
                    <a:solidFill>
                      <a:schemeClr val="accent3">
                        <a:lumMod val="40000"/>
                        <a:lumOff val="60000"/>
                      </a:schemeClr>
                    </a:solidFill>
                  </a:tcPr>
                </a:tc>
                <a:tc>
                  <a:txBody>
                    <a:bodyPr/>
                    <a:lstStyle/>
                    <a:p>
                      <a:pPr algn="ctr"/>
                      <a:r>
                        <a:rPr lang="en-MY" sz="1800" dirty="0">
                          <a:solidFill>
                            <a:schemeClr val="tx1"/>
                          </a:solidFill>
                        </a:rPr>
                        <a:t>1</a:t>
                      </a:r>
                    </a:p>
                  </a:txBody>
                  <a:tcPr anchor="ctr">
                    <a:solidFill>
                      <a:schemeClr val="accent3">
                        <a:lumMod val="40000"/>
                        <a:lumOff val="60000"/>
                      </a:schemeClr>
                    </a:solidFill>
                  </a:tcPr>
                </a:tc>
                <a:extLst>
                  <a:ext uri="{0D108BD9-81ED-4DB2-BD59-A6C34878D82A}">
                    <a16:rowId xmlns:a16="http://schemas.microsoft.com/office/drawing/2014/main" val="2700976279"/>
                  </a:ext>
                </a:extLst>
              </a:tr>
            </a:tbl>
          </a:graphicData>
        </a:graphic>
      </p:graphicFrame>
      <p:sp>
        <p:nvSpPr>
          <p:cNvPr id="7" name="Slide Number Placeholder 6">
            <a:extLst>
              <a:ext uri="{FF2B5EF4-FFF2-40B4-BE49-F238E27FC236}">
                <a16:creationId xmlns:a16="http://schemas.microsoft.com/office/drawing/2014/main" id="{E19A3138-A157-C4EC-FAAF-0465D01DF088}"/>
              </a:ext>
            </a:extLst>
          </p:cNvPr>
          <p:cNvSpPr>
            <a:spLocks noGrp="1"/>
          </p:cNvSpPr>
          <p:nvPr>
            <p:ph type="sldNum" sz="quarter" idx="12"/>
          </p:nvPr>
        </p:nvSpPr>
        <p:spPr/>
        <p:txBody>
          <a:bodyPr/>
          <a:lstStyle/>
          <a:p>
            <a:pPr>
              <a:defRPr/>
            </a:pPr>
            <a:fld id="{B15F286D-88BF-4C85-84EF-53248539BE74}" type="slidenum">
              <a:rPr lang="en-US" altLang="en-US" smtClean="0"/>
              <a:pPr>
                <a:defRPr/>
              </a:pPr>
              <a:t>69</a:t>
            </a:fld>
            <a:endParaRPr lang="en-US" altLang="en-US"/>
          </a:p>
        </p:txBody>
      </p:sp>
      <p:graphicFrame>
        <p:nvGraphicFramePr>
          <p:cNvPr id="8" name="Table 38">
            <a:extLst>
              <a:ext uri="{FF2B5EF4-FFF2-40B4-BE49-F238E27FC236}">
                <a16:creationId xmlns:a16="http://schemas.microsoft.com/office/drawing/2014/main" id="{17707B15-7CA5-5508-17C7-953BB543C46F}"/>
              </a:ext>
            </a:extLst>
          </p:cNvPr>
          <p:cNvGraphicFramePr>
            <a:graphicFrameLocks noGrp="1"/>
          </p:cNvGraphicFramePr>
          <p:nvPr>
            <p:extLst>
              <p:ext uri="{D42A27DB-BD31-4B8C-83A1-F6EECF244321}">
                <p14:modId xmlns:p14="http://schemas.microsoft.com/office/powerpoint/2010/main" val="4083239430"/>
              </p:ext>
            </p:extLst>
          </p:nvPr>
        </p:nvGraphicFramePr>
        <p:xfrm>
          <a:off x="473391" y="5042499"/>
          <a:ext cx="7376733" cy="1250337"/>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283784030"/>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b="1" dirty="0">
                          <a:solidFill>
                            <a:schemeClr val="tx1"/>
                          </a:solidFill>
                        </a:rPr>
                        <a:t>+5</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+6</a:t>
                      </a: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endParaRPr lang="en-MY" sz="1800" dirty="0">
                        <a:solidFill>
                          <a:schemeClr val="tx1"/>
                        </a:solidFill>
                      </a:endParaRPr>
                    </a:p>
                  </a:txBody>
                  <a:tcPr anchor="ctr"/>
                </a:tc>
                <a:tc>
                  <a:txBody>
                    <a:bodyPr/>
                    <a:lstStyle/>
                    <a:p>
                      <a:pPr algn="ctr"/>
                      <a:r>
                        <a:rPr lang="en-MY" sz="1800" dirty="0">
                          <a:solidFill>
                            <a:schemeClr val="tx1"/>
                          </a:solidFill>
                        </a:rPr>
                        <a:t>0</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1</a:t>
                      </a:r>
                    </a:p>
                  </a:txBody>
                  <a:tcPr anchor="ctr"/>
                </a:tc>
                <a:tc>
                  <a:txBody>
                    <a:bodyPr/>
                    <a:lstStyle/>
                    <a:p>
                      <a:pPr algn="ctr"/>
                      <a:r>
                        <a:rPr lang="en-MY" sz="1800" dirty="0">
                          <a:solidFill>
                            <a:schemeClr val="tx1"/>
                          </a:solidFill>
                        </a:rPr>
                        <a:t>0</a:t>
                      </a:r>
                    </a:p>
                  </a:txBody>
                  <a:tcPr anchor="ctr"/>
                </a:tc>
                <a:extLst>
                  <a:ext uri="{0D108BD9-81ED-4DB2-BD59-A6C34878D82A}">
                    <a16:rowId xmlns:a16="http://schemas.microsoft.com/office/drawing/2014/main" val="2527677058"/>
                  </a:ext>
                </a:extLst>
              </a:tr>
              <a:tr h="416779">
                <a:tc>
                  <a:txBody>
                    <a:bodyPr/>
                    <a:lstStyle/>
                    <a:p>
                      <a:pPr algn="ctr"/>
                      <a:endParaRPr lang="en-MY" sz="1800" dirty="0">
                        <a:solidFill>
                          <a:schemeClr val="bg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chemeClr val="tx1"/>
                        </a:solidFill>
                      </a:endParaRPr>
                    </a:p>
                  </a:txBody>
                  <a:tcPr anchor="ctr">
                    <a:solidFill>
                      <a:srgbClr val="92D050"/>
                    </a:solidFill>
                  </a:tcPr>
                </a:tc>
                <a:tc>
                  <a:txBody>
                    <a:bodyPr/>
                    <a:lstStyle/>
                    <a:p>
                      <a:pPr algn="ctr"/>
                      <a:endParaRPr lang="en-MY" sz="1800" dirty="0">
                        <a:solidFill>
                          <a:srgbClr val="FF0000"/>
                        </a:solidFill>
                      </a:endParaRP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tc>
                  <a:txBody>
                    <a:bodyPr/>
                    <a:lstStyle/>
                    <a:p>
                      <a:pPr algn="ctr"/>
                      <a:r>
                        <a:rPr lang="en-MY" sz="1800" dirty="0">
                          <a:solidFill>
                            <a:schemeClr val="tx1"/>
                          </a:solidFill>
                        </a:rPr>
                        <a:t>0</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tc>
                  <a:txBody>
                    <a:bodyPr/>
                    <a:lstStyle/>
                    <a:p>
                      <a:pPr algn="ctr"/>
                      <a:r>
                        <a:rPr lang="en-MY" sz="1800" dirty="0">
                          <a:solidFill>
                            <a:schemeClr val="tx1"/>
                          </a:solidFill>
                        </a:rPr>
                        <a:t>1</a:t>
                      </a:r>
                    </a:p>
                  </a:txBody>
                  <a:tcPr anchor="ctr">
                    <a:solidFill>
                      <a:srgbClr val="92D050"/>
                    </a:solidFill>
                  </a:tcPr>
                </a:tc>
                <a:extLst>
                  <a:ext uri="{0D108BD9-81ED-4DB2-BD59-A6C34878D82A}">
                    <a16:rowId xmlns:a16="http://schemas.microsoft.com/office/drawing/2014/main" val="3889793438"/>
                  </a:ext>
                </a:extLst>
              </a:tr>
            </a:tbl>
          </a:graphicData>
        </a:graphic>
      </p:graphicFrame>
      <p:sp>
        <p:nvSpPr>
          <p:cNvPr id="10" name="TextBox 9">
            <a:extLst>
              <a:ext uri="{FF2B5EF4-FFF2-40B4-BE49-F238E27FC236}">
                <a16:creationId xmlns:a16="http://schemas.microsoft.com/office/drawing/2014/main" id="{EFF61C53-2C8D-09E2-BD56-41D9014AC17C}"/>
              </a:ext>
            </a:extLst>
          </p:cNvPr>
          <p:cNvSpPr txBox="1"/>
          <p:nvPr/>
        </p:nvSpPr>
        <p:spPr>
          <a:xfrm>
            <a:off x="465088" y="4564205"/>
            <a:ext cx="4625788" cy="400110"/>
          </a:xfrm>
          <a:prstGeom prst="rect">
            <a:avLst/>
          </a:prstGeom>
          <a:noFill/>
        </p:spPr>
        <p:txBody>
          <a:bodyPr wrap="square">
            <a:spAutoFit/>
          </a:bodyPr>
          <a:lstStyle/>
          <a:p>
            <a:r>
              <a:rPr lang="en-MY" dirty="0">
                <a:solidFill>
                  <a:srgbClr val="00B0F0"/>
                </a:solidFill>
              </a:rPr>
              <a:t>Step 2 – Perform binary addition</a:t>
            </a:r>
          </a:p>
        </p:txBody>
      </p:sp>
      <p:sp>
        <p:nvSpPr>
          <p:cNvPr id="12" name="TextBox 11">
            <a:extLst>
              <a:ext uri="{FF2B5EF4-FFF2-40B4-BE49-F238E27FC236}">
                <a16:creationId xmlns:a16="http://schemas.microsoft.com/office/drawing/2014/main" id="{5D97C744-5DAE-F0E1-C0B1-9D20763D36A5}"/>
              </a:ext>
            </a:extLst>
          </p:cNvPr>
          <p:cNvSpPr txBox="1"/>
          <p:nvPr/>
        </p:nvSpPr>
        <p:spPr>
          <a:xfrm>
            <a:off x="507635" y="1556792"/>
            <a:ext cx="4625788" cy="400110"/>
          </a:xfrm>
          <a:prstGeom prst="rect">
            <a:avLst/>
          </a:prstGeom>
          <a:noFill/>
        </p:spPr>
        <p:txBody>
          <a:bodyPr wrap="square">
            <a:spAutoFit/>
          </a:bodyPr>
          <a:lstStyle/>
          <a:p>
            <a:r>
              <a:rPr lang="en-MY" dirty="0">
                <a:solidFill>
                  <a:srgbClr val="00B0F0"/>
                </a:solidFill>
              </a:rPr>
              <a:t>Step 1 – Convert -5 and -2 to binary </a:t>
            </a:r>
          </a:p>
        </p:txBody>
      </p:sp>
      <p:sp>
        <p:nvSpPr>
          <p:cNvPr id="17" name="TextBox 16">
            <a:extLst>
              <a:ext uri="{FF2B5EF4-FFF2-40B4-BE49-F238E27FC236}">
                <a16:creationId xmlns:a16="http://schemas.microsoft.com/office/drawing/2014/main" id="{FEF504A7-5AB2-60E1-5E78-97D27C81DF06}"/>
              </a:ext>
            </a:extLst>
          </p:cNvPr>
          <p:cNvSpPr txBox="1"/>
          <p:nvPr/>
        </p:nvSpPr>
        <p:spPr>
          <a:xfrm>
            <a:off x="323204" y="470999"/>
            <a:ext cx="7092788" cy="584775"/>
          </a:xfrm>
          <a:prstGeom prst="rect">
            <a:avLst/>
          </a:prstGeom>
          <a:solidFill>
            <a:srgbClr val="FFFF00"/>
          </a:solidFill>
        </p:spPr>
        <p:txBody>
          <a:bodyPr wrap="square">
            <a:spAutoFit/>
          </a:bodyPr>
          <a:lstStyle/>
          <a:p>
            <a:r>
              <a:rPr lang="en-MY" sz="3200" dirty="0">
                <a:solidFill>
                  <a:srgbClr val="00B050"/>
                </a:solidFill>
              </a:rPr>
              <a:t>Answer: 5 – (-6) = 5 + 6 = 11 </a:t>
            </a:r>
          </a:p>
        </p:txBody>
      </p:sp>
      <p:graphicFrame>
        <p:nvGraphicFramePr>
          <p:cNvPr id="11" name="Table 38">
            <a:extLst>
              <a:ext uri="{FF2B5EF4-FFF2-40B4-BE49-F238E27FC236}">
                <a16:creationId xmlns:a16="http://schemas.microsoft.com/office/drawing/2014/main" id="{A0F06EA1-EC36-A053-8C16-3E1C7F11E581}"/>
              </a:ext>
            </a:extLst>
          </p:cNvPr>
          <p:cNvGraphicFramePr>
            <a:graphicFrameLocks noGrp="1"/>
          </p:cNvGraphicFramePr>
          <p:nvPr>
            <p:extLst>
              <p:ext uri="{D42A27DB-BD31-4B8C-83A1-F6EECF244321}">
                <p14:modId xmlns:p14="http://schemas.microsoft.com/office/powerpoint/2010/main" val="762863148"/>
              </p:ext>
            </p:extLst>
          </p:nvPr>
        </p:nvGraphicFramePr>
        <p:xfrm>
          <a:off x="507633" y="3512611"/>
          <a:ext cx="7376733" cy="833558"/>
        </p:xfrm>
        <a:graphic>
          <a:graphicData uri="http://schemas.openxmlformats.org/drawingml/2006/table">
            <a:tbl>
              <a:tblPr firstRow="1" bandRow="1">
                <a:tableStyleId>{5940675A-B579-460E-94D1-54222C63F5DA}</a:tableStyleId>
              </a:tblPr>
              <a:tblGrid>
                <a:gridCol w="819637">
                  <a:extLst>
                    <a:ext uri="{9D8B030D-6E8A-4147-A177-3AD203B41FA5}">
                      <a16:colId xmlns:a16="http://schemas.microsoft.com/office/drawing/2014/main" val="1139515035"/>
                    </a:ext>
                  </a:extLst>
                </a:gridCol>
                <a:gridCol w="819637">
                  <a:extLst>
                    <a:ext uri="{9D8B030D-6E8A-4147-A177-3AD203B41FA5}">
                      <a16:colId xmlns:a16="http://schemas.microsoft.com/office/drawing/2014/main" val="3646923306"/>
                    </a:ext>
                  </a:extLst>
                </a:gridCol>
                <a:gridCol w="819637">
                  <a:extLst>
                    <a:ext uri="{9D8B030D-6E8A-4147-A177-3AD203B41FA5}">
                      <a16:colId xmlns:a16="http://schemas.microsoft.com/office/drawing/2014/main" val="4127615042"/>
                    </a:ext>
                  </a:extLst>
                </a:gridCol>
                <a:gridCol w="819637">
                  <a:extLst>
                    <a:ext uri="{9D8B030D-6E8A-4147-A177-3AD203B41FA5}">
                      <a16:colId xmlns:a16="http://schemas.microsoft.com/office/drawing/2014/main" val="2313240651"/>
                    </a:ext>
                  </a:extLst>
                </a:gridCol>
                <a:gridCol w="819637">
                  <a:extLst>
                    <a:ext uri="{9D8B030D-6E8A-4147-A177-3AD203B41FA5}">
                      <a16:colId xmlns:a16="http://schemas.microsoft.com/office/drawing/2014/main" val="1781995488"/>
                    </a:ext>
                  </a:extLst>
                </a:gridCol>
                <a:gridCol w="819637">
                  <a:extLst>
                    <a:ext uri="{9D8B030D-6E8A-4147-A177-3AD203B41FA5}">
                      <a16:colId xmlns:a16="http://schemas.microsoft.com/office/drawing/2014/main" val="3730037320"/>
                    </a:ext>
                  </a:extLst>
                </a:gridCol>
                <a:gridCol w="819637">
                  <a:extLst>
                    <a:ext uri="{9D8B030D-6E8A-4147-A177-3AD203B41FA5}">
                      <a16:colId xmlns:a16="http://schemas.microsoft.com/office/drawing/2014/main" val="2900940008"/>
                    </a:ext>
                  </a:extLst>
                </a:gridCol>
                <a:gridCol w="819637">
                  <a:extLst>
                    <a:ext uri="{9D8B030D-6E8A-4147-A177-3AD203B41FA5}">
                      <a16:colId xmlns:a16="http://schemas.microsoft.com/office/drawing/2014/main" val="890559765"/>
                    </a:ext>
                  </a:extLst>
                </a:gridCol>
                <a:gridCol w="819637">
                  <a:extLst>
                    <a:ext uri="{9D8B030D-6E8A-4147-A177-3AD203B41FA5}">
                      <a16:colId xmlns:a16="http://schemas.microsoft.com/office/drawing/2014/main" val="997792698"/>
                    </a:ext>
                  </a:extLst>
                </a:gridCol>
              </a:tblGrid>
              <a:tr h="416779">
                <a:tc>
                  <a:txBody>
                    <a:bodyPr/>
                    <a:lstStyle/>
                    <a:p>
                      <a:pPr algn="ctr"/>
                      <a:r>
                        <a:rPr lang="en-MY" sz="1800" dirty="0">
                          <a:solidFill>
                            <a:schemeClr val="tx1"/>
                          </a:solidFill>
                        </a:rPr>
                        <a:t>S</a:t>
                      </a:r>
                    </a:p>
                  </a:txBody>
                  <a:tcPr anchor="ctr">
                    <a:noFill/>
                  </a:tcPr>
                </a:tc>
                <a:tc>
                  <a:txBody>
                    <a:bodyPr/>
                    <a:lstStyle/>
                    <a:p>
                      <a:pPr algn="ctr"/>
                      <a:r>
                        <a:rPr lang="en-MY" sz="1800" dirty="0">
                          <a:solidFill>
                            <a:schemeClr val="tx1"/>
                          </a:solidFill>
                        </a:rPr>
                        <a:t>128</a:t>
                      </a:r>
                    </a:p>
                  </a:txBody>
                  <a:tcPr anchor="ctr">
                    <a:noFill/>
                  </a:tcPr>
                </a:tc>
                <a:tc>
                  <a:txBody>
                    <a:bodyPr/>
                    <a:lstStyle/>
                    <a:p>
                      <a:pPr algn="ctr"/>
                      <a:r>
                        <a:rPr lang="en-MY" sz="1800" dirty="0">
                          <a:solidFill>
                            <a:schemeClr val="tx1"/>
                          </a:solidFill>
                        </a:rPr>
                        <a:t>64</a:t>
                      </a:r>
                    </a:p>
                  </a:txBody>
                  <a:tcPr anchor="ctr">
                    <a:noFill/>
                  </a:tcPr>
                </a:tc>
                <a:tc>
                  <a:txBody>
                    <a:bodyPr/>
                    <a:lstStyle/>
                    <a:p>
                      <a:pPr algn="ctr"/>
                      <a:r>
                        <a:rPr lang="en-MY" sz="1800" dirty="0">
                          <a:solidFill>
                            <a:schemeClr val="tx1"/>
                          </a:solidFill>
                        </a:rPr>
                        <a:t>32</a:t>
                      </a:r>
                    </a:p>
                  </a:txBody>
                  <a:tcPr anchor="ctr">
                    <a:noFill/>
                  </a:tcPr>
                </a:tc>
                <a:tc>
                  <a:txBody>
                    <a:bodyPr/>
                    <a:lstStyle/>
                    <a:p>
                      <a:pPr algn="ctr"/>
                      <a:r>
                        <a:rPr lang="en-MY" sz="1800" dirty="0">
                          <a:solidFill>
                            <a:schemeClr val="tx1"/>
                          </a:solidFill>
                        </a:rPr>
                        <a:t>16</a:t>
                      </a:r>
                    </a:p>
                  </a:txBody>
                  <a:tcPr anchor="ctr">
                    <a:noFill/>
                  </a:tcPr>
                </a:tc>
                <a:tc>
                  <a:txBody>
                    <a:bodyPr/>
                    <a:lstStyle/>
                    <a:p>
                      <a:pPr algn="ctr"/>
                      <a:r>
                        <a:rPr lang="en-MY" sz="1800" dirty="0">
                          <a:solidFill>
                            <a:schemeClr val="tx1"/>
                          </a:solidFill>
                        </a:rPr>
                        <a:t>8</a:t>
                      </a:r>
                    </a:p>
                  </a:txBody>
                  <a:tcPr anchor="ctr">
                    <a:noFill/>
                  </a:tcPr>
                </a:tc>
                <a:tc>
                  <a:txBody>
                    <a:bodyPr/>
                    <a:lstStyle/>
                    <a:p>
                      <a:pPr algn="ctr"/>
                      <a:r>
                        <a:rPr lang="en-MY" sz="1800" dirty="0">
                          <a:solidFill>
                            <a:schemeClr val="tx1"/>
                          </a:solidFill>
                        </a:rPr>
                        <a:t>4</a:t>
                      </a:r>
                    </a:p>
                  </a:txBody>
                  <a:tcPr anchor="ctr">
                    <a:noFill/>
                  </a:tcPr>
                </a:tc>
                <a:tc>
                  <a:txBody>
                    <a:bodyPr/>
                    <a:lstStyle/>
                    <a:p>
                      <a:pPr algn="ctr"/>
                      <a:r>
                        <a:rPr lang="en-MY" sz="1800" dirty="0">
                          <a:solidFill>
                            <a:schemeClr val="tx1"/>
                          </a:solidFill>
                        </a:rPr>
                        <a:t>2</a:t>
                      </a:r>
                    </a:p>
                  </a:txBody>
                  <a:tcPr anchor="ctr">
                    <a:noFill/>
                  </a:tcPr>
                </a:tc>
                <a:tc>
                  <a:txBody>
                    <a:bodyPr/>
                    <a:lstStyle/>
                    <a:p>
                      <a:pPr algn="ctr"/>
                      <a:r>
                        <a:rPr lang="en-MY" sz="1800" dirty="0">
                          <a:solidFill>
                            <a:schemeClr val="tx1"/>
                          </a:solidFill>
                        </a:rPr>
                        <a:t>1</a:t>
                      </a:r>
                    </a:p>
                  </a:txBody>
                  <a:tcPr anchor="ctr">
                    <a:noFill/>
                  </a:tcPr>
                </a:tc>
                <a:extLst>
                  <a:ext uri="{0D108BD9-81ED-4DB2-BD59-A6C34878D82A}">
                    <a16:rowId xmlns:a16="http://schemas.microsoft.com/office/drawing/2014/main" val="2747683975"/>
                  </a:ext>
                </a:extLst>
              </a:tr>
              <a:tr h="416779">
                <a:tc>
                  <a:txBody>
                    <a:bodyPr/>
                    <a:lstStyle/>
                    <a:p>
                      <a:pPr algn="ctr"/>
                      <a:r>
                        <a:rPr lang="en-MY" sz="1800" b="1" dirty="0">
                          <a:solidFill>
                            <a:schemeClr val="tx1"/>
                          </a:solidFill>
                        </a:rPr>
                        <a:t>+6</a:t>
                      </a: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endParaRPr lang="en-MY" sz="1800" dirty="0">
                        <a:solidFill>
                          <a:schemeClr val="tx1"/>
                        </a:solidFill>
                      </a:endParaRPr>
                    </a:p>
                  </a:txBody>
                  <a:tcPr anchor="ctr">
                    <a:noFill/>
                  </a:tcPr>
                </a:tc>
                <a:tc>
                  <a:txBody>
                    <a:bodyPr/>
                    <a:lstStyle/>
                    <a:p>
                      <a:pPr algn="ctr"/>
                      <a:r>
                        <a:rPr lang="en-MY" sz="1800" dirty="0">
                          <a:solidFill>
                            <a:schemeClr val="tx1"/>
                          </a:solidFill>
                        </a:rPr>
                        <a:t>0</a:t>
                      </a:r>
                    </a:p>
                  </a:txBody>
                  <a:tcPr anchor="ctr">
                    <a:noFill/>
                  </a:tcPr>
                </a:tc>
                <a:tc>
                  <a:txBody>
                    <a:bodyPr/>
                    <a:lstStyle/>
                    <a:p>
                      <a:pPr algn="ctr"/>
                      <a:r>
                        <a:rPr lang="en-MY" sz="1800" dirty="0">
                          <a:solidFill>
                            <a:schemeClr val="tx1"/>
                          </a:solidFill>
                        </a:rPr>
                        <a:t>1</a:t>
                      </a:r>
                    </a:p>
                  </a:txBody>
                  <a:tcPr anchor="ctr">
                    <a:noFill/>
                  </a:tcPr>
                </a:tc>
                <a:tc>
                  <a:txBody>
                    <a:bodyPr/>
                    <a:lstStyle/>
                    <a:p>
                      <a:pPr algn="ctr"/>
                      <a:r>
                        <a:rPr lang="en-MY" sz="1800" dirty="0">
                          <a:solidFill>
                            <a:schemeClr val="tx1"/>
                          </a:solidFill>
                        </a:rPr>
                        <a:t>1</a:t>
                      </a:r>
                    </a:p>
                  </a:txBody>
                  <a:tcPr anchor="ctr">
                    <a:noFill/>
                  </a:tcPr>
                </a:tc>
                <a:tc>
                  <a:txBody>
                    <a:bodyPr/>
                    <a:lstStyle/>
                    <a:p>
                      <a:pPr algn="ctr"/>
                      <a:r>
                        <a:rPr lang="en-MY" sz="1800" dirty="0">
                          <a:solidFill>
                            <a:schemeClr val="tx1"/>
                          </a:solidFill>
                        </a:rPr>
                        <a:t>0</a:t>
                      </a:r>
                    </a:p>
                  </a:txBody>
                  <a:tcPr anchor="ctr">
                    <a:noFill/>
                  </a:tcPr>
                </a:tc>
                <a:extLst>
                  <a:ext uri="{0D108BD9-81ED-4DB2-BD59-A6C34878D82A}">
                    <a16:rowId xmlns:a16="http://schemas.microsoft.com/office/drawing/2014/main" val="3889793438"/>
                  </a:ext>
                </a:extLst>
              </a:tr>
            </a:tbl>
          </a:graphicData>
        </a:graphic>
      </p:graphicFrame>
      <p:sp>
        <p:nvSpPr>
          <p:cNvPr id="6" name="TextBox 5">
            <a:extLst>
              <a:ext uri="{FF2B5EF4-FFF2-40B4-BE49-F238E27FC236}">
                <a16:creationId xmlns:a16="http://schemas.microsoft.com/office/drawing/2014/main" id="{710E74A4-1006-8C12-703D-964A2DBC49FE}"/>
              </a:ext>
            </a:extLst>
          </p:cNvPr>
          <p:cNvSpPr txBox="1"/>
          <p:nvPr/>
        </p:nvSpPr>
        <p:spPr>
          <a:xfrm>
            <a:off x="5702602" y="1196752"/>
            <a:ext cx="981359" cy="707886"/>
          </a:xfrm>
          <a:prstGeom prst="rect">
            <a:avLst/>
          </a:prstGeom>
          <a:noFill/>
        </p:spPr>
        <p:txBody>
          <a:bodyPr wrap="none" rtlCol="0">
            <a:spAutoFit/>
          </a:bodyPr>
          <a:lstStyle/>
          <a:p>
            <a:r>
              <a:rPr lang="en-MY" b="1" dirty="0">
                <a:solidFill>
                  <a:srgbClr val="FF0000"/>
                </a:solidFill>
              </a:rPr>
              <a:t>M =5</a:t>
            </a:r>
          </a:p>
          <a:p>
            <a:r>
              <a:rPr lang="en-MY" b="1" dirty="0">
                <a:solidFill>
                  <a:srgbClr val="FF0000"/>
                </a:solidFill>
              </a:rPr>
              <a:t>S  =-6</a:t>
            </a:r>
          </a:p>
        </p:txBody>
      </p:sp>
      <p:sp>
        <p:nvSpPr>
          <p:cNvPr id="4" name="Oval 3">
            <a:extLst>
              <a:ext uri="{FF2B5EF4-FFF2-40B4-BE49-F238E27FC236}">
                <a16:creationId xmlns:a16="http://schemas.microsoft.com/office/drawing/2014/main" id="{1A1E1169-8F8F-ECAE-41A8-5A39CE9B7220}"/>
              </a:ext>
            </a:extLst>
          </p:cNvPr>
          <p:cNvSpPr/>
          <p:nvPr/>
        </p:nvSpPr>
        <p:spPr>
          <a:xfrm>
            <a:off x="6746994" y="253492"/>
            <a:ext cx="2272133" cy="75633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Overflow example</a:t>
            </a:r>
          </a:p>
        </p:txBody>
      </p:sp>
    </p:spTree>
    <p:extLst>
      <p:ext uri="{BB962C8B-B14F-4D97-AF65-F5344CB8AC3E}">
        <p14:creationId xmlns:p14="http://schemas.microsoft.com/office/powerpoint/2010/main" val="23898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292A96-25A2-5F4D-C1DA-A26A7417C0DB}"/>
              </a:ext>
            </a:extLst>
          </p:cNvPr>
          <p:cNvSpPr>
            <a:spLocks noGrp="1"/>
          </p:cNvSpPr>
          <p:nvPr>
            <p:ph type="title"/>
          </p:nvPr>
        </p:nvSpPr>
        <p:spPr/>
        <p:txBody>
          <a:bodyPr/>
          <a:lstStyle/>
          <a:p>
            <a:r>
              <a:rPr lang="en-MY" dirty="0"/>
              <a:t>Quick </a:t>
            </a:r>
            <a:r>
              <a:rPr lang="en-MY"/>
              <a:t>Activity #5</a:t>
            </a:r>
            <a:endParaRPr lang="en-MY" dirty="0"/>
          </a:p>
        </p:txBody>
      </p:sp>
      <p:sp>
        <p:nvSpPr>
          <p:cNvPr id="2" name="Content Placeholder 1">
            <a:extLst>
              <a:ext uri="{FF2B5EF4-FFF2-40B4-BE49-F238E27FC236}">
                <a16:creationId xmlns:a16="http://schemas.microsoft.com/office/drawing/2014/main" id="{3F1ABC0A-7B30-1BFB-9CAE-EC4BD6A4C288}"/>
              </a:ext>
            </a:extLst>
          </p:cNvPr>
          <p:cNvSpPr>
            <a:spLocks noGrp="1"/>
          </p:cNvSpPr>
          <p:nvPr>
            <p:ph idx="1"/>
          </p:nvPr>
        </p:nvSpPr>
        <p:spPr/>
        <p:txBody>
          <a:bodyPr>
            <a:normAutofit/>
          </a:bodyPr>
          <a:lstStyle/>
          <a:p>
            <a:pPr marL="0" indent="0">
              <a:buNone/>
            </a:pPr>
            <a:r>
              <a:rPr lang="en-US" sz="2000" dirty="0"/>
              <a:t>Assume numbers are represented in 8-bit twos-complement representation. Show the calculation of the following: </a:t>
            </a:r>
          </a:p>
          <a:p>
            <a:pPr marL="400050" indent="-400050">
              <a:buFont typeface="+mj-lt"/>
              <a:buAutoNum type="romanLcPeriod"/>
            </a:pPr>
            <a:r>
              <a:rPr lang="en-MY" sz="2000" dirty="0"/>
              <a:t>5 – 3</a:t>
            </a:r>
          </a:p>
          <a:p>
            <a:pPr marL="400050" indent="-400050">
              <a:buFont typeface="+mj-lt"/>
              <a:buAutoNum type="romanLcPeriod"/>
            </a:pPr>
            <a:r>
              <a:rPr lang="en-MY" sz="2000" dirty="0"/>
              <a:t>7 – 4 </a:t>
            </a:r>
          </a:p>
          <a:p>
            <a:pPr marL="400050" indent="-400050">
              <a:buFont typeface="+mj-lt"/>
              <a:buAutoNum type="romanLcPeriod"/>
            </a:pPr>
            <a:r>
              <a:rPr lang="en-MY" sz="2000" dirty="0"/>
              <a:t>−6−2</a:t>
            </a:r>
          </a:p>
          <a:p>
            <a:pPr marL="400050" indent="-400050">
              <a:buFont typeface="+mj-lt"/>
              <a:buAutoNum type="romanLcPeriod"/>
            </a:pPr>
            <a:r>
              <a:rPr lang="en-MY" sz="2000" dirty="0"/>
              <a:t>12−(−5)</a:t>
            </a:r>
          </a:p>
          <a:p>
            <a:pPr marL="400050" indent="-400050">
              <a:buFont typeface="+mj-lt"/>
              <a:buAutoNum type="romanLcPeriod"/>
            </a:pPr>
            <a:r>
              <a:rPr lang="en-MY" sz="2000" dirty="0"/>
              <a:t>−7−(−8)</a:t>
            </a:r>
          </a:p>
          <a:p>
            <a:pPr marL="400050" indent="-400050">
              <a:buFont typeface="+mj-lt"/>
              <a:buAutoNum type="romanLcPeriod"/>
            </a:pPr>
            <a:r>
              <a:rPr lang="en-MY" sz="2000" dirty="0"/>
              <a:t>45−18</a:t>
            </a:r>
          </a:p>
          <a:p>
            <a:pPr marL="400050" indent="-400050">
              <a:buFont typeface="+mj-lt"/>
              <a:buAutoNum type="romanLcPeriod"/>
            </a:pPr>
            <a:r>
              <a:rPr lang="en-MY" sz="2000" dirty="0"/>
              <a:t>−50−25</a:t>
            </a:r>
          </a:p>
          <a:p>
            <a:endParaRPr lang="en-MY" sz="2000" dirty="0"/>
          </a:p>
        </p:txBody>
      </p:sp>
      <p:sp>
        <p:nvSpPr>
          <p:cNvPr id="3" name="Slide Number Placeholder 2">
            <a:extLst>
              <a:ext uri="{FF2B5EF4-FFF2-40B4-BE49-F238E27FC236}">
                <a16:creationId xmlns:a16="http://schemas.microsoft.com/office/drawing/2014/main" id="{03242DD1-125A-7848-D517-D8706527BB4A}"/>
              </a:ext>
            </a:extLst>
          </p:cNvPr>
          <p:cNvSpPr>
            <a:spLocks noGrp="1"/>
          </p:cNvSpPr>
          <p:nvPr>
            <p:ph type="sldNum" sz="quarter" idx="12"/>
          </p:nvPr>
        </p:nvSpPr>
        <p:spPr/>
        <p:txBody>
          <a:bodyPr/>
          <a:lstStyle/>
          <a:p>
            <a:pPr>
              <a:defRPr/>
            </a:pPr>
            <a:fld id="{B15F286D-88BF-4C85-84EF-53248539BE74}" type="slidenum">
              <a:rPr lang="en-US" altLang="en-US" smtClean="0"/>
              <a:pPr>
                <a:defRPr/>
              </a:pPr>
              <a:t>70</a:t>
            </a:fld>
            <a:endParaRPr lang="en-US" altLang="en-US"/>
          </a:p>
        </p:txBody>
      </p:sp>
    </p:spTree>
    <p:extLst>
      <p:ext uri="{BB962C8B-B14F-4D97-AF65-F5344CB8AC3E}">
        <p14:creationId xmlns:p14="http://schemas.microsoft.com/office/powerpoint/2010/main" val="33801717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B70CB9F-8EC3-5D53-F178-298614D13C09}"/>
              </a:ext>
            </a:extLst>
          </p:cNvPr>
          <p:cNvSpPr>
            <a:spLocks noGrp="1" noChangeArrowheads="1"/>
          </p:cNvSpPr>
          <p:nvPr>
            <p:ph type="title" idx="4294967295"/>
          </p:nvPr>
        </p:nvSpPr>
        <p:spPr>
          <a:xfrm>
            <a:off x="179512" y="295943"/>
            <a:ext cx="8204200" cy="896144"/>
          </a:xfrm>
        </p:spPr>
        <p:txBody>
          <a:bodyPr>
            <a:normAutofit fontScale="90000"/>
          </a:bodyPr>
          <a:lstStyle/>
          <a:p>
            <a:r>
              <a:rPr lang="en-US" altLang="en-US" dirty="0"/>
              <a:t>Hardware for Addition and Subtraction</a:t>
            </a:r>
          </a:p>
        </p:txBody>
      </p:sp>
      <p:pic>
        <p:nvPicPr>
          <p:cNvPr id="3" name="Picture 2">
            <a:extLst>
              <a:ext uri="{FF2B5EF4-FFF2-40B4-BE49-F238E27FC236}">
                <a16:creationId xmlns:a16="http://schemas.microsoft.com/office/drawing/2014/main" id="{7A155A6D-AE45-1F44-00CC-F00B84CD68FA}"/>
              </a:ext>
            </a:extLst>
          </p:cNvPr>
          <p:cNvPicPr>
            <a:picLocks noChangeAspect="1"/>
          </p:cNvPicPr>
          <p:nvPr/>
        </p:nvPicPr>
        <p:blipFill>
          <a:blip r:embed="rId3"/>
          <a:stretch>
            <a:fillRect/>
          </a:stretch>
        </p:blipFill>
        <p:spPr>
          <a:xfrm>
            <a:off x="2483768" y="1052736"/>
            <a:ext cx="6210300" cy="5486400"/>
          </a:xfrm>
          <a:prstGeom prst="rect">
            <a:avLst/>
          </a:prstGeom>
        </p:spPr>
      </p:pic>
      <p:sp>
        <p:nvSpPr>
          <p:cNvPr id="2" name="Slide Number Placeholder 1">
            <a:extLst>
              <a:ext uri="{FF2B5EF4-FFF2-40B4-BE49-F238E27FC236}">
                <a16:creationId xmlns:a16="http://schemas.microsoft.com/office/drawing/2014/main" id="{002CA47F-4E21-77CC-1523-784D92994243}"/>
              </a:ext>
            </a:extLst>
          </p:cNvPr>
          <p:cNvSpPr>
            <a:spLocks noGrp="1"/>
          </p:cNvSpPr>
          <p:nvPr>
            <p:ph type="sldNum" sz="quarter" idx="12"/>
          </p:nvPr>
        </p:nvSpPr>
        <p:spPr/>
        <p:txBody>
          <a:bodyPr/>
          <a:lstStyle/>
          <a:p>
            <a:pPr>
              <a:defRPr/>
            </a:pPr>
            <a:fld id="{F9839A35-988A-4C75-AB86-CE687B152A44}" type="slidenum">
              <a:rPr lang="en-US" altLang="en-US" smtClean="0"/>
              <a:pPr>
                <a:defRPr/>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48B1D5-8B68-31BF-2823-818A1F99C10B}"/>
              </a:ext>
            </a:extLst>
          </p:cNvPr>
          <p:cNvSpPr txBox="1"/>
          <p:nvPr/>
        </p:nvSpPr>
        <p:spPr>
          <a:xfrm>
            <a:off x="395536" y="260648"/>
            <a:ext cx="4572000" cy="5909310"/>
          </a:xfrm>
          <a:prstGeom prst="rect">
            <a:avLst/>
          </a:prstGeom>
          <a:noFill/>
        </p:spPr>
        <p:txBody>
          <a:bodyPr wrap="square">
            <a:spAutoFit/>
          </a:bodyPr>
          <a:lstStyle/>
          <a:p>
            <a:r>
              <a:rPr lang="en-MY" sz="1400" dirty="0"/>
              <a:t> +---------------------------------+</a:t>
            </a:r>
          </a:p>
          <a:p>
            <a:r>
              <a:rPr lang="en-MY" sz="1400" dirty="0"/>
              <a:t>    |        Arithmetic Unit         |</a:t>
            </a:r>
          </a:p>
          <a:p>
            <a:r>
              <a:rPr lang="en-MY" sz="1400" dirty="0"/>
              <a:t>    +----------------+----------------+</a:t>
            </a:r>
          </a:p>
          <a:p>
            <a:r>
              <a:rPr lang="en-MY" sz="1400" dirty="0"/>
              <a:t>                     |</a:t>
            </a:r>
          </a:p>
          <a:p>
            <a:r>
              <a:rPr lang="en-MY" sz="1400" dirty="0"/>
              <a:t>        +------------+------------+</a:t>
            </a:r>
          </a:p>
          <a:p>
            <a:r>
              <a:rPr lang="en-MY" sz="1400" dirty="0"/>
              <a:t>        |                        |</a:t>
            </a:r>
          </a:p>
          <a:p>
            <a:r>
              <a:rPr lang="en-MY" sz="1400" dirty="0"/>
              <a:t>    +---+---+                +---+---+</a:t>
            </a:r>
          </a:p>
          <a:p>
            <a:r>
              <a:rPr lang="en-MY" sz="1400" dirty="0"/>
              <a:t>    |       |                |       |</a:t>
            </a:r>
          </a:p>
          <a:p>
            <a:r>
              <a:rPr lang="en-MY" sz="1400" dirty="0"/>
              <a:t>    | Adder |                |Subtractor|</a:t>
            </a:r>
          </a:p>
          <a:p>
            <a:r>
              <a:rPr lang="en-MY" sz="1400" dirty="0"/>
              <a:t>    |       |                |       |</a:t>
            </a:r>
          </a:p>
          <a:p>
            <a:r>
              <a:rPr lang="en-MY" sz="1400" dirty="0"/>
              <a:t>    +---+---+                +---+---+</a:t>
            </a:r>
          </a:p>
          <a:p>
            <a:r>
              <a:rPr lang="en-MY" sz="1400" dirty="0"/>
              <a:t>        |                        |</a:t>
            </a:r>
          </a:p>
          <a:p>
            <a:r>
              <a:rPr lang="en-MY" sz="1400" dirty="0"/>
              <a:t>    +---+---+                +---+---+</a:t>
            </a:r>
          </a:p>
          <a:p>
            <a:r>
              <a:rPr lang="en-MY" sz="1400" dirty="0"/>
              <a:t>    |       |                |       |</a:t>
            </a:r>
          </a:p>
          <a:p>
            <a:r>
              <a:rPr lang="en-MY" sz="1400" dirty="0"/>
              <a:t>    | Input |                | Input |</a:t>
            </a:r>
          </a:p>
          <a:p>
            <a:r>
              <a:rPr lang="en-MY" sz="1400" dirty="0"/>
              <a:t>    | Ports |                | Ports |</a:t>
            </a:r>
          </a:p>
          <a:p>
            <a:r>
              <a:rPr lang="en-MY" sz="1400" dirty="0"/>
              <a:t>    |       |                |       |</a:t>
            </a:r>
          </a:p>
          <a:p>
            <a:r>
              <a:rPr lang="en-MY" sz="1400" dirty="0"/>
              <a:t>    +---+---+                +---+---+</a:t>
            </a:r>
          </a:p>
          <a:p>
            <a:r>
              <a:rPr lang="en-MY" sz="1400" dirty="0"/>
              <a:t>        |                        |</a:t>
            </a:r>
          </a:p>
          <a:p>
            <a:r>
              <a:rPr lang="en-MY" sz="1400" dirty="0"/>
              <a:t>    +---+------------------------+---+</a:t>
            </a:r>
          </a:p>
          <a:p>
            <a:r>
              <a:rPr lang="en-MY" sz="1400" dirty="0"/>
              <a:t>    |          Multiplexer            |</a:t>
            </a:r>
          </a:p>
          <a:p>
            <a:r>
              <a:rPr lang="en-MY" sz="1400" dirty="0"/>
              <a:t>    +----------------+---------------+</a:t>
            </a:r>
          </a:p>
          <a:p>
            <a:r>
              <a:rPr lang="en-MY" sz="1400" dirty="0"/>
              <a:t>                     |</a:t>
            </a:r>
          </a:p>
          <a:p>
            <a:r>
              <a:rPr lang="en-MY" sz="1400" dirty="0"/>
              <a:t>                 +---+---+</a:t>
            </a:r>
          </a:p>
          <a:p>
            <a:r>
              <a:rPr lang="en-MY" sz="1400" dirty="0"/>
              <a:t>                 | Output  |</a:t>
            </a:r>
          </a:p>
          <a:p>
            <a:r>
              <a:rPr lang="en-MY" sz="1400" dirty="0"/>
              <a:t>                 |   Port  |</a:t>
            </a:r>
          </a:p>
          <a:p>
            <a:r>
              <a:rPr lang="en-MY" sz="1400" dirty="0"/>
              <a:t>                 +---+---+</a:t>
            </a:r>
          </a:p>
        </p:txBody>
      </p:sp>
      <p:sp>
        <p:nvSpPr>
          <p:cNvPr id="5" name="TextBox 4">
            <a:extLst>
              <a:ext uri="{FF2B5EF4-FFF2-40B4-BE49-F238E27FC236}">
                <a16:creationId xmlns:a16="http://schemas.microsoft.com/office/drawing/2014/main" id="{E9808159-666B-78BD-8400-02F1BA066BEE}"/>
              </a:ext>
            </a:extLst>
          </p:cNvPr>
          <p:cNvSpPr txBox="1"/>
          <p:nvPr/>
        </p:nvSpPr>
        <p:spPr>
          <a:xfrm>
            <a:off x="3707904" y="1630253"/>
            <a:ext cx="4572000" cy="3785652"/>
          </a:xfrm>
          <a:prstGeom prst="rect">
            <a:avLst/>
          </a:prstGeom>
          <a:noFill/>
        </p:spPr>
        <p:txBody>
          <a:bodyPr wrap="square">
            <a:spAutoFit/>
          </a:bodyPr>
          <a:lstStyle/>
          <a:p>
            <a:pPr marL="457200" indent="-457200">
              <a:buFont typeface="+mj-lt"/>
              <a:buAutoNum type="arabicPeriod"/>
            </a:pPr>
            <a:r>
              <a:rPr lang="en-US" b="0" i="0" dirty="0">
                <a:solidFill>
                  <a:srgbClr val="374151"/>
                </a:solidFill>
                <a:effectLst/>
                <a:latin typeface="+mn-lt"/>
              </a:rPr>
              <a:t>The control signals for the multiplexer determine whether the arithmetic unit performs addition or subtraction. </a:t>
            </a:r>
          </a:p>
          <a:p>
            <a:pPr marL="457200" indent="-457200">
              <a:buFont typeface="+mj-lt"/>
              <a:buAutoNum type="arabicPeriod"/>
            </a:pPr>
            <a:r>
              <a:rPr lang="en-US" b="0" i="0" dirty="0">
                <a:solidFill>
                  <a:srgbClr val="374151"/>
                </a:solidFill>
                <a:effectLst/>
                <a:latin typeface="+mn-lt"/>
              </a:rPr>
              <a:t>The output of the selected operation is then passed to the output port. </a:t>
            </a:r>
          </a:p>
          <a:p>
            <a:pPr marL="457200" indent="-457200">
              <a:buFont typeface="+mj-lt"/>
              <a:buAutoNum type="arabicPeriod"/>
            </a:pPr>
            <a:r>
              <a:rPr lang="en-US" b="0" i="0" dirty="0">
                <a:solidFill>
                  <a:srgbClr val="374151"/>
                </a:solidFill>
                <a:effectLst/>
                <a:latin typeface="+mn-lt"/>
              </a:rPr>
              <a:t>This basic hardware setup can be expanded and optimized for more complex arithmetic operations and can be part of a larger CPU or digital processing system.</a:t>
            </a:r>
            <a:endParaRPr lang="en-MY" dirty="0">
              <a:latin typeface="+mn-lt"/>
            </a:endParaRPr>
          </a:p>
        </p:txBody>
      </p:sp>
      <p:sp>
        <p:nvSpPr>
          <p:cNvPr id="2" name="Slide Number Placeholder 1">
            <a:extLst>
              <a:ext uri="{FF2B5EF4-FFF2-40B4-BE49-F238E27FC236}">
                <a16:creationId xmlns:a16="http://schemas.microsoft.com/office/drawing/2014/main" id="{8FFBC827-4721-81BD-47A3-2689CB95EBF1}"/>
              </a:ext>
            </a:extLst>
          </p:cNvPr>
          <p:cNvSpPr>
            <a:spLocks noGrp="1"/>
          </p:cNvSpPr>
          <p:nvPr>
            <p:ph type="sldNum" sz="quarter" idx="12"/>
          </p:nvPr>
        </p:nvSpPr>
        <p:spPr/>
        <p:txBody>
          <a:bodyPr/>
          <a:lstStyle/>
          <a:p>
            <a:pPr>
              <a:defRPr/>
            </a:pPr>
            <a:fld id="{F9839A35-988A-4C75-AB86-CE687B152A44}" type="slidenum">
              <a:rPr lang="en-US" altLang="en-US" smtClean="0"/>
              <a:pPr>
                <a:defRPr/>
              </a:pPr>
              <a:t>72</a:t>
            </a:fld>
            <a:endParaRPr lang="en-US" altLang="en-US"/>
          </a:p>
        </p:txBody>
      </p:sp>
    </p:spTree>
    <p:extLst>
      <p:ext uri="{BB962C8B-B14F-4D97-AF65-F5344CB8AC3E}">
        <p14:creationId xmlns:p14="http://schemas.microsoft.com/office/powerpoint/2010/main" val="21905775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7"/>
</p:tagLst>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Designs\stallings.pot</Template>
  <TotalTime>15018</TotalTime>
  <Words>5631</Words>
  <Application>Microsoft Office PowerPoint</Application>
  <PresentationFormat>On-screen Show (4:3)</PresentationFormat>
  <Paragraphs>1465</Paragraphs>
  <Slides>72</Slides>
  <Notes>38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72</vt:i4>
      </vt:variant>
    </vt:vector>
  </HeadingPairs>
  <TitlesOfParts>
    <vt:vector size="86" baseType="lpstr">
      <vt:lpstr>BemboMTPro-Bold</vt:lpstr>
      <vt:lpstr>PearsonMATHPRO02</vt:lpstr>
      <vt:lpstr>PearsonMATHPRO08</vt:lpstr>
      <vt:lpstr>Söhne</vt:lpstr>
      <vt:lpstr>TimesTenLTStd-Bold</vt:lpstr>
      <vt:lpstr>TimesTenLTStd-Italic</vt:lpstr>
      <vt:lpstr>TimesTenLTStd-Roman</vt:lpstr>
      <vt:lpstr>Untitled Sans</vt:lpstr>
      <vt:lpstr>Arial</vt:lpstr>
      <vt:lpstr>Century Schoolbook</vt:lpstr>
      <vt:lpstr>Tahoma</vt:lpstr>
      <vt:lpstr>Times New Roman</vt:lpstr>
      <vt:lpstr>Wingdings 2</vt:lpstr>
      <vt:lpstr>View</vt:lpstr>
      <vt:lpstr>Computer Organisation</vt:lpstr>
      <vt:lpstr>Outline</vt:lpstr>
      <vt:lpstr>Learning objectives </vt:lpstr>
      <vt:lpstr>Arithmetic &amp; Logic Unit</vt:lpstr>
      <vt:lpstr>Arithmetic &amp; Logic Unit</vt:lpstr>
      <vt:lpstr>ALU Inputs and Outputs</vt:lpstr>
      <vt:lpstr>Outline</vt:lpstr>
      <vt:lpstr>Integer Representation</vt:lpstr>
      <vt:lpstr>PowerPoint Presentation</vt:lpstr>
      <vt:lpstr>Integer Representation</vt:lpstr>
      <vt:lpstr>PowerPoint Presentation</vt:lpstr>
      <vt:lpstr>Unsigned magnitude </vt:lpstr>
      <vt:lpstr>Unsigned magnitude </vt:lpstr>
      <vt:lpstr>Advantages and disadvantages of unsigned magnitude </vt:lpstr>
      <vt:lpstr>Is a representation of negative numbers possible?</vt:lpstr>
      <vt:lpstr>Signed-magnitude </vt:lpstr>
      <vt:lpstr>Signed-Magnitude</vt:lpstr>
      <vt:lpstr>Signed-Magnitude</vt:lpstr>
      <vt:lpstr>Signed-Magnitude</vt:lpstr>
      <vt:lpstr>Signed-magnitude </vt:lpstr>
      <vt:lpstr>Signed-Magnitude Range</vt:lpstr>
      <vt:lpstr>Signed-Magnitude Range</vt:lpstr>
      <vt:lpstr>Drawbacks of sign-magnitude</vt:lpstr>
      <vt:lpstr>Quick Activity #1</vt:lpstr>
      <vt:lpstr>PowerPoint Presentation</vt:lpstr>
      <vt:lpstr>PowerPoint Presentation</vt:lpstr>
      <vt:lpstr>1s complement</vt:lpstr>
      <vt:lpstr>1’s complement</vt:lpstr>
      <vt:lpstr>2’s complement</vt:lpstr>
      <vt:lpstr>2’s complement</vt:lpstr>
      <vt:lpstr>2’s complement (Alt)</vt:lpstr>
      <vt:lpstr>2’s complement</vt:lpstr>
      <vt:lpstr>2’s complement (Alt)</vt:lpstr>
      <vt:lpstr>2’s complement</vt:lpstr>
      <vt:lpstr>Quick Activity #2 </vt:lpstr>
      <vt:lpstr>Characteristics of 2’s Complement Representation</vt:lpstr>
      <vt:lpstr>Advantages of 2’s complement</vt:lpstr>
      <vt:lpstr>Advantages of 2’s complement</vt:lpstr>
      <vt:lpstr>Converting Between 2’s Complement Binary To Decimal</vt:lpstr>
      <vt:lpstr>Converting Between 2’s Complement Binary To Decimal</vt:lpstr>
      <vt:lpstr>Converting Between 2’s Complement Decimal To Binary</vt:lpstr>
      <vt:lpstr>Converting Between 2’s Complement Decimal To Binary</vt:lpstr>
      <vt:lpstr>In-class activity </vt:lpstr>
      <vt:lpstr>Negation </vt:lpstr>
      <vt:lpstr>PowerPoint Presentation</vt:lpstr>
      <vt:lpstr>Quick Activity #3</vt:lpstr>
      <vt:lpstr>2’s complement operations</vt:lpstr>
      <vt:lpstr>Addition in 2’s in complement</vt:lpstr>
      <vt:lpstr>Addition and Subtraction</vt:lpstr>
      <vt:lpstr>Overflow rule</vt:lpstr>
      <vt:lpstr>Rules of Binary Arithmetic</vt:lpstr>
      <vt:lpstr>Addition (Example 1)  </vt:lpstr>
      <vt:lpstr>Addition (Example 2)  </vt:lpstr>
      <vt:lpstr>Addition (Example 3)  </vt:lpstr>
      <vt:lpstr>Addition (Example 4)  </vt:lpstr>
      <vt:lpstr>Addition (Example 5)  </vt:lpstr>
      <vt:lpstr>Addition (Example 4)  </vt:lpstr>
      <vt:lpstr>How do we handle overflow? </vt:lpstr>
      <vt:lpstr>Quick Activity #4 </vt:lpstr>
      <vt:lpstr>PowerPoint Presentation</vt:lpstr>
      <vt:lpstr>2’s complement operations</vt:lpstr>
      <vt:lpstr>Subtraction in 2’s complement</vt:lpstr>
      <vt:lpstr>Subtraction (Example 1)  </vt:lpstr>
      <vt:lpstr>Subtraction (Example 2)  </vt:lpstr>
      <vt:lpstr>Subtraction (Example 3)  </vt:lpstr>
      <vt:lpstr>Subtraction (Example 4)  </vt:lpstr>
      <vt:lpstr>Subtraction (Example 5)  </vt:lpstr>
      <vt:lpstr>Subtraction (Example 6)  </vt:lpstr>
      <vt:lpstr>Subtraction (Example 3)  </vt:lpstr>
      <vt:lpstr>Quick Activity #5</vt:lpstr>
      <vt:lpstr>Hardware for Addition and Subtraction</vt:lpstr>
      <vt:lpstr>PowerPoint Presentation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creator>Adrian J Pullin</dc:creator>
  <cp:lastModifiedBy>Nursakirah Ab Rahman Muton</cp:lastModifiedBy>
  <cp:revision>307</cp:revision>
  <dcterms:created xsi:type="dcterms:W3CDTF">1998-11-24T13:30:26Z</dcterms:created>
  <dcterms:modified xsi:type="dcterms:W3CDTF">2025-10-29T09:38:47Z</dcterms:modified>
</cp:coreProperties>
</file>