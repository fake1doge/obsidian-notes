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Override2.xml" ContentType="application/vnd.openxmlformats-officedocument.themeOverrid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941" r:id="rId1"/>
    <p:sldMasterId id="2147483965" r:id="rId2"/>
    <p:sldMasterId id="2147483977" r:id="rId3"/>
  </p:sldMasterIdLst>
  <p:notesMasterIdLst>
    <p:notesMasterId r:id="rId60"/>
  </p:notesMasterIdLst>
  <p:handoutMasterIdLst>
    <p:handoutMasterId r:id="rId61"/>
  </p:handoutMasterIdLst>
  <p:sldIdLst>
    <p:sldId id="256" r:id="rId4"/>
    <p:sldId id="528" r:id="rId5"/>
    <p:sldId id="500" r:id="rId6"/>
    <p:sldId id="302" r:id="rId7"/>
    <p:sldId id="479" r:id="rId8"/>
    <p:sldId id="530" r:id="rId9"/>
    <p:sldId id="554" r:id="rId10"/>
    <p:sldId id="555" r:id="rId11"/>
    <p:sldId id="553" r:id="rId12"/>
    <p:sldId id="531" r:id="rId13"/>
    <p:sldId id="549" r:id="rId14"/>
    <p:sldId id="509" r:id="rId15"/>
    <p:sldId id="481" r:id="rId16"/>
    <p:sldId id="482" r:id="rId17"/>
    <p:sldId id="532" r:id="rId18"/>
    <p:sldId id="552" r:id="rId19"/>
    <p:sldId id="508" r:id="rId20"/>
    <p:sldId id="510" r:id="rId21"/>
    <p:sldId id="483" r:id="rId22"/>
    <p:sldId id="550" r:id="rId23"/>
    <p:sldId id="484" r:id="rId24"/>
    <p:sldId id="501" r:id="rId25"/>
    <p:sldId id="511" r:id="rId26"/>
    <p:sldId id="533" r:id="rId27"/>
    <p:sldId id="485" r:id="rId28"/>
    <p:sldId id="547" r:id="rId29"/>
    <p:sldId id="486" r:id="rId30"/>
    <p:sldId id="534" r:id="rId31"/>
    <p:sldId id="487" r:id="rId32"/>
    <p:sldId id="488" r:id="rId33"/>
    <p:sldId id="499" r:id="rId34"/>
    <p:sldId id="489" r:id="rId35"/>
    <p:sldId id="516" r:id="rId36"/>
    <p:sldId id="490" r:id="rId37"/>
    <p:sldId id="541" r:id="rId38"/>
    <p:sldId id="556" r:id="rId39"/>
    <p:sldId id="542" r:id="rId40"/>
    <p:sldId id="543" r:id="rId41"/>
    <p:sldId id="491" r:id="rId42"/>
    <p:sldId id="517" r:id="rId43"/>
    <p:sldId id="558" r:id="rId44"/>
    <p:sldId id="559" r:id="rId45"/>
    <p:sldId id="540" r:id="rId46"/>
    <p:sldId id="551" r:id="rId47"/>
    <p:sldId id="519" r:id="rId48"/>
    <p:sldId id="520" r:id="rId49"/>
    <p:sldId id="561" r:id="rId50"/>
    <p:sldId id="562" r:id="rId51"/>
    <p:sldId id="521" r:id="rId52"/>
    <p:sldId id="494" r:id="rId53"/>
    <p:sldId id="523" r:id="rId54"/>
    <p:sldId id="496" r:id="rId55"/>
    <p:sldId id="497" r:id="rId56"/>
    <p:sldId id="560" r:id="rId57"/>
    <p:sldId id="527" r:id="rId58"/>
    <p:sldId id="546" r:id="rId5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kumimoji="1"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kumimoji="1"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kumimoji="1"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kumimoji="1"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53205AD-D357-4E22-BCCE-F3CC0BDDA5DE}">
          <p14:sldIdLst>
            <p14:sldId id="256"/>
            <p14:sldId id="528"/>
            <p14:sldId id="500"/>
            <p14:sldId id="302"/>
          </p14:sldIdLst>
        </p14:section>
        <p14:section name="Introduction" id="{F5EC8C02-0908-489F-82E6-D748FF500199}">
          <p14:sldIdLst>
            <p14:sldId id="479"/>
            <p14:sldId id="530"/>
            <p14:sldId id="554"/>
            <p14:sldId id="555"/>
            <p14:sldId id="553"/>
            <p14:sldId id="531"/>
          </p14:sldIdLst>
        </p14:section>
        <p14:section name="The Decimal System" id="{948D7300-0453-4544-9DCC-9B5B4790C2B8}">
          <p14:sldIdLst>
            <p14:sldId id="549"/>
            <p14:sldId id="509"/>
            <p14:sldId id="481"/>
            <p14:sldId id="482"/>
            <p14:sldId id="532"/>
            <p14:sldId id="552"/>
          </p14:sldIdLst>
        </p14:section>
        <p14:section name="The BInary System" id="{DF6D47EE-DADF-457E-8119-AC9DF0C6E420}">
          <p14:sldIdLst>
            <p14:sldId id="508"/>
            <p14:sldId id="510"/>
            <p14:sldId id="483"/>
            <p14:sldId id="550"/>
            <p14:sldId id="484"/>
            <p14:sldId id="501"/>
            <p14:sldId id="511"/>
            <p14:sldId id="533"/>
          </p14:sldIdLst>
        </p14:section>
        <p14:section name="Converting Binary to Decimal" id="{C44CC04F-D3C9-4FAC-84A1-C7B653867502}">
          <p14:sldIdLst>
            <p14:sldId id="485"/>
            <p14:sldId id="547"/>
          </p14:sldIdLst>
        </p14:section>
        <p14:section name="Converting Decimal to binary" id="{3ECA20B2-9F41-4297-AEE7-03F2A788E8D7}">
          <p14:sldIdLst>
            <p14:sldId id="486"/>
            <p14:sldId id="534"/>
            <p14:sldId id="487"/>
            <p14:sldId id="488"/>
            <p14:sldId id="499"/>
            <p14:sldId id="489"/>
          </p14:sldIdLst>
        </p14:section>
        <p14:section name="Hexadecimal Notation" id="{90198EEC-BE74-408E-B876-A5E833A26824}">
          <p14:sldIdLst>
            <p14:sldId id="516"/>
            <p14:sldId id="490"/>
            <p14:sldId id="541"/>
            <p14:sldId id="556"/>
            <p14:sldId id="542"/>
            <p14:sldId id="543"/>
            <p14:sldId id="491"/>
            <p14:sldId id="517"/>
            <p14:sldId id="558"/>
            <p14:sldId id="559"/>
            <p14:sldId id="540"/>
            <p14:sldId id="551"/>
            <p14:sldId id="519"/>
            <p14:sldId id="520"/>
            <p14:sldId id="561"/>
            <p14:sldId id="562"/>
            <p14:sldId id="521"/>
            <p14:sldId id="494"/>
            <p14:sldId id="523"/>
            <p14:sldId id="496"/>
            <p14:sldId id="497"/>
            <p14:sldId id="560"/>
            <p14:sldId id="527"/>
            <p14:sldId id="54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FF"/>
    <a:srgbClr val="CC0000"/>
    <a:srgbClr val="660033"/>
    <a:srgbClr val="FF6699"/>
    <a:srgbClr val="006600"/>
    <a:srgbClr val="000000"/>
    <a:srgbClr val="660066"/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C14C65-D680-4938-9B88-8B2C338FE6AF}" v="3" dt="2023-10-26T15:15:03.1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 autoAdjust="0"/>
    <p:restoredTop sz="93220" autoAdjust="0"/>
  </p:normalViewPr>
  <p:slideViewPr>
    <p:cSldViewPr>
      <p:cViewPr varScale="1">
        <p:scale>
          <a:sx n="103" d="100"/>
          <a:sy n="103" d="100"/>
        </p:scale>
        <p:origin x="1158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776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63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microsoft.com/office/2016/11/relationships/changesInfo" Target="changesInfos/changesInfo1.xml"/><Relationship Id="rId5" Type="http://schemas.openxmlformats.org/officeDocument/2006/relationships/slide" Target="slides/slide2.xml"/><Relationship Id="rId61" Type="http://schemas.openxmlformats.org/officeDocument/2006/relationships/handoutMaster" Target="handoutMasters/handoutMaster1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theme" Target="theme/theme1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microsoft.com/office/2015/10/relationships/revisionInfo" Target="revisionInfo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notesMaster" Target="notesMasters/notesMaster1.xml"/><Relationship Id="rId65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ursakirah Ab Rahman Muton" userId="423efa6d-ee54-4a96-bb69-a7d6dc1d7e38" providerId="ADAL" clId="{07C14C65-D680-4938-9B88-8B2C338FE6AF}"/>
    <pc:docChg chg="delSld modSld modSection">
      <pc:chgData name="Nursakirah Ab Rahman Muton" userId="423efa6d-ee54-4a96-bb69-a7d6dc1d7e38" providerId="ADAL" clId="{07C14C65-D680-4938-9B88-8B2C338FE6AF}" dt="2023-10-26T15:15:03.164" v="6"/>
      <pc:docMkLst>
        <pc:docMk/>
      </pc:docMkLst>
      <pc:sldChg chg="modAnim">
        <pc:chgData name="Nursakirah Ab Rahman Muton" userId="423efa6d-ee54-4a96-bb69-a7d6dc1d7e38" providerId="ADAL" clId="{07C14C65-D680-4938-9B88-8B2C338FE6AF}" dt="2023-10-26T15:15:03.164" v="6"/>
        <pc:sldMkLst>
          <pc:docMk/>
          <pc:sldMk cId="0" sldId="482"/>
        </pc:sldMkLst>
      </pc:sldChg>
      <pc:sldChg chg="modAnim">
        <pc:chgData name="Nursakirah Ab Rahman Muton" userId="423efa6d-ee54-4a96-bb69-a7d6dc1d7e38" providerId="ADAL" clId="{07C14C65-D680-4938-9B88-8B2C338FE6AF}" dt="2023-10-26T15:13:25.978" v="5"/>
        <pc:sldMkLst>
          <pc:docMk/>
          <pc:sldMk cId="0" sldId="509"/>
        </pc:sldMkLst>
      </pc:sldChg>
      <pc:sldChg chg="del">
        <pc:chgData name="Nursakirah Ab Rahman Muton" userId="423efa6d-ee54-4a96-bb69-a7d6dc1d7e38" providerId="ADAL" clId="{07C14C65-D680-4938-9B88-8B2C338FE6AF}" dt="2023-10-26T15:09:16.184" v="1" actId="47"/>
        <pc:sldMkLst>
          <pc:docMk/>
          <pc:sldMk cId="3419475745" sldId="535"/>
        </pc:sldMkLst>
      </pc:sldChg>
      <pc:sldChg chg="del">
        <pc:chgData name="Nursakirah Ab Rahman Muton" userId="423efa6d-ee54-4a96-bb69-a7d6dc1d7e38" providerId="ADAL" clId="{07C14C65-D680-4938-9B88-8B2C338FE6AF}" dt="2023-10-26T15:09:19.348" v="2" actId="47"/>
        <pc:sldMkLst>
          <pc:docMk/>
          <pc:sldMk cId="897467443" sldId="536"/>
        </pc:sldMkLst>
      </pc:sldChg>
      <pc:sldChg chg="del">
        <pc:chgData name="Nursakirah Ab Rahman Muton" userId="423efa6d-ee54-4a96-bb69-a7d6dc1d7e38" providerId="ADAL" clId="{07C14C65-D680-4938-9B88-8B2C338FE6AF}" dt="2023-10-26T15:09:12.474" v="0" actId="47"/>
        <pc:sldMkLst>
          <pc:docMk/>
          <pc:sldMk cId="1984239704" sldId="539"/>
        </pc:sldMkLst>
      </pc:sldChg>
      <pc:sldChg chg="del">
        <pc:chgData name="Nursakirah Ab Rahman Muton" userId="423efa6d-ee54-4a96-bb69-a7d6dc1d7e38" providerId="ADAL" clId="{07C14C65-D680-4938-9B88-8B2C338FE6AF}" dt="2023-10-26T15:09:24.375" v="3" actId="47"/>
        <pc:sldMkLst>
          <pc:docMk/>
          <pc:sldMk cId="1662958289" sldId="544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3F2F1C5-6380-4D57-9F2A-BE10274D82E9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MY"/>
        </a:p>
      </dgm:t>
    </dgm:pt>
    <dgm:pt modelId="{59E0641C-75AA-4ADC-B925-4065E5EA5111}">
      <dgm:prSet/>
      <dgm:spPr/>
      <dgm:t>
        <a:bodyPr/>
        <a:lstStyle/>
        <a:p>
          <a:r>
            <a:rPr lang="en-US" baseline="0" dirty="0">
              <a:solidFill>
                <a:schemeClr val="tx1"/>
              </a:solidFill>
            </a:rPr>
            <a:t>Decimal systems</a:t>
          </a:r>
          <a:endParaRPr lang="en-MY" dirty="0">
            <a:solidFill>
              <a:schemeClr val="tx1"/>
            </a:solidFill>
          </a:endParaRPr>
        </a:p>
      </dgm:t>
    </dgm:pt>
    <dgm:pt modelId="{FD07A862-6FA4-4CBE-A688-0A57D22EFA9A}" type="parTrans" cxnId="{D7261890-41D6-43D6-8333-473DC31266B3}">
      <dgm:prSet/>
      <dgm:spPr/>
      <dgm:t>
        <a:bodyPr/>
        <a:lstStyle/>
        <a:p>
          <a:endParaRPr lang="en-MY">
            <a:solidFill>
              <a:schemeClr val="tx1"/>
            </a:solidFill>
          </a:endParaRPr>
        </a:p>
      </dgm:t>
    </dgm:pt>
    <dgm:pt modelId="{C5F64C7C-C058-45B7-B843-5197DBD9099D}" type="sibTrans" cxnId="{D7261890-41D6-43D6-8333-473DC31266B3}">
      <dgm:prSet/>
      <dgm:spPr/>
      <dgm:t>
        <a:bodyPr/>
        <a:lstStyle/>
        <a:p>
          <a:endParaRPr lang="en-MY">
            <a:solidFill>
              <a:schemeClr val="tx1"/>
            </a:solidFill>
          </a:endParaRPr>
        </a:p>
      </dgm:t>
    </dgm:pt>
    <dgm:pt modelId="{F6D857B6-FD96-4345-A3CF-EB8549113088}">
      <dgm:prSet/>
      <dgm:spPr/>
      <dgm:t>
        <a:bodyPr/>
        <a:lstStyle/>
        <a:p>
          <a:r>
            <a:rPr lang="en-US" baseline="0">
              <a:solidFill>
                <a:schemeClr val="tx1"/>
              </a:solidFill>
            </a:rPr>
            <a:t>Binary systems</a:t>
          </a:r>
          <a:endParaRPr lang="en-MY">
            <a:solidFill>
              <a:schemeClr val="tx1"/>
            </a:solidFill>
          </a:endParaRPr>
        </a:p>
      </dgm:t>
    </dgm:pt>
    <dgm:pt modelId="{C0810768-13DD-4E61-9DDB-5326B7471DC4}" type="parTrans" cxnId="{4D5BECE8-FAA1-4D2E-AB8A-E52B2AE9F746}">
      <dgm:prSet/>
      <dgm:spPr/>
      <dgm:t>
        <a:bodyPr/>
        <a:lstStyle/>
        <a:p>
          <a:endParaRPr lang="en-MY">
            <a:solidFill>
              <a:schemeClr val="tx1"/>
            </a:solidFill>
          </a:endParaRPr>
        </a:p>
      </dgm:t>
    </dgm:pt>
    <dgm:pt modelId="{0F31F7FE-EA77-473A-A5AA-BE08001BC871}" type="sibTrans" cxnId="{4D5BECE8-FAA1-4D2E-AB8A-E52B2AE9F746}">
      <dgm:prSet/>
      <dgm:spPr/>
      <dgm:t>
        <a:bodyPr/>
        <a:lstStyle/>
        <a:p>
          <a:endParaRPr lang="en-MY">
            <a:solidFill>
              <a:schemeClr val="tx1"/>
            </a:solidFill>
          </a:endParaRPr>
        </a:p>
      </dgm:t>
    </dgm:pt>
    <dgm:pt modelId="{CF416FD6-2202-4737-A1E2-C3C85FF91AE8}">
      <dgm:prSet/>
      <dgm:spPr/>
      <dgm:t>
        <a:bodyPr/>
        <a:lstStyle/>
        <a:p>
          <a:r>
            <a:rPr lang="en-US" baseline="0">
              <a:solidFill>
                <a:schemeClr val="tx1"/>
              </a:solidFill>
            </a:rPr>
            <a:t>Converting between binary and decimal</a:t>
          </a:r>
          <a:endParaRPr lang="en-MY">
            <a:solidFill>
              <a:schemeClr val="tx1"/>
            </a:solidFill>
          </a:endParaRPr>
        </a:p>
      </dgm:t>
    </dgm:pt>
    <dgm:pt modelId="{23E503B8-262C-49FF-806C-2E79DF545370}" type="parTrans" cxnId="{7480AA1E-6456-4889-B26C-5FE8A9209367}">
      <dgm:prSet/>
      <dgm:spPr/>
      <dgm:t>
        <a:bodyPr/>
        <a:lstStyle/>
        <a:p>
          <a:endParaRPr lang="en-MY">
            <a:solidFill>
              <a:schemeClr val="tx1"/>
            </a:solidFill>
          </a:endParaRPr>
        </a:p>
      </dgm:t>
    </dgm:pt>
    <dgm:pt modelId="{EC2CAF93-C12F-46E1-BBE7-D68BF55C584B}" type="sibTrans" cxnId="{7480AA1E-6456-4889-B26C-5FE8A9209367}">
      <dgm:prSet/>
      <dgm:spPr/>
      <dgm:t>
        <a:bodyPr/>
        <a:lstStyle/>
        <a:p>
          <a:endParaRPr lang="en-MY">
            <a:solidFill>
              <a:schemeClr val="tx1"/>
            </a:solidFill>
          </a:endParaRPr>
        </a:p>
      </dgm:t>
    </dgm:pt>
    <dgm:pt modelId="{9B679BE9-433F-4479-B610-6A9813DE91E1}">
      <dgm:prSet/>
      <dgm:spPr/>
      <dgm:t>
        <a:bodyPr/>
        <a:lstStyle/>
        <a:p>
          <a:r>
            <a:rPr lang="en-US" baseline="0">
              <a:solidFill>
                <a:schemeClr val="tx1"/>
              </a:solidFill>
            </a:rPr>
            <a:t>Converting between hexadecimal and binary</a:t>
          </a:r>
          <a:endParaRPr lang="en-MY">
            <a:solidFill>
              <a:schemeClr val="tx1"/>
            </a:solidFill>
          </a:endParaRPr>
        </a:p>
      </dgm:t>
    </dgm:pt>
    <dgm:pt modelId="{0B12BFCC-7EAE-4809-B0C3-5C3ED2B8329C}" type="parTrans" cxnId="{E38EF8F4-91EC-4A58-8F63-74F7459BE6FA}">
      <dgm:prSet/>
      <dgm:spPr/>
      <dgm:t>
        <a:bodyPr/>
        <a:lstStyle/>
        <a:p>
          <a:endParaRPr lang="en-MY">
            <a:solidFill>
              <a:schemeClr val="tx1"/>
            </a:solidFill>
          </a:endParaRPr>
        </a:p>
      </dgm:t>
    </dgm:pt>
    <dgm:pt modelId="{C5060458-05D8-4661-AB9C-265A56ACE246}" type="sibTrans" cxnId="{E38EF8F4-91EC-4A58-8F63-74F7459BE6FA}">
      <dgm:prSet/>
      <dgm:spPr/>
      <dgm:t>
        <a:bodyPr/>
        <a:lstStyle/>
        <a:p>
          <a:endParaRPr lang="en-MY">
            <a:solidFill>
              <a:schemeClr val="tx1"/>
            </a:solidFill>
          </a:endParaRPr>
        </a:p>
      </dgm:t>
    </dgm:pt>
    <dgm:pt modelId="{F19B37C6-FB63-4449-97B7-522BFE5D9F63}">
      <dgm:prSet/>
      <dgm:spPr/>
      <dgm:t>
        <a:bodyPr/>
        <a:lstStyle/>
        <a:p>
          <a:r>
            <a:rPr lang="en-US" baseline="0">
              <a:solidFill>
                <a:schemeClr val="tx1"/>
              </a:solidFill>
            </a:rPr>
            <a:t>Character Codes</a:t>
          </a:r>
          <a:endParaRPr lang="en-MY">
            <a:solidFill>
              <a:schemeClr val="tx1"/>
            </a:solidFill>
          </a:endParaRPr>
        </a:p>
      </dgm:t>
    </dgm:pt>
    <dgm:pt modelId="{F9C67507-9D21-4B80-90A6-35659BFA193A}" type="parTrans" cxnId="{3C7BEEEA-8ACE-42ED-8671-E234B401EF0D}">
      <dgm:prSet/>
      <dgm:spPr/>
      <dgm:t>
        <a:bodyPr/>
        <a:lstStyle/>
        <a:p>
          <a:endParaRPr lang="en-MY">
            <a:solidFill>
              <a:schemeClr val="tx1"/>
            </a:solidFill>
          </a:endParaRPr>
        </a:p>
      </dgm:t>
    </dgm:pt>
    <dgm:pt modelId="{6A28365B-00C1-455F-8676-26A94EE8F4EB}" type="sibTrans" cxnId="{3C7BEEEA-8ACE-42ED-8671-E234B401EF0D}">
      <dgm:prSet/>
      <dgm:spPr/>
      <dgm:t>
        <a:bodyPr/>
        <a:lstStyle/>
        <a:p>
          <a:endParaRPr lang="en-MY">
            <a:solidFill>
              <a:schemeClr val="tx1"/>
            </a:solidFill>
          </a:endParaRPr>
        </a:p>
      </dgm:t>
    </dgm:pt>
    <dgm:pt modelId="{8FCD6373-16F6-45BB-9CC1-C07624038553}" type="pres">
      <dgm:prSet presAssocID="{A3F2F1C5-6380-4D57-9F2A-BE10274D82E9}" presName="diagram" presStyleCnt="0">
        <dgm:presLayoutVars>
          <dgm:dir/>
          <dgm:resizeHandles val="exact"/>
        </dgm:presLayoutVars>
      </dgm:prSet>
      <dgm:spPr/>
    </dgm:pt>
    <dgm:pt modelId="{E024302B-EC04-4B2F-919C-611763DD00DC}" type="pres">
      <dgm:prSet presAssocID="{59E0641C-75AA-4ADC-B925-4065E5EA5111}" presName="node" presStyleLbl="node1" presStyleIdx="0" presStyleCnt="5">
        <dgm:presLayoutVars>
          <dgm:bulletEnabled val="1"/>
        </dgm:presLayoutVars>
      </dgm:prSet>
      <dgm:spPr/>
    </dgm:pt>
    <dgm:pt modelId="{F477CCF0-676C-4770-9E44-940174A09D36}" type="pres">
      <dgm:prSet presAssocID="{C5F64C7C-C058-45B7-B843-5197DBD9099D}" presName="sibTrans" presStyleCnt="0"/>
      <dgm:spPr/>
    </dgm:pt>
    <dgm:pt modelId="{9305E1FE-54FD-4A0F-9314-841440143396}" type="pres">
      <dgm:prSet presAssocID="{F6D857B6-FD96-4345-A3CF-EB8549113088}" presName="node" presStyleLbl="node1" presStyleIdx="1" presStyleCnt="5">
        <dgm:presLayoutVars>
          <dgm:bulletEnabled val="1"/>
        </dgm:presLayoutVars>
      </dgm:prSet>
      <dgm:spPr/>
    </dgm:pt>
    <dgm:pt modelId="{C8CF39C8-3537-48D8-8AB0-9BCBF2B4BDCE}" type="pres">
      <dgm:prSet presAssocID="{0F31F7FE-EA77-473A-A5AA-BE08001BC871}" presName="sibTrans" presStyleCnt="0"/>
      <dgm:spPr/>
    </dgm:pt>
    <dgm:pt modelId="{6F722977-D9C1-4174-8062-EA11B97BD452}" type="pres">
      <dgm:prSet presAssocID="{CF416FD6-2202-4737-A1E2-C3C85FF91AE8}" presName="node" presStyleLbl="node1" presStyleIdx="2" presStyleCnt="5">
        <dgm:presLayoutVars>
          <dgm:bulletEnabled val="1"/>
        </dgm:presLayoutVars>
      </dgm:prSet>
      <dgm:spPr/>
    </dgm:pt>
    <dgm:pt modelId="{84486931-6FAB-4881-B1DE-FC66F4B2F68E}" type="pres">
      <dgm:prSet presAssocID="{EC2CAF93-C12F-46E1-BBE7-D68BF55C584B}" presName="sibTrans" presStyleCnt="0"/>
      <dgm:spPr/>
    </dgm:pt>
    <dgm:pt modelId="{AC41FEC1-BF9B-40DC-A882-16C1AA79E4F6}" type="pres">
      <dgm:prSet presAssocID="{9B679BE9-433F-4479-B610-6A9813DE91E1}" presName="node" presStyleLbl="node1" presStyleIdx="3" presStyleCnt="5">
        <dgm:presLayoutVars>
          <dgm:bulletEnabled val="1"/>
        </dgm:presLayoutVars>
      </dgm:prSet>
      <dgm:spPr/>
    </dgm:pt>
    <dgm:pt modelId="{3BF69B3F-74F6-4585-AB99-4E3B435A084F}" type="pres">
      <dgm:prSet presAssocID="{C5060458-05D8-4661-AB9C-265A56ACE246}" presName="sibTrans" presStyleCnt="0"/>
      <dgm:spPr/>
    </dgm:pt>
    <dgm:pt modelId="{D6F57FEA-4C66-4E98-99BC-214BF158C0F2}" type="pres">
      <dgm:prSet presAssocID="{F19B37C6-FB63-4449-97B7-522BFE5D9F63}" presName="node" presStyleLbl="node1" presStyleIdx="4" presStyleCnt="5">
        <dgm:presLayoutVars>
          <dgm:bulletEnabled val="1"/>
        </dgm:presLayoutVars>
      </dgm:prSet>
      <dgm:spPr/>
    </dgm:pt>
  </dgm:ptLst>
  <dgm:cxnLst>
    <dgm:cxn modelId="{F268CC12-27A9-43DC-9AA0-655BF5C2D49C}" type="presOf" srcId="{CF416FD6-2202-4737-A1E2-C3C85FF91AE8}" destId="{6F722977-D9C1-4174-8062-EA11B97BD452}" srcOrd="0" destOrd="0" presId="urn:microsoft.com/office/officeart/2005/8/layout/default"/>
    <dgm:cxn modelId="{7480AA1E-6456-4889-B26C-5FE8A9209367}" srcId="{A3F2F1C5-6380-4D57-9F2A-BE10274D82E9}" destId="{CF416FD6-2202-4737-A1E2-C3C85FF91AE8}" srcOrd="2" destOrd="0" parTransId="{23E503B8-262C-49FF-806C-2E79DF545370}" sibTransId="{EC2CAF93-C12F-46E1-BBE7-D68BF55C584B}"/>
    <dgm:cxn modelId="{53D88241-D62B-4155-8955-7B89A0C29E4C}" type="presOf" srcId="{9B679BE9-433F-4479-B610-6A9813DE91E1}" destId="{AC41FEC1-BF9B-40DC-A882-16C1AA79E4F6}" srcOrd="0" destOrd="0" presId="urn:microsoft.com/office/officeart/2005/8/layout/default"/>
    <dgm:cxn modelId="{A3336279-4D43-4C4D-8FD3-1983F152A1F1}" type="presOf" srcId="{A3F2F1C5-6380-4D57-9F2A-BE10274D82E9}" destId="{8FCD6373-16F6-45BB-9CC1-C07624038553}" srcOrd="0" destOrd="0" presId="urn:microsoft.com/office/officeart/2005/8/layout/default"/>
    <dgm:cxn modelId="{D7261890-41D6-43D6-8333-473DC31266B3}" srcId="{A3F2F1C5-6380-4D57-9F2A-BE10274D82E9}" destId="{59E0641C-75AA-4ADC-B925-4065E5EA5111}" srcOrd="0" destOrd="0" parTransId="{FD07A862-6FA4-4CBE-A688-0A57D22EFA9A}" sibTransId="{C5F64C7C-C058-45B7-B843-5197DBD9099D}"/>
    <dgm:cxn modelId="{3428DD9A-E8B0-4929-AA40-43A17CDA8210}" type="presOf" srcId="{F6D857B6-FD96-4345-A3CF-EB8549113088}" destId="{9305E1FE-54FD-4A0F-9314-841440143396}" srcOrd="0" destOrd="0" presId="urn:microsoft.com/office/officeart/2005/8/layout/default"/>
    <dgm:cxn modelId="{68F00BA0-8DE8-47A6-B299-378E92CEA197}" type="presOf" srcId="{59E0641C-75AA-4ADC-B925-4065E5EA5111}" destId="{E024302B-EC04-4B2F-919C-611763DD00DC}" srcOrd="0" destOrd="0" presId="urn:microsoft.com/office/officeart/2005/8/layout/default"/>
    <dgm:cxn modelId="{744AFDBF-57CB-4C54-8EC7-05BEB819E420}" type="presOf" srcId="{F19B37C6-FB63-4449-97B7-522BFE5D9F63}" destId="{D6F57FEA-4C66-4E98-99BC-214BF158C0F2}" srcOrd="0" destOrd="0" presId="urn:microsoft.com/office/officeart/2005/8/layout/default"/>
    <dgm:cxn modelId="{4D5BECE8-FAA1-4D2E-AB8A-E52B2AE9F746}" srcId="{A3F2F1C5-6380-4D57-9F2A-BE10274D82E9}" destId="{F6D857B6-FD96-4345-A3CF-EB8549113088}" srcOrd="1" destOrd="0" parTransId="{C0810768-13DD-4E61-9DDB-5326B7471DC4}" sibTransId="{0F31F7FE-EA77-473A-A5AA-BE08001BC871}"/>
    <dgm:cxn modelId="{3C7BEEEA-8ACE-42ED-8671-E234B401EF0D}" srcId="{A3F2F1C5-6380-4D57-9F2A-BE10274D82E9}" destId="{F19B37C6-FB63-4449-97B7-522BFE5D9F63}" srcOrd="4" destOrd="0" parTransId="{F9C67507-9D21-4B80-90A6-35659BFA193A}" sibTransId="{6A28365B-00C1-455F-8676-26A94EE8F4EB}"/>
    <dgm:cxn modelId="{E38EF8F4-91EC-4A58-8F63-74F7459BE6FA}" srcId="{A3F2F1C5-6380-4D57-9F2A-BE10274D82E9}" destId="{9B679BE9-433F-4479-B610-6A9813DE91E1}" srcOrd="3" destOrd="0" parTransId="{0B12BFCC-7EAE-4809-B0C3-5C3ED2B8329C}" sibTransId="{C5060458-05D8-4661-AB9C-265A56ACE246}"/>
    <dgm:cxn modelId="{30C558F8-AA26-440D-B9BC-A92B8B360896}" type="presParOf" srcId="{8FCD6373-16F6-45BB-9CC1-C07624038553}" destId="{E024302B-EC04-4B2F-919C-611763DD00DC}" srcOrd="0" destOrd="0" presId="urn:microsoft.com/office/officeart/2005/8/layout/default"/>
    <dgm:cxn modelId="{237268AD-B092-4B92-82BD-67C574E143FD}" type="presParOf" srcId="{8FCD6373-16F6-45BB-9CC1-C07624038553}" destId="{F477CCF0-676C-4770-9E44-940174A09D36}" srcOrd="1" destOrd="0" presId="urn:microsoft.com/office/officeart/2005/8/layout/default"/>
    <dgm:cxn modelId="{1CBADC41-4E87-4C85-960B-E78D282F84F8}" type="presParOf" srcId="{8FCD6373-16F6-45BB-9CC1-C07624038553}" destId="{9305E1FE-54FD-4A0F-9314-841440143396}" srcOrd="2" destOrd="0" presId="urn:microsoft.com/office/officeart/2005/8/layout/default"/>
    <dgm:cxn modelId="{3C463504-9BD9-4D54-B908-70D15706878E}" type="presParOf" srcId="{8FCD6373-16F6-45BB-9CC1-C07624038553}" destId="{C8CF39C8-3537-48D8-8AB0-9BCBF2B4BDCE}" srcOrd="3" destOrd="0" presId="urn:microsoft.com/office/officeart/2005/8/layout/default"/>
    <dgm:cxn modelId="{816D4E02-3119-45D0-8681-FA2B7A3750D4}" type="presParOf" srcId="{8FCD6373-16F6-45BB-9CC1-C07624038553}" destId="{6F722977-D9C1-4174-8062-EA11B97BD452}" srcOrd="4" destOrd="0" presId="urn:microsoft.com/office/officeart/2005/8/layout/default"/>
    <dgm:cxn modelId="{F04A06FD-8CCD-4E3D-A98E-61E03592BF0B}" type="presParOf" srcId="{8FCD6373-16F6-45BB-9CC1-C07624038553}" destId="{84486931-6FAB-4881-B1DE-FC66F4B2F68E}" srcOrd="5" destOrd="0" presId="urn:microsoft.com/office/officeart/2005/8/layout/default"/>
    <dgm:cxn modelId="{18043FC7-5492-44AA-A78F-6D135243403F}" type="presParOf" srcId="{8FCD6373-16F6-45BB-9CC1-C07624038553}" destId="{AC41FEC1-BF9B-40DC-A882-16C1AA79E4F6}" srcOrd="6" destOrd="0" presId="urn:microsoft.com/office/officeart/2005/8/layout/default"/>
    <dgm:cxn modelId="{87DE19AD-EDA3-4AA2-8467-6B38720CCBA8}" type="presParOf" srcId="{8FCD6373-16F6-45BB-9CC1-C07624038553}" destId="{3BF69B3F-74F6-4585-AB99-4E3B435A084F}" srcOrd="7" destOrd="0" presId="urn:microsoft.com/office/officeart/2005/8/layout/default"/>
    <dgm:cxn modelId="{5B404338-F55B-44FA-A003-48CDF2A31A18}" type="presParOf" srcId="{8FCD6373-16F6-45BB-9CC1-C07624038553}" destId="{D6F57FEA-4C66-4E98-99BC-214BF158C0F2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7D794CD-1580-4AE9-A360-324617E74F17}" type="doc">
      <dgm:prSet loTypeId="urn:microsoft.com/office/officeart/2005/8/layout/vList6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MY"/>
        </a:p>
      </dgm:t>
    </dgm:pt>
    <dgm:pt modelId="{52AEF07F-A302-4136-A8A4-1412BCDE23E4}">
      <dgm:prSet phldrT="[Text]"/>
      <dgm:spPr/>
      <dgm:t>
        <a:bodyPr/>
        <a:lstStyle/>
        <a:p>
          <a:r>
            <a:rPr lang="en-MY" dirty="0"/>
            <a:t>BIT</a:t>
          </a:r>
        </a:p>
      </dgm:t>
    </dgm:pt>
    <dgm:pt modelId="{7963939E-78C7-4563-8209-421DA3815F9E}" type="parTrans" cxnId="{7AE78337-7B86-4E76-9378-1201F1615B44}">
      <dgm:prSet/>
      <dgm:spPr/>
      <dgm:t>
        <a:bodyPr/>
        <a:lstStyle/>
        <a:p>
          <a:endParaRPr lang="en-MY"/>
        </a:p>
      </dgm:t>
    </dgm:pt>
    <dgm:pt modelId="{426CFC0C-9B3B-40EE-9259-E272D12CB16C}" type="sibTrans" cxnId="{7AE78337-7B86-4E76-9378-1201F1615B44}">
      <dgm:prSet/>
      <dgm:spPr/>
      <dgm:t>
        <a:bodyPr/>
        <a:lstStyle/>
        <a:p>
          <a:endParaRPr lang="en-MY"/>
        </a:p>
      </dgm:t>
    </dgm:pt>
    <dgm:pt modelId="{B0228AAD-75B2-42B1-B4FD-E84714F513CE}">
      <dgm:prSet phldrT="[Text]"/>
      <dgm:spPr/>
      <dgm:t>
        <a:bodyPr/>
        <a:lstStyle/>
        <a:p>
          <a:r>
            <a:rPr lang="en-MY" dirty="0"/>
            <a:t>Each digit in the binary system</a:t>
          </a:r>
        </a:p>
      </dgm:t>
    </dgm:pt>
    <dgm:pt modelId="{45AB1ED1-1CCD-4ADC-811A-5C21925E5383}" type="parTrans" cxnId="{76B27E50-56E7-4276-A949-C4DEF2181FEF}">
      <dgm:prSet/>
      <dgm:spPr/>
      <dgm:t>
        <a:bodyPr/>
        <a:lstStyle/>
        <a:p>
          <a:endParaRPr lang="en-MY"/>
        </a:p>
      </dgm:t>
    </dgm:pt>
    <dgm:pt modelId="{37FBC263-404F-4198-B5EB-B68D576FE29B}" type="sibTrans" cxnId="{76B27E50-56E7-4276-A949-C4DEF2181FEF}">
      <dgm:prSet/>
      <dgm:spPr/>
      <dgm:t>
        <a:bodyPr/>
        <a:lstStyle/>
        <a:p>
          <a:endParaRPr lang="en-MY"/>
        </a:p>
      </dgm:t>
    </dgm:pt>
    <dgm:pt modelId="{34C3C7D2-AD38-4349-B05C-46D2268562CD}">
      <dgm:prSet phldrT="[Text]"/>
      <dgm:spPr/>
      <dgm:t>
        <a:bodyPr/>
        <a:lstStyle/>
        <a:p>
          <a:r>
            <a:rPr lang="en-MY" dirty="0"/>
            <a:t>NIBBLE</a:t>
          </a:r>
        </a:p>
      </dgm:t>
    </dgm:pt>
    <dgm:pt modelId="{C763E8E5-99C3-415B-8D31-E687771145D6}" type="parTrans" cxnId="{A2B7ECEB-C8BA-428F-9587-B5436953C930}">
      <dgm:prSet/>
      <dgm:spPr/>
      <dgm:t>
        <a:bodyPr/>
        <a:lstStyle/>
        <a:p>
          <a:endParaRPr lang="en-MY"/>
        </a:p>
      </dgm:t>
    </dgm:pt>
    <dgm:pt modelId="{B605B9D0-D191-4E24-86D8-F0720649A657}" type="sibTrans" cxnId="{A2B7ECEB-C8BA-428F-9587-B5436953C930}">
      <dgm:prSet/>
      <dgm:spPr/>
      <dgm:t>
        <a:bodyPr/>
        <a:lstStyle/>
        <a:p>
          <a:endParaRPr lang="en-MY"/>
        </a:p>
      </dgm:t>
    </dgm:pt>
    <dgm:pt modelId="{171BD8B6-602A-42E7-8DDE-F27A1B86FC7E}">
      <dgm:prSet phldrT="[Text]"/>
      <dgm:spPr/>
      <dgm:t>
        <a:bodyPr/>
        <a:lstStyle/>
        <a:p>
          <a:r>
            <a:rPr lang="en-MY" dirty="0"/>
            <a:t>A group of 4 bits binary </a:t>
          </a:r>
        </a:p>
      </dgm:t>
    </dgm:pt>
    <dgm:pt modelId="{37267A21-4CE5-4E18-80F6-8BA79B111122}" type="parTrans" cxnId="{6F59E2A8-DED9-4269-916E-2DBDCAF1A42D}">
      <dgm:prSet/>
      <dgm:spPr/>
      <dgm:t>
        <a:bodyPr/>
        <a:lstStyle/>
        <a:p>
          <a:endParaRPr lang="en-MY"/>
        </a:p>
      </dgm:t>
    </dgm:pt>
    <dgm:pt modelId="{441B0A13-BB46-4761-AFAD-C7793ED63FBA}" type="sibTrans" cxnId="{6F59E2A8-DED9-4269-916E-2DBDCAF1A42D}">
      <dgm:prSet/>
      <dgm:spPr/>
      <dgm:t>
        <a:bodyPr/>
        <a:lstStyle/>
        <a:p>
          <a:endParaRPr lang="en-MY"/>
        </a:p>
      </dgm:t>
    </dgm:pt>
    <dgm:pt modelId="{24BDD941-F895-470C-8E05-02B304401A6D}">
      <dgm:prSet/>
      <dgm:spPr/>
      <dgm:t>
        <a:bodyPr/>
        <a:lstStyle/>
        <a:p>
          <a:r>
            <a:rPr lang="en-MY" dirty="0"/>
            <a:t>BYTE</a:t>
          </a:r>
        </a:p>
      </dgm:t>
    </dgm:pt>
    <dgm:pt modelId="{C560511D-672E-49C3-A239-184B9960625B}" type="parTrans" cxnId="{B583D33D-ECD7-4EFA-9992-277F29D4F577}">
      <dgm:prSet/>
      <dgm:spPr/>
      <dgm:t>
        <a:bodyPr/>
        <a:lstStyle/>
        <a:p>
          <a:endParaRPr lang="en-MY"/>
        </a:p>
      </dgm:t>
    </dgm:pt>
    <dgm:pt modelId="{FAFA617A-EE25-4AF5-9B56-5F40923AB542}" type="sibTrans" cxnId="{B583D33D-ECD7-4EFA-9992-277F29D4F577}">
      <dgm:prSet/>
      <dgm:spPr/>
      <dgm:t>
        <a:bodyPr/>
        <a:lstStyle/>
        <a:p>
          <a:endParaRPr lang="en-MY"/>
        </a:p>
      </dgm:t>
    </dgm:pt>
    <dgm:pt modelId="{4FB5EA29-C88E-4084-870F-29568ED713C5}">
      <dgm:prSet/>
      <dgm:spPr/>
      <dgm:t>
        <a:bodyPr/>
        <a:lstStyle/>
        <a:p>
          <a:r>
            <a:rPr lang="en-MY" dirty="0"/>
            <a:t>WORD</a:t>
          </a:r>
        </a:p>
      </dgm:t>
    </dgm:pt>
    <dgm:pt modelId="{8A41A739-FFCF-493C-97E9-6E95C320C59B}" type="parTrans" cxnId="{CDFE1075-14D2-4556-8251-C0DEECDB2B9F}">
      <dgm:prSet/>
      <dgm:spPr/>
      <dgm:t>
        <a:bodyPr/>
        <a:lstStyle/>
        <a:p>
          <a:endParaRPr lang="en-MY"/>
        </a:p>
      </dgm:t>
    </dgm:pt>
    <dgm:pt modelId="{B837F8A9-24E4-4BA7-8968-F86FCD938301}" type="sibTrans" cxnId="{CDFE1075-14D2-4556-8251-C0DEECDB2B9F}">
      <dgm:prSet/>
      <dgm:spPr/>
      <dgm:t>
        <a:bodyPr/>
        <a:lstStyle/>
        <a:p>
          <a:endParaRPr lang="en-MY"/>
        </a:p>
      </dgm:t>
    </dgm:pt>
    <dgm:pt modelId="{C89131DC-0CD1-4027-BDA1-BD1720AFCC24}">
      <dgm:prSet/>
      <dgm:spPr/>
      <dgm:t>
        <a:bodyPr/>
        <a:lstStyle/>
        <a:p>
          <a:r>
            <a:rPr lang="en-MY" dirty="0"/>
            <a:t>A group of 8 bits binary</a:t>
          </a:r>
        </a:p>
      </dgm:t>
    </dgm:pt>
    <dgm:pt modelId="{D0FBAE53-FF45-4597-A79F-A35715D58DE2}" type="parTrans" cxnId="{50B8A364-E493-47E5-BB60-BF11080A5116}">
      <dgm:prSet/>
      <dgm:spPr/>
      <dgm:t>
        <a:bodyPr/>
        <a:lstStyle/>
        <a:p>
          <a:endParaRPr lang="en-MY"/>
        </a:p>
      </dgm:t>
    </dgm:pt>
    <dgm:pt modelId="{1418B944-5A77-44AD-B3A9-B5A0873C85D0}" type="sibTrans" cxnId="{50B8A364-E493-47E5-BB60-BF11080A5116}">
      <dgm:prSet/>
      <dgm:spPr/>
      <dgm:t>
        <a:bodyPr/>
        <a:lstStyle/>
        <a:p>
          <a:endParaRPr lang="en-MY"/>
        </a:p>
      </dgm:t>
    </dgm:pt>
    <dgm:pt modelId="{32554DCC-CD6F-4D29-86B5-665AAF2D4777}">
      <dgm:prSet/>
      <dgm:spPr/>
      <dgm:t>
        <a:bodyPr/>
        <a:lstStyle/>
        <a:p>
          <a:r>
            <a:rPr lang="en-MY" dirty="0"/>
            <a:t>Two bytes number </a:t>
          </a:r>
        </a:p>
      </dgm:t>
    </dgm:pt>
    <dgm:pt modelId="{E56E99E0-3FF8-4833-8BB2-0E519348662A}" type="parTrans" cxnId="{71BC6741-6A6B-441B-ADD1-BE6CF3131DCC}">
      <dgm:prSet/>
      <dgm:spPr/>
      <dgm:t>
        <a:bodyPr/>
        <a:lstStyle/>
        <a:p>
          <a:endParaRPr lang="en-MY"/>
        </a:p>
      </dgm:t>
    </dgm:pt>
    <dgm:pt modelId="{4823C4B3-B462-427D-98CD-C9F1B805CBFD}" type="sibTrans" cxnId="{71BC6741-6A6B-441B-ADD1-BE6CF3131DCC}">
      <dgm:prSet/>
      <dgm:spPr/>
      <dgm:t>
        <a:bodyPr/>
        <a:lstStyle/>
        <a:p>
          <a:endParaRPr lang="en-MY"/>
        </a:p>
      </dgm:t>
    </dgm:pt>
    <dgm:pt modelId="{5A11440C-5FDD-4DAA-8555-1344D00E9F91}" type="pres">
      <dgm:prSet presAssocID="{37D794CD-1580-4AE9-A360-324617E74F17}" presName="Name0" presStyleCnt="0">
        <dgm:presLayoutVars>
          <dgm:dir/>
          <dgm:animLvl val="lvl"/>
          <dgm:resizeHandles/>
        </dgm:presLayoutVars>
      </dgm:prSet>
      <dgm:spPr/>
    </dgm:pt>
    <dgm:pt modelId="{887F6B37-F7F1-47B6-B873-BE96A6C53041}" type="pres">
      <dgm:prSet presAssocID="{52AEF07F-A302-4136-A8A4-1412BCDE23E4}" presName="linNode" presStyleCnt="0"/>
      <dgm:spPr/>
    </dgm:pt>
    <dgm:pt modelId="{3C189E42-1C82-47BC-AEF4-968E6539DB3D}" type="pres">
      <dgm:prSet presAssocID="{52AEF07F-A302-4136-A8A4-1412BCDE23E4}" presName="parentShp" presStyleLbl="node1" presStyleIdx="0" presStyleCnt="4">
        <dgm:presLayoutVars>
          <dgm:bulletEnabled val="1"/>
        </dgm:presLayoutVars>
      </dgm:prSet>
      <dgm:spPr/>
    </dgm:pt>
    <dgm:pt modelId="{5EBC1A2D-72F2-465C-83A0-C60BD320247A}" type="pres">
      <dgm:prSet presAssocID="{52AEF07F-A302-4136-A8A4-1412BCDE23E4}" presName="childShp" presStyleLbl="bgAccFollowNode1" presStyleIdx="0" presStyleCnt="4">
        <dgm:presLayoutVars>
          <dgm:bulletEnabled val="1"/>
        </dgm:presLayoutVars>
      </dgm:prSet>
      <dgm:spPr/>
    </dgm:pt>
    <dgm:pt modelId="{A476B1E3-505C-44DA-87F9-DEBCDCEF3C45}" type="pres">
      <dgm:prSet presAssocID="{426CFC0C-9B3B-40EE-9259-E272D12CB16C}" presName="spacing" presStyleCnt="0"/>
      <dgm:spPr/>
    </dgm:pt>
    <dgm:pt modelId="{E2A4F133-2F97-4210-B84F-B20655712378}" type="pres">
      <dgm:prSet presAssocID="{34C3C7D2-AD38-4349-B05C-46D2268562CD}" presName="linNode" presStyleCnt="0"/>
      <dgm:spPr/>
    </dgm:pt>
    <dgm:pt modelId="{BC652831-A672-41F8-ABFF-123839AC717E}" type="pres">
      <dgm:prSet presAssocID="{34C3C7D2-AD38-4349-B05C-46D2268562CD}" presName="parentShp" presStyleLbl="node1" presStyleIdx="1" presStyleCnt="4">
        <dgm:presLayoutVars>
          <dgm:bulletEnabled val="1"/>
        </dgm:presLayoutVars>
      </dgm:prSet>
      <dgm:spPr/>
    </dgm:pt>
    <dgm:pt modelId="{370CFB84-8666-448B-A28F-CF7AC6CF2182}" type="pres">
      <dgm:prSet presAssocID="{34C3C7D2-AD38-4349-B05C-46D2268562CD}" presName="childShp" presStyleLbl="bgAccFollowNode1" presStyleIdx="1" presStyleCnt="4">
        <dgm:presLayoutVars>
          <dgm:bulletEnabled val="1"/>
        </dgm:presLayoutVars>
      </dgm:prSet>
      <dgm:spPr/>
    </dgm:pt>
    <dgm:pt modelId="{63B60435-2698-494D-AA75-EDA2909CC2A5}" type="pres">
      <dgm:prSet presAssocID="{B605B9D0-D191-4E24-86D8-F0720649A657}" presName="spacing" presStyleCnt="0"/>
      <dgm:spPr/>
    </dgm:pt>
    <dgm:pt modelId="{5A43C519-C8FF-4E4C-A797-FC02AF44B4E5}" type="pres">
      <dgm:prSet presAssocID="{24BDD941-F895-470C-8E05-02B304401A6D}" presName="linNode" presStyleCnt="0"/>
      <dgm:spPr/>
    </dgm:pt>
    <dgm:pt modelId="{3CF69CBB-AB60-40E9-B676-D99A4F137EE4}" type="pres">
      <dgm:prSet presAssocID="{24BDD941-F895-470C-8E05-02B304401A6D}" presName="parentShp" presStyleLbl="node1" presStyleIdx="2" presStyleCnt="4">
        <dgm:presLayoutVars>
          <dgm:bulletEnabled val="1"/>
        </dgm:presLayoutVars>
      </dgm:prSet>
      <dgm:spPr/>
    </dgm:pt>
    <dgm:pt modelId="{0412DE2F-2DCC-490B-8ADB-66ED5C55255B}" type="pres">
      <dgm:prSet presAssocID="{24BDD941-F895-470C-8E05-02B304401A6D}" presName="childShp" presStyleLbl="bgAccFollowNode1" presStyleIdx="2" presStyleCnt="4">
        <dgm:presLayoutVars>
          <dgm:bulletEnabled val="1"/>
        </dgm:presLayoutVars>
      </dgm:prSet>
      <dgm:spPr/>
    </dgm:pt>
    <dgm:pt modelId="{D246089B-8B55-4C84-BB5A-C0960CA32DF1}" type="pres">
      <dgm:prSet presAssocID="{FAFA617A-EE25-4AF5-9B56-5F40923AB542}" presName="spacing" presStyleCnt="0"/>
      <dgm:spPr/>
    </dgm:pt>
    <dgm:pt modelId="{149B2778-FC96-4A66-9B41-3902D97F9D46}" type="pres">
      <dgm:prSet presAssocID="{4FB5EA29-C88E-4084-870F-29568ED713C5}" presName="linNode" presStyleCnt="0"/>
      <dgm:spPr/>
    </dgm:pt>
    <dgm:pt modelId="{79225C4E-023E-4352-AC23-B162D9663D7C}" type="pres">
      <dgm:prSet presAssocID="{4FB5EA29-C88E-4084-870F-29568ED713C5}" presName="parentShp" presStyleLbl="node1" presStyleIdx="3" presStyleCnt="4">
        <dgm:presLayoutVars>
          <dgm:bulletEnabled val="1"/>
        </dgm:presLayoutVars>
      </dgm:prSet>
      <dgm:spPr/>
    </dgm:pt>
    <dgm:pt modelId="{F51D590B-0321-49F7-B6F6-79BF3F67FF3B}" type="pres">
      <dgm:prSet presAssocID="{4FB5EA29-C88E-4084-870F-29568ED713C5}" presName="childShp" presStyleLbl="bgAccFollowNode1" presStyleIdx="3" presStyleCnt="4">
        <dgm:presLayoutVars>
          <dgm:bulletEnabled val="1"/>
        </dgm:presLayoutVars>
      </dgm:prSet>
      <dgm:spPr/>
    </dgm:pt>
  </dgm:ptLst>
  <dgm:cxnLst>
    <dgm:cxn modelId="{F4F3B418-F4C7-403A-85BB-C8B6342D6FF6}" type="presOf" srcId="{B0228AAD-75B2-42B1-B4FD-E84714F513CE}" destId="{5EBC1A2D-72F2-465C-83A0-C60BD320247A}" srcOrd="0" destOrd="0" presId="urn:microsoft.com/office/officeart/2005/8/layout/vList6"/>
    <dgm:cxn modelId="{7AE78337-7B86-4E76-9378-1201F1615B44}" srcId="{37D794CD-1580-4AE9-A360-324617E74F17}" destId="{52AEF07F-A302-4136-A8A4-1412BCDE23E4}" srcOrd="0" destOrd="0" parTransId="{7963939E-78C7-4563-8209-421DA3815F9E}" sibTransId="{426CFC0C-9B3B-40EE-9259-E272D12CB16C}"/>
    <dgm:cxn modelId="{B583D33D-ECD7-4EFA-9992-277F29D4F577}" srcId="{37D794CD-1580-4AE9-A360-324617E74F17}" destId="{24BDD941-F895-470C-8E05-02B304401A6D}" srcOrd="2" destOrd="0" parTransId="{C560511D-672E-49C3-A239-184B9960625B}" sibTransId="{FAFA617A-EE25-4AF5-9B56-5F40923AB542}"/>
    <dgm:cxn modelId="{71BC6741-6A6B-441B-ADD1-BE6CF3131DCC}" srcId="{4FB5EA29-C88E-4084-870F-29568ED713C5}" destId="{32554DCC-CD6F-4D29-86B5-665AAF2D4777}" srcOrd="0" destOrd="0" parTransId="{E56E99E0-3FF8-4833-8BB2-0E519348662A}" sibTransId="{4823C4B3-B462-427D-98CD-C9F1B805CBFD}"/>
    <dgm:cxn modelId="{50B8A364-E493-47E5-BB60-BF11080A5116}" srcId="{24BDD941-F895-470C-8E05-02B304401A6D}" destId="{C89131DC-0CD1-4027-BDA1-BD1720AFCC24}" srcOrd="0" destOrd="0" parTransId="{D0FBAE53-FF45-4597-A79F-A35715D58DE2}" sibTransId="{1418B944-5A77-44AD-B3A9-B5A0873C85D0}"/>
    <dgm:cxn modelId="{76B27E50-56E7-4276-A949-C4DEF2181FEF}" srcId="{52AEF07F-A302-4136-A8A4-1412BCDE23E4}" destId="{B0228AAD-75B2-42B1-B4FD-E84714F513CE}" srcOrd="0" destOrd="0" parTransId="{45AB1ED1-1CCD-4ADC-811A-5C21925E5383}" sibTransId="{37FBC263-404F-4198-B5EB-B68D576FE29B}"/>
    <dgm:cxn modelId="{CDFE1075-14D2-4556-8251-C0DEECDB2B9F}" srcId="{37D794CD-1580-4AE9-A360-324617E74F17}" destId="{4FB5EA29-C88E-4084-870F-29568ED713C5}" srcOrd="3" destOrd="0" parTransId="{8A41A739-FFCF-493C-97E9-6E95C320C59B}" sibTransId="{B837F8A9-24E4-4BA7-8968-F86FCD938301}"/>
    <dgm:cxn modelId="{FD28597C-39FB-4278-9CEA-85C5CCCFB0DF}" type="presOf" srcId="{171BD8B6-602A-42E7-8DDE-F27A1B86FC7E}" destId="{370CFB84-8666-448B-A28F-CF7AC6CF2182}" srcOrd="0" destOrd="0" presId="urn:microsoft.com/office/officeart/2005/8/layout/vList6"/>
    <dgm:cxn modelId="{CC5E4D90-36A0-471A-9D30-3999CD60A2F0}" type="presOf" srcId="{24BDD941-F895-470C-8E05-02B304401A6D}" destId="{3CF69CBB-AB60-40E9-B676-D99A4F137EE4}" srcOrd="0" destOrd="0" presId="urn:microsoft.com/office/officeart/2005/8/layout/vList6"/>
    <dgm:cxn modelId="{41E79D96-8228-44C8-B135-59AD2D9DBF91}" type="presOf" srcId="{37D794CD-1580-4AE9-A360-324617E74F17}" destId="{5A11440C-5FDD-4DAA-8555-1344D00E9F91}" srcOrd="0" destOrd="0" presId="urn:microsoft.com/office/officeart/2005/8/layout/vList6"/>
    <dgm:cxn modelId="{6F59E2A8-DED9-4269-916E-2DBDCAF1A42D}" srcId="{34C3C7D2-AD38-4349-B05C-46D2268562CD}" destId="{171BD8B6-602A-42E7-8DDE-F27A1B86FC7E}" srcOrd="0" destOrd="0" parTransId="{37267A21-4CE5-4E18-80F6-8BA79B111122}" sibTransId="{441B0A13-BB46-4761-AFAD-C7793ED63FBA}"/>
    <dgm:cxn modelId="{87AF24AD-1297-4EA5-8BEE-2EA6A8DA7016}" type="presOf" srcId="{52AEF07F-A302-4136-A8A4-1412BCDE23E4}" destId="{3C189E42-1C82-47BC-AEF4-968E6539DB3D}" srcOrd="0" destOrd="0" presId="urn:microsoft.com/office/officeart/2005/8/layout/vList6"/>
    <dgm:cxn modelId="{8F08CFB6-E98A-4E36-99F7-24EB9D5611A6}" type="presOf" srcId="{34C3C7D2-AD38-4349-B05C-46D2268562CD}" destId="{BC652831-A672-41F8-ABFF-123839AC717E}" srcOrd="0" destOrd="0" presId="urn:microsoft.com/office/officeart/2005/8/layout/vList6"/>
    <dgm:cxn modelId="{586A7DC3-1F2B-4DBC-9F2A-FDB70985D9C7}" type="presOf" srcId="{32554DCC-CD6F-4D29-86B5-665AAF2D4777}" destId="{F51D590B-0321-49F7-B6F6-79BF3F67FF3B}" srcOrd="0" destOrd="0" presId="urn:microsoft.com/office/officeart/2005/8/layout/vList6"/>
    <dgm:cxn modelId="{A2B7ECEB-C8BA-428F-9587-B5436953C930}" srcId="{37D794CD-1580-4AE9-A360-324617E74F17}" destId="{34C3C7D2-AD38-4349-B05C-46D2268562CD}" srcOrd="1" destOrd="0" parTransId="{C763E8E5-99C3-415B-8D31-E687771145D6}" sibTransId="{B605B9D0-D191-4E24-86D8-F0720649A657}"/>
    <dgm:cxn modelId="{BC725DF6-DECE-4EC8-958C-867F33FAFF14}" type="presOf" srcId="{4FB5EA29-C88E-4084-870F-29568ED713C5}" destId="{79225C4E-023E-4352-AC23-B162D9663D7C}" srcOrd="0" destOrd="0" presId="urn:microsoft.com/office/officeart/2005/8/layout/vList6"/>
    <dgm:cxn modelId="{FBC2B7F8-1A9D-4377-9068-8ED917D91851}" type="presOf" srcId="{C89131DC-0CD1-4027-BDA1-BD1720AFCC24}" destId="{0412DE2F-2DCC-490B-8ADB-66ED5C55255B}" srcOrd="0" destOrd="0" presId="urn:microsoft.com/office/officeart/2005/8/layout/vList6"/>
    <dgm:cxn modelId="{E11C32C9-B751-4E63-8604-2AB274AE6C39}" type="presParOf" srcId="{5A11440C-5FDD-4DAA-8555-1344D00E9F91}" destId="{887F6B37-F7F1-47B6-B873-BE96A6C53041}" srcOrd="0" destOrd="0" presId="urn:microsoft.com/office/officeart/2005/8/layout/vList6"/>
    <dgm:cxn modelId="{169D5B44-2E0D-49BB-B9A8-761FF54D81D0}" type="presParOf" srcId="{887F6B37-F7F1-47B6-B873-BE96A6C53041}" destId="{3C189E42-1C82-47BC-AEF4-968E6539DB3D}" srcOrd="0" destOrd="0" presId="urn:microsoft.com/office/officeart/2005/8/layout/vList6"/>
    <dgm:cxn modelId="{470EC6EC-4D23-443C-9018-07B4CAA1015F}" type="presParOf" srcId="{887F6B37-F7F1-47B6-B873-BE96A6C53041}" destId="{5EBC1A2D-72F2-465C-83A0-C60BD320247A}" srcOrd="1" destOrd="0" presId="urn:microsoft.com/office/officeart/2005/8/layout/vList6"/>
    <dgm:cxn modelId="{AFB2754C-CEEC-4134-8CF9-D75EE7B26E61}" type="presParOf" srcId="{5A11440C-5FDD-4DAA-8555-1344D00E9F91}" destId="{A476B1E3-505C-44DA-87F9-DEBCDCEF3C45}" srcOrd="1" destOrd="0" presId="urn:microsoft.com/office/officeart/2005/8/layout/vList6"/>
    <dgm:cxn modelId="{057C9672-2C40-4919-8820-21D52BFB12E7}" type="presParOf" srcId="{5A11440C-5FDD-4DAA-8555-1344D00E9F91}" destId="{E2A4F133-2F97-4210-B84F-B20655712378}" srcOrd="2" destOrd="0" presId="urn:microsoft.com/office/officeart/2005/8/layout/vList6"/>
    <dgm:cxn modelId="{1457BA6F-8353-4BEF-8944-95306AD730B6}" type="presParOf" srcId="{E2A4F133-2F97-4210-B84F-B20655712378}" destId="{BC652831-A672-41F8-ABFF-123839AC717E}" srcOrd="0" destOrd="0" presId="urn:microsoft.com/office/officeart/2005/8/layout/vList6"/>
    <dgm:cxn modelId="{38A5E646-AA98-4A56-996E-34ED43F65F80}" type="presParOf" srcId="{E2A4F133-2F97-4210-B84F-B20655712378}" destId="{370CFB84-8666-448B-A28F-CF7AC6CF2182}" srcOrd="1" destOrd="0" presId="urn:microsoft.com/office/officeart/2005/8/layout/vList6"/>
    <dgm:cxn modelId="{330E8958-9A5C-4781-8661-6BFFE47908C1}" type="presParOf" srcId="{5A11440C-5FDD-4DAA-8555-1344D00E9F91}" destId="{63B60435-2698-494D-AA75-EDA2909CC2A5}" srcOrd="3" destOrd="0" presId="urn:microsoft.com/office/officeart/2005/8/layout/vList6"/>
    <dgm:cxn modelId="{1DBD6E91-909B-406A-9B63-31AB927C5182}" type="presParOf" srcId="{5A11440C-5FDD-4DAA-8555-1344D00E9F91}" destId="{5A43C519-C8FF-4E4C-A797-FC02AF44B4E5}" srcOrd="4" destOrd="0" presId="urn:microsoft.com/office/officeart/2005/8/layout/vList6"/>
    <dgm:cxn modelId="{DBE9528D-50B8-4B98-863D-F3FD8A266E60}" type="presParOf" srcId="{5A43C519-C8FF-4E4C-A797-FC02AF44B4E5}" destId="{3CF69CBB-AB60-40E9-B676-D99A4F137EE4}" srcOrd="0" destOrd="0" presId="urn:microsoft.com/office/officeart/2005/8/layout/vList6"/>
    <dgm:cxn modelId="{75D12F09-3E61-4E15-9AC7-0AD36A428E69}" type="presParOf" srcId="{5A43C519-C8FF-4E4C-A797-FC02AF44B4E5}" destId="{0412DE2F-2DCC-490B-8ADB-66ED5C55255B}" srcOrd="1" destOrd="0" presId="urn:microsoft.com/office/officeart/2005/8/layout/vList6"/>
    <dgm:cxn modelId="{47782706-9B75-4347-BD1A-EFF72520968E}" type="presParOf" srcId="{5A11440C-5FDD-4DAA-8555-1344D00E9F91}" destId="{D246089B-8B55-4C84-BB5A-C0960CA32DF1}" srcOrd="5" destOrd="0" presId="urn:microsoft.com/office/officeart/2005/8/layout/vList6"/>
    <dgm:cxn modelId="{F374E368-CFC2-4625-8A6A-5FA564479FE7}" type="presParOf" srcId="{5A11440C-5FDD-4DAA-8555-1344D00E9F91}" destId="{149B2778-FC96-4A66-9B41-3902D97F9D46}" srcOrd="6" destOrd="0" presId="urn:microsoft.com/office/officeart/2005/8/layout/vList6"/>
    <dgm:cxn modelId="{6F63BA38-5811-460B-8767-4CCDD98B8CEC}" type="presParOf" srcId="{149B2778-FC96-4A66-9B41-3902D97F9D46}" destId="{79225C4E-023E-4352-AC23-B162D9663D7C}" srcOrd="0" destOrd="0" presId="urn:microsoft.com/office/officeart/2005/8/layout/vList6"/>
    <dgm:cxn modelId="{3A77750E-8511-4F32-A61A-3A9AF728E326}" type="presParOf" srcId="{149B2778-FC96-4A66-9B41-3902D97F9D46}" destId="{F51D590B-0321-49F7-B6F6-79BF3F67FF3B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24302B-EC04-4B2F-919C-611763DD00DC}">
      <dsp:nvSpPr>
        <dsp:cNvPr id="0" name=""/>
        <dsp:cNvSpPr/>
      </dsp:nvSpPr>
      <dsp:spPr>
        <a:xfrm>
          <a:off x="0" y="744297"/>
          <a:ext cx="2424588" cy="145475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baseline="0" dirty="0">
              <a:solidFill>
                <a:schemeClr val="tx1"/>
              </a:solidFill>
            </a:rPr>
            <a:t>Decimal systems</a:t>
          </a:r>
          <a:endParaRPr lang="en-MY" sz="2300" kern="1200" dirty="0">
            <a:solidFill>
              <a:schemeClr val="tx1"/>
            </a:solidFill>
          </a:endParaRPr>
        </a:p>
      </dsp:txBody>
      <dsp:txXfrm>
        <a:off x="0" y="744297"/>
        <a:ext cx="2424588" cy="1454753"/>
      </dsp:txXfrm>
    </dsp:sp>
    <dsp:sp modelId="{9305E1FE-54FD-4A0F-9314-841440143396}">
      <dsp:nvSpPr>
        <dsp:cNvPr id="0" name=""/>
        <dsp:cNvSpPr/>
      </dsp:nvSpPr>
      <dsp:spPr>
        <a:xfrm>
          <a:off x="2667047" y="744297"/>
          <a:ext cx="2424588" cy="145475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baseline="0">
              <a:solidFill>
                <a:schemeClr val="tx1"/>
              </a:solidFill>
            </a:rPr>
            <a:t>Binary systems</a:t>
          </a:r>
          <a:endParaRPr lang="en-MY" sz="2300" kern="1200">
            <a:solidFill>
              <a:schemeClr val="tx1"/>
            </a:solidFill>
          </a:endParaRPr>
        </a:p>
      </dsp:txBody>
      <dsp:txXfrm>
        <a:off x="2667047" y="744297"/>
        <a:ext cx="2424588" cy="1454753"/>
      </dsp:txXfrm>
    </dsp:sp>
    <dsp:sp modelId="{6F722977-D9C1-4174-8062-EA11B97BD452}">
      <dsp:nvSpPr>
        <dsp:cNvPr id="0" name=""/>
        <dsp:cNvSpPr/>
      </dsp:nvSpPr>
      <dsp:spPr>
        <a:xfrm>
          <a:off x="5334095" y="744297"/>
          <a:ext cx="2424588" cy="145475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baseline="0">
              <a:solidFill>
                <a:schemeClr val="tx1"/>
              </a:solidFill>
            </a:rPr>
            <a:t>Converting between binary and decimal</a:t>
          </a:r>
          <a:endParaRPr lang="en-MY" sz="2300" kern="1200">
            <a:solidFill>
              <a:schemeClr val="tx1"/>
            </a:solidFill>
          </a:endParaRPr>
        </a:p>
      </dsp:txBody>
      <dsp:txXfrm>
        <a:off x="5334095" y="744297"/>
        <a:ext cx="2424588" cy="1454753"/>
      </dsp:txXfrm>
    </dsp:sp>
    <dsp:sp modelId="{AC41FEC1-BF9B-40DC-A882-16C1AA79E4F6}">
      <dsp:nvSpPr>
        <dsp:cNvPr id="0" name=""/>
        <dsp:cNvSpPr/>
      </dsp:nvSpPr>
      <dsp:spPr>
        <a:xfrm>
          <a:off x="1333523" y="2441509"/>
          <a:ext cx="2424588" cy="145475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baseline="0">
              <a:solidFill>
                <a:schemeClr val="tx1"/>
              </a:solidFill>
            </a:rPr>
            <a:t>Converting between hexadecimal and binary</a:t>
          </a:r>
          <a:endParaRPr lang="en-MY" sz="2300" kern="1200">
            <a:solidFill>
              <a:schemeClr val="tx1"/>
            </a:solidFill>
          </a:endParaRPr>
        </a:p>
      </dsp:txBody>
      <dsp:txXfrm>
        <a:off x="1333523" y="2441509"/>
        <a:ext cx="2424588" cy="1454753"/>
      </dsp:txXfrm>
    </dsp:sp>
    <dsp:sp modelId="{D6F57FEA-4C66-4E98-99BC-214BF158C0F2}">
      <dsp:nvSpPr>
        <dsp:cNvPr id="0" name=""/>
        <dsp:cNvSpPr/>
      </dsp:nvSpPr>
      <dsp:spPr>
        <a:xfrm>
          <a:off x="4000571" y="2441509"/>
          <a:ext cx="2424588" cy="145475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baseline="0">
              <a:solidFill>
                <a:schemeClr val="tx1"/>
              </a:solidFill>
            </a:rPr>
            <a:t>Character Codes</a:t>
          </a:r>
          <a:endParaRPr lang="en-MY" sz="2300" kern="1200">
            <a:solidFill>
              <a:schemeClr val="tx1"/>
            </a:solidFill>
          </a:endParaRPr>
        </a:p>
      </dsp:txBody>
      <dsp:txXfrm>
        <a:off x="4000571" y="2441509"/>
        <a:ext cx="2424588" cy="145475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BC1A2D-72F2-465C-83A0-C60BD320247A}">
      <dsp:nvSpPr>
        <dsp:cNvPr id="0" name=""/>
        <dsp:cNvSpPr/>
      </dsp:nvSpPr>
      <dsp:spPr>
        <a:xfrm>
          <a:off x="2907665" y="1274"/>
          <a:ext cx="4361497" cy="1011346"/>
        </a:xfrm>
        <a:prstGeom prst="rightArrow">
          <a:avLst>
            <a:gd name="adj1" fmla="val 75000"/>
            <a:gd name="adj2" fmla="val 50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2600" kern="1200" dirty="0"/>
            <a:t>Each digit in the binary system</a:t>
          </a:r>
        </a:p>
      </dsp:txBody>
      <dsp:txXfrm>
        <a:off x="2907665" y="127692"/>
        <a:ext cx="3982242" cy="758510"/>
      </dsp:txXfrm>
    </dsp:sp>
    <dsp:sp modelId="{3C189E42-1C82-47BC-AEF4-968E6539DB3D}">
      <dsp:nvSpPr>
        <dsp:cNvPr id="0" name=""/>
        <dsp:cNvSpPr/>
      </dsp:nvSpPr>
      <dsp:spPr>
        <a:xfrm>
          <a:off x="0" y="1274"/>
          <a:ext cx="2907665" cy="1011346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83820" rIns="167640" bIns="8382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4400" kern="1200" dirty="0"/>
            <a:t>BIT</a:t>
          </a:r>
        </a:p>
      </dsp:txBody>
      <dsp:txXfrm>
        <a:off x="49370" y="50644"/>
        <a:ext cx="2808925" cy="912606"/>
      </dsp:txXfrm>
    </dsp:sp>
    <dsp:sp modelId="{370CFB84-8666-448B-A28F-CF7AC6CF2182}">
      <dsp:nvSpPr>
        <dsp:cNvPr id="0" name=""/>
        <dsp:cNvSpPr/>
      </dsp:nvSpPr>
      <dsp:spPr>
        <a:xfrm>
          <a:off x="2907665" y="1113755"/>
          <a:ext cx="4361497" cy="1011346"/>
        </a:xfrm>
        <a:prstGeom prst="rightArrow">
          <a:avLst>
            <a:gd name="adj1" fmla="val 75000"/>
            <a:gd name="adj2" fmla="val 50000"/>
          </a:avLst>
        </a:prstGeom>
        <a:solidFill>
          <a:schemeClr val="accent5">
            <a:tint val="40000"/>
            <a:alpha val="90000"/>
            <a:hueOff val="-6475096"/>
            <a:satOff val="1642"/>
            <a:lumOff val="208"/>
            <a:alphaOff val="0"/>
          </a:schemeClr>
        </a:solidFill>
        <a:ln w="13970" cap="flat" cmpd="sng" algn="ctr">
          <a:solidFill>
            <a:schemeClr val="accent5">
              <a:tint val="40000"/>
              <a:alpha val="90000"/>
              <a:hueOff val="-6475096"/>
              <a:satOff val="1642"/>
              <a:lumOff val="20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2600" kern="1200" dirty="0"/>
            <a:t>A group of 4 bits binary </a:t>
          </a:r>
        </a:p>
      </dsp:txBody>
      <dsp:txXfrm>
        <a:off x="2907665" y="1240173"/>
        <a:ext cx="3982242" cy="758510"/>
      </dsp:txXfrm>
    </dsp:sp>
    <dsp:sp modelId="{BC652831-A672-41F8-ABFF-123839AC717E}">
      <dsp:nvSpPr>
        <dsp:cNvPr id="0" name=""/>
        <dsp:cNvSpPr/>
      </dsp:nvSpPr>
      <dsp:spPr>
        <a:xfrm>
          <a:off x="0" y="1113755"/>
          <a:ext cx="2907665" cy="1011346"/>
        </a:xfrm>
        <a:prstGeom prst="roundRect">
          <a:avLst/>
        </a:prstGeom>
        <a:solidFill>
          <a:schemeClr val="accent5">
            <a:hueOff val="-6356385"/>
            <a:satOff val="1676"/>
            <a:lumOff val="85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83820" rIns="167640" bIns="8382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4400" kern="1200" dirty="0"/>
            <a:t>NIBBLE</a:t>
          </a:r>
        </a:p>
      </dsp:txBody>
      <dsp:txXfrm>
        <a:off x="49370" y="1163125"/>
        <a:ext cx="2808925" cy="912606"/>
      </dsp:txXfrm>
    </dsp:sp>
    <dsp:sp modelId="{0412DE2F-2DCC-490B-8ADB-66ED5C55255B}">
      <dsp:nvSpPr>
        <dsp:cNvPr id="0" name=""/>
        <dsp:cNvSpPr/>
      </dsp:nvSpPr>
      <dsp:spPr>
        <a:xfrm>
          <a:off x="2907665" y="2226236"/>
          <a:ext cx="4361497" cy="1011346"/>
        </a:xfrm>
        <a:prstGeom prst="rightArrow">
          <a:avLst>
            <a:gd name="adj1" fmla="val 75000"/>
            <a:gd name="adj2" fmla="val 50000"/>
          </a:avLst>
        </a:prstGeom>
        <a:solidFill>
          <a:schemeClr val="accent5">
            <a:tint val="40000"/>
            <a:alpha val="90000"/>
            <a:hueOff val="-12950192"/>
            <a:satOff val="3283"/>
            <a:lumOff val="417"/>
            <a:alphaOff val="0"/>
          </a:schemeClr>
        </a:solidFill>
        <a:ln w="13970" cap="flat" cmpd="sng" algn="ctr">
          <a:solidFill>
            <a:schemeClr val="accent5">
              <a:tint val="40000"/>
              <a:alpha val="90000"/>
              <a:hueOff val="-12950192"/>
              <a:satOff val="3283"/>
              <a:lumOff val="41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2600" kern="1200" dirty="0"/>
            <a:t>A group of 8 bits binary</a:t>
          </a:r>
        </a:p>
      </dsp:txBody>
      <dsp:txXfrm>
        <a:off x="2907665" y="2352654"/>
        <a:ext cx="3982242" cy="758510"/>
      </dsp:txXfrm>
    </dsp:sp>
    <dsp:sp modelId="{3CF69CBB-AB60-40E9-B676-D99A4F137EE4}">
      <dsp:nvSpPr>
        <dsp:cNvPr id="0" name=""/>
        <dsp:cNvSpPr/>
      </dsp:nvSpPr>
      <dsp:spPr>
        <a:xfrm>
          <a:off x="0" y="2226236"/>
          <a:ext cx="2907665" cy="1011346"/>
        </a:xfrm>
        <a:prstGeom prst="roundRect">
          <a:avLst/>
        </a:prstGeom>
        <a:solidFill>
          <a:schemeClr val="accent5">
            <a:hueOff val="-12712771"/>
            <a:satOff val="3353"/>
            <a:lumOff val="1699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83820" rIns="167640" bIns="8382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4400" kern="1200" dirty="0"/>
            <a:t>BYTE</a:t>
          </a:r>
        </a:p>
      </dsp:txBody>
      <dsp:txXfrm>
        <a:off x="49370" y="2275606"/>
        <a:ext cx="2808925" cy="912606"/>
      </dsp:txXfrm>
    </dsp:sp>
    <dsp:sp modelId="{F51D590B-0321-49F7-B6F6-79BF3F67FF3B}">
      <dsp:nvSpPr>
        <dsp:cNvPr id="0" name=""/>
        <dsp:cNvSpPr/>
      </dsp:nvSpPr>
      <dsp:spPr>
        <a:xfrm>
          <a:off x="2907665" y="3338717"/>
          <a:ext cx="4361497" cy="1011346"/>
        </a:xfrm>
        <a:prstGeom prst="rightArrow">
          <a:avLst>
            <a:gd name="adj1" fmla="val 75000"/>
            <a:gd name="adj2" fmla="val 50000"/>
          </a:avLst>
        </a:prstGeom>
        <a:solidFill>
          <a:schemeClr val="accent5">
            <a:tint val="40000"/>
            <a:alpha val="90000"/>
            <a:hueOff val="-19425287"/>
            <a:satOff val="4925"/>
            <a:lumOff val="625"/>
            <a:alphaOff val="0"/>
          </a:schemeClr>
        </a:solidFill>
        <a:ln w="13970" cap="flat" cmpd="sng" algn="ctr">
          <a:solidFill>
            <a:schemeClr val="accent5">
              <a:tint val="40000"/>
              <a:alpha val="90000"/>
              <a:hueOff val="-19425287"/>
              <a:satOff val="4925"/>
              <a:lumOff val="62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2600" kern="1200" dirty="0"/>
            <a:t>Two bytes number </a:t>
          </a:r>
        </a:p>
      </dsp:txBody>
      <dsp:txXfrm>
        <a:off x="2907665" y="3465135"/>
        <a:ext cx="3982242" cy="758510"/>
      </dsp:txXfrm>
    </dsp:sp>
    <dsp:sp modelId="{79225C4E-023E-4352-AC23-B162D9663D7C}">
      <dsp:nvSpPr>
        <dsp:cNvPr id="0" name=""/>
        <dsp:cNvSpPr/>
      </dsp:nvSpPr>
      <dsp:spPr>
        <a:xfrm>
          <a:off x="0" y="3338717"/>
          <a:ext cx="2907665" cy="1011346"/>
        </a:xfrm>
        <a:prstGeom prst="roundRect">
          <a:avLst/>
        </a:prstGeom>
        <a:solidFill>
          <a:schemeClr val="accent5">
            <a:hueOff val="-19069156"/>
            <a:satOff val="5029"/>
            <a:lumOff val="2549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83820" rIns="167640" bIns="8382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4400" kern="1200" dirty="0"/>
            <a:t>WORD</a:t>
          </a:r>
        </a:p>
      </dsp:txBody>
      <dsp:txXfrm>
        <a:off x="49370" y="3388087"/>
        <a:ext cx="2808925" cy="9126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64688525-1AF3-B969-2FCE-16C86CE62BA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0000" tIns="46800" rIns="90000" bIns="46800" numCol="1" anchor="ctr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FontTx/>
              <a:buNone/>
              <a:defRPr kumimoji="0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EDC63393-9252-B446-A353-622C568B82E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0000" tIns="46800" rIns="90000" bIns="46800" numCol="1" anchor="ctr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FontTx/>
              <a:buNone/>
              <a:defRPr kumimoji="0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0420" name="Rectangle 4">
            <a:extLst>
              <a:ext uri="{FF2B5EF4-FFF2-40B4-BE49-F238E27FC236}">
                <a16:creationId xmlns:a16="http://schemas.microsoft.com/office/drawing/2014/main" id="{5250BD71-6BC6-BA75-7F12-FFECAB7B2E2B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0000" tIns="46800" rIns="90000" bIns="4680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FontTx/>
              <a:buNone/>
              <a:defRPr kumimoji="0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0421" name="Rectangle 5">
            <a:extLst>
              <a:ext uri="{FF2B5EF4-FFF2-40B4-BE49-F238E27FC236}">
                <a16:creationId xmlns:a16="http://schemas.microsoft.com/office/drawing/2014/main" id="{5DFB4593-66F9-17CA-94D5-7F07742A09E4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>
              <a:defRPr kumimoji="0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7FAA226-249B-4A8F-96B5-BF404E338BF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7B7DEADF-537F-3C67-BB12-ABC3ED5531D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0000" tIns="46800" rIns="90000" bIns="46800" numCol="1" anchor="ctr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FontTx/>
              <a:buNone/>
              <a:defRPr kumimoji="0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E5FF9B9F-56E7-E1F5-962D-E354A0705F8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0000" tIns="46800" rIns="90000" bIns="46800" numCol="1" anchor="ctr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FontTx/>
              <a:buNone/>
              <a:defRPr kumimoji="0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4" name="Rectangle 4">
            <a:extLst>
              <a:ext uri="{FF2B5EF4-FFF2-40B4-BE49-F238E27FC236}">
                <a16:creationId xmlns:a16="http://schemas.microsoft.com/office/drawing/2014/main" id="{28117C46-2B5A-6CAA-D2F8-744A704B7884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7" name="Rectangle 5">
            <a:extLst>
              <a:ext uri="{FF2B5EF4-FFF2-40B4-BE49-F238E27FC236}">
                <a16:creationId xmlns:a16="http://schemas.microsoft.com/office/drawing/2014/main" id="{961F8B14-2B88-D187-ADCF-08A0E915C4B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9398" name="Rectangle 6">
            <a:extLst>
              <a:ext uri="{FF2B5EF4-FFF2-40B4-BE49-F238E27FC236}">
                <a16:creationId xmlns:a16="http://schemas.microsoft.com/office/drawing/2014/main" id="{ABD065DC-ECFC-8F9E-6B6A-3934D3968FA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0000" tIns="46800" rIns="90000" bIns="4680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FontTx/>
              <a:buNone/>
              <a:defRPr kumimoji="0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9399" name="Rectangle 7">
            <a:extLst>
              <a:ext uri="{FF2B5EF4-FFF2-40B4-BE49-F238E27FC236}">
                <a16:creationId xmlns:a16="http://schemas.microsoft.com/office/drawing/2014/main" id="{290C2D08-4038-128E-5329-BFDC0F51189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>
              <a:defRPr kumimoji="0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E8851A0B-CE16-48A4-A19E-1D7947446E7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>
            <a:extLst>
              <a:ext uri="{FF2B5EF4-FFF2-40B4-BE49-F238E27FC236}">
                <a16:creationId xmlns:a16="http://schemas.microsoft.com/office/drawing/2014/main" id="{4A2C0E96-0C05-3E69-EB29-8E2060627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2C393EB0-7FD1-4FF1-9EFA-B896AC02FF94}" type="slidenum">
              <a:rPr kumimoji="0" lang="en-US" altLang="en-US" sz="1200" smtClean="0">
                <a:latin typeface="Times New Roman" panose="02020603050405020304" pitchFamily="18" charset="0"/>
              </a:rPr>
              <a:pPr/>
              <a:t>1</a:t>
            </a:fld>
            <a:endParaRPr kumimoji="0"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88137A89-6224-0674-0B53-FC69D4E37AC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7DD50A4B-EE94-1FCA-0F5D-B15E030987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271BF1BF-400E-AAA9-6CD3-A8FACEE1FF4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3CBB2291-B16D-462B-A749-0574BDABCF02}" type="slidenum">
              <a:rPr kumimoji="0" lang="en-US" altLang="en-US" sz="1200" smtClean="0">
                <a:latin typeface="Times New Roman" panose="02020603050405020304" pitchFamily="18" charset="0"/>
              </a:rPr>
              <a:pPr/>
              <a:t>2</a:t>
            </a:fld>
            <a:endParaRPr kumimoji="0"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19E9B9AC-37B9-93D4-9F2B-89FC6A6A58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09066A8F-52F3-F68F-961D-C7D508096C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>
            <a:extLst>
              <a:ext uri="{FF2B5EF4-FFF2-40B4-BE49-F238E27FC236}">
                <a16:creationId xmlns:a16="http://schemas.microsoft.com/office/drawing/2014/main" id="{2F3A6920-4ACC-BC93-30FF-6C61C36195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3FAB05-1B8F-FF86-D56B-76EFD6AB94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MY" dirty="0"/>
              <a:t>LO</a:t>
            </a:r>
          </a:p>
          <a:p>
            <a:pPr>
              <a:defRPr/>
            </a:pPr>
            <a:r>
              <a:rPr lang="en-MY" dirty="0"/>
              <a:t> </a:t>
            </a:r>
          </a:p>
          <a:p>
            <a:pPr marL="228600" indent="-228600">
              <a:buFontTx/>
              <a:buAutoNum type="arabicParenR"/>
              <a:defRPr/>
            </a:pPr>
            <a:r>
              <a:rPr lang="en-MY" dirty="0"/>
              <a:t>Understand the basic concepts and terminology of positional number systems </a:t>
            </a:r>
          </a:p>
          <a:p>
            <a:pPr marL="228600" indent="-228600">
              <a:buFontTx/>
              <a:buAutoNum type="arabicParenR"/>
              <a:defRPr/>
            </a:pPr>
            <a:r>
              <a:rPr lang="en-MY" dirty="0"/>
              <a:t>Explain the techniques for converting </a:t>
            </a:r>
          </a:p>
        </p:txBody>
      </p:sp>
      <p:sp>
        <p:nvSpPr>
          <p:cNvPr id="18436" name="Slide Number Placeholder 3">
            <a:extLst>
              <a:ext uri="{FF2B5EF4-FFF2-40B4-BE49-F238E27FC236}">
                <a16:creationId xmlns:a16="http://schemas.microsoft.com/office/drawing/2014/main" id="{C3C76D31-5AC7-9AB4-B229-D3B9A76A5D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5A1B2BE5-33BB-4A54-A931-FCA238A6EB45}" type="slidenum">
              <a:rPr kumimoji="0" lang="en-US" altLang="en-US" sz="1200" smtClean="0">
                <a:latin typeface="Times New Roman" panose="02020603050405020304" pitchFamily="18" charset="0"/>
              </a:rPr>
              <a:pPr/>
              <a:t>4</a:t>
            </a:fld>
            <a:endParaRPr kumimoji="0"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number system is a way to represent or express numbers. </a:t>
            </a:r>
          </a:p>
          <a:p>
            <a:r>
              <a:rPr lang="en-US" dirty="0"/>
              <a:t>You have heard of various types of number systems such as the whole numbers and the real numbers. </a:t>
            </a:r>
          </a:p>
          <a:p>
            <a:r>
              <a:rPr lang="en-US" dirty="0"/>
              <a:t>But in the context of computers, we define other types of number systems.</a:t>
            </a:r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8851A0B-CE16-48A4-A19E-1D7947446E75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88916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dirty="0"/>
              <a:t>Besides decimal number, binary (base 2), octal (base 8) and Hexadecimal (base 16) are commonly used in the digital electronics system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8851A0B-CE16-48A4-A19E-1D7947446E75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2516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>
            <a:extLst>
              <a:ext uri="{FF2B5EF4-FFF2-40B4-BE49-F238E27FC236}">
                <a16:creationId xmlns:a16="http://schemas.microsoft.com/office/drawing/2014/main" id="{F6670A4C-210E-8DB5-E565-838E999EDD8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Notes Placeholder 2">
            <a:extLst>
              <a:ext uri="{FF2B5EF4-FFF2-40B4-BE49-F238E27FC236}">
                <a16:creationId xmlns:a16="http://schemas.microsoft.com/office/drawing/2014/main" id="{B2F56544-1209-7854-76B9-76250514D2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MY" altLang="en-US" dirty="0"/>
              <a:t>INFO </a:t>
            </a:r>
          </a:p>
          <a:p>
            <a:endParaRPr lang="en-MY" altLang="en-US" dirty="0"/>
          </a:p>
          <a:p>
            <a:pPr marL="171450" indent="-171450">
              <a:buFontTx/>
              <a:buChar char="-"/>
            </a:pPr>
            <a:r>
              <a:rPr lang="en-MY" altLang="en-US" dirty="0"/>
              <a:t>Computer memories are designed with a most remarkable property</a:t>
            </a:r>
          </a:p>
          <a:p>
            <a:pPr marL="171450" indent="-171450">
              <a:buFontTx/>
              <a:buChar char="-"/>
            </a:pPr>
            <a:r>
              <a:rPr lang="en-MY" altLang="en-US" dirty="0"/>
              <a:t>Each storage location can contain either a high-voltage signal or a low-voltage signal ( never anything in between) </a:t>
            </a:r>
          </a:p>
          <a:p>
            <a:pPr marL="171450" indent="-171450">
              <a:buFontTx/>
              <a:buChar char="-"/>
            </a:pPr>
            <a:r>
              <a:rPr lang="en-MY" altLang="en-US" dirty="0"/>
              <a:t>The storage location is like being pregnant. Either you are or you are not. There is no halfway </a:t>
            </a:r>
            <a:r>
              <a:rPr lang="en-MY" altLang="en-US" dirty="0">
                <a:sym typeface="Wingdings" panose="05000000000000000000" pitchFamily="2" charset="2"/>
              </a:rPr>
              <a:t> </a:t>
            </a:r>
            <a:endParaRPr lang="en-MY" altLang="en-US" dirty="0"/>
          </a:p>
        </p:txBody>
      </p:sp>
      <p:sp>
        <p:nvSpPr>
          <p:cNvPr id="22532" name="Slide Number Placeholder 3">
            <a:extLst>
              <a:ext uri="{FF2B5EF4-FFF2-40B4-BE49-F238E27FC236}">
                <a16:creationId xmlns:a16="http://schemas.microsoft.com/office/drawing/2014/main" id="{16B4E737-C831-1A42-B01B-463FE52D9C7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A14B5623-C899-4494-A626-9AC6F0EF0458}" type="slidenum">
              <a:rPr kumimoji="0" lang="en-US" altLang="en-US" sz="1200" smtClean="0">
                <a:latin typeface="Times New Roman" panose="02020603050405020304" pitchFamily="18" charset="0"/>
              </a:rPr>
              <a:pPr/>
              <a:t>10</a:t>
            </a:fld>
            <a:endParaRPr kumimoji="0" lang="en-US" altLang="en-US" sz="12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3062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b="0" i="0" dirty="0">
                <a:solidFill>
                  <a:srgbClr val="242021"/>
                </a:solidFill>
                <a:effectLst/>
                <a:latin typeface="TimesTenLTStd-Roman"/>
              </a:rPr>
              <a:t>shows the relationship between each digit position and the value assigned to that position. Each position is weighted 10 times the value of the position to the right and one-tenth the value of the position to the left. </a:t>
            </a:r>
            <a:br>
              <a:rPr lang="en-US" dirty="0"/>
            </a:br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8851A0B-CE16-48A4-A19E-1D7947446E75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27755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hundreds and nine </a:t>
            </a:r>
          </a:p>
          <a:p>
            <a:endParaRPr lang="en-US" dirty="0"/>
          </a:p>
          <a:p>
            <a:r>
              <a:rPr lang="en-US" dirty="0"/>
              <a:t>(5x10</a:t>
            </a:r>
            <a:r>
              <a:rPr lang="en-US" baseline="30000" dirty="0"/>
              <a:t>2</a:t>
            </a:r>
            <a:r>
              <a:rPr lang="en-US" dirty="0"/>
              <a:t>) + (0x10</a:t>
            </a:r>
            <a:r>
              <a:rPr lang="en-US" baseline="30000" dirty="0"/>
              <a:t>1</a:t>
            </a:r>
            <a:r>
              <a:rPr lang="en-US" dirty="0"/>
              <a:t>) + (9x10</a:t>
            </a:r>
            <a:r>
              <a:rPr lang="en-US" baseline="30000" dirty="0"/>
              <a:t>0</a:t>
            </a:r>
            <a:r>
              <a:rPr lang="en-US" dirty="0"/>
              <a:t>)</a:t>
            </a:r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8851A0B-CE16-48A4-A19E-1D7947446E75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95132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>
            <a:extLst>
              <a:ext uri="{FF2B5EF4-FFF2-40B4-BE49-F238E27FC236}">
                <a16:creationId xmlns:a16="http://schemas.microsoft.com/office/drawing/2014/main" id="{F6670A4C-210E-8DB5-E565-838E999EDD8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Notes Placeholder 2">
            <a:extLst>
              <a:ext uri="{FF2B5EF4-FFF2-40B4-BE49-F238E27FC236}">
                <a16:creationId xmlns:a16="http://schemas.microsoft.com/office/drawing/2014/main" id="{B2F56544-1209-7854-76B9-76250514D2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MY" altLang="en-US" dirty="0"/>
              <a:t>INFO </a:t>
            </a:r>
          </a:p>
          <a:p>
            <a:endParaRPr lang="en-MY" altLang="en-US" dirty="0"/>
          </a:p>
          <a:p>
            <a:pPr marL="171450" indent="-171450">
              <a:buFontTx/>
              <a:buChar char="-"/>
            </a:pPr>
            <a:r>
              <a:rPr lang="en-MY" altLang="en-US" dirty="0"/>
              <a:t>Computer memories are designed with a most remarkable property</a:t>
            </a:r>
          </a:p>
          <a:p>
            <a:pPr marL="171450" indent="-171450">
              <a:buFontTx/>
              <a:buChar char="-"/>
            </a:pPr>
            <a:r>
              <a:rPr lang="en-MY" altLang="en-US" dirty="0"/>
              <a:t>In digital electronics, we only deal with 2 possible states (High and Low, ON and OFF, or Open and Closed) </a:t>
            </a:r>
          </a:p>
          <a:p>
            <a:pPr marL="171450" indent="-171450">
              <a:buFontTx/>
              <a:buChar char="-"/>
            </a:pPr>
            <a:r>
              <a:rPr lang="en-MY" altLang="en-US" dirty="0"/>
              <a:t>Therefore, for this reason, almost all digital systems use the binary (base 2) number system as the system of its operation</a:t>
            </a:r>
          </a:p>
          <a:p>
            <a:pPr marL="171450" indent="-171450">
              <a:buFontTx/>
              <a:buChar char="-"/>
            </a:pPr>
            <a:r>
              <a:rPr lang="en-MY" altLang="en-US" dirty="0"/>
              <a:t>Each storage location can contain either a high-voltage signal or a low-voltage signal ( never anything in between) </a:t>
            </a:r>
          </a:p>
          <a:p>
            <a:pPr marL="171450" indent="-171450">
              <a:buFontTx/>
              <a:buChar char="-"/>
            </a:pPr>
            <a:r>
              <a:rPr lang="en-MY" altLang="en-US" dirty="0"/>
              <a:t>The storage location is like being pregnant. Either you are or you are not. There is no halfway </a:t>
            </a:r>
            <a:r>
              <a:rPr lang="en-MY" altLang="en-US" dirty="0">
                <a:sym typeface="Wingdings" panose="05000000000000000000" pitchFamily="2" charset="2"/>
              </a:rPr>
              <a:t> </a:t>
            </a:r>
            <a:endParaRPr lang="en-MY" altLang="en-US" dirty="0"/>
          </a:p>
        </p:txBody>
      </p:sp>
      <p:sp>
        <p:nvSpPr>
          <p:cNvPr id="22532" name="Slide Number Placeholder 3">
            <a:extLst>
              <a:ext uri="{FF2B5EF4-FFF2-40B4-BE49-F238E27FC236}">
                <a16:creationId xmlns:a16="http://schemas.microsoft.com/office/drawing/2014/main" id="{16B4E737-C831-1A42-B01B-463FE52D9C7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A14B5623-C899-4494-A626-9AC6F0EF0458}" type="slidenum">
              <a:rPr kumimoji="0" lang="en-US" altLang="en-US" sz="1200" smtClean="0">
                <a:latin typeface="Times New Roman" panose="02020603050405020304" pitchFamily="18" charset="0"/>
              </a:rPr>
              <a:pPr/>
              <a:t>17</a:t>
            </a:fld>
            <a:endParaRPr kumimoji="0" lang="en-US" altLang="en-US" sz="12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99793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Boolean logic forms the basis for designing digital circuits and programming logic.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MY" dirty="0"/>
          </a:p>
          <a:p>
            <a:r>
              <a:rPr lang="en-US" dirty="0"/>
              <a:t>Computers and other digital devices use binary signals to represent and process information. </a:t>
            </a:r>
          </a:p>
          <a:p>
            <a:endParaRPr lang="en-US" dirty="0"/>
          </a:p>
          <a:p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These signals consist of variations in voltage or current, where a high voltage (often represented as 1) indicates a "true" or "on" state, and a low voltage (often represented as 0) indicates a "false" or "off" state.</a:t>
            </a:r>
            <a:endParaRPr lang="en-US" dirty="0"/>
          </a:p>
          <a:p>
            <a:endParaRPr 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Each piece of data, such as a character, number, or instruction, is encoded using a binary representation</a:t>
            </a:r>
          </a:p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8851A0B-CE16-48A4-A19E-1D7947446E75}" type="slidenum">
              <a:rPr lang="en-US" altLang="en-US" smtClean="0"/>
              <a:pPr>
                <a:defRPr/>
              </a:pPr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142664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b="0" i="0" dirty="0">
                <a:solidFill>
                  <a:srgbClr val="242021"/>
                </a:solidFill>
                <a:effectLst/>
                <a:latin typeface="TimesTenLTStd-Roman"/>
              </a:rPr>
              <a:t>It is a simple matter to convert a number from binary notation to decimal notation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  <a:p>
            <a:r>
              <a:rPr lang="en-US" sz="1800" b="0" i="0" dirty="0">
                <a:solidFill>
                  <a:srgbClr val="242021"/>
                </a:solidFill>
                <a:effectLst/>
                <a:latin typeface="TimesTenLTStd-Roman"/>
              </a:rPr>
              <a:t>All that is required is to multiply each binary digit by the appropriate power of 2 and add the results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sz="1800" b="0" i="0" dirty="0">
                <a:solidFill>
                  <a:srgbClr val="242021"/>
                </a:solidFill>
                <a:effectLst/>
                <a:latin typeface="TimesTenLTStd-Roman"/>
              </a:rPr>
              <a:t>To convert from decimal to binary, the integer and fractional parts are handled separately.</a:t>
            </a:r>
            <a:r>
              <a:rPr lang="en-US" dirty="0"/>
              <a:t> </a:t>
            </a:r>
            <a:br>
              <a:rPr lang="en-US" dirty="0"/>
            </a:br>
            <a:br>
              <a:rPr lang="en-US" dirty="0"/>
            </a:br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8851A0B-CE16-48A4-A19E-1D7947446E75}" type="slidenum">
              <a:rPr lang="en-US" altLang="en-US" smtClean="0"/>
              <a:pPr>
                <a:defRPr/>
              </a:pPr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19569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8851A0B-CE16-48A4-A19E-1D7947446E75}" type="slidenum">
              <a:rPr lang="en-US" altLang="en-US" smtClean="0"/>
              <a:pPr>
                <a:defRPr/>
              </a:pPr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30783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b="0" i="0" dirty="0">
                <a:solidFill>
                  <a:srgbClr val="242021"/>
                </a:solidFill>
                <a:effectLst/>
                <a:latin typeface="TimesTenLTStd-Roman"/>
              </a:rPr>
              <a:t>A decimal fraction with a finite number of digits may require a binary fraction with an infinite number of digits. In such cases, the conversion algorithm is usually halted after a prespecified number of steps, depending on the desired accuracy.</a:t>
            </a:r>
            <a:r>
              <a:rPr lang="en-US" dirty="0"/>
              <a:t> </a:t>
            </a:r>
            <a:br>
              <a:rPr lang="en-US" dirty="0"/>
            </a:br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8851A0B-CE16-48A4-A19E-1D7947446E75}" type="slidenum">
              <a:rPr lang="en-US" altLang="en-US" smtClean="0"/>
              <a:pPr>
                <a:defRPr/>
              </a:pPr>
              <a:t>31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61745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dirty="0"/>
              <a:t>Cumbersome = </a:t>
            </a: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slow or complicated and therefore inefficient.</a:t>
            </a:r>
          </a:p>
          <a:p>
            <a:endParaRPr lang="en-US" b="0" i="0" dirty="0">
              <a:solidFill>
                <a:srgbClr val="202124"/>
              </a:solidFill>
              <a:effectLst/>
              <a:latin typeface="arial" panose="020B0604020202020204" pitchFamily="34" charset="0"/>
            </a:endParaRPr>
          </a:p>
          <a:p>
            <a:r>
              <a:rPr lang="en-US" sz="1800" b="0" i="0" dirty="0">
                <a:solidFill>
                  <a:srgbClr val="242021"/>
                </a:solidFill>
                <a:effectLst/>
                <a:latin typeface="TimesTenLTStd-Roman"/>
              </a:rPr>
              <a:t>Because of the inherent binary nature of digital computer components, all forms of data within computers are represented by various binary codes. </a:t>
            </a:r>
          </a:p>
          <a:p>
            <a:r>
              <a:rPr lang="en-US" sz="1800" b="0" i="0" dirty="0">
                <a:solidFill>
                  <a:srgbClr val="242021"/>
                </a:solidFill>
                <a:effectLst/>
                <a:latin typeface="TimesTenLTStd-Roman"/>
              </a:rPr>
              <a:t>However, no matter how convenient the binary system is for computers, it is exceedingly burdensome for human beings.</a:t>
            </a:r>
            <a:r>
              <a:rPr lang="en-US" dirty="0"/>
              <a:t> </a:t>
            </a:r>
          </a:p>
          <a:p>
            <a:r>
              <a:rPr lang="en-US" sz="1800" b="0" i="0" dirty="0">
                <a:solidFill>
                  <a:srgbClr val="242021"/>
                </a:solidFill>
                <a:effectLst/>
                <a:latin typeface="TimesTenLTStd-Roman"/>
              </a:rPr>
              <a:t>Consequently, most computer professionals who must spend time working with the actual raw data in the computer prefer a more compact notation.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sz="1800" b="0" i="0" dirty="0">
                <a:solidFill>
                  <a:srgbClr val="242021"/>
                </a:solidFill>
                <a:effectLst/>
                <a:latin typeface="TimesTenLTStd-Roman"/>
              </a:rPr>
              <a:t>One possibility is the decimal notation. This is certainly more compact than binary notation, but it is awkward because of the tediousness of converting between base 2 and base 10.</a:t>
            </a:r>
            <a:r>
              <a:rPr lang="en-US" dirty="0"/>
              <a:t> 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8851A0B-CE16-48A4-A19E-1D7947446E75}" type="slidenum">
              <a:rPr lang="en-US" altLang="en-US" smtClean="0"/>
              <a:pPr>
                <a:defRPr/>
              </a:pPr>
              <a:t>33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61075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b="0" i="0" dirty="0">
                <a:solidFill>
                  <a:srgbClr val="242021"/>
                </a:solidFill>
                <a:effectLst/>
                <a:latin typeface="TimesTenLTStd-Roman"/>
              </a:rPr>
              <a:t>Instead, a notation known as hexadecimal has been adopted. </a:t>
            </a:r>
          </a:p>
          <a:p>
            <a:endParaRPr lang="en-US" sz="1800" b="0" i="0" dirty="0">
              <a:solidFill>
                <a:srgbClr val="242021"/>
              </a:solidFill>
              <a:effectLst/>
              <a:latin typeface="TimesTenLTStd-Roman"/>
            </a:endParaRPr>
          </a:p>
          <a:p>
            <a:pPr algn="l"/>
            <a:r>
              <a:rPr lang="en-US" sz="2800" b="0" i="0" dirty="0">
                <a:solidFill>
                  <a:srgbClr val="59696F"/>
                </a:solidFill>
                <a:effectLst/>
                <a:latin typeface="museo-sans"/>
              </a:rPr>
              <a:t> the decimal system uses ten digits: 0 to 9. Of course, you can count beyond 9. To do so you simply use more than one digit. So, to get past 9 you change the value to 0 and add a 1 to the left. That gives you the number 10.</a:t>
            </a:r>
          </a:p>
          <a:p>
            <a:pPr algn="l"/>
            <a:endParaRPr lang="en-US" sz="2800" b="0" i="0" dirty="0">
              <a:solidFill>
                <a:srgbClr val="59696F"/>
              </a:solidFill>
              <a:effectLst/>
              <a:latin typeface="museo-sans"/>
            </a:endParaRPr>
          </a:p>
          <a:p>
            <a:pPr algn="l"/>
            <a:r>
              <a:rPr lang="en-US" sz="2800" b="0" i="0" dirty="0">
                <a:solidFill>
                  <a:srgbClr val="59696F"/>
                </a:solidFill>
                <a:effectLst/>
                <a:latin typeface="museo-sans"/>
              </a:rPr>
              <a:t>The base-2 system has just two values: 0 and 1. To represent a number greater than 1 you again use more than one digit. To get to the number 2 you change the number to 0 and stick a 1 in front of it. So, in base-2 the number 2 is written as 10.</a:t>
            </a:r>
          </a:p>
          <a:p>
            <a:pPr algn="l"/>
            <a:endParaRPr lang="en-US" sz="2800" b="0" i="0" dirty="0">
              <a:solidFill>
                <a:srgbClr val="59696F"/>
              </a:solidFill>
              <a:effectLst/>
              <a:latin typeface="museo-sans"/>
            </a:endParaRPr>
          </a:p>
          <a:p>
            <a:pPr algn="l"/>
            <a:r>
              <a:rPr lang="en-US" sz="4000" b="0" i="0" dirty="0">
                <a:solidFill>
                  <a:srgbClr val="59696F"/>
                </a:solidFill>
                <a:effectLst/>
                <a:latin typeface="museo-sans"/>
              </a:rPr>
              <a:t>Base-16 uses 16 values: the numbers 0 to 9 and the letters A to F. Up to the number 9 the decimal and hexadecimal systems are identical: a base-10 number 9 is also a 9 in base-16. We don’t have a single number for ten, which is why base-16 uses the letters A to F. </a:t>
            </a:r>
            <a:r>
              <a:rPr lang="en-US" sz="4000" b="0" i="0">
                <a:solidFill>
                  <a:srgbClr val="59696F"/>
                </a:solidFill>
                <a:effectLst/>
                <a:latin typeface="museo-sans"/>
              </a:rPr>
              <a:t>The letter A is 10, B is 11 etc.</a:t>
            </a:r>
            <a:endParaRPr lang="en-US" sz="2800" b="0" i="0" dirty="0">
              <a:solidFill>
                <a:srgbClr val="59696F"/>
              </a:solidFill>
              <a:effectLst/>
              <a:latin typeface="museo-sans"/>
            </a:endParaRPr>
          </a:p>
          <a:p>
            <a:endParaRPr lang="en-US" sz="1800" b="0" i="0" dirty="0">
              <a:solidFill>
                <a:srgbClr val="242021"/>
              </a:solidFill>
              <a:effectLst/>
              <a:latin typeface="TimesTenLTStd-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8851A0B-CE16-48A4-A19E-1D7947446E75}" type="slidenum">
              <a:rPr lang="en-US" altLang="en-US" smtClean="0"/>
              <a:pPr>
                <a:defRPr/>
              </a:pPr>
              <a:t>34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811437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Hexadecimal is a numbering system with base 16. It can be used to represent large numbers with fewer digits.</a:t>
            </a:r>
          </a:p>
          <a:p>
            <a:endParaRPr lang="en-US" dirty="0"/>
          </a:p>
          <a:p>
            <a:r>
              <a:rPr lang="en-US" dirty="0"/>
              <a:t>In this system there are 16 symbols or possible digit values from 0 to 9, followed by six alphabetic characters -- A, B, C, D, E and F. These characters are used to represent decimal values from 10 to 15 in single bits.</a:t>
            </a:r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8851A0B-CE16-48A4-A19E-1D7947446E75}" type="slidenum">
              <a:rPr lang="en-US" altLang="en-US" smtClean="0"/>
              <a:pPr>
                <a:defRPr/>
              </a:pPr>
              <a:t>35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87927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dirty="0">
                <a:solidFill>
                  <a:srgbClr val="242021"/>
                </a:solidFill>
                <a:effectLst/>
                <a:latin typeface="TimesTenLTStd-Roman"/>
              </a:rPr>
              <a:t>Binary digits are grouped into sets of four bits, called a </a:t>
            </a:r>
            <a:r>
              <a:rPr lang="en-US" sz="1200" b="1" i="0" dirty="0">
                <a:solidFill>
                  <a:srgbClr val="242021"/>
                </a:solidFill>
                <a:effectLst/>
                <a:latin typeface="TimesTenLTStd-Bold"/>
              </a:rPr>
              <a:t>nibble</a:t>
            </a:r>
            <a:r>
              <a:rPr lang="en-US" sz="1200" b="0" i="0" dirty="0">
                <a:solidFill>
                  <a:srgbClr val="242021"/>
                </a:solidFill>
                <a:effectLst/>
                <a:latin typeface="TimesTenLTStd-Roman"/>
              </a:rPr>
              <a:t>. Each possible combination of four binary digits is given a symbol, as follows</a:t>
            </a:r>
            <a:r>
              <a:rPr lang="en-US" dirty="0"/>
              <a:t> </a:t>
            </a:r>
            <a:br>
              <a:rPr lang="en-US" dirty="0"/>
            </a:br>
            <a:endParaRPr lang="en-MY" dirty="0"/>
          </a:p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8851A0B-CE16-48A4-A19E-1D7947446E75}" type="slidenum">
              <a:rPr lang="en-US" altLang="en-US" smtClean="0"/>
              <a:pPr>
                <a:defRPr/>
              </a:pPr>
              <a:t>39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79161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r>
              <a:rPr lang="en-US" b="1" i="0" dirty="0">
                <a:solidFill>
                  <a:srgbClr val="273239"/>
                </a:solidFill>
                <a:effectLst/>
                <a:latin typeface="Nunito" panose="020F0502020204030204" pitchFamily="2" charset="0"/>
              </a:rPr>
              <a:t>Binary Coded Decimal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anose="020F0502020204030204" pitchFamily="2" charset="0"/>
              </a:rPr>
              <a:t>, or </a:t>
            </a:r>
            <a:r>
              <a:rPr lang="en-US" b="1" i="0" dirty="0">
                <a:solidFill>
                  <a:srgbClr val="273239"/>
                </a:solidFill>
                <a:effectLst/>
                <a:latin typeface="Nunito" panose="020F0502020204030204" pitchFamily="2" charset="0"/>
              </a:rPr>
              <a:t>BCD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anose="020F0502020204030204" pitchFamily="2" charset="0"/>
              </a:rPr>
              <a:t>, is another process for converting decimal numbers into their binary equivalents. </a:t>
            </a:r>
            <a:br>
              <a:rPr lang="en-US" b="0" i="0" dirty="0">
                <a:solidFill>
                  <a:srgbClr val="273239"/>
                </a:solidFill>
                <a:effectLst/>
                <a:latin typeface="Nunito" panose="020F0502020204030204" pitchFamily="2" charset="0"/>
              </a:rPr>
            </a:br>
            <a:r>
              <a:rPr lang="en-US" b="0" i="0" dirty="0">
                <a:solidFill>
                  <a:srgbClr val="273239"/>
                </a:solidFill>
                <a:effectLst/>
                <a:latin typeface="Nunito" panose="020F0502020204030204" pitchFamily="2" charset="0"/>
              </a:rPr>
              <a:t> 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3239"/>
                </a:solidFill>
                <a:effectLst/>
                <a:latin typeface="Nunito" panose="020F0502020204030204" pitchFamily="2" charset="0"/>
              </a:rPr>
              <a:t>It is a form of binary encoding where each digit in a decimal number is represented in the form of bits.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3239"/>
                </a:solidFill>
                <a:effectLst/>
                <a:latin typeface="Nunito" panose="020F0502020204030204" pitchFamily="2" charset="0"/>
              </a:rPr>
              <a:t>This encoding can be done in either 4-bit or 8-bit (usually 4-bit is preferred).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3239"/>
                </a:solidFill>
                <a:effectLst/>
                <a:latin typeface="Nunito" panose="020F0502020204030204" pitchFamily="2" charset="0"/>
              </a:rPr>
              <a:t>It is a fast and efficient system that converts the decimal numbers into binary numbers as compared to the existing binary system.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3239"/>
                </a:solidFill>
                <a:effectLst/>
                <a:latin typeface="Nunito" panose="020F0502020204030204" pitchFamily="2" charset="0"/>
              </a:rPr>
              <a:t>These are generally used in digital displays where is the manipulation of data is quite a task.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3239"/>
                </a:solidFill>
                <a:effectLst/>
                <a:latin typeface="Nunito" panose="020F0502020204030204" pitchFamily="2" charset="0"/>
              </a:rPr>
              <a:t>Thus BCD plays an important role here because the manipulation is done treating each digit as a separate single sub-circuit.</a:t>
            </a:r>
          </a:p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8851A0B-CE16-48A4-A19E-1D7947446E75}" type="slidenum">
              <a:rPr lang="en-US" altLang="en-US" smtClean="0"/>
              <a:pPr>
                <a:defRPr/>
              </a:pPr>
              <a:t>50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724483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hemeOverride" Target="../theme/themeOverride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D9D7AB-4108-6BDC-DA57-55A25E1A1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AC4C60-27A2-4A8C-B44B-29B1867B2F08}" type="datetimeFigureOut">
              <a:rPr lang="en-MY"/>
              <a:pPr>
                <a:defRPr/>
              </a:pPr>
              <a:t>26/10/2023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DB1610-83D6-9B6E-E713-8BE8384C1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6898CE-4188-55C2-DD2B-6DE39DFAA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EA66E0-7C50-4ED9-8FE2-D4CC6C494DF9}" type="slidenum">
              <a:rPr lang="en-MY"/>
              <a:pPr>
                <a:defRPr/>
              </a:pPr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44441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C276D5-6626-E772-70BC-EA143F053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AE8B41-5DC0-460E-B32B-000E9BB9AB78}" type="datetimeFigureOut">
              <a:rPr lang="en-MY"/>
              <a:pPr>
                <a:defRPr/>
              </a:pPr>
              <a:t>26/10/2023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1F2888-E33D-AF8F-6B1F-0AEBE7991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40384D-E17C-5AD0-8C5A-7E3ABA15D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07954A-53B6-4618-BF1D-C8D10BFB354A}" type="slidenum">
              <a:rPr lang="en-MY"/>
              <a:pPr>
                <a:defRPr/>
              </a:pPr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421942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1B3B74-D99F-A928-561A-1EB5C886F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FAF4AF-80C3-4C09-B878-7588F4108D11}" type="datetimeFigureOut">
              <a:rPr lang="en-MY"/>
              <a:pPr>
                <a:defRPr/>
              </a:pPr>
              <a:t>26/10/2023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981FB4-7032-7888-7DB4-A075AC96E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3CA35-CB1D-CEC7-B448-B58205E11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68392B-0F50-4690-BE62-91859FB1C543}" type="slidenum">
              <a:rPr lang="en-MY"/>
              <a:pPr>
                <a:defRPr/>
              </a:pPr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380027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F481F41-43F6-779D-4AA9-A2749D2CF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A340F2-9CE3-49FA-8FC7-87833BD35D4F}" type="datetimeFigureOut">
              <a:rPr lang="en-MY"/>
              <a:pPr>
                <a:defRPr/>
              </a:pPr>
              <a:t>26/10/2023</a:t>
            </a:fld>
            <a:endParaRPr lang="en-MY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9C18A93-A738-ED77-68F9-95DA27A1B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MY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313A35B-78B0-0178-1358-34F8D51F6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A1E53B-41F4-42BD-8DA4-526614DFD99E}" type="slidenum">
              <a:rPr lang="en-MY"/>
              <a:pPr>
                <a:defRPr/>
              </a:pPr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474103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6880E236-FA92-970A-8325-D52D2E6D1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3C32BA-D7AE-4842-9574-9EA7495DDDC5}" type="datetimeFigureOut">
              <a:rPr lang="en-MY"/>
              <a:pPr>
                <a:defRPr/>
              </a:pPr>
              <a:t>26/10/2023</a:t>
            </a:fld>
            <a:endParaRPr lang="en-MY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0CFCE2B0-660F-E6A9-CD0D-833CB19BF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MY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A031610-DFCE-83DB-6EB8-F6E4D259C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C08253-315D-4EEF-8F21-3B2F41B499B2}" type="slidenum">
              <a:rPr lang="en-MY"/>
              <a:pPr>
                <a:defRPr/>
              </a:pPr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559973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AB341D9-BC7E-4BE0-0FE7-894DADD29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BFF237-2DC2-45DE-A55D-F6A4D7E46B63}" type="datetimeFigureOut">
              <a:rPr lang="en-MY"/>
              <a:pPr>
                <a:defRPr/>
              </a:pPr>
              <a:t>26/10/2023</a:t>
            </a:fld>
            <a:endParaRPr lang="en-MY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0B5EDA5-794A-7AD5-AE9B-049A0C31B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MY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44986B2-E4B7-47B8-106E-E0CF94A61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F1CB64-C7C4-4221-A3CE-12384708D1D1}" type="slidenum">
              <a:rPr lang="en-MY"/>
              <a:pPr>
                <a:defRPr/>
              </a:pPr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52838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B129736E-85D2-E300-7DB1-BB966FB47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B84FF3-0BFE-4905-B7D4-256A32E5DFCF}" type="datetimeFigureOut">
              <a:rPr lang="en-MY"/>
              <a:pPr>
                <a:defRPr/>
              </a:pPr>
              <a:t>26/10/2023</a:t>
            </a:fld>
            <a:endParaRPr lang="en-MY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3195DF0-6F24-7FE4-9190-8500A8916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MY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61DA274-D1FE-F417-48A2-8D26576B7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EF6355-30FB-444E-9D6B-423CC43708A1}" type="slidenum">
              <a:rPr lang="en-MY"/>
              <a:pPr>
                <a:defRPr/>
              </a:pPr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786182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2025DA5-69EF-5BD4-9B5D-7AC020547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A41EC8-FE07-4184-9BDB-A5ADD5D9E4B5}" type="datetimeFigureOut">
              <a:rPr lang="en-MY"/>
              <a:pPr>
                <a:defRPr/>
              </a:pPr>
              <a:t>26/10/2023</a:t>
            </a:fld>
            <a:endParaRPr lang="en-MY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3824DFA-541E-390E-91C2-2D5A01191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MY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E63011D-BBAA-5409-EB08-F441CB402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14688B-49BC-4289-BB46-BA5A2CF9380F}" type="slidenum">
              <a:rPr lang="en-MY"/>
              <a:pPr>
                <a:defRPr/>
              </a:pPr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601593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MY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43D8EBE-D50F-1965-74D6-16F5DE1AD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DDDBE9-1C79-4901-B3C5-2541E8581CE0}" type="datetimeFigureOut">
              <a:rPr lang="en-MY"/>
              <a:pPr>
                <a:defRPr/>
              </a:pPr>
              <a:t>26/10/2023</a:t>
            </a:fld>
            <a:endParaRPr lang="en-MY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D492225-B18F-529F-ECDF-B21FE5D66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MY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7008607-5742-CBC3-B63C-07FD525A9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7E7DC3-D434-4533-901A-7607D7EAD85A}" type="slidenum">
              <a:rPr lang="en-MY"/>
              <a:pPr>
                <a:defRPr/>
              </a:pPr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77348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80CA54-887D-6F39-0D69-3E69775BB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07B986-74C7-45EA-8A05-AE0F4F0CA0F2}" type="datetimeFigureOut">
              <a:rPr lang="en-MY"/>
              <a:pPr>
                <a:defRPr/>
              </a:pPr>
              <a:t>26/10/2023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BC493C-484E-3DDB-8F40-E593BE6F3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03F60-6012-0751-2851-0CF74CD8C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8661CC-1E89-439A-A658-B11EEEAB10DB}" type="slidenum">
              <a:rPr lang="en-MY"/>
              <a:pPr>
                <a:defRPr/>
              </a:pPr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122526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C8B58E-90A6-0E66-8F84-54ED1DAB4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77BAF0-BECE-4F8C-A4B1-0BA7934ADF93}" type="datetimeFigureOut">
              <a:rPr lang="en-MY"/>
              <a:pPr>
                <a:defRPr/>
              </a:pPr>
              <a:t>26/10/2023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6A89B4-DE22-403D-C44D-4F2F0FBE8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3E1F1A-5B37-4547-57C3-44A9AC53A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1B0E63-09C7-48FD-A89D-7BF2EDCA7960}" type="slidenum">
              <a:rPr lang="en-MY"/>
              <a:pPr>
                <a:defRPr/>
              </a:pPr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17068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rgbClr val="3535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3B406A4-F3A1-1844-469B-89A4DA1BF46E}"/>
              </a:ext>
            </a:extLst>
          </p:cNvPr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6404" y="758952"/>
            <a:ext cx="7063740" cy="4041648"/>
          </a:xfrm>
        </p:spPr>
        <p:txBody>
          <a:bodyPr/>
          <a:lstStyle>
            <a:lvl1pPr algn="l">
              <a:lnSpc>
                <a:spcPct val="85000"/>
              </a:lnSpc>
              <a:defRPr sz="66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6404" y="4800600"/>
            <a:ext cx="7063740" cy="1691640"/>
          </a:xfrm>
        </p:spPr>
        <p:txBody>
          <a:bodyPr/>
          <a:lstStyle>
            <a:lvl1pPr marL="0" indent="0" algn="l">
              <a:buNone/>
              <a:defRPr sz="2000" baseline="0">
                <a:solidFill>
                  <a:schemeClr val="tx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Date Placeholder 7">
            <a:extLst>
              <a:ext uri="{FF2B5EF4-FFF2-40B4-BE49-F238E27FC236}">
                <a16:creationId xmlns:a16="http://schemas.microsoft.com/office/drawing/2014/main" id="{34279E70-F18E-856D-02D5-1F73E29E5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25C609B9-7AF4-191C-8FA1-B36FF4629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A8702477-3FBF-2961-4382-763190C8D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pPr>
              <a:defRPr/>
            </a:pPr>
            <a:fld id="{E7DA64C0-6EB9-4679-AF2D-98FB17EE6D0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403758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5980C8-AF36-1F9D-0881-4C21BAD45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B1E9D4-323D-F6D2-2E68-EFDF95997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6106FA-4886-EB38-F45F-DA685BF14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BB4CF5-20E0-4459-BC85-8E004BB3BF8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52681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46A4F5-E312-20B8-5BFC-4FFB393945A4}"/>
              </a:ext>
            </a:extLst>
          </p:cNvPr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758952"/>
            <a:ext cx="7063740" cy="4041648"/>
          </a:xfrm>
        </p:spPr>
        <p:txBody>
          <a:bodyPr/>
          <a:lstStyle>
            <a:lvl1pPr>
              <a:lnSpc>
                <a:spcPct val="85000"/>
              </a:lnSpc>
              <a:defRPr sz="6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4800600"/>
            <a:ext cx="7063740" cy="1691640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151AAE0-6CEB-2128-6D91-F019F07DC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7165D40-242D-77CC-2A2B-EE06D473C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FFDD0F6-42CD-85FE-6FF8-199332649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160533-50E8-4BBE-BEFD-0D8C246E532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58954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6404" y="1828801"/>
            <a:ext cx="336042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94860" y="1828801"/>
            <a:ext cx="336042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6889E32-2668-98B4-397B-53C28AC46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6DB2918-FD04-D7A8-5513-6AB990015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D0B5FFE-B397-6A03-A072-977EC3282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72C42A-07AB-42E4-985E-8CD7101D56A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927739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717185"/>
            <a:ext cx="3360420" cy="731520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6404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4599432" y="1717185"/>
            <a:ext cx="3364992" cy="731520"/>
          </a:xfrm>
        </p:spPr>
        <p:txBody>
          <a:bodyPr anchor="b"/>
          <a:lstStyle>
            <a:lvl1pPr marL="0" indent="0">
              <a:buFontTx/>
              <a:buNone/>
              <a:defRPr lang="en-US" sz="1800" b="0" kern="1200" spc="10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94860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1E36ABCF-C256-6FF9-3771-CCE946D69F3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ADC675-188F-C38B-4397-49205F0E341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99B571-2017-C0DF-1BCB-B4D85568C7A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8ACAA3-AD2B-4C22-B329-59097E91EDB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29810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B357267-920E-9394-1076-ABF4BB29B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121E15D-AB13-9810-8CDB-317BE0F1D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E3104C4-356B-0418-C36A-66083582F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1519C8-29A3-4820-8ACA-2DF1FD140AD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686467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96A3C1D-7312-A6AD-C325-403770A26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94C8DFD-DC85-A3E1-1FA0-8126E0205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BCF51DC-B1CD-2C0C-7147-AFF590F22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21DF4-4F9A-4BE0-AF38-17C7DAD90CD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536584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400300" cy="1600197"/>
          </a:xfrm>
        </p:spPr>
        <p:txBody>
          <a:bodyPr/>
          <a:lstStyle>
            <a:lvl1pPr>
              <a:defRPr sz="28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8200" y="685800"/>
            <a:ext cx="4559300" cy="5486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99735"/>
            <a:ext cx="2400300" cy="3810001"/>
          </a:xfrm>
        </p:spPr>
        <p:txBody>
          <a:bodyPr/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FACECF4-29EE-FD25-19D8-7D0D05B39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14CB01A-856C-B272-6392-3616DBE3A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7549AB5-D38C-F6D7-7203-FFC21F416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3C480E-8143-456D-AB80-4E0CE32FD6F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922094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6F18A2F-1E71-85DE-1D26-02D5F0D81AD5}"/>
              </a:ext>
            </a:extLst>
          </p:cNvPr>
          <p:cNvSpPr/>
          <p:nvPr/>
        </p:nvSpPr>
        <p:spPr>
          <a:xfrm>
            <a:off x="0" y="5105400"/>
            <a:ext cx="8469313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257800"/>
            <a:ext cx="7486650" cy="914400"/>
          </a:xfrm>
        </p:spPr>
        <p:txBody>
          <a:bodyPr/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1"/>
            <a:ext cx="846963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6108590"/>
            <a:ext cx="7486650" cy="597011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3215B5B-31DE-673A-8A76-365DC4B17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52F2679A-03B8-EA52-F10D-C2E2A0968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DF077AA9-15C1-25DD-129D-05F822333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4E4C73-67F2-43BD-A9F8-F5A049F1BD0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163959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A9172C-B6F4-9052-8CC0-35EDDEE43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DA2472-9EE1-393A-4046-7A0ECF8A4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36665E-7AD9-C923-D428-3E6EC3D53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71583F-3687-4667-B426-B4E2911F00B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7522763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6525" y="381000"/>
            <a:ext cx="1857375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381000"/>
            <a:ext cx="5800725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522A0B-3CE9-9EEB-0CC1-8DF0317E3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71C49-60B0-552A-ADEC-FCB99B62F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3E5587-4DAF-A394-DA2D-6BBFB9033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FE32FC-5B39-43F1-A314-CE18A35CBA3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220195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rgbClr val="3535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87F02A9-BDB9-0A45-C40B-BE1E7B761040}"/>
              </a:ext>
            </a:extLst>
          </p:cNvPr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6404" y="758952"/>
            <a:ext cx="7063740" cy="4041648"/>
          </a:xfrm>
        </p:spPr>
        <p:txBody>
          <a:bodyPr/>
          <a:lstStyle>
            <a:lvl1pPr algn="l">
              <a:lnSpc>
                <a:spcPct val="85000"/>
              </a:lnSpc>
              <a:defRPr sz="66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6404" y="4800600"/>
            <a:ext cx="7063740" cy="1691640"/>
          </a:xfrm>
        </p:spPr>
        <p:txBody>
          <a:bodyPr/>
          <a:lstStyle>
            <a:lvl1pPr marL="0" indent="0" algn="l">
              <a:buNone/>
              <a:defRPr sz="2000" baseline="0">
                <a:solidFill>
                  <a:schemeClr val="tx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Date Placeholder 7">
            <a:extLst>
              <a:ext uri="{FF2B5EF4-FFF2-40B4-BE49-F238E27FC236}">
                <a16:creationId xmlns:a16="http://schemas.microsoft.com/office/drawing/2014/main" id="{57086080-C16A-2F04-DFA8-E2E22B69D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5646778D-7E08-82F1-8A7F-B813D3F13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7B564343-8508-B6CF-F361-652F20A21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pPr>
              <a:defRPr/>
            </a:pPr>
            <a:fld id="{24EC942B-FE6B-4DF9-805E-52DB0326E91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812770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E94443-D699-4706-D3EC-76D71CBFC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41136A-3513-E90D-6A02-E93F3D54D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229D3-5DD9-3E80-5384-AF39C64A6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1F47C4-3053-492D-A834-E168C096A12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2569239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9CC888C-E1E5-4FB6-34B5-958D6FBEE8D2}"/>
              </a:ext>
            </a:extLst>
          </p:cNvPr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758952"/>
            <a:ext cx="7063740" cy="4041648"/>
          </a:xfrm>
        </p:spPr>
        <p:txBody>
          <a:bodyPr/>
          <a:lstStyle>
            <a:lvl1pPr>
              <a:lnSpc>
                <a:spcPct val="85000"/>
              </a:lnSpc>
              <a:defRPr sz="6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4800600"/>
            <a:ext cx="7063740" cy="1691640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8725867-5050-25A4-9EBC-0453B2AA4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41ADB1D-67EC-BA06-5FB2-D80E1E8BD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D1E2D59-56AC-D337-2AE6-D805414E5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75B4F1-086E-42A0-83C3-9372B4AA11D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038897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6404" y="1828801"/>
            <a:ext cx="336042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94860" y="1828801"/>
            <a:ext cx="336042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88FC36D-0EA0-CDAF-C7B3-B6F6C30EE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420EFB9-E9BC-518C-39DE-8941C374E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BAF4EB4-D943-03B5-7C47-5DD9E15F1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3121B0-DB51-4A71-A71E-1E65E87A0AE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78746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717185"/>
            <a:ext cx="3360420" cy="731520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6404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4599432" y="1717185"/>
            <a:ext cx="3364992" cy="731520"/>
          </a:xfrm>
        </p:spPr>
        <p:txBody>
          <a:bodyPr anchor="b"/>
          <a:lstStyle>
            <a:lvl1pPr marL="0" indent="0">
              <a:buFontTx/>
              <a:buNone/>
              <a:defRPr lang="en-US" sz="1800" b="0" kern="1200" spc="10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94860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C9AC46F9-53B3-1904-88D4-A00E145484D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852529-3424-57F6-55A6-E89556C3AC3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850A100-3B59-0E01-7D69-B9257317D79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F65B33-8575-40BC-938E-803A273371A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667337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870573D8-BD2A-77A3-6367-D4092C26D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E34F099-F4A2-49CA-7885-245DFD346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EFD747C-3ACA-5630-5DA5-101707B65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F1EE88-604C-4191-8A4F-9A464B34DDB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9833879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A7F9469D-538A-3228-06E0-F809DCCFD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4C15FAF-7177-02ED-B717-E6CC5C3F1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708F43F-7E97-8E55-3C75-DDD36D217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0308E6-FF0F-4017-B59C-1561D14C31F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2216104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400300" cy="1600197"/>
          </a:xfrm>
        </p:spPr>
        <p:txBody>
          <a:bodyPr/>
          <a:lstStyle>
            <a:lvl1pPr>
              <a:defRPr sz="28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8200" y="685800"/>
            <a:ext cx="4559300" cy="5486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99735"/>
            <a:ext cx="2400300" cy="3810001"/>
          </a:xfrm>
        </p:spPr>
        <p:txBody>
          <a:bodyPr/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B5B4F54-7E6A-DC0F-6B25-2997FEC37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373F975-8BC5-D7FE-2CA2-6F4723CF5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360A92F-7DE8-1210-4A63-140C110E4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B5A539-5172-4E9F-9274-A27985813AD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5386322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B625D01-2E8B-7353-258B-8C0457C13F88}"/>
              </a:ext>
            </a:extLst>
          </p:cNvPr>
          <p:cNvSpPr/>
          <p:nvPr/>
        </p:nvSpPr>
        <p:spPr>
          <a:xfrm>
            <a:off x="0" y="5105400"/>
            <a:ext cx="8469313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257800"/>
            <a:ext cx="7486650" cy="914400"/>
          </a:xfrm>
        </p:spPr>
        <p:txBody>
          <a:bodyPr/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1"/>
            <a:ext cx="846963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6108590"/>
            <a:ext cx="7486650" cy="597011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5030DF6F-325B-AA38-527D-EC27768C6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D39C6C08-4D3D-AB71-014F-47E60EA98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839D0D24-2D2E-4E86-8161-EA211F13E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5018BD-EC2A-42BD-BD04-75D1725FB66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8988387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FE5900-7ACB-EC6D-59E2-8AF2A900E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25BF31-4B13-2485-4C39-D155D62DB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0B2051-D7FD-CB55-5BE0-D73DA9575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68B59D-2F75-4EF1-BF21-28DA61824FA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966187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6525" y="381000"/>
            <a:ext cx="1857375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381000"/>
            <a:ext cx="5800725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13F98F-8224-4EC8-DD1D-4934F3D27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DF98B-4EE0-BEE8-E6FA-622827E89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695C0-3D3F-CFC3-57D7-91A234FDB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609F05-CDD4-4995-BC50-E55B2B0620B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58975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4F9D8CB2-5D26-E151-66CF-3395640037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MY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042B5F-1071-6D3D-B025-B0D4888450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A589F-CB55-4DF5-AB81-DCF987334E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2464119-2D5E-48AA-8D05-6AE8027D4E86}" type="datetimeFigureOut">
              <a:rPr lang="en-MY"/>
              <a:pPr>
                <a:defRPr/>
              </a:pPr>
              <a:t>26/10/2023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EFAA83-A325-3CED-1DC9-6D8BEAA620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1EF8A-75CE-6DE1-B0A4-4A8D493C23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E93ED37-9678-4E63-9592-AA397CC7ACD6}" type="slidenum">
              <a:rPr lang="en-MY"/>
              <a:pPr>
                <a:defRPr/>
              </a:pPr>
              <a:t>‹#›</a:t>
            </a:fld>
            <a:endParaRPr lang="en-MY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5" r:id="rId1"/>
    <p:sldLayoutId id="2147483996" r:id="rId2"/>
    <p:sldLayoutId id="2147483997" r:id="rId3"/>
    <p:sldLayoutId id="2147483998" r:id="rId4"/>
    <p:sldLayoutId id="2147483999" r:id="rId5"/>
    <p:sldLayoutId id="2147484000" r:id="rId6"/>
    <p:sldLayoutId id="2147484001" r:id="rId7"/>
    <p:sldLayoutId id="2147484002" r:id="rId8"/>
    <p:sldLayoutId id="2147484003" r:id="rId9"/>
    <p:sldLayoutId id="2147484004" r:id="rId10"/>
    <p:sldLayoutId id="2147484005" r:id="rId11"/>
  </p:sldLayoutIdLst>
  <p:txStyles>
    <p:titleStyle>
      <a:lvl1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2pPr>
      <a:lvl3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3pPr>
      <a:lvl4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4pPr>
      <a:lvl5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171450" indent="-171450" algn="l" defTabSz="685800" rtl="0" fontAlgn="base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8A5C63B-564A-79E4-DC5B-CC289C1AF925}"/>
              </a:ext>
            </a:extLst>
          </p:cNvPr>
          <p:cNvSpPr/>
          <p:nvPr/>
        </p:nvSpPr>
        <p:spPr>
          <a:xfrm>
            <a:off x="8418513" y="0"/>
            <a:ext cx="731837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C2069A-63C8-3230-24C8-E975410BA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150" y="365125"/>
            <a:ext cx="726916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72D580-11A0-EC2D-5362-132869C11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46150" y="1828800"/>
            <a:ext cx="644683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7CE3A4-8FF7-2BE7-994F-1D6B8F4E38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7831138" y="1044575"/>
            <a:ext cx="1905000" cy="273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A7421F-9C8A-51E3-3B3E-AD85173CAD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6992938" y="4092575"/>
            <a:ext cx="3581400" cy="273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B788B0-6402-66E5-3A02-84FE1A12F2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40738" y="6172200"/>
            <a:ext cx="685800" cy="593725"/>
          </a:xfrm>
          <a:prstGeom prst="rect">
            <a:avLst/>
          </a:prstGeom>
        </p:spPr>
        <p:txBody>
          <a:bodyPr vert="horz" lIns="27432" tIns="45720" rIns="27432" bIns="45720" rtlCol="0" anchor="ctr">
            <a:normAutofit/>
          </a:bodyPr>
          <a:lstStyle>
            <a:lvl1pPr algn="ctr">
              <a:defRPr sz="3200" smtClean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>
              <a:defRPr/>
            </a:pPr>
            <a:fld id="{BB83D755-8FB1-49D7-9D01-577FF280DB8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2" r:id="rId1"/>
    <p:sldLayoutId id="2147484006" r:id="rId2"/>
    <p:sldLayoutId id="2147484023" r:id="rId3"/>
    <p:sldLayoutId id="2147484007" r:id="rId4"/>
    <p:sldLayoutId id="2147484008" r:id="rId5"/>
    <p:sldLayoutId id="2147484009" r:id="rId6"/>
    <p:sldLayoutId id="2147484010" r:id="rId7"/>
    <p:sldLayoutId id="2147484011" r:id="rId8"/>
    <p:sldLayoutId id="2147484024" r:id="rId9"/>
    <p:sldLayoutId id="2147484012" r:id="rId10"/>
    <p:sldLayoutId id="2147484013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000" kern="1200" spc="-5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Century Schoolbook" panose="02040604050505020304" pitchFamily="18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Century Schoolbook" panose="02040604050505020304" pitchFamily="18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Century Schoolbook" panose="02040604050505020304" pitchFamily="18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Century Schoolbook" panose="02040604050505020304" pitchFamily="18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Century Schoolbook" panose="02040604050505020304" pitchFamily="18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Century Schoolbook" panose="02040604050505020304" pitchFamily="18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Century Schoolbook" panose="02040604050505020304" pitchFamily="18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Century Schoolbook" panose="02040604050505020304" pitchFamily="18" charset="0"/>
        </a:defRPr>
      </a:lvl9pPr>
    </p:titleStyle>
    <p:bodyStyle>
      <a:lvl1pPr marL="182563" indent="-182563" algn="l" rtl="0" fontAlgn="base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anose="020B0604020202020204" pitchFamily="34" charset="0"/>
        <a:buChar char="•"/>
        <a:defRPr kern="1200" spc="1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563" algn="l" rtl="0" fontAlgn="base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anose="05020102010507070707" pitchFamily="18" charset="2"/>
        <a:buChar char=""/>
        <a:defRPr sz="1600" kern="1200">
          <a:solidFill>
            <a:srgbClr val="262626"/>
          </a:solidFill>
          <a:latin typeface="+mn-lt"/>
          <a:ea typeface="+mn-ea"/>
          <a:cs typeface="+mn-cs"/>
        </a:defRPr>
      </a:lvl2pPr>
      <a:lvl3pPr marL="730250" indent="-182563" algn="l" rtl="0" fontAlgn="base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anose="05020102010507070707" pitchFamily="18" charset="2"/>
        <a:buChar char=""/>
        <a:defRPr sz="1400" kern="1200">
          <a:solidFill>
            <a:srgbClr val="262626"/>
          </a:solidFill>
          <a:latin typeface="+mn-lt"/>
          <a:ea typeface="+mn-ea"/>
          <a:cs typeface="+mn-cs"/>
        </a:defRPr>
      </a:lvl3pPr>
      <a:lvl4pPr marL="1004888" indent="-182563" algn="l" rtl="0" fontAlgn="base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anose="05020102010507070707" pitchFamily="18" charset="2"/>
        <a:buChar char=""/>
        <a:defRPr sz="1400" kern="1200">
          <a:solidFill>
            <a:srgbClr val="262626"/>
          </a:solidFill>
          <a:latin typeface="+mn-lt"/>
          <a:ea typeface="+mn-ea"/>
          <a:cs typeface="+mn-cs"/>
        </a:defRPr>
      </a:lvl4pPr>
      <a:lvl5pPr marL="1279525" indent="-182563" algn="l" rtl="0" fontAlgn="base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anose="05020102010507070707" pitchFamily="18" charset="2"/>
        <a:buChar char=""/>
        <a:defRPr sz="1400" kern="1200">
          <a:solidFill>
            <a:srgbClr val="262626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20EC003-5123-3BA7-2787-44131C3270D6}"/>
              </a:ext>
            </a:extLst>
          </p:cNvPr>
          <p:cNvSpPr/>
          <p:nvPr/>
        </p:nvSpPr>
        <p:spPr>
          <a:xfrm>
            <a:off x="8418513" y="0"/>
            <a:ext cx="731837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7D5AA6-C17E-AA5C-531B-8B1934E76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150" y="365125"/>
            <a:ext cx="726916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979943-A0F5-83FC-4BD2-5C7EC903B6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46150" y="1828800"/>
            <a:ext cx="644683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B78469-F3FC-0933-7B5B-9C31F20171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7831138" y="1044575"/>
            <a:ext cx="1905000" cy="273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D362E2-BAA9-B3B4-FF0A-2B75342DE6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6992938" y="4092575"/>
            <a:ext cx="3581400" cy="273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B46FBC-D1BD-01B1-7AFC-5965610076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40738" y="6172200"/>
            <a:ext cx="685800" cy="593725"/>
          </a:xfrm>
          <a:prstGeom prst="rect">
            <a:avLst/>
          </a:prstGeom>
        </p:spPr>
        <p:txBody>
          <a:bodyPr vert="horz" lIns="27432" tIns="45720" rIns="27432" bIns="45720" rtlCol="0" anchor="ctr">
            <a:normAutofit/>
          </a:bodyPr>
          <a:lstStyle>
            <a:lvl1pPr algn="ctr">
              <a:defRPr sz="3200" smtClean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>
              <a:defRPr/>
            </a:pPr>
            <a:fld id="{3BECA52E-DA1D-4463-928A-58C07B38A7D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5" r:id="rId1"/>
    <p:sldLayoutId id="2147484014" r:id="rId2"/>
    <p:sldLayoutId id="2147484026" r:id="rId3"/>
    <p:sldLayoutId id="2147484015" r:id="rId4"/>
    <p:sldLayoutId id="2147484016" r:id="rId5"/>
    <p:sldLayoutId id="2147484017" r:id="rId6"/>
    <p:sldLayoutId id="2147484018" r:id="rId7"/>
    <p:sldLayoutId id="2147484019" r:id="rId8"/>
    <p:sldLayoutId id="2147484027" r:id="rId9"/>
    <p:sldLayoutId id="2147484020" r:id="rId10"/>
    <p:sldLayoutId id="2147484021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000" kern="1200" spc="-5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Century Schoolbook" panose="02040604050505020304" pitchFamily="18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Century Schoolbook" panose="02040604050505020304" pitchFamily="18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Century Schoolbook" panose="02040604050505020304" pitchFamily="18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Century Schoolbook" panose="02040604050505020304" pitchFamily="18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Century Schoolbook" panose="02040604050505020304" pitchFamily="18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Century Schoolbook" panose="02040604050505020304" pitchFamily="18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Century Schoolbook" panose="02040604050505020304" pitchFamily="18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Century Schoolbook" panose="02040604050505020304" pitchFamily="18" charset="0"/>
        </a:defRPr>
      </a:lvl9pPr>
    </p:titleStyle>
    <p:bodyStyle>
      <a:lvl1pPr marL="182563" indent="-182563" algn="l" rtl="0" fontAlgn="base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anose="020B0604020202020204" pitchFamily="34" charset="0"/>
        <a:buChar char="•"/>
        <a:defRPr kern="1200" spc="1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563" algn="l" rtl="0" fontAlgn="base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anose="05020102010507070707" pitchFamily="18" charset="2"/>
        <a:buChar char=""/>
        <a:defRPr sz="1600" kern="1200">
          <a:solidFill>
            <a:srgbClr val="262626"/>
          </a:solidFill>
          <a:latin typeface="+mn-lt"/>
          <a:ea typeface="+mn-ea"/>
          <a:cs typeface="+mn-cs"/>
        </a:defRPr>
      </a:lvl2pPr>
      <a:lvl3pPr marL="730250" indent="-182563" algn="l" rtl="0" fontAlgn="base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anose="05020102010507070707" pitchFamily="18" charset="2"/>
        <a:buChar char=""/>
        <a:defRPr sz="1400" kern="1200">
          <a:solidFill>
            <a:srgbClr val="262626"/>
          </a:solidFill>
          <a:latin typeface="+mn-lt"/>
          <a:ea typeface="+mn-ea"/>
          <a:cs typeface="+mn-cs"/>
        </a:defRPr>
      </a:lvl3pPr>
      <a:lvl4pPr marL="1004888" indent="-182563" algn="l" rtl="0" fontAlgn="base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anose="05020102010507070707" pitchFamily="18" charset="2"/>
        <a:buChar char=""/>
        <a:defRPr sz="1400" kern="1200">
          <a:solidFill>
            <a:srgbClr val="262626"/>
          </a:solidFill>
          <a:latin typeface="+mn-lt"/>
          <a:ea typeface="+mn-ea"/>
          <a:cs typeface="+mn-cs"/>
        </a:defRPr>
      </a:lvl4pPr>
      <a:lvl5pPr marL="1279525" indent="-182563" algn="l" rtl="0" fontAlgn="base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anose="05020102010507070707" pitchFamily="18" charset="2"/>
        <a:buChar char=""/>
        <a:defRPr sz="1400" kern="1200">
          <a:solidFill>
            <a:srgbClr val="262626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3.sv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25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gi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9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8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8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3kXLHLUhV5Q?feature=oembe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4">
            <a:extLst>
              <a:ext uri="{FF2B5EF4-FFF2-40B4-BE49-F238E27FC236}">
                <a16:creationId xmlns:a16="http://schemas.microsoft.com/office/drawing/2014/main" id="{625B2D17-8826-CDF4-CA3F-BE4B9F06CD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6165304"/>
            <a:ext cx="7272338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kumimoji="0" lang="en-US" altLang="en-US" sz="1600" dirty="0"/>
              <a:t>Stallings, Computer Organization &amp; Architecture (9th Ed.), Chapter 9</a:t>
            </a:r>
          </a:p>
          <a:p>
            <a:pPr eaLnBrk="1" hangingPunct="1"/>
            <a:r>
              <a:rPr kumimoji="0" lang="en-US" altLang="en-US" sz="1600" dirty="0" err="1"/>
              <a:t>Hamacher</a:t>
            </a:r>
            <a:r>
              <a:rPr kumimoji="0" lang="en-US" altLang="en-US" sz="1600" dirty="0"/>
              <a:t>, </a:t>
            </a:r>
            <a:r>
              <a:rPr kumimoji="0" lang="en-US" altLang="en-US" sz="1600" dirty="0" err="1"/>
              <a:t>Vranesic</a:t>
            </a:r>
            <a:r>
              <a:rPr kumimoji="0" lang="en-US" altLang="en-US" sz="1600" dirty="0"/>
              <a:t>, &amp; </a:t>
            </a:r>
            <a:r>
              <a:rPr kumimoji="0" lang="en-US" altLang="en-US" sz="1600" dirty="0" err="1"/>
              <a:t>Zaky</a:t>
            </a:r>
            <a:r>
              <a:rPr kumimoji="0" lang="en-US" altLang="en-US" sz="1600" dirty="0"/>
              <a:t>, Computer Organization (5th Ed.), Appendix E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53089299-FA6B-F22C-0FA5-A813CE0DE75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467544" y="188640"/>
            <a:ext cx="8424862" cy="581025"/>
          </a:xfrm>
        </p:spPr>
        <p:txBody>
          <a:bodyPr/>
          <a:lstStyle/>
          <a:p>
            <a:pPr algn="ctr" fontAlgn="auto">
              <a:defRPr/>
            </a:pPr>
            <a:r>
              <a:rPr lang="en-GB" altLang="en-US" sz="2800" dirty="0"/>
              <a:t>Attendance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A7E2C724-EB50-1D9E-1B3A-6D4C1A85A70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539750" y="758825"/>
            <a:ext cx="8208963" cy="1949450"/>
          </a:xfrm>
        </p:spPr>
        <p:txBody>
          <a:bodyPr/>
          <a:lstStyle/>
          <a:p>
            <a:pPr algn="ctr" fontAlgn="auto">
              <a:spcAft>
                <a:spcPts val="0"/>
              </a:spcAft>
              <a:defRPr/>
            </a:pPr>
            <a:r>
              <a:rPr lang="en-GB" altLang="en-US" dirty="0"/>
              <a:t>Computer Organisation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7DDFE08F-CF17-CA0D-ADBC-CB52EEE2B33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468313" y="3709988"/>
            <a:ext cx="8424862" cy="1771650"/>
          </a:xfrm>
        </p:spPr>
        <p:txBody>
          <a:bodyPr/>
          <a:lstStyle/>
          <a:p>
            <a:pPr algn="ctr" fontAlgn="auto">
              <a:defRPr/>
            </a:pPr>
            <a:r>
              <a:rPr lang="en-GB" altLang="en-US" sz="2800" dirty="0"/>
              <a:t>Topic 2</a:t>
            </a:r>
          </a:p>
          <a:p>
            <a:pPr algn="ctr" fontAlgn="auto">
              <a:defRPr/>
            </a:pPr>
            <a:r>
              <a:rPr lang="en-GB" altLang="en-US" sz="2800" dirty="0"/>
              <a:t>Number Systems</a:t>
            </a:r>
          </a:p>
        </p:txBody>
      </p:sp>
      <p:sp>
        <p:nvSpPr>
          <p:cNvPr id="14340" name="Text Box 4">
            <a:extLst>
              <a:ext uri="{FF2B5EF4-FFF2-40B4-BE49-F238E27FC236}">
                <a16:creationId xmlns:a16="http://schemas.microsoft.com/office/drawing/2014/main" id="{D576161E-9C6D-8D76-9B45-9EA59E22AC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6265863"/>
            <a:ext cx="6911975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kumimoji="0" lang="en-US" altLang="en-US" sz="1100"/>
              <a:t>Stallings, Computer Organization &amp; Architecture (9th Ed.), Chapter 9</a:t>
            </a:r>
          </a:p>
          <a:p>
            <a:pPr eaLnBrk="1" hangingPunct="1"/>
            <a:r>
              <a:rPr kumimoji="0" lang="en-US" altLang="en-US" sz="1100"/>
              <a:t>Hamacher, Vranesic, &amp; Zaky, Computer Organization (5th Ed.), Appendix 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Content Placeholder 3">
            <a:extLst>
              <a:ext uri="{FF2B5EF4-FFF2-40B4-BE49-F238E27FC236}">
                <a16:creationId xmlns:a16="http://schemas.microsoft.com/office/drawing/2014/main" id="{E0AD7110-8257-9FA3-4A53-0D10B8F852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4652963"/>
            <a:ext cx="7859713" cy="1655762"/>
          </a:xfrm>
        </p:spPr>
        <p:txBody>
          <a:bodyPr/>
          <a:lstStyle/>
          <a:p>
            <a:pPr marL="182880" indent="-182880" fontAlgn="auto">
              <a:defRPr/>
            </a:pPr>
            <a:r>
              <a:rPr lang="en-US" altLang="en-US" sz="2800" dirty="0"/>
              <a:t>What do you see?</a:t>
            </a:r>
            <a:endParaRPr lang="en-MY" altLang="en-US" sz="2800" dirty="0"/>
          </a:p>
        </p:txBody>
      </p:sp>
      <p:sp>
        <p:nvSpPr>
          <p:cNvPr id="16387" name="TextBox 1">
            <a:extLst>
              <a:ext uri="{FF2B5EF4-FFF2-40B4-BE49-F238E27FC236}">
                <a16:creationId xmlns:a16="http://schemas.microsoft.com/office/drawing/2014/main" id="{08E43FC8-6766-C68A-0EF8-E7B0987CA3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1931988"/>
            <a:ext cx="5976937" cy="156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20000"/>
              </a:spcBef>
              <a:buClr>
                <a:srgbClr val="FF0000"/>
              </a:buClr>
            </a:pPr>
            <a:r>
              <a:rPr lang="en-US" altLang="en-US" sz="9600">
                <a:solidFill>
                  <a:srgbClr val="000000"/>
                </a:solidFill>
              </a:rPr>
              <a:t>1234</a:t>
            </a:r>
            <a:endParaRPr lang="en-MY" altLang="en-US" sz="9600">
              <a:solidFill>
                <a:srgbClr val="000000"/>
              </a:solidFill>
            </a:endParaRPr>
          </a:p>
        </p:txBody>
      </p:sp>
      <p:pic>
        <p:nvPicPr>
          <p:cNvPr id="16388" name="Picture 4">
            <a:extLst>
              <a:ext uri="{FF2B5EF4-FFF2-40B4-BE49-F238E27FC236}">
                <a16:creationId xmlns:a16="http://schemas.microsoft.com/office/drawing/2014/main" id="{D79986D8-C59D-2B9A-BAFA-200C668D24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452"/>
          <a:stretch>
            <a:fillRect/>
          </a:stretch>
        </p:blipFill>
        <p:spPr bwMode="auto">
          <a:xfrm>
            <a:off x="6372225" y="144463"/>
            <a:ext cx="1755775" cy="150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AB7C22BB-72F9-D9BA-74BF-9BDD63E521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65125"/>
            <a:ext cx="7758113" cy="132556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en-US" dirty="0"/>
              <a:t>Outline</a:t>
            </a:r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FAB73413-703D-65F7-49FF-81D4D1F8D1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4535375"/>
              </p:ext>
            </p:extLst>
          </p:nvPr>
        </p:nvGraphicFramePr>
        <p:xfrm>
          <a:off x="323528" y="1704994"/>
          <a:ext cx="7758684" cy="46405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0E7DE22E-5A1A-4627-8FCF-0E0841D027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04813"/>
            <a:ext cx="7269163" cy="1325562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en-US" dirty="0"/>
              <a:t>Introduction</a:t>
            </a:r>
            <a:endParaRPr lang="en-MY" altLang="en-US" dirty="0"/>
          </a:p>
        </p:txBody>
      </p:sp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71EF34E4-98E5-BE0B-5287-4F2F8B93C7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919288"/>
            <a:ext cx="7570788" cy="4711700"/>
          </a:xfrm>
        </p:spPr>
        <p:txBody>
          <a:bodyPr/>
          <a:lstStyle/>
          <a:p>
            <a:pPr marL="182880" indent="-182880" fontAlgn="auto">
              <a:defRPr/>
            </a:pPr>
            <a:r>
              <a:rPr lang="en-US" altLang="en-US" dirty="0"/>
              <a:t>One of the characteristics of </a:t>
            </a:r>
            <a:r>
              <a:rPr lang="en-US" altLang="en-US" sz="3600" b="1" dirty="0">
                <a:solidFill>
                  <a:srgbClr val="92D050"/>
                </a:solidFill>
              </a:rPr>
              <a:t>digital</a:t>
            </a:r>
            <a:r>
              <a:rPr lang="en-US" altLang="en-US" dirty="0"/>
              <a:t> systems:</a:t>
            </a:r>
          </a:p>
          <a:p>
            <a:pPr lvl="1" indent="-182880" fontAlgn="auto">
              <a:defRPr/>
            </a:pPr>
            <a:r>
              <a:rPr lang="en-US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To represent and manipulate </a:t>
            </a:r>
            <a:r>
              <a:rPr lang="en-US" altLang="en-US" sz="3200" b="1" dirty="0">
                <a:solidFill>
                  <a:srgbClr val="FF0000"/>
                </a:solidFill>
              </a:rPr>
              <a:t>discrete</a:t>
            </a:r>
            <a:r>
              <a:rPr lang="en-US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elements of information (10 decimal </a:t>
            </a:r>
            <a:r>
              <a:rPr lang="en-US" altLang="en-US" sz="3200" b="1" dirty="0">
                <a:solidFill>
                  <a:srgbClr val="00B0F0"/>
                </a:solidFill>
              </a:rPr>
              <a:t>digit</a:t>
            </a:r>
            <a:r>
              <a:rPr lang="en-US" altLang="en-US" sz="3200" dirty="0">
                <a:solidFill>
                  <a:srgbClr val="00B0F0"/>
                </a:solidFill>
              </a:rPr>
              <a:t>s</a:t>
            </a:r>
            <a:r>
              <a:rPr lang="en-US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26 alphabet </a:t>
            </a:r>
            <a:r>
              <a:rPr lang="en-US" altLang="en-US" sz="3200" b="1" dirty="0">
                <a:solidFill>
                  <a:srgbClr val="FFC000"/>
                </a:solidFill>
              </a:rPr>
              <a:t>letters</a:t>
            </a:r>
            <a:r>
              <a:rPr lang="en-US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64 </a:t>
            </a:r>
            <a:r>
              <a:rPr lang="en-US" altLang="en-US" sz="3200" b="1" dirty="0">
                <a:solidFill>
                  <a:srgbClr val="FF6699"/>
                </a:solidFill>
              </a:rPr>
              <a:t>squares</a:t>
            </a:r>
            <a:r>
              <a:rPr lang="en-US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of chessboard)</a:t>
            </a:r>
          </a:p>
        </p:txBody>
      </p:sp>
      <p:pic>
        <p:nvPicPr>
          <p:cNvPr id="20484" name="Picture 5" descr="Set of numbers 0-9 letters Royalty Free Vector Image">
            <a:extLst>
              <a:ext uri="{FF2B5EF4-FFF2-40B4-BE49-F238E27FC236}">
                <a16:creationId xmlns:a16="http://schemas.microsoft.com/office/drawing/2014/main" id="{5551210D-4166-06A9-8DDC-1EC46E7F31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151"/>
          <a:stretch>
            <a:fillRect/>
          </a:stretch>
        </p:blipFill>
        <p:spPr bwMode="auto">
          <a:xfrm>
            <a:off x="388938" y="3989388"/>
            <a:ext cx="3175000" cy="222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5" name="Picture 7" descr="Alphabet Letters Vector Art, Icons, and Graphics for Free Download">
            <a:extLst>
              <a:ext uri="{FF2B5EF4-FFF2-40B4-BE49-F238E27FC236}">
                <a16:creationId xmlns:a16="http://schemas.microsoft.com/office/drawing/2014/main" id="{C682292F-9C6D-878D-47F8-8848AF277A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6725" y="4352925"/>
            <a:ext cx="2771775" cy="1497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6" name="Picture 9" descr="The Chess Board">
            <a:extLst>
              <a:ext uri="{FF2B5EF4-FFF2-40B4-BE49-F238E27FC236}">
                <a16:creationId xmlns:a16="http://schemas.microsoft.com/office/drawing/2014/main" id="{080A27C4-9F85-89B7-F63A-C7C2AC30A4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5738" y="260350"/>
            <a:ext cx="2381250" cy="238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4BF59-9AA1-8A37-CCFA-8B7F34A9C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MY" dirty="0"/>
              <a:t>Number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92F31-A59F-182B-78C1-A55C87CFA6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6150" y="1828800"/>
            <a:ext cx="7269163" cy="4351338"/>
          </a:xfrm>
        </p:spPr>
        <p:txBody>
          <a:bodyPr/>
          <a:lstStyle/>
          <a:p>
            <a:pPr marL="182880" indent="-182880" fontAlgn="auto">
              <a:defRPr/>
            </a:pPr>
            <a:r>
              <a:rPr lang="en-MY" dirty="0"/>
              <a:t>Decimal Number System (Base-10) – commonly used </a:t>
            </a:r>
          </a:p>
          <a:p>
            <a:pPr marL="182880" indent="-182880" fontAlgn="auto">
              <a:defRPr/>
            </a:pPr>
            <a:r>
              <a:rPr lang="en-MY" dirty="0"/>
              <a:t>Binary Number System (Base-2) – two values ONLY </a:t>
            </a:r>
          </a:p>
          <a:p>
            <a:pPr marL="182880" indent="-182880" fontAlgn="auto">
              <a:defRPr/>
            </a:pPr>
            <a:r>
              <a:rPr lang="en-MY" dirty="0"/>
              <a:t>Octal Number System (Base-8) – commonly used in computer programming context </a:t>
            </a:r>
          </a:p>
          <a:p>
            <a:pPr marL="182880" indent="-182880" fontAlgn="auto">
              <a:defRPr/>
            </a:pPr>
            <a:r>
              <a:rPr lang="en-MY" dirty="0"/>
              <a:t>Hexadecimal Number System (Base-16) – commonly used in CS and programming </a:t>
            </a:r>
          </a:p>
          <a:p>
            <a:pPr marL="182880" indent="-182880" fontAlgn="auto">
              <a:defRPr/>
            </a:pPr>
            <a:r>
              <a:rPr lang="en-MY" dirty="0"/>
              <a:t>Other Number Systems</a:t>
            </a:r>
          </a:p>
          <a:p>
            <a:pPr lvl="1" indent="-182880" fontAlgn="auto">
              <a:defRPr/>
            </a:pPr>
            <a:r>
              <a:rPr lang="en-MY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Base-12 (Duodecimal)</a:t>
            </a:r>
          </a:p>
          <a:p>
            <a:pPr lvl="1" indent="-182880" fontAlgn="auto">
              <a:defRPr/>
            </a:pPr>
            <a:r>
              <a:rPr lang="en-MY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Base-60 (Sexagesimal)</a:t>
            </a:r>
          </a:p>
          <a:p>
            <a:pPr lvl="1" indent="-182880" fontAlgn="auto">
              <a:defRPr/>
            </a:pPr>
            <a:r>
              <a:rPr lang="en-MY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Base-64 (encoding data for transmission)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98D61-AA61-A855-BDC8-79048855A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Types of number system</a:t>
            </a: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A75E9D0-390A-A697-C471-ACD72E68ACE1}"/>
              </a:ext>
            </a:extLst>
          </p:cNvPr>
          <p:cNvSpPr/>
          <p:nvPr/>
        </p:nvSpPr>
        <p:spPr>
          <a:xfrm>
            <a:off x="946150" y="2132856"/>
            <a:ext cx="2472936" cy="639225"/>
          </a:xfrm>
          <a:custGeom>
            <a:avLst/>
            <a:gdLst>
              <a:gd name="connsiteX0" fmla="*/ 0 w 3069173"/>
              <a:gd name="connsiteY0" fmla="*/ 0 h 1841504"/>
              <a:gd name="connsiteX1" fmla="*/ 3069173 w 3069173"/>
              <a:gd name="connsiteY1" fmla="*/ 0 h 1841504"/>
              <a:gd name="connsiteX2" fmla="*/ 3069173 w 3069173"/>
              <a:gd name="connsiteY2" fmla="*/ 1841504 h 1841504"/>
              <a:gd name="connsiteX3" fmla="*/ 0 w 3069173"/>
              <a:gd name="connsiteY3" fmla="*/ 1841504 h 1841504"/>
              <a:gd name="connsiteX4" fmla="*/ 0 w 3069173"/>
              <a:gd name="connsiteY4" fmla="*/ 0 h 1841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69173" h="1841504">
                <a:moveTo>
                  <a:pt x="0" y="0"/>
                </a:moveTo>
                <a:lnTo>
                  <a:pt x="3069173" y="0"/>
                </a:lnTo>
                <a:lnTo>
                  <a:pt x="3069173" y="1841504"/>
                </a:lnTo>
                <a:lnTo>
                  <a:pt x="0" y="18415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7160" tIns="137160" rIns="137160" bIns="137160" numCol="1" spcCol="1270" anchor="ctr" anchorCtr="0">
            <a:noAutofit/>
          </a:bodyPr>
          <a:lstStyle/>
          <a:p>
            <a:pPr marL="0" lvl="0" indent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MY" sz="2800" kern="1200" dirty="0"/>
              <a:t>Binary 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E108EE7-8AFE-F81F-4161-675E0166BB8C}"/>
              </a:ext>
            </a:extLst>
          </p:cNvPr>
          <p:cNvSpPr/>
          <p:nvPr/>
        </p:nvSpPr>
        <p:spPr>
          <a:xfrm>
            <a:off x="945363" y="3207066"/>
            <a:ext cx="2472936" cy="639225"/>
          </a:xfrm>
          <a:custGeom>
            <a:avLst/>
            <a:gdLst>
              <a:gd name="connsiteX0" fmla="*/ 0 w 3069173"/>
              <a:gd name="connsiteY0" fmla="*/ 0 h 1841504"/>
              <a:gd name="connsiteX1" fmla="*/ 3069173 w 3069173"/>
              <a:gd name="connsiteY1" fmla="*/ 0 h 1841504"/>
              <a:gd name="connsiteX2" fmla="*/ 3069173 w 3069173"/>
              <a:gd name="connsiteY2" fmla="*/ 1841504 h 1841504"/>
              <a:gd name="connsiteX3" fmla="*/ 0 w 3069173"/>
              <a:gd name="connsiteY3" fmla="*/ 1841504 h 1841504"/>
              <a:gd name="connsiteX4" fmla="*/ 0 w 3069173"/>
              <a:gd name="connsiteY4" fmla="*/ 0 h 1841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69173" h="1841504">
                <a:moveTo>
                  <a:pt x="0" y="0"/>
                </a:moveTo>
                <a:lnTo>
                  <a:pt x="3069173" y="0"/>
                </a:lnTo>
                <a:lnTo>
                  <a:pt x="3069173" y="1841504"/>
                </a:lnTo>
                <a:lnTo>
                  <a:pt x="0" y="18415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7160" tIns="137160" rIns="137160" bIns="137160" numCol="1" spcCol="1270" anchor="ctr" anchorCtr="0">
            <a:noAutofit/>
          </a:bodyPr>
          <a:lstStyle/>
          <a:p>
            <a:pPr marL="0" lvl="0" indent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MY" sz="2800" kern="1200"/>
              <a:t>Octal 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2571A8F-DEAD-4793-7B47-A122218F3D3C}"/>
              </a:ext>
            </a:extLst>
          </p:cNvPr>
          <p:cNvSpPr/>
          <p:nvPr/>
        </p:nvSpPr>
        <p:spPr>
          <a:xfrm>
            <a:off x="946150" y="4281277"/>
            <a:ext cx="2472936" cy="639225"/>
          </a:xfrm>
          <a:custGeom>
            <a:avLst/>
            <a:gdLst>
              <a:gd name="connsiteX0" fmla="*/ 0 w 3069173"/>
              <a:gd name="connsiteY0" fmla="*/ 0 h 1841504"/>
              <a:gd name="connsiteX1" fmla="*/ 3069173 w 3069173"/>
              <a:gd name="connsiteY1" fmla="*/ 0 h 1841504"/>
              <a:gd name="connsiteX2" fmla="*/ 3069173 w 3069173"/>
              <a:gd name="connsiteY2" fmla="*/ 1841504 h 1841504"/>
              <a:gd name="connsiteX3" fmla="*/ 0 w 3069173"/>
              <a:gd name="connsiteY3" fmla="*/ 1841504 h 1841504"/>
              <a:gd name="connsiteX4" fmla="*/ 0 w 3069173"/>
              <a:gd name="connsiteY4" fmla="*/ 0 h 1841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69173" h="1841504">
                <a:moveTo>
                  <a:pt x="0" y="0"/>
                </a:moveTo>
                <a:lnTo>
                  <a:pt x="3069173" y="0"/>
                </a:lnTo>
                <a:lnTo>
                  <a:pt x="3069173" y="1841504"/>
                </a:lnTo>
                <a:lnTo>
                  <a:pt x="0" y="18415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7160" tIns="137160" rIns="137160" bIns="137160" numCol="1" spcCol="1270" anchor="ctr" anchorCtr="0">
            <a:noAutofit/>
          </a:bodyPr>
          <a:lstStyle/>
          <a:p>
            <a:pPr marL="0" lvl="0" indent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MY" sz="2800" kern="1200" dirty="0"/>
              <a:t>Decimal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85E69E2-67F1-ABF4-01CB-14491B8CDB92}"/>
              </a:ext>
            </a:extLst>
          </p:cNvPr>
          <p:cNvSpPr/>
          <p:nvPr/>
        </p:nvSpPr>
        <p:spPr>
          <a:xfrm>
            <a:off x="945363" y="5390858"/>
            <a:ext cx="2472936" cy="639225"/>
          </a:xfrm>
          <a:custGeom>
            <a:avLst/>
            <a:gdLst>
              <a:gd name="connsiteX0" fmla="*/ 0 w 3069173"/>
              <a:gd name="connsiteY0" fmla="*/ 0 h 1841504"/>
              <a:gd name="connsiteX1" fmla="*/ 3069173 w 3069173"/>
              <a:gd name="connsiteY1" fmla="*/ 0 h 1841504"/>
              <a:gd name="connsiteX2" fmla="*/ 3069173 w 3069173"/>
              <a:gd name="connsiteY2" fmla="*/ 1841504 h 1841504"/>
              <a:gd name="connsiteX3" fmla="*/ 0 w 3069173"/>
              <a:gd name="connsiteY3" fmla="*/ 1841504 h 1841504"/>
              <a:gd name="connsiteX4" fmla="*/ 0 w 3069173"/>
              <a:gd name="connsiteY4" fmla="*/ 0 h 1841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69173" h="1841504">
                <a:moveTo>
                  <a:pt x="0" y="0"/>
                </a:moveTo>
                <a:lnTo>
                  <a:pt x="3069173" y="0"/>
                </a:lnTo>
                <a:lnTo>
                  <a:pt x="3069173" y="1841504"/>
                </a:lnTo>
                <a:lnTo>
                  <a:pt x="0" y="184150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7160" tIns="137160" rIns="137160" bIns="137160" numCol="1" spcCol="1270" anchor="ctr" anchorCtr="0">
            <a:noAutofit/>
          </a:bodyPr>
          <a:lstStyle/>
          <a:p>
            <a:pPr marL="0" lvl="0" indent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MY" sz="2800" kern="1200" dirty="0"/>
              <a:t>Hexadecimal </a:t>
            </a: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2014CAC3-515E-7561-A0E6-4B2D15CFF28F}"/>
              </a:ext>
            </a:extLst>
          </p:cNvPr>
          <p:cNvSpPr/>
          <p:nvPr/>
        </p:nvSpPr>
        <p:spPr>
          <a:xfrm>
            <a:off x="3707904" y="2060848"/>
            <a:ext cx="504056" cy="3969235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4E870B9-9FC4-8598-A559-817B6914BF54}"/>
              </a:ext>
            </a:extLst>
          </p:cNvPr>
          <p:cNvSpPr/>
          <p:nvPr/>
        </p:nvSpPr>
        <p:spPr>
          <a:xfrm>
            <a:off x="4427984" y="1887411"/>
            <a:ext cx="3787329" cy="116306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b="1" dirty="0">
                <a:solidFill>
                  <a:srgbClr val="FF0000"/>
                </a:solidFill>
              </a:rPr>
              <a:t>Base</a:t>
            </a:r>
            <a:r>
              <a:rPr lang="en-MY" dirty="0">
                <a:solidFill>
                  <a:srgbClr val="FF0000"/>
                </a:solidFill>
              </a:rPr>
              <a:t> or </a:t>
            </a:r>
            <a:r>
              <a:rPr lang="en-MY" b="1" dirty="0">
                <a:solidFill>
                  <a:srgbClr val="FF0000"/>
                </a:solidFill>
              </a:rPr>
              <a:t>radix (r)</a:t>
            </a:r>
          </a:p>
          <a:p>
            <a:pPr algn="ctr"/>
            <a:r>
              <a:rPr lang="en-MY" dirty="0">
                <a:solidFill>
                  <a:srgbClr val="FF0000"/>
                </a:solidFill>
              </a:rPr>
              <a:t>The value representing the number system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E2C166-0560-F709-DBBE-5EA47B124A4E}"/>
              </a:ext>
            </a:extLst>
          </p:cNvPr>
          <p:cNvSpPr/>
          <p:nvPr/>
        </p:nvSpPr>
        <p:spPr>
          <a:xfrm>
            <a:off x="4427984" y="3356992"/>
            <a:ext cx="3787329" cy="116306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>
                <a:solidFill>
                  <a:srgbClr val="FF0000"/>
                </a:solidFill>
              </a:rPr>
              <a:t>The range of digit representing each base </a:t>
            </a:r>
          </a:p>
          <a:p>
            <a:pPr algn="ctr"/>
            <a:endParaRPr lang="en-MY" b="1" dirty="0">
              <a:solidFill>
                <a:srgbClr val="FF0000"/>
              </a:solidFill>
            </a:endParaRPr>
          </a:p>
          <a:p>
            <a:pPr algn="ctr"/>
            <a:r>
              <a:rPr lang="en-MY" b="1" dirty="0">
                <a:solidFill>
                  <a:srgbClr val="FF0000"/>
                </a:solidFill>
              </a:rPr>
              <a:t>0 to r-1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0D48BAB-A86F-12E2-DA6B-1F227AFB8136}"/>
              </a:ext>
            </a:extLst>
          </p:cNvPr>
          <p:cNvSpPr/>
          <p:nvPr/>
        </p:nvSpPr>
        <p:spPr>
          <a:xfrm>
            <a:off x="4374749" y="2080787"/>
            <a:ext cx="3787329" cy="73617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MY" sz="1400" b="1" dirty="0">
                <a:solidFill>
                  <a:schemeClr val="tx1"/>
                </a:solidFill>
              </a:rPr>
              <a:t>Base/radix = 2 </a:t>
            </a:r>
          </a:p>
          <a:p>
            <a:endParaRPr lang="en-MY" sz="1400" dirty="0">
              <a:solidFill>
                <a:schemeClr val="tx1"/>
              </a:solidFill>
            </a:endParaRPr>
          </a:p>
          <a:p>
            <a:r>
              <a:rPr lang="en-MY" sz="1400" dirty="0">
                <a:solidFill>
                  <a:schemeClr val="tx1"/>
                </a:solidFill>
              </a:rPr>
              <a:t>The range of digits = 0 to (2-1) = 0 to 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6C4FD2-9BCC-21EA-9236-16AD3FB6F64C}"/>
              </a:ext>
            </a:extLst>
          </p:cNvPr>
          <p:cNvSpPr/>
          <p:nvPr/>
        </p:nvSpPr>
        <p:spPr>
          <a:xfrm>
            <a:off x="4450689" y="3210337"/>
            <a:ext cx="3787329" cy="7361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MY" sz="1400" b="1" dirty="0">
                <a:solidFill>
                  <a:schemeClr val="tx1"/>
                </a:solidFill>
              </a:rPr>
              <a:t>Base/radix = 8 </a:t>
            </a:r>
          </a:p>
          <a:p>
            <a:endParaRPr lang="en-MY" sz="1400" dirty="0">
              <a:solidFill>
                <a:schemeClr val="tx1"/>
              </a:solidFill>
            </a:endParaRPr>
          </a:p>
          <a:p>
            <a:r>
              <a:rPr lang="en-MY" sz="1400" dirty="0">
                <a:solidFill>
                  <a:schemeClr val="tx1"/>
                </a:solidFill>
              </a:rPr>
              <a:t>The range of digits = 0 to (8-1) = 0 to 7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441B79-63B5-6D34-EF44-6971C70D5D89}"/>
              </a:ext>
            </a:extLst>
          </p:cNvPr>
          <p:cNvSpPr/>
          <p:nvPr/>
        </p:nvSpPr>
        <p:spPr>
          <a:xfrm>
            <a:off x="4439336" y="4276876"/>
            <a:ext cx="3787329" cy="73617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MY" sz="1400" b="1" dirty="0">
                <a:solidFill>
                  <a:schemeClr val="tx1"/>
                </a:solidFill>
              </a:rPr>
              <a:t>Base/radix = 10 </a:t>
            </a:r>
          </a:p>
          <a:p>
            <a:endParaRPr lang="en-MY" sz="1400" dirty="0">
              <a:solidFill>
                <a:schemeClr val="tx1"/>
              </a:solidFill>
            </a:endParaRPr>
          </a:p>
          <a:p>
            <a:r>
              <a:rPr lang="en-MY" sz="1400" dirty="0">
                <a:solidFill>
                  <a:schemeClr val="tx1"/>
                </a:solidFill>
              </a:rPr>
              <a:t>The range of digits = 0 to (10-1) = 0 to 9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F35604-064A-4259-9F9B-18589CED1FD9}"/>
              </a:ext>
            </a:extLst>
          </p:cNvPr>
          <p:cNvSpPr/>
          <p:nvPr/>
        </p:nvSpPr>
        <p:spPr>
          <a:xfrm>
            <a:off x="4427983" y="5342380"/>
            <a:ext cx="3787329" cy="73617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MY" sz="1400" b="1" dirty="0">
                <a:solidFill>
                  <a:schemeClr val="tx1"/>
                </a:solidFill>
              </a:rPr>
              <a:t>Base/radix = 16 </a:t>
            </a:r>
          </a:p>
          <a:p>
            <a:endParaRPr lang="en-MY" sz="1400" dirty="0">
              <a:solidFill>
                <a:schemeClr val="tx1"/>
              </a:solidFill>
            </a:endParaRPr>
          </a:p>
          <a:p>
            <a:r>
              <a:rPr lang="en-MY" sz="1400" dirty="0">
                <a:solidFill>
                  <a:schemeClr val="tx1"/>
                </a:solidFill>
              </a:rPr>
              <a:t>The range of digits = 0 to (16-1) = 0 to 15</a:t>
            </a:r>
          </a:p>
        </p:txBody>
      </p:sp>
    </p:spTree>
    <p:extLst>
      <p:ext uri="{BB962C8B-B14F-4D97-AF65-F5344CB8AC3E}">
        <p14:creationId xmlns:p14="http://schemas.microsoft.com/office/powerpoint/2010/main" val="2138237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2" grpId="0" animBg="1"/>
      <p:bldP spid="12" grpId="1" animBg="1"/>
      <p:bldP spid="13" grpId="0" animBg="1"/>
      <p:bldP spid="14" grpId="0" animBg="1"/>
      <p:bldP spid="15" grpId="0" animBg="1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4A91D-BAC8-3E78-4F1C-187DC0BE9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Quick Activity #0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AA4B4B-3EB5-C30C-BAAB-3836A8437C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MY" dirty="0"/>
              <a:t>Identify the radix for the following numbers: </a:t>
            </a:r>
          </a:p>
          <a:p>
            <a:pPr marL="342900" indent="-342900">
              <a:buFont typeface="+mj-lt"/>
              <a:buAutoNum type="arabicPeriod"/>
            </a:pPr>
            <a:r>
              <a:rPr lang="en-MY" dirty="0"/>
              <a:t>283</a:t>
            </a:r>
          </a:p>
          <a:p>
            <a:pPr marL="342900" indent="-342900">
              <a:buFont typeface="+mj-lt"/>
              <a:buAutoNum type="arabicPeriod"/>
            </a:pPr>
            <a:r>
              <a:rPr lang="en-MY" dirty="0"/>
              <a:t>54</a:t>
            </a:r>
          </a:p>
          <a:p>
            <a:pPr marL="342900" indent="-342900">
              <a:buFont typeface="+mj-lt"/>
              <a:buAutoNum type="arabicPeriod"/>
            </a:pPr>
            <a:r>
              <a:rPr lang="en-MY" dirty="0"/>
              <a:t>215</a:t>
            </a:r>
          </a:p>
          <a:p>
            <a:pPr marL="342900" indent="-342900">
              <a:buFont typeface="+mj-lt"/>
              <a:buAutoNum type="arabicPeriod"/>
            </a:pPr>
            <a:r>
              <a:rPr lang="en-MY" dirty="0"/>
              <a:t>2C</a:t>
            </a:r>
          </a:p>
          <a:p>
            <a:pPr marL="342900" indent="-342900">
              <a:buFont typeface="+mj-lt"/>
              <a:buAutoNum type="arabicPeriod"/>
            </a:pPr>
            <a:r>
              <a:rPr lang="en-MY" dirty="0"/>
              <a:t>1011</a:t>
            </a:r>
          </a:p>
        </p:txBody>
      </p:sp>
    </p:spTree>
    <p:extLst>
      <p:ext uri="{BB962C8B-B14F-4D97-AF65-F5344CB8AC3E}">
        <p14:creationId xmlns:p14="http://schemas.microsoft.com/office/powerpoint/2010/main" val="39502454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D9B29-62CE-80D3-BD58-D61A4AF43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Positional Number Systems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3A4D9-DC55-4879-289D-7DE35F3072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6149" y="1828800"/>
            <a:ext cx="7269163" cy="4351338"/>
          </a:xfrm>
        </p:spPr>
        <p:txBody>
          <a:bodyPr>
            <a:normAutofit/>
          </a:bodyPr>
          <a:lstStyle/>
          <a:p>
            <a:r>
              <a:rPr lang="en-US" dirty="0"/>
              <a:t>In a positional number system, each number represented by a string of digits in which each digit position </a:t>
            </a:r>
            <a:r>
              <a:rPr lang="en-US" dirty="0" err="1"/>
              <a:t>i</a:t>
            </a:r>
            <a:r>
              <a:rPr lang="en-US" dirty="0"/>
              <a:t> has an associated weight </a:t>
            </a:r>
            <a:r>
              <a:rPr lang="en-US" dirty="0" err="1"/>
              <a:t>r</a:t>
            </a:r>
            <a:r>
              <a:rPr lang="en-US" baseline="30000" dirty="0" err="1"/>
              <a:t>i</a:t>
            </a:r>
            <a:r>
              <a:rPr lang="en-US" dirty="0"/>
              <a:t>, where r is the </a:t>
            </a:r>
            <a:r>
              <a:rPr lang="en-US" sz="2000" b="1" dirty="0">
                <a:solidFill>
                  <a:srgbClr val="FF0000"/>
                </a:solidFill>
              </a:rPr>
              <a:t>radix</a:t>
            </a:r>
            <a:r>
              <a:rPr lang="en-US" dirty="0"/>
              <a:t>, or </a:t>
            </a:r>
            <a:r>
              <a:rPr lang="en-US" sz="2000" b="1" dirty="0">
                <a:solidFill>
                  <a:srgbClr val="FF0000"/>
                </a:solidFill>
              </a:rPr>
              <a:t>base</a:t>
            </a:r>
            <a:r>
              <a:rPr lang="en-US" dirty="0"/>
              <a:t>, of the number system.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value of any digit ai is an integer in the range 0 ≤ </a:t>
            </a:r>
            <a:r>
              <a:rPr lang="en-US" dirty="0" err="1"/>
              <a:t>i</a:t>
            </a:r>
            <a:r>
              <a:rPr lang="en-US" dirty="0"/>
              <a:t> &lt; r. </a:t>
            </a:r>
          </a:p>
          <a:p>
            <a:r>
              <a:rPr lang="en-US" dirty="0"/>
              <a:t>The </a:t>
            </a:r>
            <a:r>
              <a:rPr lang="en-US" u="sng" dirty="0">
                <a:solidFill>
                  <a:srgbClr val="FF0000"/>
                </a:solidFill>
              </a:rPr>
              <a:t>dot</a:t>
            </a:r>
            <a:r>
              <a:rPr lang="en-US" dirty="0"/>
              <a:t> between </a:t>
            </a:r>
            <a:r>
              <a:rPr lang="en-US" u="sng" dirty="0">
                <a:solidFill>
                  <a:srgbClr val="FF0000"/>
                </a:solidFill>
              </a:rPr>
              <a:t>a</a:t>
            </a:r>
            <a:r>
              <a:rPr lang="en-US" u="sng" baseline="-25000" dirty="0">
                <a:solidFill>
                  <a:srgbClr val="FF0000"/>
                </a:solidFill>
              </a:rPr>
              <a:t>0</a:t>
            </a:r>
            <a:r>
              <a:rPr lang="en-US" dirty="0"/>
              <a:t> and </a:t>
            </a:r>
            <a:r>
              <a:rPr lang="en-US" u="sng" dirty="0">
                <a:solidFill>
                  <a:srgbClr val="FF0000"/>
                </a:solidFill>
              </a:rPr>
              <a:t>a</a:t>
            </a:r>
            <a:r>
              <a:rPr lang="en-US" u="sng" baseline="-25000" dirty="0">
                <a:solidFill>
                  <a:srgbClr val="FF0000"/>
                </a:solidFill>
              </a:rPr>
              <a:t>-1</a:t>
            </a:r>
            <a:r>
              <a:rPr lang="en-US" u="sng" dirty="0">
                <a:solidFill>
                  <a:srgbClr val="FF0000"/>
                </a:solidFill>
              </a:rPr>
              <a:t> </a:t>
            </a:r>
            <a:r>
              <a:rPr lang="en-US" dirty="0"/>
              <a:t>is called the </a:t>
            </a:r>
            <a:r>
              <a:rPr lang="en-US" u="sng" dirty="0">
                <a:solidFill>
                  <a:srgbClr val="FF0000"/>
                </a:solidFill>
              </a:rPr>
              <a:t>radix point</a:t>
            </a:r>
            <a:r>
              <a:rPr lang="en-US" dirty="0"/>
              <a:t>. </a:t>
            </a:r>
          </a:p>
          <a:p>
            <a:r>
              <a:rPr lang="en-US" dirty="0"/>
              <a:t>As an example of another positional system, consider the system with base 7.</a:t>
            </a:r>
            <a:br>
              <a:rPr lang="en-US" dirty="0"/>
            </a:br>
            <a:endParaRPr lang="en-MY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4C76C2-35F6-5AA5-B49F-D2165562AB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0254" y="2780928"/>
            <a:ext cx="6060952" cy="8772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52CEDD-40E2-B536-A083-E333E9934C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688" y="2996952"/>
            <a:ext cx="7220258" cy="1098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281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FFCD326E-85F6-8C91-A00E-A67096EAA5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365125"/>
            <a:ext cx="7747000" cy="132556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en-US" dirty="0"/>
              <a:t>Introduction</a:t>
            </a:r>
            <a:endParaRPr lang="en-MY" altLang="en-US" dirty="0"/>
          </a:p>
        </p:txBody>
      </p:sp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id="{66FAAADB-3A40-3EED-3401-AD03436B8A3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8313" y="1885950"/>
            <a:ext cx="7747000" cy="4711700"/>
          </a:xfrm>
        </p:spPr>
        <p:txBody>
          <a:bodyPr>
            <a:normAutofit/>
          </a:bodyPr>
          <a:lstStyle/>
          <a:p>
            <a:pPr marL="182880" indent="-182880" fontAlgn="auto">
              <a:defRPr/>
            </a:pPr>
            <a:r>
              <a:rPr lang="en-US" altLang="en-US" dirty="0"/>
              <a:t>Bits in a computer system are grouped together into </a:t>
            </a:r>
            <a:r>
              <a:rPr lang="en-US" altLang="en-US" sz="3600" b="1" dirty="0">
                <a:solidFill>
                  <a:srgbClr val="FF0000"/>
                </a:solidFill>
              </a:rPr>
              <a:t>cells</a:t>
            </a:r>
            <a:r>
              <a:rPr lang="en-US" altLang="en-US" dirty="0"/>
              <a:t> </a:t>
            </a:r>
            <a:endParaRPr lang="en-US" altLang="en-US" b="1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A78A83-81E1-3185-16D5-A9843CE2A510}"/>
              </a:ext>
            </a:extLst>
          </p:cNvPr>
          <p:cNvSpPr txBox="1"/>
          <p:nvPr/>
        </p:nvSpPr>
        <p:spPr>
          <a:xfrm>
            <a:off x="2679651" y="3213606"/>
            <a:ext cx="25922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400" dirty="0"/>
              <a:t>An eight-bit memory cell in main memory</a:t>
            </a:r>
          </a:p>
        </p:txBody>
      </p:sp>
      <p:pic>
        <p:nvPicPr>
          <p:cNvPr id="63" name="Graphic 62" descr="Checkmark with solid fill">
            <a:extLst>
              <a:ext uri="{FF2B5EF4-FFF2-40B4-BE49-F238E27FC236}">
                <a16:creationId xmlns:a16="http://schemas.microsoft.com/office/drawing/2014/main" id="{F09CF703-FE33-F8BF-3F09-2A2F25BC0F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38065" y="5606092"/>
            <a:ext cx="1242789" cy="115242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A695BA51-23DA-38D0-EC87-7A316DEFB9A1}"/>
              </a:ext>
            </a:extLst>
          </p:cNvPr>
          <p:cNvGrpSpPr/>
          <p:nvPr/>
        </p:nvGrpSpPr>
        <p:grpSpPr>
          <a:xfrm>
            <a:off x="2751659" y="2690699"/>
            <a:ext cx="2889000" cy="360040"/>
            <a:chOff x="2751659" y="2690699"/>
            <a:chExt cx="2889000" cy="36004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CB7B71F-D02D-F533-7D55-91B4BA4C24E6}"/>
                </a:ext>
              </a:extLst>
            </p:cNvPr>
            <p:cNvSpPr/>
            <p:nvPr/>
          </p:nvSpPr>
          <p:spPr>
            <a:xfrm>
              <a:off x="2751659" y="2690699"/>
              <a:ext cx="360040" cy="360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CEA8219-1B1E-01B5-765A-FBF8062EA14C}"/>
                </a:ext>
              </a:extLst>
            </p:cNvPr>
            <p:cNvSpPr/>
            <p:nvPr/>
          </p:nvSpPr>
          <p:spPr>
            <a:xfrm>
              <a:off x="3111699" y="2690699"/>
              <a:ext cx="360040" cy="360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C282A9-19F3-5316-88B6-BA517A0809F7}"/>
                </a:ext>
              </a:extLst>
            </p:cNvPr>
            <p:cNvSpPr/>
            <p:nvPr/>
          </p:nvSpPr>
          <p:spPr>
            <a:xfrm>
              <a:off x="3471739" y="2690699"/>
              <a:ext cx="360040" cy="360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A334CBE-9C8A-A51A-BD2D-916A4EAA3E5D}"/>
                </a:ext>
              </a:extLst>
            </p:cNvPr>
            <p:cNvSpPr/>
            <p:nvPr/>
          </p:nvSpPr>
          <p:spPr>
            <a:xfrm>
              <a:off x="3831779" y="2690699"/>
              <a:ext cx="360040" cy="360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09164DD-448B-6194-EBE4-6CE2938DB3A6}"/>
                </a:ext>
              </a:extLst>
            </p:cNvPr>
            <p:cNvSpPr/>
            <p:nvPr/>
          </p:nvSpPr>
          <p:spPr>
            <a:xfrm>
              <a:off x="4191819" y="2690699"/>
              <a:ext cx="360040" cy="360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332E43F-8885-5DAF-B028-FEEFC4612506}"/>
                </a:ext>
              </a:extLst>
            </p:cNvPr>
            <p:cNvSpPr/>
            <p:nvPr/>
          </p:nvSpPr>
          <p:spPr>
            <a:xfrm>
              <a:off x="4551859" y="2690699"/>
              <a:ext cx="360040" cy="360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28D5E1B-A138-9106-7B32-47F4930B448D}"/>
                </a:ext>
              </a:extLst>
            </p:cNvPr>
            <p:cNvSpPr/>
            <p:nvPr/>
          </p:nvSpPr>
          <p:spPr>
            <a:xfrm>
              <a:off x="4911899" y="2690699"/>
              <a:ext cx="360040" cy="360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694EF4B9-29DE-4B3B-47E1-8B30E9727630}"/>
                </a:ext>
              </a:extLst>
            </p:cNvPr>
            <p:cNvSpPr/>
            <p:nvPr/>
          </p:nvSpPr>
          <p:spPr>
            <a:xfrm>
              <a:off x="5280619" y="2690699"/>
              <a:ext cx="360040" cy="360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CA398C6-28AB-4D2D-8A62-A38F65BAC015}"/>
              </a:ext>
            </a:extLst>
          </p:cNvPr>
          <p:cNvGrpSpPr/>
          <p:nvPr/>
        </p:nvGrpSpPr>
        <p:grpSpPr>
          <a:xfrm>
            <a:off x="808931" y="4135448"/>
            <a:ext cx="2889000" cy="360040"/>
            <a:chOff x="808931" y="4135448"/>
            <a:chExt cx="2889000" cy="36004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0A02B52-34E8-E3A6-5E94-DAAC1A282EBA}"/>
                </a:ext>
              </a:extLst>
            </p:cNvPr>
            <p:cNvSpPr/>
            <p:nvPr/>
          </p:nvSpPr>
          <p:spPr>
            <a:xfrm>
              <a:off x="808931" y="4135448"/>
              <a:ext cx="360040" cy="360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3F0D575-84E6-D5C1-4B97-1E14D463077A}"/>
                </a:ext>
              </a:extLst>
            </p:cNvPr>
            <p:cNvSpPr/>
            <p:nvPr/>
          </p:nvSpPr>
          <p:spPr>
            <a:xfrm>
              <a:off x="1168971" y="4135448"/>
              <a:ext cx="360040" cy="360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B39E01C-8446-9064-1626-28978E7F3FE5}"/>
                </a:ext>
              </a:extLst>
            </p:cNvPr>
            <p:cNvSpPr/>
            <p:nvPr/>
          </p:nvSpPr>
          <p:spPr>
            <a:xfrm>
              <a:off x="1529011" y="4135448"/>
              <a:ext cx="360040" cy="360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4BEA5E1-965C-7D3E-38E9-84BCA703B24B}"/>
                </a:ext>
              </a:extLst>
            </p:cNvPr>
            <p:cNvSpPr/>
            <p:nvPr/>
          </p:nvSpPr>
          <p:spPr>
            <a:xfrm>
              <a:off x="1889051" y="4135448"/>
              <a:ext cx="360040" cy="360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7800FFA-FE72-AC78-8A51-4278A2D8AA7B}"/>
                </a:ext>
              </a:extLst>
            </p:cNvPr>
            <p:cNvSpPr/>
            <p:nvPr/>
          </p:nvSpPr>
          <p:spPr>
            <a:xfrm>
              <a:off x="2249091" y="4135448"/>
              <a:ext cx="360040" cy="360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6F97C2F-2BD5-C796-74DC-10EF979EFBD5}"/>
                </a:ext>
              </a:extLst>
            </p:cNvPr>
            <p:cNvSpPr/>
            <p:nvPr/>
          </p:nvSpPr>
          <p:spPr>
            <a:xfrm>
              <a:off x="2609131" y="4135448"/>
              <a:ext cx="360040" cy="360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073233C-8EA9-18F0-88BF-0E12468AF339}"/>
                </a:ext>
              </a:extLst>
            </p:cNvPr>
            <p:cNvSpPr/>
            <p:nvPr/>
          </p:nvSpPr>
          <p:spPr>
            <a:xfrm>
              <a:off x="2969171" y="4135448"/>
              <a:ext cx="360040" cy="360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25243EA-917B-393C-546C-8327234B1C4E}"/>
                </a:ext>
              </a:extLst>
            </p:cNvPr>
            <p:cNvSpPr/>
            <p:nvPr/>
          </p:nvSpPr>
          <p:spPr>
            <a:xfrm>
              <a:off x="3337891" y="4135448"/>
              <a:ext cx="360040" cy="360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>
                  <a:solidFill>
                    <a:schemeClr val="tx1"/>
                  </a:solidFill>
                </a:rPr>
                <a:t>0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952E564-36D5-FB73-2CD7-C9BE959106A7}"/>
              </a:ext>
            </a:extLst>
          </p:cNvPr>
          <p:cNvGrpSpPr/>
          <p:nvPr/>
        </p:nvGrpSpPr>
        <p:grpSpPr>
          <a:xfrm>
            <a:off x="827584" y="4690750"/>
            <a:ext cx="2889000" cy="360040"/>
            <a:chOff x="827584" y="4690750"/>
            <a:chExt cx="2889000" cy="36004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76C065A-FF9C-0E26-BD7E-0439706D0AE0}"/>
                </a:ext>
              </a:extLst>
            </p:cNvPr>
            <p:cNvSpPr/>
            <p:nvPr/>
          </p:nvSpPr>
          <p:spPr>
            <a:xfrm>
              <a:off x="827584" y="4690750"/>
              <a:ext cx="360040" cy="360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54D0DDC-69A0-600A-36EF-070803683D89}"/>
                </a:ext>
              </a:extLst>
            </p:cNvPr>
            <p:cNvSpPr/>
            <p:nvPr/>
          </p:nvSpPr>
          <p:spPr>
            <a:xfrm>
              <a:off x="1187624" y="4690750"/>
              <a:ext cx="360040" cy="360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85AF05E8-6140-6E0C-A4AF-2E14DB531BA3}"/>
                </a:ext>
              </a:extLst>
            </p:cNvPr>
            <p:cNvSpPr/>
            <p:nvPr/>
          </p:nvSpPr>
          <p:spPr>
            <a:xfrm>
              <a:off x="1547664" y="4690750"/>
              <a:ext cx="360040" cy="360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02FD05C2-6518-87F2-B591-188FDFF1DD83}"/>
                </a:ext>
              </a:extLst>
            </p:cNvPr>
            <p:cNvSpPr/>
            <p:nvPr/>
          </p:nvSpPr>
          <p:spPr>
            <a:xfrm>
              <a:off x="1907704" y="4690750"/>
              <a:ext cx="360040" cy="360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D9E6B625-8325-6A08-BE35-0863258212BD}"/>
                </a:ext>
              </a:extLst>
            </p:cNvPr>
            <p:cNvSpPr/>
            <p:nvPr/>
          </p:nvSpPr>
          <p:spPr>
            <a:xfrm>
              <a:off x="2267744" y="4690750"/>
              <a:ext cx="360040" cy="360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016928D2-73CF-8E88-8A36-C9093CBB0207}"/>
                </a:ext>
              </a:extLst>
            </p:cNvPr>
            <p:cNvSpPr/>
            <p:nvPr/>
          </p:nvSpPr>
          <p:spPr>
            <a:xfrm>
              <a:off x="2627784" y="4690750"/>
              <a:ext cx="360040" cy="360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BDB84EC8-6313-DC52-EE82-611BD5F828F8}"/>
                </a:ext>
              </a:extLst>
            </p:cNvPr>
            <p:cNvSpPr/>
            <p:nvPr/>
          </p:nvSpPr>
          <p:spPr>
            <a:xfrm>
              <a:off x="2987824" y="4690750"/>
              <a:ext cx="360040" cy="360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0E2F9B3-5BE5-7020-1319-CE27A5E61E9E}"/>
                </a:ext>
              </a:extLst>
            </p:cNvPr>
            <p:cNvSpPr/>
            <p:nvPr/>
          </p:nvSpPr>
          <p:spPr>
            <a:xfrm>
              <a:off x="3356544" y="4690750"/>
              <a:ext cx="360040" cy="360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>
                  <a:solidFill>
                    <a:schemeClr val="tx1"/>
                  </a:solidFill>
                </a:rPr>
                <a:t>1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3DF5709-79F6-1D63-5BD8-E5CFFDE680A6}"/>
              </a:ext>
            </a:extLst>
          </p:cNvPr>
          <p:cNvGrpSpPr/>
          <p:nvPr/>
        </p:nvGrpSpPr>
        <p:grpSpPr>
          <a:xfrm>
            <a:off x="846237" y="5246052"/>
            <a:ext cx="2880320" cy="360040"/>
            <a:chOff x="846237" y="5246052"/>
            <a:chExt cx="2880320" cy="360040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BD854AC-154D-512E-9F34-797AE39A1586}"/>
                </a:ext>
              </a:extLst>
            </p:cNvPr>
            <p:cNvSpPr/>
            <p:nvPr/>
          </p:nvSpPr>
          <p:spPr>
            <a:xfrm>
              <a:off x="846237" y="5246052"/>
              <a:ext cx="360040" cy="360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F37B5CCD-11D3-1622-9568-D3025E0DEBA0}"/>
                </a:ext>
              </a:extLst>
            </p:cNvPr>
            <p:cNvSpPr/>
            <p:nvPr/>
          </p:nvSpPr>
          <p:spPr>
            <a:xfrm>
              <a:off x="1206277" y="5246052"/>
              <a:ext cx="360040" cy="360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1A0AA717-86D4-74A2-DA20-36DDF148B580}"/>
                </a:ext>
              </a:extLst>
            </p:cNvPr>
            <p:cNvSpPr/>
            <p:nvPr/>
          </p:nvSpPr>
          <p:spPr>
            <a:xfrm>
              <a:off x="1566317" y="5246052"/>
              <a:ext cx="360040" cy="360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E3142F66-5B53-A867-4364-7DD3DB368052}"/>
                </a:ext>
              </a:extLst>
            </p:cNvPr>
            <p:cNvSpPr/>
            <p:nvPr/>
          </p:nvSpPr>
          <p:spPr>
            <a:xfrm>
              <a:off x="1926357" y="5246052"/>
              <a:ext cx="360040" cy="360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65837548-1557-302E-83E9-4B21B889051E}"/>
                </a:ext>
              </a:extLst>
            </p:cNvPr>
            <p:cNvSpPr/>
            <p:nvPr/>
          </p:nvSpPr>
          <p:spPr>
            <a:xfrm>
              <a:off x="2286397" y="5246052"/>
              <a:ext cx="360040" cy="360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98B5C89E-9B30-D264-D8A6-443CA9C0C26E}"/>
                </a:ext>
              </a:extLst>
            </p:cNvPr>
            <p:cNvSpPr/>
            <p:nvPr/>
          </p:nvSpPr>
          <p:spPr>
            <a:xfrm>
              <a:off x="2646437" y="5246052"/>
              <a:ext cx="360040" cy="360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D2431A3F-C308-F0E3-564E-D84F2D4A4BEE}"/>
                </a:ext>
              </a:extLst>
            </p:cNvPr>
            <p:cNvSpPr/>
            <p:nvPr/>
          </p:nvSpPr>
          <p:spPr>
            <a:xfrm>
              <a:off x="3006477" y="5246052"/>
              <a:ext cx="360040" cy="360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3E87E6B-91A2-D761-9DCB-AB36B48F5AFA}"/>
                </a:ext>
              </a:extLst>
            </p:cNvPr>
            <p:cNvSpPr/>
            <p:nvPr/>
          </p:nvSpPr>
          <p:spPr>
            <a:xfrm>
              <a:off x="3366517" y="5246052"/>
              <a:ext cx="360040" cy="360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>
                  <a:solidFill>
                    <a:schemeClr val="tx1"/>
                  </a:solidFill>
                </a:rPr>
                <a:t>0</a:t>
              </a:r>
            </a:p>
          </p:txBody>
        </p:sp>
      </p:grpSp>
      <p:grpSp>
        <p:nvGrpSpPr>
          <p:cNvPr id="16384" name="Group 16383">
            <a:extLst>
              <a:ext uri="{FF2B5EF4-FFF2-40B4-BE49-F238E27FC236}">
                <a16:creationId xmlns:a16="http://schemas.microsoft.com/office/drawing/2014/main" id="{BCD5C000-4153-41BF-BB02-FE2483BE335F}"/>
              </a:ext>
            </a:extLst>
          </p:cNvPr>
          <p:cNvGrpSpPr/>
          <p:nvPr/>
        </p:nvGrpSpPr>
        <p:grpSpPr>
          <a:xfrm>
            <a:off x="5057626" y="4135448"/>
            <a:ext cx="2880320" cy="360040"/>
            <a:chOff x="5057626" y="4135448"/>
            <a:chExt cx="2880320" cy="360040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38343D08-43A9-A9A6-9341-331E3861E406}"/>
                </a:ext>
              </a:extLst>
            </p:cNvPr>
            <p:cNvGrpSpPr/>
            <p:nvPr/>
          </p:nvGrpSpPr>
          <p:grpSpPr>
            <a:xfrm>
              <a:off x="5057626" y="4135448"/>
              <a:ext cx="2520280" cy="360040"/>
              <a:chOff x="808931" y="4135448"/>
              <a:chExt cx="2520280" cy="360040"/>
            </a:xfrm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76B62099-0541-59B7-F368-1D72C2194134}"/>
                  </a:ext>
                </a:extLst>
              </p:cNvPr>
              <p:cNvSpPr/>
              <p:nvPr/>
            </p:nvSpPr>
            <p:spPr>
              <a:xfrm>
                <a:off x="808931" y="4135448"/>
                <a:ext cx="360040" cy="36004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MY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DA14509A-B0F6-2F7D-246B-CBD40B1C8462}"/>
                  </a:ext>
                </a:extLst>
              </p:cNvPr>
              <p:cNvSpPr/>
              <p:nvPr/>
            </p:nvSpPr>
            <p:spPr>
              <a:xfrm>
                <a:off x="1168971" y="4135448"/>
                <a:ext cx="360040" cy="36004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MY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19CC22CF-58AD-C0DA-945D-1D696DFEEBFF}"/>
                  </a:ext>
                </a:extLst>
              </p:cNvPr>
              <p:cNvSpPr/>
              <p:nvPr/>
            </p:nvSpPr>
            <p:spPr>
              <a:xfrm>
                <a:off x="1529011" y="4135448"/>
                <a:ext cx="360040" cy="36004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MY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C220E2C8-0C4D-2A7D-B751-2938C2BD0BC6}"/>
                  </a:ext>
                </a:extLst>
              </p:cNvPr>
              <p:cNvSpPr/>
              <p:nvPr/>
            </p:nvSpPr>
            <p:spPr>
              <a:xfrm>
                <a:off x="1889051" y="4135448"/>
                <a:ext cx="360040" cy="36004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MY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CB3F609B-B857-73DF-302C-E12EA38F4312}"/>
                  </a:ext>
                </a:extLst>
              </p:cNvPr>
              <p:cNvSpPr/>
              <p:nvPr/>
            </p:nvSpPr>
            <p:spPr>
              <a:xfrm>
                <a:off x="2249091" y="4135448"/>
                <a:ext cx="360040" cy="36004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MY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82693D95-3420-9927-9A68-700E31C2C506}"/>
                  </a:ext>
                </a:extLst>
              </p:cNvPr>
              <p:cNvSpPr/>
              <p:nvPr/>
            </p:nvSpPr>
            <p:spPr>
              <a:xfrm>
                <a:off x="2609131" y="4135448"/>
                <a:ext cx="360040" cy="36004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MY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97E39522-0AEC-6D95-9AC0-C73B9456B079}"/>
                  </a:ext>
                </a:extLst>
              </p:cNvPr>
              <p:cNvSpPr/>
              <p:nvPr/>
            </p:nvSpPr>
            <p:spPr>
              <a:xfrm>
                <a:off x="2969171" y="4135448"/>
                <a:ext cx="360040" cy="36004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MY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04AAD8C-E07A-E4BA-90F8-73612D525E0E}"/>
                </a:ext>
              </a:extLst>
            </p:cNvPr>
            <p:cNvSpPr/>
            <p:nvPr/>
          </p:nvSpPr>
          <p:spPr>
            <a:xfrm>
              <a:off x="7577906" y="4135448"/>
              <a:ext cx="360040" cy="360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>
                  <a:solidFill>
                    <a:schemeClr val="tx1"/>
                  </a:solidFill>
                </a:rPr>
                <a:t>0</a:t>
              </a: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30B853DC-7DE2-B9BE-EB96-A9FB45375859}"/>
              </a:ext>
            </a:extLst>
          </p:cNvPr>
          <p:cNvGrpSpPr/>
          <p:nvPr/>
        </p:nvGrpSpPr>
        <p:grpSpPr>
          <a:xfrm>
            <a:off x="5056658" y="4819658"/>
            <a:ext cx="2889000" cy="360040"/>
            <a:chOff x="5056658" y="4819658"/>
            <a:chExt cx="2889000" cy="360040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387C63C8-9115-2FF0-A1A5-6D0579C44C41}"/>
                </a:ext>
              </a:extLst>
            </p:cNvPr>
            <p:cNvGrpSpPr/>
            <p:nvPr/>
          </p:nvGrpSpPr>
          <p:grpSpPr>
            <a:xfrm>
              <a:off x="5056658" y="4819658"/>
              <a:ext cx="2520280" cy="360040"/>
              <a:chOff x="808931" y="4135448"/>
              <a:chExt cx="2520280" cy="360040"/>
            </a:xfrm>
          </p:grpSpPr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4792EAAE-5D3E-95B2-47B9-2CB43A0719BB}"/>
                  </a:ext>
                </a:extLst>
              </p:cNvPr>
              <p:cNvSpPr/>
              <p:nvPr/>
            </p:nvSpPr>
            <p:spPr>
              <a:xfrm>
                <a:off x="808931" y="4135448"/>
                <a:ext cx="360040" cy="36004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MY" dirty="0">
                    <a:solidFill>
                      <a:schemeClr val="tx1"/>
                    </a:solidFill>
                  </a:rPr>
                  <a:t>N</a:t>
                </a:r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3AEFAB83-F4B1-029B-AD88-9755B543C7A0}"/>
                  </a:ext>
                </a:extLst>
              </p:cNvPr>
              <p:cNvSpPr/>
              <p:nvPr/>
            </p:nvSpPr>
            <p:spPr>
              <a:xfrm>
                <a:off x="1168971" y="4135448"/>
                <a:ext cx="360040" cy="36004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MY" dirty="0">
                    <a:solidFill>
                      <a:schemeClr val="tx1"/>
                    </a:solidFill>
                  </a:rPr>
                  <a:t>O</a:t>
                </a:r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A9DEC66E-A76C-CA91-AA22-60F6090433F1}"/>
                  </a:ext>
                </a:extLst>
              </p:cNvPr>
              <p:cNvSpPr/>
              <p:nvPr/>
            </p:nvSpPr>
            <p:spPr>
              <a:xfrm>
                <a:off x="1529011" y="4135448"/>
                <a:ext cx="360040" cy="36004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MY" dirty="0">
                    <a:solidFill>
                      <a:schemeClr val="tx1"/>
                    </a:solidFill>
                  </a:rPr>
                  <a:t>V</a:t>
                </a: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D1116225-C5BA-B816-922E-694A9BF1FB06}"/>
                  </a:ext>
                </a:extLst>
              </p:cNvPr>
              <p:cNvSpPr/>
              <p:nvPr/>
            </p:nvSpPr>
            <p:spPr>
              <a:xfrm>
                <a:off x="1889051" y="4135448"/>
                <a:ext cx="360040" cy="36004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MY" dirty="0">
                    <a:solidFill>
                      <a:schemeClr val="tx1"/>
                    </a:solidFill>
                  </a:rPr>
                  <a:t>E</a:t>
                </a:r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DE84A843-DDEC-C957-64AF-FBC962703442}"/>
                  </a:ext>
                </a:extLst>
              </p:cNvPr>
              <p:cNvSpPr/>
              <p:nvPr/>
            </p:nvSpPr>
            <p:spPr>
              <a:xfrm>
                <a:off x="2249091" y="4135448"/>
                <a:ext cx="360040" cy="36004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MY" dirty="0">
                    <a:solidFill>
                      <a:schemeClr val="tx1"/>
                    </a:solidFill>
                  </a:rPr>
                  <a:t>M</a:t>
                </a:r>
              </a:p>
            </p:txBody>
          </p: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7A5D3FE3-553F-8D2D-49EA-76860781D386}"/>
                  </a:ext>
                </a:extLst>
              </p:cNvPr>
              <p:cNvSpPr/>
              <p:nvPr/>
            </p:nvSpPr>
            <p:spPr>
              <a:xfrm>
                <a:off x="2609131" y="4135448"/>
                <a:ext cx="360040" cy="36004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MY" dirty="0">
                    <a:solidFill>
                      <a:schemeClr val="tx1"/>
                    </a:solidFill>
                  </a:rPr>
                  <a:t>B</a:t>
                </a:r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DF7B43CB-3EAB-2DD1-C168-4A0CF21D9A45}"/>
                  </a:ext>
                </a:extLst>
              </p:cNvPr>
              <p:cNvSpPr/>
              <p:nvPr/>
            </p:nvSpPr>
            <p:spPr>
              <a:xfrm>
                <a:off x="2969171" y="4135448"/>
                <a:ext cx="360040" cy="36004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MY" dirty="0">
                    <a:solidFill>
                      <a:schemeClr val="tx1"/>
                    </a:solidFill>
                  </a:rPr>
                  <a:t>E</a:t>
                </a:r>
              </a:p>
            </p:txBody>
          </p:sp>
        </p:grp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399230C5-2DAF-F4F3-71AF-59F242313D46}"/>
                </a:ext>
              </a:extLst>
            </p:cNvPr>
            <p:cNvSpPr/>
            <p:nvPr/>
          </p:nvSpPr>
          <p:spPr>
            <a:xfrm>
              <a:off x="7585618" y="4819658"/>
              <a:ext cx="360040" cy="360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>
                  <a:solidFill>
                    <a:schemeClr val="tx1"/>
                  </a:solidFill>
                </a:rPr>
                <a:t>R</a:t>
              </a:r>
            </a:p>
          </p:txBody>
        </p:sp>
      </p:grpSp>
      <p:pic>
        <p:nvPicPr>
          <p:cNvPr id="61" name="Graphic 60" descr="Add with solid fill">
            <a:extLst>
              <a:ext uri="{FF2B5EF4-FFF2-40B4-BE49-F238E27FC236}">
                <a16:creationId xmlns:a16="http://schemas.microsoft.com/office/drawing/2014/main" id="{25A4DADA-C760-7C82-354B-FB9061CEF7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8897577">
            <a:off x="5294656" y="3534743"/>
            <a:ext cx="2336982" cy="2336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53657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EC4B0-A9E8-70D3-1C05-38969D3A7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Decimal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E7D80F-248A-7630-6392-6A87C7C9BC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6149" y="1828800"/>
            <a:ext cx="7370267" cy="4351338"/>
          </a:xfrm>
        </p:spPr>
        <p:txBody>
          <a:bodyPr/>
          <a:lstStyle/>
          <a:p>
            <a:r>
              <a:rPr lang="en-MY" dirty="0"/>
              <a:t>The decimal number system is also known as the base 10 system </a:t>
            </a:r>
          </a:p>
          <a:p>
            <a:r>
              <a:rPr lang="en-MY" dirty="0"/>
              <a:t>It is referred to as base 10 because it has 10 different symbols </a:t>
            </a:r>
          </a:p>
          <a:p>
            <a:r>
              <a:rPr lang="en-MY" dirty="0"/>
              <a:t>The based 10 system is also said to have radix of 10</a:t>
            </a:r>
          </a:p>
          <a:p>
            <a:pPr>
              <a:spcBef>
                <a:spcPct val="20000"/>
              </a:spcBef>
              <a:buClr>
                <a:srgbClr val="FF0000"/>
              </a:buClr>
              <a:buFontTx/>
              <a:buChar char="•"/>
            </a:pPr>
            <a:r>
              <a:rPr kumimoji="0" lang="en-US" altLang="en-US" sz="2800" dirty="0"/>
              <a:t>We use decimal systems with </a:t>
            </a:r>
            <a:r>
              <a:rPr kumimoji="0" lang="en-US" altLang="en-US" sz="3600" b="1" dirty="0">
                <a:solidFill>
                  <a:srgbClr val="92D050"/>
                </a:solidFill>
              </a:rPr>
              <a:t>decimal digits</a:t>
            </a:r>
            <a:endParaRPr kumimoji="0" lang="en-US" altLang="en-US" sz="2800" b="1" dirty="0">
              <a:solidFill>
                <a:srgbClr val="92D050"/>
              </a:solidFill>
            </a:endParaRPr>
          </a:p>
          <a:p>
            <a:pPr lvl="1">
              <a:spcBef>
                <a:spcPct val="20000"/>
              </a:spcBef>
              <a:buClr>
                <a:srgbClr val="FF0000"/>
              </a:buClr>
              <a:buFontTx/>
              <a:buChar char="o"/>
            </a:pPr>
            <a:r>
              <a:rPr kumimoji="0" lang="en-US" altLang="en-US" sz="2400" dirty="0"/>
              <a:t>0, 1, 2, 3, 4, 5, 6, 7, 8, 9</a:t>
            </a:r>
          </a:p>
          <a:p>
            <a:pPr marL="0" indent="0">
              <a:buNone/>
            </a:pP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0225673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10">
            <a:extLst>
              <a:ext uri="{FF2B5EF4-FFF2-40B4-BE49-F238E27FC236}">
                <a16:creationId xmlns:a16="http://schemas.microsoft.com/office/drawing/2014/main" id="{22A22D32-DFD7-D32F-616A-5EA2B59059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65125"/>
            <a:ext cx="7758113" cy="132556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en-US" dirty="0"/>
              <a:t>The Decimal System </a:t>
            </a:r>
          </a:p>
        </p:txBody>
      </p:sp>
      <p:sp>
        <p:nvSpPr>
          <p:cNvPr id="26631" name="Rectangle 11">
            <a:extLst>
              <a:ext uri="{FF2B5EF4-FFF2-40B4-BE49-F238E27FC236}">
                <a16:creationId xmlns:a16="http://schemas.microsoft.com/office/drawing/2014/main" id="{C81C4935-6A9B-9777-355D-6A7F555615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849438"/>
            <a:ext cx="7758113" cy="858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indent="0">
              <a:spcBef>
                <a:spcPct val="20000"/>
              </a:spcBef>
              <a:buClr>
                <a:srgbClr val="FF0000"/>
              </a:buClr>
            </a:pPr>
            <a:r>
              <a:rPr kumimoji="0" lang="en-US" altLang="en-US" sz="2800" dirty="0"/>
              <a:t>Consider what the number 83 means?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10E68F-4CC0-C460-0D85-A20E07C67E9B}"/>
              </a:ext>
            </a:extLst>
          </p:cNvPr>
          <p:cNvSpPr txBox="1"/>
          <p:nvPr/>
        </p:nvSpPr>
        <p:spPr>
          <a:xfrm>
            <a:off x="873577" y="2707670"/>
            <a:ext cx="34626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800" dirty="0">
                <a:solidFill>
                  <a:srgbClr val="FF0000"/>
                </a:solidFill>
              </a:rPr>
              <a:t>Eight tens plus three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F4E705-4732-042C-71AB-25E2C7B1EA75}"/>
              </a:ext>
            </a:extLst>
          </p:cNvPr>
          <p:cNvSpPr txBox="1"/>
          <p:nvPr/>
        </p:nvSpPr>
        <p:spPr>
          <a:xfrm>
            <a:off x="4807746" y="2720370"/>
            <a:ext cx="30075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800" dirty="0">
                <a:solidFill>
                  <a:srgbClr val="FF0000"/>
                </a:solidFill>
              </a:rPr>
              <a:t>83 = (8 x 10) + 3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04BAB116-E744-AF60-319D-E9379508EF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722" y="3562122"/>
            <a:ext cx="7758113" cy="858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indent="0">
              <a:spcBef>
                <a:spcPct val="20000"/>
              </a:spcBef>
              <a:buClr>
                <a:srgbClr val="FF0000"/>
              </a:buClr>
            </a:pPr>
            <a:r>
              <a:rPr kumimoji="0" lang="en-US" altLang="en-US" sz="2800" dirty="0"/>
              <a:t>What about 4728?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3A0535-70F8-0F30-E57A-5483D1CE03FF}"/>
              </a:ext>
            </a:extLst>
          </p:cNvPr>
          <p:cNvSpPr txBox="1"/>
          <p:nvPr/>
        </p:nvSpPr>
        <p:spPr>
          <a:xfrm>
            <a:off x="597764" y="4353778"/>
            <a:ext cx="74769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400" dirty="0">
                <a:solidFill>
                  <a:srgbClr val="00B050"/>
                </a:solidFill>
              </a:rPr>
              <a:t>Four thousands, seven hundreds, two tens, plus eight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F0956B-3071-117A-8B46-324699513D37}"/>
              </a:ext>
            </a:extLst>
          </p:cNvPr>
          <p:cNvSpPr txBox="1"/>
          <p:nvPr/>
        </p:nvSpPr>
        <p:spPr>
          <a:xfrm>
            <a:off x="1403648" y="5154909"/>
            <a:ext cx="54681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>
                <a:solidFill>
                  <a:srgbClr val="00B050"/>
                </a:solidFill>
              </a:rPr>
              <a:t>4728 = (4 x 1000) + (7 x 100) + (2 x 10) + 8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6" grpId="0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10">
            <a:extLst>
              <a:ext uri="{FF2B5EF4-FFF2-40B4-BE49-F238E27FC236}">
                <a16:creationId xmlns:a16="http://schemas.microsoft.com/office/drawing/2014/main" id="{996F22D6-3295-74E2-0561-9521BE9440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65125"/>
            <a:ext cx="7758113" cy="132556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en-US" dirty="0"/>
              <a:t>The Decimal System </a:t>
            </a:r>
          </a:p>
        </p:txBody>
      </p:sp>
      <p:sp>
        <p:nvSpPr>
          <p:cNvPr id="27656" name="Rectangle 11">
            <a:extLst>
              <a:ext uri="{FF2B5EF4-FFF2-40B4-BE49-F238E27FC236}">
                <a16:creationId xmlns:a16="http://schemas.microsoft.com/office/drawing/2014/main" id="{E2CE4F56-BBC3-C6C0-B51F-7E134DF579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849438"/>
            <a:ext cx="7819330" cy="1579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20000"/>
              </a:spcBef>
              <a:buClr>
                <a:srgbClr val="FF0000"/>
              </a:buClr>
              <a:buFontTx/>
              <a:buChar char="•"/>
            </a:pPr>
            <a:r>
              <a:rPr kumimoji="0" lang="en-US" altLang="en-US" sz="2400" dirty="0"/>
              <a:t>A decimal system is a </a:t>
            </a:r>
            <a:r>
              <a:rPr kumimoji="0" lang="en-US" altLang="en-US" sz="3200" b="1" dirty="0">
                <a:solidFill>
                  <a:srgbClr val="00B0F0"/>
                </a:solidFill>
              </a:rPr>
              <a:t>base</a:t>
            </a:r>
            <a:r>
              <a:rPr kumimoji="0" lang="en-US" altLang="en-US" sz="2400" dirty="0"/>
              <a:t> or </a:t>
            </a:r>
            <a:r>
              <a:rPr kumimoji="0" lang="en-US" altLang="en-US" sz="3200" b="1" dirty="0">
                <a:solidFill>
                  <a:srgbClr val="FFC000"/>
                </a:solidFill>
              </a:rPr>
              <a:t>radix </a:t>
            </a:r>
            <a:r>
              <a:rPr kumimoji="0" lang="en-US" altLang="en-US" sz="2400" dirty="0"/>
              <a:t>of </a:t>
            </a:r>
            <a:r>
              <a:rPr kumimoji="0" lang="en-US" altLang="en-US" sz="3200" b="1" dirty="0">
                <a:solidFill>
                  <a:srgbClr val="FF0000"/>
                </a:solidFill>
              </a:rPr>
              <a:t>10</a:t>
            </a:r>
            <a:endParaRPr kumimoji="0" lang="en-US" altLang="en-US" sz="2400" b="1" dirty="0">
              <a:solidFill>
                <a:srgbClr val="FF0000"/>
              </a:solidFill>
            </a:endParaRPr>
          </a:p>
          <a:p>
            <a:pPr lvl="1">
              <a:spcBef>
                <a:spcPct val="20000"/>
              </a:spcBef>
              <a:buClr>
                <a:srgbClr val="FF0000"/>
              </a:buClr>
              <a:buFontTx/>
              <a:buChar char="o"/>
            </a:pPr>
            <a:r>
              <a:rPr kumimoji="0" lang="en-US" altLang="en-US" dirty="0"/>
              <a:t>The number multiply by 10 to the </a:t>
            </a:r>
            <a:r>
              <a:rPr kumimoji="0" lang="en-US" altLang="en-US" sz="2800" b="1" dirty="0">
                <a:solidFill>
                  <a:srgbClr val="92D050"/>
                </a:solidFill>
              </a:rPr>
              <a:t>power</a:t>
            </a:r>
            <a:r>
              <a:rPr kumimoji="0" lang="en-US" altLang="en-US" dirty="0"/>
              <a:t> of the </a:t>
            </a:r>
            <a:r>
              <a:rPr kumimoji="0" lang="en-US" altLang="en-US" sz="2800" b="1" dirty="0">
                <a:solidFill>
                  <a:srgbClr val="FF6699"/>
                </a:solidFill>
              </a:rPr>
              <a:t>digit’s position </a:t>
            </a:r>
            <a:r>
              <a:rPr kumimoji="0" lang="en-US" altLang="en-US" sz="1800" dirty="0"/>
              <a:t>(place value)</a:t>
            </a:r>
            <a:endParaRPr kumimoji="0" lang="en-US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0B73E0-B01D-6239-69F9-AFC519133392}"/>
              </a:ext>
            </a:extLst>
          </p:cNvPr>
          <p:cNvSpPr txBox="1"/>
          <p:nvPr/>
        </p:nvSpPr>
        <p:spPr>
          <a:xfrm>
            <a:off x="2123728" y="3789040"/>
            <a:ext cx="45763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800" dirty="0">
                <a:solidFill>
                  <a:srgbClr val="FF0000"/>
                </a:solidFill>
              </a:rPr>
              <a:t>83 = (8 x 10</a:t>
            </a:r>
            <a:r>
              <a:rPr lang="en-MY" sz="2800" baseline="30000" dirty="0">
                <a:solidFill>
                  <a:srgbClr val="FF0000"/>
                </a:solidFill>
              </a:rPr>
              <a:t>1</a:t>
            </a:r>
            <a:r>
              <a:rPr lang="en-MY" sz="2800" dirty="0">
                <a:solidFill>
                  <a:srgbClr val="FF0000"/>
                </a:solidFill>
              </a:rPr>
              <a:t>) + (3 x 10</a:t>
            </a:r>
            <a:r>
              <a:rPr lang="en-MY" sz="2800" baseline="30000" dirty="0">
                <a:solidFill>
                  <a:srgbClr val="FF0000"/>
                </a:solidFill>
              </a:rPr>
              <a:t>0</a:t>
            </a:r>
            <a:r>
              <a:rPr lang="en-MY" sz="2800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06C84A-9FBF-C662-43B2-55F29C645F3F}"/>
              </a:ext>
            </a:extLst>
          </p:cNvPr>
          <p:cNvSpPr txBox="1"/>
          <p:nvPr/>
        </p:nvSpPr>
        <p:spPr>
          <a:xfrm>
            <a:off x="395982" y="4781183"/>
            <a:ext cx="78805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dirty="0">
                <a:solidFill>
                  <a:srgbClr val="00B050"/>
                </a:solidFill>
              </a:rPr>
              <a:t>4728 = (4 x 10</a:t>
            </a:r>
            <a:r>
              <a:rPr lang="en-MY" sz="2400" baseline="30000" dirty="0">
                <a:solidFill>
                  <a:srgbClr val="00B050"/>
                </a:solidFill>
              </a:rPr>
              <a:t>3</a:t>
            </a:r>
            <a:r>
              <a:rPr lang="en-MY" sz="2400" dirty="0">
                <a:solidFill>
                  <a:srgbClr val="00B050"/>
                </a:solidFill>
              </a:rPr>
              <a:t>) + (7 x 10</a:t>
            </a:r>
            <a:r>
              <a:rPr lang="en-MY" sz="2400" baseline="30000" dirty="0">
                <a:solidFill>
                  <a:srgbClr val="00B050"/>
                </a:solidFill>
              </a:rPr>
              <a:t>2</a:t>
            </a:r>
            <a:r>
              <a:rPr lang="en-MY" sz="2400" dirty="0">
                <a:solidFill>
                  <a:srgbClr val="00B050"/>
                </a:solidFill>
              </a:rPr>
              <a:t>) + (2 x 10</a:t>
            </a:r>
            <a:r>
              <a:rPr lang="en-MY" sz="2400" baseline="30000" dirty="0">
                <a:solidFill>
                  <a:srgbClr val="00B050"/>
                </a:solidFill>
              </a:rPr>
              <a:t>1</a:t>
            </a:r>
            <a:r>
              <a:rPr lang="en-MY" sz="2400" dirty="0">
                <a:solidFill>
                  <a:srgbClr val="00B050"/>
                </a:solidFill>
              </a:rPr>
              <a:t>) + (8 x 10</a:t>
            </a:r>
            <a:r>
              <a:rPr lang="en-MY" sz="2400" baseline="30000" dirty="0">
                <a:solidFill>
                  <a:srgbClr val="00B050"/>
                </a:solidFill>
              </a:rPr>
              <a:t>0</a:t>
            </a:r>
            <a:r>
              <a:rPr lang="en-MY" sz="2400" dirty="0">
                <a:solidFill>
                  <a:srgbClr val="00B050"/>
                </a:solidFill>
              </a:rPr>
              <a:t>) 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2069397-40B0-010E-B88C-837B7C05ED99}"/>
              </a:ext>
            </a:extLst>
          </p:cNvPr>
          <p:cNvGrpSpPr/>
          <p:nvPr/>
        </p:nvGrpSpPr>
        <p:grpSpPr>
          <a:xfrm>
            <a:off x="2148481" y="3501008"/>
            <a:ext cx="519058" cy="400110"/>
            <a:chOff x="2072814" y="4005064"/>
            <a:chExt cx="519058" cy="40011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F1CD53D-F7A8-09E2-CD0E-00F6CD3A1BC7}"/>
                </a:ext>
              </a:extLst>
            </p:cNvPr>
            <p:cNvSpPr txBox="1"/>
            <p:nvPr/>
          </p:nvSpPr>
          <p:spPr>
            <a:xfrm>
              <a:off x="2267744" y="4005064"/>
              <a:ext cx="3241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0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E7C2A71-3E60-7D96-01CB-6C1CFDAE13A8}"/>
                </a:ext>
              </a:extLst>
            </p:cNvPr>
            <p:cNvSpPr txBox="1"/>
            <p:nvPr/>
          </p:nvSpPr>
          <p:spPr>
            <a:xfrm>
              <a:off x="2072814" y="4005064"/>
              <a:ext cx="3241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1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ECB5594-F848-2A52-69B9-FF5C457409D3}"/>
              </a:ext>
            </a:extLst>
          </p:cNvPr>
          <p:cNvGrpSpPr/>
          <p:nvPr/>
        </p:nvGrpSpPr>
        <p:grpSpPr>
          <a:xfrm>
            <a:off x="414070" y="4509120"/>
            <a:ext cx="810320" cy="413954"/>
            <a:chOff x="414070" y="5029145"/>
            <a:chExt cx="810320" cy="413954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7BC699B-5F05-B944-40DD-0EA5D91844F9}"/>
                </a:ext>
              </a:extLst>
            </p:cNvPr>
            <p:cNvSpPr txBox="1"/>
            <p:nvPr/>
          </p:nvSpPr>
          <p:spPr>
            <a:xfrm>
              <a:off x="900262" y="5029145"/>
              <a:ext cx="3241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0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BE34630-4819-D890-DCAE-64F226655B85}"/>
                </a:ext>
              </a:extLst>
            </p:cNvPr>
            <p:cNvSpPr txBox="1"/>
            <p:nvPr/>
          </p:nvSpPr>
          <p:spPr>
            <a:xfrm>
              <a:off x="738198" y="5029145"/>
              <a:ext cx="3241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1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DD4C01B-5375-810D-691A-8DAA09E3BC77}"/>
                </a:ext>
              </a:extLst>
            </p:cNvPr>
            <p:cNvSpPr txBox="1"/>
            <p:nvPr/>
          </p:nvSpPr>
          <p:spPr>
            <a:xfrm>
              <a:off x="576134" y="5036067"/>
              <a:ext cx="3241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2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2959F47-979E-CA45-E9CF-238A7528C091}"/>
                </a:ext>
              </a:extLst>
            </p:cNvPr>
            <p:cNvSpPr txBox="1"/>
            <p:nvPr/>
          </p:nvSpPr>
          <p:spPr>
            <a:xfrm>
              <a:off x="414070" y="5042989"/>
              <a:ext cx="3241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3</a:t>
              </a:r>
            </a:p>
          </p:txBody>
        </p:sp>
      </p:grp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28E7617-9701-DBE7-34D1-B3F1EB5E8AA8}"/>
              </a:ext>
            </a:extLst>
          </p:cNvPr>
          <p:cNvCxnSpPr/>
          <p:nvPr/>
        </p:nvCxnSpPr>
        <p:spPr>
          <a:xfrm flipH="1">
            <a:off x="2148481" y="3429000"/>
            <a:ext cx="432048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BC6CE54-7897-598D-A290-F6AA5DB6D21E}"/>
              </a:ext>
            </a:extLst>
          </p:cNvPr>
          <p:cNvCxnSpPr>
            <a:cxnSpLocks/>
          </p:cNvCxnSpPr>
          <p:nvPr/>
        </p:nvCxnSpPr>
        <p:spPr>
          <a:xfrm flipH="1">
            <a:off x="489737" y="4437112"/>
            <a:ext cx="717754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5E4567B6-7626-18EF-3915-9A63A289B980}"/>
              </a:ext>
            </a:extLst>
          </p:cNvPr>
          <p:cNvGrpSpPr/>
          <p:nvPr/>
        </p:nvGrpSpPr>
        <p:grpSpPr>
          <a:xfrm>
            <a:off x="1529560" y="5478477"/>
            <a:ext cx="4963822" cy="983243"/>
            <a:chOff x="1529560" y="5478477"/>
            <a:chExt cx="4963822" cy="983243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C14C925-D609-D2BB-E1FC-458E07696F9E}"/>
                </a:ext>
              </a:extLst>
            </p:cNvPr>
            <p:cNvSpPr txBox="1"/>
            <p:nvPr/>
          </p:nvSpPr>
          <p:spPr>
            <a:xfrm>
              <a:off x="3600367" y="6061610"/>
              <a:ext cx="41710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2</a:t>
              </a:r>
              <a:r>
                <a:rPr lang="en-MY" baseline="30000" dirty="0"/>
                <a:t>0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3EA45E1-9154-C594-E268-3BF0F7762B85}"/>
                </a:ext>
              </a:extLst>
            </p:cNvPr>
            <p:cNvSpPr txBox="1"/>
            <p:nvPr/>
          </p:nvSpPr>
          <p:spPr>
            <a:xfrm>
              <a:off x="3082666" y="6061610"/>
              <a:ext cx="41710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2</a:t>
              </a:r>
              <a:r>
                <a:rPr lang="en-MY" baseline="30000" dirty="0"/>
                <a:t>1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A4A5350-0519-9D3B-6FEE-BAF91CAF4981}"/>
                </a:ext>
              </a:extLst>
            </p:cNvPr>
            <p:cNvSpPr txBox="1"/>
            <p:nvPr/>
          </p:nvSpPr>
          <p:spPr>
            <a:xfrm>
              <a:off x="2564964" y="6061610"/>
              <a:ext cx="41710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2</a:t>
              </a:r>
              <a:r>
                <a:rPr lang="en-MY" baseline="30000" dirty="0"/>
                <a:t>2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759034F-5215-DC95-A1CD-2DF7C4B4B441}"/>
                </a:ext>
              </a:extLst>
            </p:cNvPr>
            <p:cNvSpPr txBox="1"/>
            <p:nvPr/>
          </p:nvSpPr>
          <p:spPr>
            <a:xfrm>
              <a:off x="2047262" y="6061610"/>
              <a:ext cx="41710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2</a:t>
              </a:r>
              <a:r>
                <a:rPr lang="en-MY" baseline="30000" dirty="0"/>
                <a:t>3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4254D3C-C284-B74D-EB2B-C77075341C0D}"/>
                </a:ext>
              </a:extLst>
            </p:cNvPr>
            <p:cNvSpPr txBox="1"/>
            <p:nvPr/>
          </p:nvSpPr>
          <p:spPr>
            <a:xfrm>
              <a:off x="1529560" y="6061610"/>
              <a:ext cx="41710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2</a:t>
              </a:r>
              <a:r>
                <a:rPr lang="en-MY" baseline="30000" dirty="0"/>
                <a:t>n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DF355DB-31F7-1294-BFC4-8345B927F666}"/>
                </a:ext>
              </a:extLst>
            </p:cNvPr>
            <p:cNvSpPr txBox="1"/>
            <p:nvPr/>
          </p:nvSpPr>
          <p:spPr>
            <a:xfrm>
              <a:off x="6012160" y="6061570"/>
              <a:ext cx="48122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2</a:t>
              </a:r>
              <a:r>
                <a:rPr lang="en-MY" baseline="30000" dirty="0"/>
                <a:t>-n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FF21BFE-716E-4976-6C61-B83ACD4D66FD}"/>
                </a:ext>
              </a:extLst>
            </p:cNvPr>
            <p:cNvSpPr txBox="1"/>
            <p:nvPr/>
          </p:nvSpPr>
          <p:spPr>
            <a:xfrm>
              <a:off x="5478747" y="6061570"/>
              <a:ext cx="47961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2</a:t>
              </a:r>
              <a:r>
                <a:rPr lang="en-MY" baseline="30000" dirty="0"/>
                <a:t>-3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1F5BEC0-7EC7-DFBE-11B6-7F6A20149825}"/>
                </a:ext>
              </a:extLst>
            </p:cNvPr>
            <p:cNvSpPr txBox="1"/>
            <p:nvPr/>
          </p:nvSpPr>
          <p:spPr>
            <a:xfrm>
              <a:off x="4945335" y="6061570"/>
              <a:ext cx="47961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2</a:t>
              </a:r>
              <a:r>
                <a:rPr lang="en-MY" baseline="30000" dirty="0"/>
                <a:t>-2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249D5F6-7DE0-D8DF-0BED-0E797880A121}"/>
                </a:ext>
              </a:extLst>
            </p:cNvPr>
            <p:cNvSpPr txBox="1"/>
            <p:nvPr/>
          </p:nvSpPr>
          <p:spPr>
            <a:xfrm>
              <a:off x="4411923" y="6061570"/>
              <a:ext cx="47961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2</a:t>
              </a:r>
              <a:r>
                <a:rPr lang="en-MY" baseline="30000" dirty="0"/>
                <a:t>-1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03AA921-56D4-52F5-639F-E6A659BBAC41}"/>
                </a:ext>
              </a:extLst>
            </p:cNvPr>
            <p:cNvSpPr txBox="1"/>
            <p:nvPr/>
          </p:nvSpPr>
          <p:spPr>
            <a:xfrm>
              <a:off x="4071263" y="6061570"/>
              <a:ext cx="2616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.</a:t>
              </a:r>
              <a:endParaRPr lang="en-MY" baseline="30000" dirty="0"/>
            </a:p>
          </p:txBody>
        </p:sp>
        <p:cxnSp>
          <p:nvCxnSpPr>
            <p:cNvPr id="31" name="Connector: Curved 30">
              <a:extLst>
                <a:ext uri="{FF2B5EF4-FFF2-40B4-BE49-F238E27FC236}">
                  <a16:creationId xmlns:a16="http://schemas.microsoft.com/office/drawing/2014/main" id="{06572429-FF6D-83E2-45B2-A5E2C066BE6C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3550068" y="5802759"/>
              <a:ext cx="12700" cy="517701"/>
            </a:xfrm>
            <a:prstGeom prst="curvedConnector3">
              <a:avLst>
                <a:gd name="adj1" fmla="val 1800000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or: Curved 31">
              <a:extLst>
                <a:ext uri="{FF2B5EF4-FFF2-40B4-BE49-F238E27FC236}">
                  <a16:creationId xmlns:a16="http://schemas.microsoft.com/office/drawing/2014/main" id="{92A5A607-26FD-5473-E0DA-454F56F355E2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3012732" y="5802759"/>
              <a:ext cx="12700" cy="517701"/>
            </a:xfrm>
            <a:prstGeom prst="curvedConnector3">
              <a:avLst>
                <a:gd name="adj1" fmla="val 1800000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or: Curved 32">
              <a:extLst>
                <a:ext uri="{FF2B5EF4-FFF2-40B4-BE49-F238E27FC236}">
                  <a16:creationId xmlns:a16="http://schemas.microsoft.com/office/drawing/2014/main" id="{E317ABA7-8F57-58EC-54A6-4D8E22AC70AD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2475397" y="5802759"/>
              <a:ext cx="12700" cy="517701"/>
            </a:xfrm>
            <a:prstGeom prst="curvedConnector3">
              <a:avLst>
                <a:gd name="adj1" fmla="val 1800000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or: Curved 33">
              <a:extLst>
                <a:ext uri="{FF2B5EF4-FFF2-40B4-BE49-F238E27FC236}">
                  <a16:creationId xmlns:a16="http://schemas.microsoft.com/office/drawing/2014/main" id="{CC7AACC6-CFBB-079B-91F9-E878E90DFCAF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938062" y="5802759"/>
              <a:ext cx="12700" cy="517701"/>
            </a:xfrm>
            <a:prstGeom prst="curvedConnector3">
              <a:avLst>
                <a:gd name="adj1" fmla="val 1800000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ctor: Curved 35">
              <a:extLst>
                <a:ext uri="{FF2B5EF4-FFF2-40B4-BE49-F238E27FC236}">
                  <a16:creationId xmlns:a16="http://schemas.microsoft.com/office/drawing/2014/main" id="{43E56818-4023-73CF-466C-2E925D191972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896905" y="5815459"/>
              <a:ext cx="12700" cy="517701"/>
            </a:xfrm>
            <a:prstGeom prst="curvedConnector3">
              <a:avLst>
                <a:gd name="adj1" fmla="val 1800000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ctor: Curved 36">
              <a:extLst>
                <a:ext uri="{FF2B5EF4-FFF2-40B4-BE49-F238E27FC236}">
                  <a16:creationId xmlns:a16="http://schemas.microsoft.com/office/drawing/2014/main" id="{CE58F34C-06BE-40DB-86E0-3B1433973A67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359570" y="5815459"/>
              <a:ext cx="12700" cy="517701"/>
            </a:xfrm>
            <a:prstGeom prst="curvedConnector3">
              <a:avLst>
                <a:gd name="adj1" fmla="val 1800000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ctor: Curved 37">
              <a:extLst>
                <a:ext uri="{FF2B5EF4-FFF2-40B4-BE49-F238E27FC236}">
                  <a16:creationId xmlns:a16="http://schemas.microsoft.com/office/drawing/2014/main" id="{1492713A-24D4-5CDA-7817-7AB5A7D1822B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4822235" y="5815459"/>
              <a:ext cx="12700" cy="517701"/>
            </a:xfrm>
            <a:prstGeom prst="curvedConnector3">
              <a:avLst>
                <a:gd name="adj1" fmla="val 1800000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0063DFC-4AFF-D33F-C1DF-2EC03E5B7F03}"/>
                </a:ext>
              </a:extLst>
            </p:cNvPr>
            <p:cNvSpPr txBox="1"/>
            <p:nvPr/>
          </p:nvSpPr>
          <p:spPr>
            <a:xfrm>
              <a:off x="3444715" y="5478477"/>
              <a:ext cx="31130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x</a:t>
              </a:r>
              <a:endParaRPr lang="en-MY" baseline="30000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85951CA-C602-89E5-D864-4B67CD177A91}"/>
                </a:ext>
              </a:extLst>
            </p:cNvPr>
            <p:cNvSpPr txBox="1"/>
            <p:nvPr/>
          </p:nvSpPr>
          <p:spPr>
            <a:xfrm>
              <a:off x="2863430" y="5478477"/>
              <a:ext cx="31130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x</a:t>
              </a:r>
              <a:endParaRPr lang="en-MY" baseline="30000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393072B-F1A4-D257-236C-3D0A074E9988}"/>
                </a:ext>
              </a:extLst>
            </p:cNvPr>
            <p:cNvSpPr txBox="1"/>
            <p:nvPr/>
          </p:nvSpPr>
          <p:spPr>
            <a:xfrm>
              <a:off x="2326095" y="5478477"/>
              <a:ext cx="31130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x</a:t>
              </a:r>
              <a:endParaRPr lang="en-MY" baseline="30000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B103499F-2E84-A242-D75B-FA7E4494AEFC}"/>
                </a:ext>
              </a:extLst>
            </p:cNvPr>
            <p:cNvSpPr txBox="1"/>
            <p:nvPr/>
          </p:nvSpPr>
          <p:spPr>
            <a:xfrm>
              <a:off x="1750394" y="5478477"/>
              <a:ext cx="31130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x</a:t>
              </a:r>
              <a:endParaRPr lang="en-MY" baseline="30000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F39BA53A-0E18-3C62-CAE3-9A5BE7697350}"/>
                </a:ext>
              </a:extLst>
            </p:cNvPr>
            <p:cNvSpPr txBox="1"/>
            <p:nvPr/>
          </p:nvSpPr>
          <p:spPr>
            <a:xfrm>
              <a:off x="5769666" y="5494886"/>
              <a:ext cx="37061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÷</a:t>
              </a:r>
              <a:endParaRPr lang="en-MY" baseline="30000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9D81581-A2DE-77D6-76A4-1EDD477A9837}"/>
                </a:ext>
              </a:extLst>
            </p:cNvPr>
            <p:cNvSpPr txBox="1"/>
            <p:nvPr/>
          </p:nvSpPr>
          <p:spPr>
            <a:xfrm>
              <a:off x="5232331" y="5494886"/>
              <a:ext cx="37061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÷</a:t>
              </a:r>
              <a:endParaRPr lang="en-MY" baseline="30000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9613C5CD-669E-E5EA-90F3-F6EF78DC0797}"/>
                </a:ext>
              </a:extLst>
            </p:cNvPr>
            <p:cNvSpPr txBox="1"/>
            <p:nvPr/>
          </p:nvSpPr>
          <p:spPr>
            <a:xfrm>
              <a:off x="4656630" y="5494886"/>
              <a:ext cx="37061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÷</a:t>
              </a:r>
              <a:endParaRPr lang="en-MY" baseline="30000" dirty="0"/>
            </a:p>
          </p:txBody>
        </p:sp>
      </p:grp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Arrow: Left 27">
            <a:extLst>
              <a:ext uri="{FF2B5EF4-FFF2-40B4-BE49-F238E27FC236}">
                <a16:creationId xmlns:a16="http://schemas.microsoft.com/office/drawing/2014/main" id="{BA74FDED-8EDA-3E9E-D57A-A20B1654D2E2}"/>
              </a:ext>
            </a:extLst>
          </p:cNvPr>
          <p:cNvSpPr/>
          <p:nvPr/>
        </p:nvSpPr>
        <p:spPr>
          <a:xfrm flipH="1">
            <a:off x="1619672" y="6237312"/>
            <a:ext cx="7027306" cy="687611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2531" name="Rectangle 11">
            <a:extLst>
              <a:ext uri="{FF2B5EF4-FFF2-40B4-BE49-F238E27FC236}">
                <a16:creationId xmlns:a16="http://schemas.microsoft.com/office/drawing/2014/main" id="{CF59013C-67D4-D9FA-AA65-5C33D71B54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en-US"/>
              <a:t>The Decimal System</a:t>
            </a:r>
          </a:p>
        </p:txBody>
      </p:sp>
      <p:sp>
        <p:nvSpPr>
          <p:cNvPr id="28681" name="Rectangle 12">
            <a:extLst>
              <a:ext uri="{FF2B5EF4-FFF2-40B4-BE49-F238E27FC236}">
                <a16:creationId xmlns:a16="http://schemas.microsoft.com/office/drawing/2014/main" id="{C0DCE7DF-A10B-3FD3-F274-AAF90D129A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849438"/>
            <a:ext cx="8178800" cy="1579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20000"/>
              </a:spcBef>
              <a:buClr>
                <a:srgbClr val="FF0000"/>
              </a:buClr>
              <a:buFontTx/>
              <a:buChar char="•"/>
            </a:pPr>
            <a:r>
              <a:rPr kumimoji="0" lang="en-US" altLang="en-US" sz="2800"/>
              <a:t>The same principles apply to </a:t>
            </a:r>
            <a:r>
              <a:rPr kumimoji="0" lang="en-US" altLang="en-US" sz="3600" b="1">
                <a:solidFill>
                  <a:srgbClr val="92D050"/>
                </a:solidFill>
              </a:rPr>
              <a:t>fraction</a:t>
            </a:r>
            <a:r>
              <a:rPr kumimoji="0" lang="en-US" altLang="en-US" sz="2800"/>
              <a:t> but with </a:t>
            </a:r>
            <a:r>
              <a:rPr kumimoji="0" lang="en-US" altLang="en-US" sz="3600" b="1">
                <a:solidFill>
                  <a:srgbClr val="FF0000"/>
                </a:solidFill>
              </a:rPr>
              <a:t>negative powers </a:t>
            </a:r>
            <a:r>
              <a:rPr kumimoji="0" lang="en-US" altLang="en-US" sz="2800"/>
              <a:t>of 10s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9CAE55-2AA4-C6F3-16CA-3AB468F0FDD3}"/>
              </a:ext>
            </a:extLst>
          </p:cNvPr>
          <p:cNvSpPr txBox="1"/>
          <p:nvPr/>
        </p:nvSpPr>
        <p:spPr>
          <a:xfrm>
            <a:off x="1312650" y="3459801"/>
            <a:ext cx="64845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dirty="0">
                <a:solidFill>
                  <a:srgbClr val="7030A0"/>
                </a:solidFill>
              </a:rPr>
              <a:t>0.256 = (2 x 10</a:t>
            </a:r>
            <a:r>
              <a:rPr lang="en-MY" sz="2400" baseline="30000" dirty="0">
                <a:solidFill>
                  <a:srgbClr val="7030A0"/>
                </a:solidFill>
              </a:rPr>
              <a:t>-1</a:t>
            </a:r>
            <a:r>
              <a:rPr lang="en-MY" sz="2400" dirty="0">
                <a:solidFill>
                  <a:srgbClr val="7030A0"/>
                </a:solidFill>
              </a:rPr>
              <a:t>) + (5 x 10</a:t>
            </a:r>
            <a:r>
              <a:rPr lang="en-MY" sz="2400" baseline="30000" dirty="0">
                <a:solidFill>
                  <a:srgbClr val="7030A0"/>
                </a:solidFill>
              </a:rPr>
              <a:t>-2</a:t>
            </a:r>
            <a:r>
              <a:rPr lang="en-MY" sz="2400" dirty="0">
                <a:solidFill>
                  <a:srgbClr val="7030A0"/>
                </a:solidFill>
              </a:rPr>
              <a:t>) + (6 x 10</a:t>
            </a:r>
            <a:r>
              <a:rPr lang="en-MY" sz="2400" baseline="30000" dirty="0">
                <a:solidFill>
                  <a:srgbClr val="7030A0"/>
                </a:solidFill>
              </a:rPr>
              <a:t>-3</a:t>
            </a:r>
            <a:r>
              <a:rPr lang="en-MY" sz="2400" dirty="0">
                <a:solidFill>
                  <a:srgbClr val="7030A0"/>
                </a:solidFill>
              </a:rPr>
              <a:t>)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1B19705-F80B-6522-BA7C-0F2F0E7BA414}"/>
              </a:ext>
            </a:extLst>
          </p:cNvPr>
          <p:cNvGrpSpPr/>
          <p:nvPr/>
        </p:nvGrpSpPr>
        <p:grpSpPr>
          <a:xfrm>
            <a:off x="1573596" y="3230664"/>
            <a:ext cx="761173" cy="351975"/>
            <a:chOff x="1573596" y="3429000"/>
            <a:chExt cx="761173" cy="35197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0328924-AEF1-0D08-30D7-3BF864D7C4FB}"/>
                </a:ext>
              </a:extLst>
            </p:cNvPr>
            <p:cNvSpPr txBox="1"/>
            <p:nvPr/>
          </p:nvSpPr>
          <p:spPr>
            <a:xfrm>
              <a:off x="1573596" y="3429000"/>
              <a:ext cx="37221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600" dirty="0"/>
                <a:t>-1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61141A2-F8D5-456F-E4FA-8A4BFF355303}"/>
                </a:ext>
              </a:extLst>
            </p:cNvPr>
            <p:cNvSpPr txBox="1"/>
            <p:nvPr/>
          </p:nvSpPr>
          <p:spPr>
            <a:xfrm>
              <a:off x="1768328" y="3431946"/>
              <a:ext cx="37221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600" dirty="0"/>
                <a:t>-2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EB6D422-6563-B7DA-214D-2237366AFD71}"/>
                </a:ext>
              </a:extLst>
            </p:cNvPr>
            <p:cNvSpPr txBox="1"/>
            <p:nvPr/>
          </p:nvSpPr>
          <p:spPr>
            <a:xfrm>
              <a:off x="1962551" y="3442421"/>
              <a:ext cx="37221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600" dirty="0"/>
                <a:t>-3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0D9827AC-3C56-041E-93AF-6C6C15AD7107}"/>
              </a:ext>
            </a:extLst>
          </p:cNvPr>
          <p:cNvGrpSpPr/>
          <p:nvPr/>
        </p:nvGrpSpPr>
        <p:grpSpPr>
          <a:xfrm>
            <a:off x="437114" y="4365983"/>
            <a:ext cx="1333460" cy="400110"/>
            <a:chOff x="437114" y="4365983"/>
            <a:chExt cx="1333460" cy="400110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46F8FF2-51E7-5B38-C2B9-73860C1A90F0}"/>
                </a:ext>
              </a:extLst>
            </p:cNvPr>
            <p:cNvSpPr txBox="1"/>
            <p:nvPr/>
          </p:nvSpPr>
          <p:spPr>
            <a:xfrm>
              <a:off x="437114" y="4365983"/>
              <a:ext cx="3241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2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47E8024-805A-E9B1-108B-7CF9F5AE0902}"/>
                </a:ext>
              </a:extLst>
            </p:cNvPr>
            <p:cNvSpPr txBox="1"/>
            <p:nvPr/>
          </p:nvSpPr>
          <p:spPr>
            <a:xfrm>
              <a:off x="631846" y="4365983"/>
              <a:ext cx="3241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1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C033DDC-356F-594C-9287-7D5D4A533252}"/>
                </a:ext>
              </a:extLst>
            </p:cNvPr>
            <p:cNvSpPr txBox="1"/>
            <p:nvPr/>
          </p:nvSpPr>
          <p:spPr>
            <a:xfrm>
              <a:off x="826069" y="4365983"/>
              <a:ext cx="3241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0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50E776C-3888-7348-32DA-22727AF540BD}"/>
                </a:ext>
              </a:extLst>
            </p:cNvPr>
            <p:cNvSpPr txBox="1"/>
            <p:nvPr/>
          </p:nvSpPr>
          <p:spPr>
            <a:xfrm>
              <a:off x="1009401" y="4365983"/>
              <a:ext cx="37221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600" dirty="0"/>
                <a:t>-1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603638A-F1C7-BCFC-E1CC-D2B383C63147}"/>
                </a:ext>
              </a:extLst>
            </p:cNvPr>
            <p:cNvSpPr txBox="1"/>
            <p:nvPr/>
          </p:nvSpPr>
          <p:spPr>
            <a:xfrm>
              <a:off x="1204133" y="4365983"/>
              <a:ext cx="37221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600" dirty="0"/>
                <a:t>-2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21311A3-4589-A19F-E863-75862182A5CB}"/>
                </a:ext>
              </a:extLst>
            </p:cNvPr>
            <p:cNvSpPr txBox="1"/>
            <p:nvPr/>
          </p:nvSpPr>
          <p:spPr>
            <a:xfrm>
              <a:off x="1398356" y="4365983"/>
              <a:ext cx="37221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600" dirty="0"/>
                <a:t>-3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97FBCF8-9B71-CABB-5817-588C545BC833}"/>
              </a:ext>
            </a:extLst>
          </p:cNvPr>
          <p:cNvGrpSpPr/>
          <p:nvPr/>
        </p:nvGrpSpPr>
        <p:grpSpPr>
          <a:xfrm>
            <a:off x="457200" y="4598816"/>
            <a:ext cx="7880548" cy="894552"/>
            <a:chOff x="457200" y="5268159"/>
            <a:chExt cx="7880548" cy="89455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067C9F5-C8A4-0AC3-854F-C6D0AD92C60D}"/>
                </a:ext>
              </a:extLst>
            </p:cNvPr>
            <p:cNvSpPr txBox="1"/>
            <p:nvPr/>
          </p:nvSpPr>
          <p:spPr>
            <a:xfrm>
              <a:off x="457200" y="5268159"/>
              <a:ext cx="78805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sz="2400" dirty="0">
                  <a:solidFill>
                    <a:srgbClr val="0099FF"/>
                  </a:solidFill>
                </a:rPr>
                <a:t>442.256 = (4 x 10</a:t>
              </a:r>
              <a:r>
                <a:rPr lang="en-MY" sz="2400" baseline="30000" dirty="0">
                  <a:solidFill>
                    <a:srgbClr val="0099FF"/>
                  </a:solidFill>
                </a:rPr>
                <a:t>2</a:t>
              </a:r>
              <a:r>
                <a:rPr lang="en-MY" sz="2400" dirty="0">
                  <a:solidFill>
                    <a:srgbClr val="0099FF"/>
                  </a:solidFill>
                </a:rPr>
                <a:t>) + (4 x 10</a:t>
              </a:r>
              <a:r>
                <a:rPr lang="en-MY" sz="2400" baseline="30000" dirty="0">
                  <a:solidFill>
                    <a:srgbClr val="0099FF"/>
                  </a:solidFill>
                </a:rPr>
                <a:t>1</a:t>
              </a:r>
              <a:r>
                <a:rPr lang="en-MY" sz="2400" dirty="0">
                  <a:solidFill>
                    <a:srgbClr val="0099FF"/>
                  </a:solidFill>
                </a:rPr>
                <a:t>) + (2 x 10</a:t>
              </a:r>
              <a:r>
                <a:rPr lang="en-MY" sz="2400" baseline="30000" dirty="0">
                  <a:solidFill>
                    <a:srgbClr val="0099FF"/>
                  </a:solidFill>
                </a:rPr>
                <a:t>0</a:t>
              </a:r>
              <a:r>
                <a:rPr lang="en-MY" sz="2400" dirty="0">
                  <a:solidFill>
                    <a:srgbClr val="0099FF"/>
                  </a:solidFill>
                </a:rPr>
                <a:t>) + (2 x 10</a:t>
              </a:r>
              <a:r>
                <a:rPr lang="en-MY" sz="2400" baseline="30000" dirty="0">
                  <a:solidFill>
                    <a:srgbClr val="0099FF"/>
                  </a:solidFill>
                </a:rPr>
                <a:t>-1</a:t>
              </a:r>
              <a:r>
                <a:rPr lang="en-MY" sz="2400" dirty="0">
                  <a:solidFill>
                    <a:srgbClr val="0099FF"/>
                  </a:solidFill>
                </a:rPr>
                <a:t>)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680ED43-8D04-DEFD-3CEF-8702C1CC91B5}"/>
                </a:ext>
              </a:extLst>
            </p:cNvPr>
            <p:cNvSpPr txBox="1"/>
            <p:nvPr/>
          </p:nvSpPr>
          <p:spPr>
            <a:xfrm>
              <a:off x="1911782" y="5701046"/>
              <a:ext cx="459740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MY" sz="2400" dirty="0">
                  <a:solidFill>
                    <a:srgbClr val="0099FF"/>
                  </a:solidFill>
                </a:rPr>
                <a:t>+ (5 x 10-</a:t>
              </a:r>
              <a:r>
                <a:rPr lang="en-MY" sz="2400" baseline="30000" dirty="0">
                  <a:solidFill>
                    <a:srgbClr val="0099FF"/>
                  </a:solidFill>
                </a:rPr>
                <a:t>2</a:t>
              </a:r>
              <a:r>
                <a:rPr lang="en-MY" sz="2400" dirty="0">
                  <a:solidFill>
                    <a:srgbClr val="0099FF"/>
                  </a:solidFill>
                </a:rPr>
                <a:t>) + (6 x 10</a:t>
              </a:r>
              <a:r>
                <a:rPr lang="en-MY" sz="2400" baseline="30000" dirty="0">
                  <a:solidFill>
                    <a:srgbClr val="0099FF"/>
                  </a:solidFill>
                </a:rPr>
                <a:t>-3</a:t>
              </a:r>
              <a:r>
                <a:rPr lang="en-MY" sz="2400" dirty="0">
                  <a:solidFill>
                    <a:srgbClr val="0099FF"/>
                  </a:solidFill>
                </a:rPr>
                <a:t>)</a:t>
              </a: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B72E3B5A-E1BF-02F7-CD15-9E71D80058B7}"/>
              </a:ext>
            </a:extLst>
          </p:cNvPr>
          <p:cNvSpPr txBox="1"/>
          <p:nvPr/>
        </p:nvSpPr>
        <p:spPr>
          <a:xfrm>
            <a:off x="1346834" y="3212976"/>
            <a:ext cx="32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0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201D48D-EFAD-3CAD-4B97-245F5FEFC15D}"/>
              </a:ext>
            </a:extLst>
          </p:cNvPr>
          <p:cNvGrpSpPr/>
          <p:nvPr/>
        </p:nvGrpSpPr>
        <p:grpSpPr>
          <a:xfrm>
            <a:off x="0" y="5693717"/>
            <a:ext cx="7027306" cy="687611"/>
            <a:chOff x="0" y="5693717"/>
            <a:chExt cx="7027306" cy="687611"/>
          </a:xfrm>
        </p:grpSpPr>
        <p:sp>
          <p:nvSpPr>
            <p:cNvPr id="27" name="Arrow: Left 26">
              <a:extLst>
                <a:ext uri="{FF2B5EF4-FFF2-40B4-BE49-F238E27FC236}">
                  <a16:creationId xmlns:a16="http://schemas.microsoft.com/office/drawing/2014/main" id="{395E5741-D602-E65D-43F5-964C05B27E23}"/>
                </a:ext>
              </a:extLst>
            </p:cNvPr>
            <p:cNvSpPr/>
            <p:nvPr/>
          </p:nvSpPr>
          <p:spPr>
            <a:xfrm>
              <a:off x="0" y="5693717"/>
              <a:ext cx="7027306" cy="687611"/>
            </a:xfrm>
            <a:prstGeom prst="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680C8E8-AA4F-D742-9BD2-3CF7E8860AB8}"/>
                </a:ext>
              </a:extLst>
            </p:cNvPr>
            <p:cNvSpPr txBox="1"/>
            <p:nvPr/>
          </p:nvSpPr>
          <p:spPr>
            <a:xfrm>
              <a:off x="323528" y="5834346"/>
              <a:ext cx="670377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dirty="0">
                  <a:solidFill>
                    <a:srgbClr val="FFFF00"/>
                  </a:solidFill>
                </a:rPr>
                <a:t>Leftmost digit = Most Significant bit (MSB)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AFA22A0E-8637-CECB-378C-345F2BF19558}"/>
              </a:ext>
            </a:extLst>
          </p:cNvPr>
          <p:cNvSpPr txBox="1"/>
          <p:nvPr/>
        </p:nvSpPr>
        <p:spPr>
          <a:xfrm>
            <a:off x="1868847" y="6374529"/>
            <a:ext cx="6417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MY" dirty="0">
                <a:solidFill>
                  <a:srgbClr val="92D050"/>
                </a:solidFill>
              </a:rPr>
              <a:t>Rightmost digit = Least Significant bit (LSB)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21779D72-CE2B-15C0-48CD-D0CE21079DEB}"/>
              </a:ext>
            </a:extLst>
          </p:cNvPr>
          <p:cNvCxnSpPr>
            <a:cxnSpLocks/>
          </p:cNvCxnSpPr>
          <p:nvPr/>
        </p:nvCxnSpPr>
        <p:spPr>
          <a:xfrm flipH="1">
            <a:off x="272969" y="4365983"/>
            <a:ext cx="717754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EB76F4F-B8A6-C4B3-EF55-073D434B5E67}"/>
              </a:ext>
            </a:extLst>
          </p:cNvPr>
          <p:cNvCxnSpPr>
            <a:cxnSpLocks/>
          </p:cNvCxnSpPr>
          <p:nvPr/>
        </p:nvCxnSpPr>
        <p:spPr>
          <a:xfrm>
            <a:off x="1005890" y="4365983"/>
            <a:ext cx="717754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22F744E-9E59-7779-0375-FF77A5F27877}"/>
              </a:ext>
            </a:extLst>
          </p:cNvPr>
          <p:cNvCxnSpPr>
            <a:cxnSpLocks/>
          </p:cNvCxnSpPr>
          <p:nvPr/>
        </p:nvCxnSpPr>
        <p:spPr>
          <a:xfrm>
            <a:off x="1475656" y="3212976"/>
            <a:ext cx="792088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11">
            <a:extLst>
              <a:ext uri="{FF2B5EF4-FFF2-40B4-BE49-F238E27FC236}">
                <a16:creationId xmlns:a16="http://schemas.microsoft.com/office/drawing/2014/main" id="{CF59013C-67D4-D9FA-AA65-5C33D71B54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en-US"/>
              <a:t>The Decimal System</a:t>
            </a:r>
          </a:p>
        </p:txBody>
      </p:sp>
      <p:sp>
        <p:nvSpPr>
          <p:cNvPr id="28681" name="Rectangle 12">
            <a:extLst>
              <a:ext uri="{FF2B5EF4-FFF2-40B4-BE49-F238E27FC236}">
                <a16:creationId xmlns:a16="http://schemas.microsoft.com/office/drawing/2014/main" id="{C0DCE7DF-A10B-3FD3-F274-AAF90D129A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849438"/>
            <a:ext cx="7643192" cy="1579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20000"/>
              </a:spcBef>
              <a:buClr>
                <a:srgbClr val="FF0000"/>
              </a:buClr>
              <a:buFontTx/>
              <a:buChar char="•"/>
            </a:pPr>
            <a:r>
              <a:rPr kumimoji="0" lang="en-US" altLang="en-US" sz="2800" dirty="0"/>
              <a:t>Positional interpretation of a decimal number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AEBEDB-B022-E319-CEBE-2F82866658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477"/>
          <a:stretch/>
        </p:blipFill>
        <p:spPr>
          <a:xfrm>
            <a:off x="457200" y="4307686"/>
            <a:ext cx="7492978" cy="151769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1C1A19E-A2FD-B45B-CBD5-B3AF41B973E4}"/>
              </a:ext>
            </a:extLst>
          </p:cNvPr>
          <p:cNvSpPr txBox="1"/>
          <p:nvPr/>
        </p:nvSpPr>
        <p:spPr>
          <a:xfrm>
            <a:off x="107504" y="3189712"/>
            <a:ext cx="67037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B050"/>
                </a:solidFill>
              </a:rPr>
              <a:t>Leftmost digit = Most Significant Bit  (MSB)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35ABEA-DDA6-CA1F-5BBE-7A7579E05850}"/>
              </a:ext>
            </a:extLst>
          </p:cNvPr>
          <p:cNvSpPr txBox="1"/>
          <p:nvPr/>
        </p:nvSpPr>
        <p:spPr>
          <a:xfrm>
            <a:off x="1979712" y="3668288"/>
            <a:ext cx="6417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MY" dirty="0">
                <a:solidFill>
                  <a:srgbClr val="FF0000"/>
                </a:solidFill>
              </a:rPr>
              <a:t>Rightmost digit = Least Significant Bit (LSB)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5D168C6-15D6-E60A-9B11-DD7143F30816}"/>
              </a:ext>
            </a:extLst>
          </p:cNvPr>
          <p:cNvCxnSpPr>
            <a:cxnSpLocks/>
          </p:cNvCxnSpPr>
          <p:nvPr/>
        </p:nvCxnSpPr>
        <p:spPr>
          <a:xfrm flipH="1">
            <a:off x="251520" y="3667916"/>
            <a:ext cx="5976664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3064044-59BC-4DBA-1423-EDE39DA5256E}"/>
              </a:ext>
            </a:extLst>
          </p:cNvPr>
          <p:cNvCxnSpPr>
            <a:cxnSpLocks/>
          </p:cNvCxnSpPr>
          <p:nvPr/>
        </p:nvCxnSpPr>
        <p:spPr>
          <a:xfrm>
            <a:off x="2296843" y="4068398"/>
            <a:ext cx="597666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218047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D5E0904-721C-4D68-9EB8-1C9752E32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MY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66C88B-B170-4C69-85D3-FD6AD975F9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244"/>
            <a:ext cx="342900" cy="6858000"/>
          </a:xfrm>
          <a:prstGeom prst="rect">
            <a:avLst/>
          </a:prstGeom>
          <a:solidFill>
            <a:srgbClr val="6F6F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0FE256-DF37-4639-8CB7-2E2F1897AD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0"/>
            <a:ext cx="8126730" cy="6858000"/>
          </a:xfrm>
          <a:prstGeom prst="rect">
            <a:avLst/>
          </a:prstGeom>
          <a:solidFill>
            <a:srgbClr val="3535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MY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DAEB7C-AC20-32C2-C8D7-A3301BE1B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1950" y="758952"/>
            <a:ext cx="3868193" cy="2670048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7200" dirty="0">
                <a:solidFill>
                  <a:srgbClr val="FFFFFF"/>
                </a:solidFill>
              </a:rPr>
              <a:t>Quick research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BFDABE-6C98-163B-3F9B-0F2F18A9F7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3385" y="3974397"/>
            <a:ext cx="3868194" cy="169164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D9D9D9"/>
                </a:solidFill>
              </a:rPr>
              <a:t>How many tens are in the 509?</a:t>
            </a: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DD1039A-772C-4213-A092-0D8A9EF4AC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9213" y="0"/>
            <a:ext cx="346497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 descr="Lightbulb with solid fill">
            <a:extLst>
              <a:ext uri="{FF2B5EF4-FFF2-40B4-BE49-F238E27FC236}">
                <a16:creationId xmlns:a16="http://schemas.microsoft.com/office/drawing/2014/main" id="{B4E0A190-B860-B4D1-B797-2BBD78E88A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7240" y="2031295"/>
            <a:ext cx="2788922" cy="2788922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B39728D-66CA-4175-956D-FE26F32256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69630" y="0"/>
            <a:ext cx="674370" cy="6858000"/>
          </a:xfrm>
          <a:prstGeom prst="rect">
            <a:avLst/>
          </a:prstGeom>
          <a:solidFill>
            <a:srgbClr val="3535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2789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FFCD326E-85F6-8C91-A00E-A67096EAA5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365125"/>
            <a:ext cx="7747000" cy="132556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en-US" dirty="0"/>
              <a:t>Introduction</a:t>
            </a:r>
            <a:endParaRPr lang="en-MY" altLang="en-US" dirty="0"/>
          </a:p>
        </p:txBody>
      </p:sp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id="{66FAAADB-3A40-3EED-3401-AD03436B8A3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8313" y="1885950"/>
            <a:ext cx="3743647" cy="4711700"/>
          </a:xfrm>
        </p:spPr>
        <p:txBody>
          <a:bodyPr>
            <a:normAutofit/>
          </a:bodyPr>
          <a:lstStyle/>
          <a:p>
            <a:pPr marL="182880" indent="-182880" fontAlgn="auto">
              <a:defRPr/>
            </a:pPr>
            <a:r>
              <a:rPr lang="en-US" altLang="en-US" sz="3600" b="1" dirty="0">
                <a:solidFill>
                  <a:srgbClr val="92D050"/>
                </a:solidFill>
              </a:rPr>
              <a:t>Discrete</a:t>
            </a:r>
            <a:r>
              <a:rPr lang="en-US" altLang="en-US" dirty="0"/>
              <a:t> elements are represented by </a:t>
            </a:r>
            <a:r>
              <a:rPr lang="en-US" altLang="en-US" sz="3600" b="1" dirty="0">
                <a:solidFill>
                  <a:srgbClr val="FF0000"/>
                </a:solidFill>
              </a:rPr>
              <a:t>signals</a:t>
            </a:r>
            <a:endParaRPr lang="en-US" altLang="en-US" b="1" dirty="0">
              <a:solidFill>
                <a:srgbClr val="FF0000"/>
              </a:solidFill>
            </a:endParaRPr>
          </a:p>
          <a:p>
            <a:pPr lvl="1" indent="-182880" fontAlgn="auto">
              <a:defRPr/>
            </a:pPr>
            <a:r>
              <a:rPr lang="en-US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Signals have two discrete values: </a:t>
            </a:r>
            <a:r>
              <a:rPr lang="en-US" altLang="en-US" sz="3200" b="1" dirty="0">
                <a:solidFill>
                  <a:srgbClr val="00B0F0"/>
                </a:solidFill>
              </a:rPr>
              <a:t>0</a:t>
            </a:r>
            <a:r>
              <a:rPr lang="en-US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and </a:t>
            </a:r>
            <a:r>
              <a:rPr lang="en-US" altLang="en-US" sz="3200" b="1" dirty="0">
                <a:solidFill>
                  <a:srgbClr val="FFC000"/>
                </a:solidFill>
              </a:rPr>
              <a:t>1</a:t>
            </a:r>
            <a:r>
              <a:rPr lang="en-US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binary values -&gt; binary digit (</a:t>
            </a:r>
            <a:r>
              <a:rPr lang="en-US" altLang="en-US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bit</a:t>
            </a:r>
            <a:r>
              <a:rPr lang="en-US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C1ACC6-CFA0-30B3-01B7-A7B3279E24C0}"/>
              </a:ext>
            </a:extLst>
          </p:cNvPr>
          <p:cNvSpPr/>
          <p:nvPr/>
        </p:nvSpPr>
        <p:spPr>
          <a:xfrm>
            <a:off x="4355975" y="1186632"/>
            <a:ext cx="1139949" cy="10081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/>
              <a:t>Digital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A0DA3C-9455-362B-F89E-688B3F8EE2C6}"/>
              </a:ext>
            </a:extLst>
          </p:cNvPr>
          <p:cNvSpPr/>
          <p:nvPr/>
        </p:nvSpPr>
        <p:spPr>
          <a:xfrm>
            <a:off x="4379184" y="2986832"/>
            <a:ext cx="1056912" cy="10081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/>
              <a:t>Binary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9D8460-5079-F1C4-A2DD-3C1DA66A8950}"/>
              </a:ext>
            </a:extLst>
          </p:cNvPr>
          <p:cNvSpPr/>
          <p:nvPr/>
        </p:nvSpPr>
        <p:spPr>
          <a:xfrm>
            <a:off x="4355976" y="4931048"/>
            <a:ext cx="1080120" cy="10081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/>
              <a:t>Bit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A834A2B-B415-0EF7-3ED6-9AC5B1A42624}"/>
              </a:ext>
            </a:extLst>
          </p:cNvPr>
          <p:cNvCxnSpPr>
            <a:cxnSpLocks/>
            <a:stCxn id="2" idx="2"/>
            <a:endCxn id="3" idx="0"/>
          </p:cNvCxnSpPr>
          <p:nvPr/>
        </p:nvCxnSpPr>
        <p:spPr>
          <a:xfrm flipH="1">
            <a:off x="4907640" y="2194744"/>
            <a:ext cx="18310" cy="792088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D6C4560-BC1F-72B2-72EA-3F80E8FB92BE}"/>
              </a:ext>
            </a:extLst>
          </p:cNvPr>
          <p:cNvCxnSpPr>
            <a:cxnSpLocks/>
            <a:stCxn id="3" idx="2"/>
            <a:endCxn id="4" idx="0"/>
          </p:cNvCxnSpPr>
          <p:nvPr/>
        </p:nvCxnSpPr>
        <p:spPr>
          <a:xfrm flipH="1">
            <a:off x="4896036" y="3994944"/>
            <a:ext cx="11604" cy="936104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4287D14-1699-3CB0-AC30-18E9C81A433B}"/>
              </a:ext>
            </a:extLst>
          </p:cNvPr>
          <p:cNvSpPr txBox="1"/>
          <p:nvPr/>
        </p:nvSpPr>
        <p:spPr>
          <a:xfrm>
            <a:off x="5557247" y="1215480"/>
            <a:ext cx="268951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signal stored in memory can have only a fixed number of value</a:t>
            </a:r>
            <a:endParaRPr lang="en-MY" sz="18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A6A1266-1D63-A28B-2970-C607F56BC94C}"/>
              </a:ext>
            </a:extLst>
          </p:cNvPr>
          <p:cNvSpPr txBox="1"/>
          <p:nvPr/>
        </p:nvSpPr>
        <p:spPr>
          <a:xfrm>
            <a:off x="5557247" y="3029223"/>
            <a:ext cx="26895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182880" fontAlgn="auto">
              <a:defRPr/>
            </a:pPr>
            <a:r>
              <a:rPr lang="en-US" alt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only two values are possible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1E8E947-7D40-E6A0-CE71-4E363CFE7485}"/>
              </a:ext>
            </a:extLst>
          </p:cNvPr>
          <p:cNvSpPr txBox="1"/>
          <p:nvPr/>
        </p:nvSpPr>
        <p:spPr>
          <a:xfrm>
            <a:off x="5525795" y="5142716"/>
            <a:ext cx="26895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182880" fontAlgn="auto">
              <a:defRPr/>
            </a:pPr>
            <a:r>
              <a:rPr lang="en-US" alt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 or 1</a:t>
            </a:r>
          </a:p>
        </p:txBody>
      </p:sp>
    </p:spTree>
    <p:extLst>
      <p:ext uri="{BB962C8B-B14F-4D97-AF65-F5344CB8AC3E}">
        <p14:creationId xmlns:p14="http://schemas.microsoft.com/office/powerpoint/2010/main" val="1340607738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22" name="Group 10">
            <a:extLst>
              <a:ext uri="{FF2B5EF4-FFF2-40B4-BE49-F238E27FC236}">
                <a16:creationId xmlns:a16="http://schemas.microsoft.com/office/drawing/2014/main" id="{D8BA351B-2896-E619-4617-3E91D96A8718}"/>
              </a:ext>
            </a:extLst>
          </p:cNvPr>
          <p:cNvGrpSpPr>
            <a:grpSpLocks/>
          </p:cNvGrpSpPr>
          <p:nvPr/>
        </p:nvGrpSpPr>
        <p:grpSpPr bwMode="auto">
          <a:xfrm>
            <a:off x="2771800" y="3933056"/>
            <a:ext cx="2808287" cy="2217737"/>
            <a:chOff x="2112" y="2448"/>
            <a:chExt cx="918" cy="732"/>
          </a:xfrm>
        </p:grpSpPr>
        <p:pic>
          <p:nvPicPr>
            <p:cNvPr id="30725" name="Picture 1">
              <a:extLst>
                <a:ext uri="{FF2B5EF4-FFF2-40B4-BE49-F238E27FC236}">
                  <a16:creationId xmlns:a16="http://schemas.microsoft.com/office/drawing/2014/main" id="{25929D9D-566D-29A5-639D-A0BB44AD54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12" y="2448"/>
              <a:ext cx="918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726" name="Picture 4">
              <a:extLst>
                <a:ext uri="{FF2B5EF4-FFF2-40B4-BE49-F238E27FC236}">
                  <a16:creationId xmlns:a16="http://schemas.microsoft.com/office/drawing/2014/main" id="{52F217EE-FEBE-E7AD-48A2-E9E5A5A631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12" y="2880"/>
              <a:ext cx="918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4580" name="Rectangle 8">
            <a:extLst>
              <a:ext uri="{FF2B5EF4-FFF2-40B4-BE49-F238E27FC236}">
                <a16:creationId xmlns:a16="http://schemas.microsoft.com/office/drawing/2014/main" id="{A87385A7-5606-EF2B-050D-7FFA287683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en-US"/>
              <a:t>The Binary System</a:t>
            </a:r>
          </a:p>
        </p:txBody>
      </p:sp>
      <p:sp>
        <p:nvSpPr>
          <p:cNvPr id="24581" name="Rectangle 8">
            <a:extLst>
              <a:ext uri="{FF2B5EF4-FFF2-40B4-BE49-F238E27FC236}">
                <a16:creationId xmlns:a16="http://schemas.microsoft.com/office/drawing/2014/main" id="{71424B59-994A-41CA-E6ED-FEBF0E6F017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0825" y="1836738"/>
            <a:ext cx="8178800" cy="2551112"/>
          </a:xfrm>
        </p:spPr>
        <p:txBody>
          <a:bodyPr/>
          <a:lstStyle/>
          <a:p>
            <a:pPr marL="182880" indent="-182880" fontAlgn="auto">
              <a:defRPr/>
            </a:pPr>
            <a:r>
              <a:rPr lang="en-US" altLang="en-US" dirty="0"/>
              <a:t>To avoid confusion, we will sometimes put a subscript on a number to indicate its base</a:t>
            </a:r>
          </a:p>
          <a:p>
            <a:pPr marL="182880" indent="-182880" fontAlgn="auto">
              <a:defRPr/>
            </a:pPr>
            <a:r>
              <a:rPr lang="en-US" altLang="en-US" dirty="0"/>
              <a:t>For larger numbers, each digit in a binary number has a value depending on its </a:t>
            </a:r>
            <a:r>
              <a:rPr lang="en-US" altLang="en-US" sz="3600" b="1" dirty="0">
                <a:solidFill>
                  <a:srgbClr val="FF6699"/>
                </a:solidFill>
              </a:rPr>
              <a:t>position</a:t>
            </a:r>
            <a:r>
              <a:rPr lang="en-US" altLang="en-US" dirty="0"/>
              <a:t> (as in decimal system)</a:t>
            </a: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8">
            <a:extLst>
              <a:ext uri="{FF2B5EF4-FFF2-40B4-BE49-F238E27FC236}">
                <a16:creationId xmlns:a16="http://schemas.microsoft.com/office/drawing/2014/main" id="{B8DA85BA-F44F-5B87-7D5D-5690C203CC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552" y="365125"/>
            <a:ext cx="7675761" cy="132556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en-US" dirty="0"/>
              <a:t>The Binary System</a:t>
            </a:r>
          </a:p>
        </p:txBody>
      </p:sp>
      <p:sp>
        <p:nvSpPr>
          <p:cNvPr id="23555" name="Rectangle 8">
            <a:extLst>
              <a:ext uri="{FF2B5EF4-FFF2-40B4-BE49-F238E27FC236}">
                <a16:creationId xmlns:a16="http://schemas.microsoft.com/office/drawing/2014/main" id="{62DE5327-D4A7-6D51-9632-0E59B1820EE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885950"/>
            <a:ext cx="7859216" cy="2551113"/>
          </a:xfrm>
        </p:spPr>
        <p:txBody>
          <a:bodyPr/>
          <a:lstStyle/>
          <a:p>
            <a:pPr marL="182880" indent="-182880" fontAlgn="auto">
              <a:defRPr/>
            </a:pPr>
            <a:r>
              <a:rPr lang="en-US" altLang="en-US" dirty="0"/>
              <a:t>Binary number are strings of two (hence “bi”) symbols 0’s and 1’s, that represent numbers. </a:t>
            </a:r>
          </a:p>
          <a:p>
            <a:pPr marL="182880" indent="-182880" fontAlgn="auto">
              <a:defRPr/>
            </a:pPr>
            <a:r>
              <a:rPr lang="en-US" altLang="en-US" dirty="0"/>
              <a:t>10 different digits are used to represent numbers with a base of 10</a:t>
            </a:r>
          </a:p>
          <a:p>
            <a:pPr marL="182880" indent="-182880" fontAlgn="auto">
              <a:defRPr/>
            </a:pPr>
            <a:r>
              <a:rPr lang="en-US" altLang="en-US" dirty="0"/>
              <a:t>There are only two digits, 1 and 0</a:t>
            </a:r>
          </a:p>
          <a:p>
            <a:pPr lvl="1" indent="-182880" fontAlgn="auto">
              <a:defRPr/>
            </a:pPr>
            <a:r>
              <a:rPr lang="en-US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Hence </a:t>
            </a:r>
            <a:r>
              <a:rPr lang="en-US" altLang="en-US" sz="3200" b="1" dirty="0">
                <a:solidFill>
                  <a:srgbClr val="00B0F0"/>
                </a:solidFill>
              </a:rPr>
              <a:t>base</a:t>
            </a:r>
            <a:r>
              <a:rPr lang="en-US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en-US" sz="3200" b="1" dirty="0">
                <a:solidFill>
                  <a:srgbClr val="FF0000"/>
                </a:solidFill>
              </a:rPr>
              <a:t>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7D6D8B-053E-F814-1807-4531C9C18A3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408" r="12540"/>
          <a:stretch/>
        </p:blipFill>
        <p:spPr>
          <a:xfrm>
            <a:off x="3131839" y="3573016"/>
            <a:ext cx="2880321" cy="313297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D488DA4-1806-B503-66A8-912F518A5156}"/>
              </a:ext>
            </a:extLst>
          </p:cNvPr>
          <p:cNvCxnSpPr/>
          <p:nvPr/>
        </p:nvCxnSpPr>
        <p:spPr>
          <a:xfrm>
            <a:off x="6012160" y="4607272"/>
            <a:ext cx="144016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21D5D0C-F89D-2B96-3F2D-F9701BF897C9}"/>
              </a:ext>
            </a:extLst>
          </p:cNvPr>
          <p:cNvCxnSpPr/>
          <p:nvPr/>
        </p:nvCxnSpPr>
        <p:spPr>
          <a:xfrm>
            <a:off x="6012160" y="5013176"/>
            <a:ext cx="144016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D9B9D89-3110-8128-7D50-AAA914E89F97}"/>
              </a:ext>
            </a:extLst>
          </p:cNvPr>
          <p:cNvCxnSpPr/>
          <p:nvPr/>
        </p:nvCxnSpPr>
        <p:spPr>
          <a:xfrm>
            <a:off x="6012160" y="5445224"/>
            <a:ext cx="144016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DA9788F-C3DD-D4D2-51C3-F72E0595C50A}"/>
              </a:ext>
            </a:extLst>
          </p:cNvPr>
          <p:cNvCxnSpPr/>
          <p:nvPr/>
        </p:nvCxnSpPr>
        <p:spPr>
          <a:xfrm>
            <a:off x="6012160" y="5877272"/>
            <a:ext cx="144016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DFA6769-CDE8-E2AE-1542-19B718C94D91}"/>
              </a:ext>
            </a:extLst>
          </p:cNvPr>
          <p:cNvSpPr txBox="1"/>
          <p:nvPr/>
        </p:nvSpPr>
        <p:spPr>
          <a:xfrm>
            <a:off x="7740352" y="4407217"/>
            <a:ext cx="32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2206B9-E07B-64D6-5B58-0ADEA4F18171}"/>
              </a:ext>
            </a:extLst>
          </p:cNvPr>
          <p:cNvSpPr txBox="1"/>
          <p:nvPr/>
        </p:nvSpPr>
        <p:spPr>
          <a:xfrm>
            <a:off x="7740352" y="4798739"/>
            <a:ext cx="32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45B010-5D8B-DD2E-7B5F-D238C574D91A}"/>
              </a:ext>
            </a:extLst>
          </p:cNvPr>
          <p:cNvSpPr txBox="1"/>
          <p:nvPr/>
        </p:nvSpPr>
        <p:spPr>
          <a:xfrm>
            <a:off x="7740352" y="5245169"/>
            <a:ext cx="32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FBDADB-F0BA-0D6D-7810-06AFEB5A2CBB}"/>
              </a:ext>
            </a:extLst>
          </p:cNvPr>
          <p:cNvSpPr txBox="1"/>
          <p:nvPr/>
        </p:nvSpPr>
        <p:spPr>
          <a:xfrm>
            <a:off x="7740352" y="5677217"/>
            <a:ext cx="32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8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8C30BC2-0859-651F-AF8D-A5BF5D920ABF}"/>
              </a:ext>
            </a:extLst>
          </p:cNvPr>
          <p:cNvCxnSpPr>
            <a:cxnSpLocks/>
          </p:cNvCxnSpPr>
          <p:nvPr/>
        </p:nvCxnSpPr>
        <p:spPr>
          <a:xfrm>
            <a:off x="7371249" y="6065004"/>
            <a:ext cx="1032977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301554E-DC78-7398-F786-F3C9442BDFF1}"/>
              </a:ext>
            </a:extLst>
          </p:cNvPr>
          <p:cNvSpPr txBox="1"/>
          <p:nvPr/>
        </p:nvSpPr>
        <p:spPr>
          <a:xfrm>
            <a:off x="7693224" y="6075690"/>
            <a:ext cx="6495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13</a:t>
            </a:r>
            <a:r>
              <a:rPr lang="en-MY" baseline="-25000" dirty="0"/>
              <a:t>10</a:t>
            </a:r>
            <a:endParaRPr lang="en-MY" dirty="0"/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3E6AD-2213-D1DC-551E-58EE0AEB5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The terminology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3EB1F74-3A84-019D-7AEB-E642C8542E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3771470"/>
              </p:ext>
            </p:extLst>
          </p:nvPr>
        </p:nvGraphicFramePr>
        <p:xfrm>
          <a:off x="946149" y="1828800"/>
          <a:ext cx="7269163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564139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Title 1">
            <a:extLst>
              <a:ext uri="{FF2B5EF4-FFF2-40B4-BE49-F238E27FC236}">
                <a16:creationId xmlns:a16="http://schemas.microsoft.com/office/drawing/2014/main" id="{E15FD585-22C7-B497-8173-077FEDE1CC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27038" y="131763"/>
            <a:ext cx="7269162" cy="1325562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en-US" dirty="0"/>
              <a:t>The Binary System</a:t>
            </a:r>
          </a:p>
        </p:txBody>
      </p:sp>
      <p:sp>
        <p:nvSpPr>
          <p:cNvPr id="31747" name="Slide Number Placeholder 5">
            <a:extLst>
              <a:ext uri="{FF2B5EF4-FFF2-40B4-BE49-F238E27FC236}">
                <a16:creationId xmlns:a16="http://schemas.microsoft.com/office/drawing/2014/main" id="{4945BACB-C593-2300-5F07-8E2C4F4C95F4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8C1CA921-7347-4FEC-8112-CD3E19AD3947}" type="slidenum">
              <a:rPr kumimoji="0" lang="en-US" altLang="en-US" sz="1800">
                <a:latin typeface="Arial" panose="020B0604020202020204" pitchFamily="34" charset="0"/>
              </a:rPr>
              <a:pPr eaLnBrk="1" hangingPunct="1"/>
              <a:t>21</a:t>
            </a:fld>
            <a:endParaRPr kumimoji="0" lang="en-US" altLang="en-US" sz="1800">
              <a:latin typeface="Arial" panose="020B0604020202020204" pitchFamily="34" charset="0"/>
            </a:endParaRPr>
          </a:p>
        </p:txBody>
      </p:sp>
      <p:sp>
        <p:nvSpPr>
          <p:cNvPr id="31748" name="Rectangle 2">
            <a:extLst>
              <a:ext uri="{FF2B5EF4-FFF2-40B4-BE49-F238E27FC236}">
                <a16:creationId xmlns:a16="http://schemas.microsoft.com/office/drawing/2014/main" id="{F5FB194C-61AE-08D7-59D7-E4C42E7EA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kumimoji="0" lang="en-US" altLang="en-US" sz="1800">
              <a:latin typeface="Gill Sans MT" panose="020B0502020104020203" pitchFamily="34" charset="0"/>
            </a:endParaRPr>
          </a:p>
        </p:txBody>
      </p:sp>
      <p:sp>
        <p:nvSpPr>
          <p:cNvPr id="31750" name="Rectangle 4">
            <a:extLst>
              <a:ext uri="{FF2B5EF4-FFF2-40B4-BE49-F238E27FC236}">
                <a16:creationId xmlns:a16="http://schemas.microsoft.com/office/drawing/2014/main" id="{C29F9CF4-6368-B1AD-9C38-EB08965DE3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kumimoji="0" lang="en-US" altLang="en-US" sz="1800">
              <a:latin typeface="Gill Sans MT" panose="020B0502020104020203" pitchFamily="34" charset="0"/>
            </a:endParaRPr>
          </a:p>
        </p:txBody>
      </p:sp>
      <p:sp>
        <p:nvSpPr>
          <p:cNvPr id="31751" name="Rectangle 6">
            <a:extLst>
              <a:ext uri="{FF2B5EF4-FFF2-40B4-BE49-F238E27FC236}">
                <a16:creationId xmlns:a16="http://schemas.microsoft.com/office/drawing/2014/main" id="{689F0DFE-2D49-7E92-108D-BC8B77BD52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kumimoji="0" lang="en-US" altLang="en-US" sz="1800">
              <a:latin typeface="Gill Sans MT" panose="020B0502020104020203" pitchFamily="34" charset="0"/>
            </a:endParaRPr>
          </a:p>
        </p:txBody>
      </p:sp>
      <p:sp>
        <p:nvSpPr>
          <p:cNvPr id="31752" name="Rectangle 8">
            <a:extLst>
              <a:ext uri="{FF2B5EF4-FFF2-40B4-BE49-F238E27FC236}">
                <a16:creationId xmlns:a16="http://schemas.microsoft.com/office/drawing/2014/main" id="{19B3CB74-6008-12E5-1AAA-7927859035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kumimoji="0" lang="en-US" altLang="en-US" sz="1800">
              <a:latin typeface="Gill Sans MT" panose="020B0502020104020203" pitchFamily="34" charset="0"/>
            </a:endParaRPr>
          </a:p>
        </p:txBody>
      </p:sp>
      <p:sp>
        <p:nvSpPr>
          <p:cNvPr id="31753" name="Rectangle 10">
            <a:extLst>
              <a:ext uri="{FF2B5EF4-FFF2-40B4-BE49-F238E27FC236}">
                <a16:creationId xmlns:a16="http://schemas.microsoft.com/office/drawing/2014/main" id="{605B15A9-D073-0D47-13EF-A5CA7F1990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kumimoji="0" lang="en-US" altLang="en-US" sz="1800">
              <a:latin typeface="Gill Sans MT" panose="020B0502020104020203" pitchFamily="34" charset="0"/>
            </a:endParaRPr>
          </a:p>
        </p:txBody>
      </p:sp>
      <p:sp>
        <p:nvSpPr>
          <p:cNvPr id="31755" name="Rectangle 12">
            <a:extLst>
              <a:ext uri="{FF2B5EF4-FFF2-40B4-BE49-F238E27FC236}">
                <a16:creationId xmlns:a16="http://schemas.microsoft.com/office/drawing/2014/main" id="{53E51679-F4A8-F118-6D80-BD7244D411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kumimoji="0" lang="en-US" altLang="en-US" sz="1800">
              <a:latin typeface="Gill Sans MT" panose="020B0502020104020203" pitchFamily="34" charset="0"/>
            </a:endParaRPr>
          </a:p>
        </p:txBody>
      </p:sp>
      <p:sp>
        <p:nvSpPr>
          <p:cNvPr id="31758" name="Rectangle 14">
            <a:extLst>
              <a:ext uri="{FF2B5EF4-FFF2-40B4-BE49-F238E27FC236}">
                <a16:creationId xmlns:a16="http://schemas.microsoft.com/office/drawing/2014/main" id="{80849DE7-1207-BE27-83B4-C84D03CCF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kumimoji="0" lang="en-US" altLang="en-US" sz="1800">
              <a:latin typeface="Gill Sans MT" panose="020B0502020104020203" pitchFamily="34" charset="0"/>
            </a:endParaRPr>
          </a:p>
        </p:txBody>
      </p:sp>
      <p:sp>
        <p:nvSpPr>
          <p:cNvPr id="31761" name="Rectangle 16">
            <a:extLst>
              <a:ext uri="{FF2B5EF4-FFF2-40B4-BE49-F238E27FC236}">
                <a16:creationId xmlns:a16="http://schemas.microsoft.com/office/drawing/2014/main" id="{AF625993-43BB-18BD-15A6-8C625B6334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kumimoji="0" lang="en-US" altLang="en-US" sz="1800">
              <a:latin typeface="Gill Sans MT" panose="020B0502020104020203" pitchFamily="34" charset="0"/>
            </a:endParaRPr>
          </a:p>
        </p:txBody>
      </p:sp>
      <p:sp>
        <p:nvSpPr>
          <p:cNvPr id="31764" name="Rectangle 18">
            <a:extLst>
              <a:ext uri="{FF2B5EF4-FFF2-40B4-BE49-F238E27FC236}">
                <a16:creationId xmlns:a16="http://schemas.microsoft.com/office/drawing/2014/main" id="{9328F314-B68A-92ED-D14E-1DE575C91B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kumimoji="0" lang="en-US" altLang="en-US" sz="1800">
              <a:latin typeface="Gill Sans MT" panose="020B0502020104020203" pitchFamily="34" charset="0"/>
            </a:endParaRPr>
          </a:p>
        </p:txBody>
      </p:sp>
      <p:sp>
        <p:nvSpPr>
          <p:cNvPr id="31765" name="Rectangle 20">
            <a:extLst>
              <a:ext uri="{FF2B5EF4-FFF2-40B4-BE49-F238E27FC236}">
                <a16:creationId xmlns:a16="http://schemas.microsoft.com/office/drawing/2014/main" id="{A3BD2FAD-7F79-1A93-A575-6988B47888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kumimoji="0" lang="en-US" altLang="en-US" sz="1800" dirty="0">
              <a:latin typeface="Gill Sans MT" panose="020B05020201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024EA4-D1A7-CF9E-2FE4-F67E3CD118F6}"/>
              </a:ext>
            </a:extLst>
          </p:cNvPr>
          <p:cNvSpPr txBox="1"/>
          <p:nvPr/>
        </p:nvSpPr>
        <p:spPr>
          <a:xfrm>
            <a:off x="683568" y="1780692"/>
            <a:ext cx="56886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800" dirty="0">
                <a:solidFill>
                  <a:srgbClr val="FF0000"/>
                </a:solidFill>
              </a:rPr>
              <a:t>10</a:t>
            </a:r>
            <a:r>
              <a:rPr lang="en-MY" sz="2800" baseline="-25000" dirty="0">
                <a:solidFill>
                  <a:srgbClr val="FF0000"/>
                </a:solidFill>
              </a:rPr>
              <a:t>2</a:t>
            </a:r>
            <a:r>
              <a:rPr lang="en-MY" sz="2800" dirty="0">
                <a:solidFill>
                  <a:srgbClr val="FF0000"/>
                </a:solidFill>
              </a:rPr>
              <a:t> = (1 x 2</a:t>
            </a:r>
            <a:r>
              <a:rPr lang="en-MY" sz="2800" baseline="30000" dirty="0">
                <a:solidFill>
                  <a:srgbClr val="FF0000"/>
                </a:solidFill>
              </a:rPr>
              <a:t>1</a:t>
            </a:r>
            <a:r>
              <a:rPr lang="en-MY" sz="2800" dirty="0">
                <a:solidFill>
                  <a:srgbClr val="FF0000"/>
                </a:solidFill>
              </a:rPr>
              <a:t>) + (0 x 2</a:t>
            </a:r>
            <a:r>
              <a:rPr lang="en-MY" sz="2800" baseline="30000" dirty="0">
                <a:solidFill>
                  <a:srgbClr val="FF0000"/>
                </a:solidFill>
              </a:rPr>
              <a:t>0</a:t>
            </a:r>
            <a:r>
              <a:rPr lang="en-MY" sz="2800" dirty="0">
                <a:solidFill>
                  <a:srgbClr val="FF0000"/>
                </a:solidFill>
              </a:rPr>
              <a:t>) = 2</a:t>
            </a:r>
            <a:r>
              <a:rPr lang="en-MY" sz="2800" baseline="-25000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6995E8-638E-FC64-AE5A-EB13418DCC21}"/>
              </a:ext>
            </a:extLst>
          </p:cNvPr>
          <p:cNvSpPr txBox="1"/>
          <p:nvPr/>
        </p:nvSpPr>
        <p:spPr>
          <a:xfrm>
            <a:off x="683568" y="2563319"/>
            <a:ext cx="56886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800" dirty="0">
                <a:solidFill>
                  <a:srgbClr val="FF0000"/>
                </a:solidFill>
              </a:rPr>
              <a:t>11</a:t>
            </a:r>
            <a:r>
              <a:rPr lang="en-MY" sz="2800" baseline="-25000" dirty="0">
                <a:solidFill>
                  <a:srgbClr val="FF0000"/>
                </a:solidFill>
              </a:rPr>
              <a:t>2</a:t>
            </a:r>
            <a:r>
              <a:rPr lang="en-MY" sz="2800" dirty="0">
                <a:solidFill>
                  <a:srgbClr val="FF0000"/>
                </a:solidFill>
              </a:rPr>
              <a:t> = (1 x 2</a:t>
            </a:r>
            <a:r>
              <a:rPr lang="en-MY" sz="2800" baseline="30000" dirty="0">
                <a:solidFill>
                  <a:srgbClr val="FF0000"/>
                </a:solidFill>
              </a:rPr>
              <a:t>1</a:t>
            </a:r>
            <a:r>
              <a:rPr lang="en-MY" sz="2800" dirty="0">
                <a:solidFill>
                  <a:srgbClr val="FF0000"/>
                </a:solidFill>
              </a:rPr>
              <a:t>) + (1 x 2</a:t>
            </a:r>
            <a:r>
              <a:rPr lang="en-MY" sz="2800" baseline="30000" dirty="0">
                <a:solidFill>
                  <a:srgbClr val="FF0000"/>
                </a:solidFill>
              </a:rPr>
              <a:t>0</a:t>
            </a:r>
            <a:r>
              <a:rPr lang="en-MY" sz="2800" dirty="0">
                <a:solidFill>
                  <a:srgbClr val="FF0000"/>
                </a:solidFill>
              </a:rPr>
              <a:t>) = 3</a:t>
            </a:r>
            <a:r>
              <a:rPr lang="en-MY" sz="2800" baseline="-25000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D65409-3337-4852-3BD8-F1C43AD763F8}"/>
              </a:ext>
            </a:extLst>
          </p:cNvPr>
          <p:cNvSpPr txBox="1"/>
          <p:nvPr/>
        </p:nvSpPr>
        <p:spPr>
          <a:xfrm>
            <a:off x="683568" y="3350299"/>
            <a:ext cx="72691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800" dirty="0">
                <a:solidFill>
                  <a:srgbClr val="FF0000"/>
                </a:solidFill>
              </a:rPr>
              <a:t>100</a:t>
            </a:r>
            <a:r>
              <a:rPr lang="en-MY" sz="2800" baseline="-25000" dirty="0">
                <a:solidFill>
                  <a:srgbClr val="FF0000"/>
                </a:solidFill>
              </a:rPr>
              <a:t>2</a:t>
            </a:r>
            <a:r>
              <a:rPr lang="en-MY" sz="2800" dirty="0">
                <a:solidFill>
                  <a:srgbClr val="FF0000"/>
                </a:solidFill>
              </a:rPr>
              <a:t> = (1 x 2</a:t>
            </a:r>
            <a:r>
              <a:rPr lang="en-MY" sz="2800" baseline="30000" dirty="0">
                <a:solidFill>
                  <a:srgbClr val="FF0000"/>
                </a:solidFill>
              </a:rPr>
              <a:t>2</a:t>
            </a:r>
            <a:r>
              <a:rPr lang="en-MY" sz="2800" dirty="0">
                <a:solidFill>
                  <a:srgbClr val="FF0000"/>
                </a:solidFill>
              </a:rPr>
              <a:t>) + (0 x 2</a:t>
            </a:r>
            <a:r>
              <a:rPr lang="en-MY" sz="2800" baseline="30000" dirty="0">
                <a:solidFill>
                  <a:srgbClr val="FF0000"/>
                </a:solidFill>
              </a:rPr>
              <a:t>1</a:t>
            </a:r>
            <a:r>
              <a:rPr lang="en-MY" sz="2800" dirty="0">
                <a:solidFill>
                  <a:srgbClr val="FF0000"/>
                </a:solidFill>
              </a:rPr>
              <a:t>) + (0 x 2</a:t>
            </a:r>
            <a:r>
              <a:rPr lang="en-MY" sz="2800" baseline="30000" dirty="0">
                <a:solidFill>
                  <a:srgbClr val="FF0000"/>
                </a:solidFill>
              </a:rPr>
              <a:t>0</a:t>
            </a:r>
            <a:r>
              <a:rPr lang="en-MY" sz="2800" dirty="0">
                <a:solidFill>
                  <a:srgbClr val="FF0000"/>
                </a:solidFill>
              </a:rPr>
              <a:t>) = 4</a:t>
            </a:r>
            <a:r>
              <a:rPr lang="en-MY" sz="2800" baseline="-25000" dirty="0">
                <a:solidFill>
                  <a:srgbClr val="FF0000"/>
                </a:solidFill>
              </a:rPr>
              <a:t>10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7A2B3D5-C7DB-3D48-C83F-FB8AD9C85A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2080" y="4999599"/>
            <a:ext cx="3024336" cy="1632382"/>
          </a:xfrm>
          <a:prstGeom prst="rect">
            <a:avLst/>
          </a:prstGeom>
          <a:ln>
            <a:solidFill>
              <a:schemeClr val="bg2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22D3DAF-907A-5FF0-129C-589D62F6EF2D}"/>
              </a:ext>
            </a:extLst>
          </p:cNvPr>
          <p:cNvSpPr txBox="1"/>
          <p:nvPr/>
        </p:nvSpPr>
        <p:spPr>
          <a:xfrm>
            <a:off x="713984" y="5449842"/>
            <a:ext cx="457809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dirty="0">
                <a:solidFill>
                  <a:srgbClr val="242021"/>
                </a:solidFill>
                <a:effectLst/>
                <a:latin typeface="TimesTenLTStd-Roman"/>
              </a:rPr>
              <a:t>In general, for the binary representation of </a:t>
            </a:r>
            <a:r>
              <a:rPr lang="en-US" sz="2000" b="0" i="1" dirty="0">
                <a:solidFill>
                  <a:srgbClr val="242021"/>
                </a:solidFill>
                <a:effectLst/>
                <a:latin typeface="TimesTenLTStd-Italic"/>
              </a:rPr>
              <a:t>Y </a:t>
            </a:r>
            <a:r>
              <a:rPr lang="en-US" sz="2000" b="0" i="0" dirty="0">
                <a:solidFill>
                  <a:srgbClr val="242021"/>
                </a:solidFill>
                <a:effectLst/>
                <a:latin typeface="PearsonMATHPRO08"/>
              </a:rPr>
              <a:t>= </a:t>
            </a:r>
            <a:r>
              <a:rPr lang="en-US" sz="2000" b="0" i="0" dirty="0">
                <a:solidFill>
                  <a:srgbClr val="242021"/>
                </a:solidFill>
                <a:effectLst/>
                <a:latin typeface="PearsonMATHPRO18"/>
              </a:rPr>
              <a:t>5</a:t>
            </a:r>
            <a:r>
              <a:rPr lang="en-US" sz="2000" b="0" i="0" dirty="0">
                <a:solidFill>
                  <a:srgbClr val="242021"/>
                </a:solidFill>
                <a:effectLst/>
                <a:latin typeface="PearsonMATHPRO13"/>
              </a:rPr>
              <a:t>c</a:t>
            </a:r>
            <a:r>
              <a:rPr lang="en-US" sz="2000" b="0" i="1" dirty="0">
                <a:solidFill>
                  <a:srgbClr val="242021"/>
                </a:solidFill>
                <a:effectLst/>
                <a:latin typeface="TimesTenLTStd-Italic"/>
              </a:rPr>
              <a:t>b</a:t>
            </a:r>
            <a:r>
              <a:rPr lang="en-US" sz="800" b="0" i="0" dirty="0">
                <a:solidFill>
                  <a:srgbClr val="242021"/>
                </a:solidFill>
                <a:effectLst/>
                <a:latin typeface="TimesTenLTStd-Roman"/>
              </a:rPr>
              <a:t>2</a:t>
            </a:r>
            <a:r>
              <a:rPr lang="en-US" sz="2000" b="0" i="1" dirty="0">
                <a:solidFill>
                  <a:srgbClr val="242021"/>
                </a:solidFill>
                <a:effectLst/>
                <a:latin typeface="TimesTenLTStd-Italic"/>
              </a:rPr>
              <a:t>b</a:t>
            </a:r>
            <a:r>
              <a:rPr lang="en-US" sz="800" b="0" i="0" dirty="0">
                <a:solidFill>
                  <a:srgbClr val="242021"/>
                </a:solidFill>
                <a:effectLst/>
                <a:latin typeface="TimesTenLTStd-Roman"/>
              </a:rPr>
              <a:t>1</a:t>
            </a:r>
            <a:r>
              <a:rPr lang="en-US" sz="2000" b="0" i="1" dirty="0">
                <a:solidFill>
                  <a:srgbClr val="242021"/>
                </a:solidFill>
                <a:effectLst/>
                <a:latin typeface="TimesTenLTStd-Italic"/>
              </a:rPr>
              <a:t>b</a:t>
            </a:r>
            <a:r>
              <a:rPr lang="en-US" sz="800" b="0" i="0" dirty="0">
                <a:solidFill>
                  <a:srgbClr val="242021"/>
                </a:solidFill>
                <a:effectLst/>
                <a:latin typeface="TimesTenLTStd-Roman"/>
              </a:rPr>
              <a:t>0</a:t>
            </a:r>
            <a:r>
              <a:rPr lang="en-US" sz="2000" b="0" i="0" dirty="0">
                <a:solidFill>
                  <a:srgbClr val="242021"/>
                </a:solidFill>
                <a:effectLst/>
                <a:latin typeface="TimesTenLTStd-Roman"/>
              </a:rPr>
              <a:t>.</a:t>
            </a:r>
            <a:r>
              <a:rPr lang="en-US" sz="2000" b="0" i="1" dirty="0">
                <a:solidFill>
                  <a:srgbClr val="242021"/>
                </a:solidFill>
                <a:effectLst/>
                <a:latin typeface="TimesTenLTStd-Italic"/>
              </a:rPr>
              <a:t>b</a:t>
            </a:r>
            <a:r>
              <a:rPr lang="en-US" sz="800" b="0" i="0" dirty="0">
                <a:solidFill>
                  <a:srgbClr val="242021"/>
                </a:solidFill>
                <a:effectLst/>
                <a:latin typeface="PearsonMATHPRO02"/>
              </a:rPr>
              <a:t>-</a:t>
            </a:r>
            <a:r>
              <a:rPr lang="en-US" sz="800" b="0" i="0" dirty="0">
                <a:solidFill>
                  <a:srgbClr val="242021"/>
                </a:solidFill>
                <a:effectLst/>
                <a:latin typeface="TimesTenLTStd-Roman"/>
              </a:rPr>
              <a:t>1</a:t>
            </a:r>
            <a:r>
              <a:rPr lang="en-US" sz="2000" b="0" i="1" dirty="0">
                <a:solidFill>
                  <a:srgbClr val="242021"/>
                </a:solidFill>
                <a:effectLst/>
                <a:latin typeface="TimesTenLTStd-Italic"/>
              </a:rPr>
              <a:t>b</a:t>
            </a:r>
            <a:r>
              <a:rPr lang="en-US" sz="800" b="0" i="0" dirty="0">
                <a:solidFill>
                  <a:srgbClr val="242021"/>
                </a:solidFill>
                <a:effectLst/>
                <a:latin typeface="PearsonMATHPRO02"/>
              </a:rPr>
              <a:t>-</a:t>
            </a:r>
            <a:r>
              <a:rPr lang="en-US" sz="800" b="0" i="0" dirty="0">
                <a:solidFill>
                  <a:srgbClr val="242021"/>
                </a:solidFill>
                <a:effectLst/>
                <a:latin typeface="TimesTenLTStd-Roman"/>
              </a:rPr>
              <a:t>2</a:t>
            </a:r>
            <a:r>
              <a:rPr lang="en-US" sz="2000" b="0" i="1" dirty="0">
                <a:solidFill>
                  <a:srgbClr val="242021"/>
                </a:solidFill>
                <a:effectLst/>
                <a:latin typeface="TimesTenLTStd-Italic"/>
              </a:rPr>
              <a:t>b</a:t>
            </a:r>
            <a:r>
              <a:rPr lang="en-US" sz="800" b="0" i="0" dirty="0">
                <a:solidFill>
                  <a:srgbClr val="242021"/>
                </a:solidFill>
                <a:effectLst/>
                <a:latin typeface="PearsonMATHPRO02"/>
              </a:rPr>
              <a:t>-</a:t>
            </a:r>
            <a:r>
              <a:rPr lang="en-US" sz="800" b="0" i="0" dirty="0">
                <a:solidFill>
                  <a:srgbClr val="242021"/>
                </a:solidFill>
                <a:effectLst/>
                <a:latin typeface="TimesTenLTStd-Roman"/>
              </a:rPr>
              <a:t>3</a:t>
            </a:r>
            <a:r>
              <a:rPr lang="en-US" sz="2000" b="0" i="0" dirty="0">
                <a:solidFill>
                  <a:srgbClr val="242021"/>
                </a:solidFill>
                <a:effectLst/>
                <a:latin typeface="PearsonMATHPRO13"/>
              </a:rPr>
              <a:t>c</a:t>
            </a:r>
            <a:r>
              <a:rPr lang="en-US" sz="2000" b="0" i="0" dirty="0">
                <a:solidFill>
                  <a:srgbClr val="242021"/>
                </a:solidFill>
                <a:effectLst/>
                <a:latin typeface="PearsonMATHPRO18"/>
              </a:rPr>
              <a:t>6 </a:t>
            </a:r>
            <a:r>
              <a:rPr lang="en-US" sz="2000" b="0" i="0" dirty="0">
                <a:solidFill>
                  <a:srgbClr val="242021"/>
                </a:solidFill>
                <a:effectLst/>
                <a:latin typeface="TimesTenLTStd-Roman"/>
              </a:rPr>
              <a:t>, the value of </a:t>
            </a:r>
            <a:r>
              <a:rPr lang="en-US" sz="2000" b="0" i="1" dirty="0">
                <a:solidFill>
                  <a:srgbClr val="242021"/>
                </a:solidFill>
                <a:effectLst/>
                <a:latin typeface="TimesTenLTStd-Italic"/>
              </a:rPr>
              <a:t>Y </a:t>
            </a:r>
            <a:r>
              <a:rPr lang="en-US" sz="2000" b="0" i="0" dirty="0">
                <a:solidFill>
                  <a:srgbClr val="242021"/>
                </a:solidFill>
                <a:effectLst/>
                <a:latin typeface="TimesTenLTStd-Roman"/>
              </a:rPr>
              <a:t>is</a:t>
            </a:r>
            <a:r>
              <a:rPr lang="en-US" dirty="0"/>
              <a:t> </a:t>
            </a:r>
            <a:br>
              <a:rPr lang="en-US" dirty="0"/>
            </a:br>
            <a:endParaRPr lang="en-MY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C80ABB-2596-E279-7A76-4FE2C6AD4D93}"/>
              </a:ext>
            </a:extLst>
          </p:cNvPr>
          <p:cNvSpPr txBox="1"/>
          <p:nvPr/>
        </p:nvSpPr>
        <p:spPr>
          <a:xfrm>
            <a:off x="611560" y="4095387"/>
            <a:ext cx="77048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rgbClr val="FF0000"/>
                </a:solidFill>
              </a:rPr>
              <a:t>1001.102 = (1 x 2</a:t>
            </a:r>
            <a:r>
              <a:rPr lang="en-MY" sz="1400" baseline="30000" dirty="0">
                <a:solidFill>
                  <a:srgbClr val="FF0000"/>
                </a:solidFill>
              </a:rPr>
              <a:t>3</a:t>
            </a:r>
            <a:r>
              <a:rPr lang="en-MY" sz="1400" dirty="0">
                <a:solidFill>
                  <a:srgbClr val="FF0000"/>
                </a:solidFill>
              </a:rPr>
              <a:t>) + (0 x 2</a:t>
            </a:r>
            <a:r>
              <a:rPr lang="en-MY" sz="1400" baseline="30000" dirty="0">
                <a:solidFill>
                  <a:srgbClr val="FF0000"/>
                </a:solidFill>
              </a:rPr>
              <a:t>2</a:t>
            </a:r>
            <a:r>
              <a:rPr lang="en-MY" sz="1400" dirty="0">
                <a:solidFill>
                  <a:srgbClr val="FF0000"/>
                </a:solidFill>
              </a:rPr>
              <a:t>) + (0 x 2</a:t>
            </a:r>
            <a:r>
              <a:rPr lang="en-MY" sz="1400" baseline="30000" dirty="0">
                <a:solidFill>
                  <a:srgbClr val="FF0000"/>
                </a:solidFill>
              </a:rPr>
              <a:t>1</a:t>
            </a:r>
            <a:r>
              <a:rPr lang="en-MY" sz="1400" dirty="0">
                <a:solidFill>
                  <a:srgbClr val="FF0000"/>
                </a:solidFill>
              </a:rPr>
              <a:t>) + (1 x 2</a:t>
            </a:r>
            <a:r>
              <a:rPr lang="en-MY" sz="1400" baseline="30000" dirty="0">
                <a:solidFill>
                  <a:srgbClr val="FF0000"/>
                </a:solidFill>
              </a:rPr>
              <a:t>0</a:t>
            </a:r>
            <a:r>
              <a:rPr lang="en-MY" sz="1400" dirty="0">
                <a:solidFill>
                  <a:srgbClr val="FF0000"/>
                </a:solidFill>
              </a:rPr>
              <a:t>) + (1 x2</a:t>
            </a:r>
            <a:r>
              <a:rPr lang="en-MY" sz="1400" baseline="30000" dirty="0">
                <a:solidFill>
                  <a:srgbClr val="FF0000"/>
                </a:solidFill>
              </a:rPr>
              <a:t>-1</a:t>
            </a:r>
            <a:r>
              <a:rPr lang="en-MY" sz="1400" dirty="0">
                <a:solidFill>
                  <a:srgbClr val="FF0000"/>
                </a:solidFill>
              </a:rPr>
              <a:t>) + (0 x 2</a:t>
            </a:r>
            <a:r>
              <a:rPr lang="en-MY" sz="1400" baseline="30000" dirty="0">
                <a:solidFill>
                  <a:srgbClr val="FF0000"/>
                </a:solidFill>
              </a:rPr>
              <a:t>-2</a:t>
            </a:r>
            <a:r>
              <a:rPr lang="en-MY" sz="1400" dirty="0">
                <a:solidFill>
                  <a:srgbClr val="FF0000"/>
                </a:solidFill>
              </a:rPr>
              <a:t>) + (2 x 2</a:t>
            </a:r>
            <a:r>
              <a:rPr lang="en-MY" sz="1400" baseline="30000" dirty="0">
                <a:solidFill>
                  <a:srgbClr val="FF0000"/>
                </a:solidFill>
              </a:rPr>
              <a:t>-3</a:t>
            </a:r>
            <a:r>
              <a:rPr lang="en-MY" sz="1400" dirty="0">
                <a:solidFill>
                  <a:srgbClr val="FF0000"/>
                </a:solidFill>
              </a:rPr>
              <a:t>) = 9.75 </a:t>
            </a:r>
            <a:r>
              <a:rPr lang="en-MY" sz="1400" baseline="-25000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E33EA8-3788-B4DF-8558-85C28B6B07EC}"/>
              </a:ext>
            </a:extLst>
          </p:cNvPr>
          <p:cNvSpPr txBox="1"/>
          <p:nvPr/>
        </p:nvSpPr>
        <p:spPr>
          <a:xfrm>
            <a:off x="611560" y="4561383"/>
            <a:ext cx="7704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800" dirty="0">
                <a:solidFill>
                  <a:srgbClr val="FF0000"/>
                </a:solidFill>
              </a:rPr>
              <a:t>1001.102 = (1 x 2</a:t>
            </a:r>
            <a:r>
              <a:rPr lang="en-MY" sz="1800" baseline="30000" dirty="0">
                <a:solidFill>
                  <a:srgbClr val="FF0000"/>
                </a:solidFill>
              </a:rPr>
              <a:t>3</a:t>
            </a:r>
            <a:r>
              <a:rPr lang="en-MY" sz="1800" dirty="0">
                <a:solidFill>
                  <a:srgbClr val="FF0000"/>
                </a:solidFill>
              </a:rPr>
              <a:t>) + (1 x 2</a:t>
            </a:r>
            <a:r>
              <a:rPr lang="en-MY" sz="1800" baseline="30000" dirty="0">
                <a:solidFill>
                  <a:srgbClr val="FF0000"/>
                </a:solidFill>
              </a:rPr>
              <a:t>0</a:t>
            </a:r>
            <a:r>
              <a:rPr lang="en-MY" sz="1800" dirty="0">
                <a:solidFill>
                  <a:srgbClr val="FF0000"/>
                </a:solidFill>
              </a:rPr>
              <a:t>) + (1 x2</a:t>
            </a:r>
            <a:r>
              <a:rPr lang="en-MY" sz="1800" baseline="30000" dirty="0">
                <a:solidFill>
                  <a:srgbClr val="FF0000"/>
                </a:solidFill>
              </a:rPr>
              <a:t>-1</a:t>
            </a:r>
            <a:r>
              <a:rPr lang="en-MY" sz="1800" dirty="0">
                <a:solidFill>
                  <a:srgbClr val="FF0000"/>
                </a:solidFill>
              </a:rPr>
              <a:t>) + (2 x 2</a:t>
            </a:r>
            <a:r>
              <a:rPr lang="en-MY" sz="1800" baseline="30000" dirty="0">
                <a:solidFill>
                  <a:srgbClr val="FF0000"/>
                </a:solidFill>
              </a:rPr>
              <a:t>-3</a:t>
            </a:r>
            <a:r>
              <a:rPr lang="en-MY" sz="1800" dirty="0">
                <a:solidFill>
                  <a:srgbClr val="FF0000"/>
                </a:solidFill>
              </a:rPr>
              <a:t>) = 9.75 </a:t>
            </a:r>
            <a:r>
              <a:rPr lang="en-MY" sz="1800" baseline="-25000" dirty="0">
                <a:solidFill>
                  <a:srgbClr val="FF0000"/>
                </a:solidFill>
              </a:rPr>
              <a:t>10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167582B-4098-8AA0-21D2-CB08C6271586}"/>
              </a:ext>
            </a:extLst>
          </p:cNvPr>
          <p:cNvGrpSpPr/>
          <p:nvPr/>
        </p:nvGrpSpPr>
        <p:grpSpPr>
          <a:xfrm>
            <a:off x="6302823" y="212007"/>
            <a:ext cx="2043656" cy="1135469"/>
            <a:chOff x="6267768" y="908720"/>
            <a:chExt cx="2043656" cy="1135469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A66948B-E05E-73BC-2B70-FB1345A73A77}"/>
                </a:ext>
              </a:extLst>
            </p:cNvPr>
            <p:cNvSpPr/>
            <p:nvPr/>
          </p:nvSpPr>
          <p:spPr>
            <a:xfrm>
              <a:off x="6267768" y="908720"/>
              <a:ext cx="2016224" cy="11354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7C643A4-E895-E3D8-DCA1-A08EA9C8D137}"/>
                </a:ext>
              </a:extLst>
            </p:cNvPr>
            <p:cNvSpPr txBox="1"/>
            <p:nvPr/>
          </p:nvSpPr>
          <p:spPr>
            <a:xfrm>
              <a:off x="6295200" y="1068580"/>
              <a:ext cx="201622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sz="4800" dirty="0">
                  <a:solidFill>
                    <a:srgbClr val="FFFF00"/>
                  </a:solidFill>
                </a:rPr>
                <a:t>2</a:t>
              </a:r>
              <a:r>
                <a:rPr lang="en-MY" sz="4800" baseline="30000" dirty="0">
                  <a:solidFill>
                    <a:srgbClr val="FFFF00"/>
                  </a:solidFill>
                </a:rPr>
                <a:t>0</a:t>
              </a:r>
              <a:r>
                <a:rPr lang="en-MY" sz="4800" dirty="0">
                  <a:solidFill>
                    <a:srgbClr val="FFFF00"/>
                  </a:solidFill>
                </a:rPr>
                <a:t> = 1</a:t>
              </a:r>
              <a:endParaRPr lang="en-MY" sz="4800" baseline="-25000" dirty="0">
                <a:solidFill>
                  <a:srgbClr val="FFFF00"/>
                </a:solidFill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12" grpId="0"/>
      <p:bldP spid="1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4">
            <a:extLst>
              <a:ext uri="{FF2B5EF4-FFF2-40B4-BE49-F238E27FC236}">
                <a16:creationId xmlns:a16="http://schemas.microsoft.com/office/drawing/2014/main" id="{5E02DD50-D72E-33D7-B478-D81E7C5B93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452"/>
          <a:stretch>
            <a:fillRect/>
          </a:stretch>
        </p:blipFill>
        <p:spPr bwMode="auto">
          <a:xfrm>
            <a:off x="6588125" y="98425"/>
            <a:ext cx="1755775" cy="150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1" name="TextBox 3">
            <a:extLst>
              <a:ext uri="{FF2B5EF4-FFF2-40B4-BE49-F238E27FC236}">
                <a16:creationId xmlns:a16="http://schemas.microsoft.com/office/drawing/2014/main" id="{67651C5D-01F4-5A57-50AF-F5D61693F7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4425" y="512763"/>
            <a:ext cx="518477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20000"/>
              </a:spcBef>
              <a:buClr>
                <a:srgbClr val="FF0000"/>
              </a:buClr>
            </a:pPr>
            <a:r>
              <a:rPr lang="en-US" altLang="en-US" sz="4000" i="1">
                <a:solidFill>
                  <a:srgbClr val="000000"/>
                </a:solidFill>
              </a:rPr>
              <a:t>Spot the difference +</a:t>
            </a:r>
            <a:endParaRPr lang="en-MY" altLang="en-US" sz="4000" i="1">
              <a:solidFill>
                <a:srgbClr val="000000"/>
              </a:solidFill>
            </a:endParaRPr>
          </a:p>
        </p:txBody>
      </p:sp>
      <p:pic>
        <p:nvPicPr>
          <p:cNvPr id="32772" name="Picture 1">
            <a:extLst>
              <a:ext uri="{FF2B5EF4-FFF2-40B4-BE49-F238E27FC236}">
                <a16:creationId xmlns:a16="http://schemas.microsoft.com/office/drawing/2014/main" id="{D19C7199-8709-52F3-DDC0-5A1C89750C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363" y="3355975"/>
            <a:ext cx="2667000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2773" name="Group 12">
            <a:extLst>
              <a:ext uri="{FF2B5EF4-FFF2-40B4-BE49-F238E27FC236}">
                <a16:creationId xmlns:a16="http://schemas.microsoft.com/office/drawing/2014/main" id="{B7BC7084-8E0E-5467-1A6D-DEE8B6E80265}"/>
              </a:ext>
            </a:extLst>
          </p:cNvPr>
          <p:cNvGrpSpPr>
            <a:grpSpLocks/>
          </p:cNvGrpSpPr>
          <p:nvPr/>
        </p:nvGrpSpPr>
        <p:grpSpPr bwMode="auto">
          <a:xfrm>
            <a:off x="827088" y="3335338"/>
            <a:ext cx="2970212" cy="1009650"/>
            <a:chOff x="1167164" y="2422817"/>
            <a:chExt cx="2969811" cy="1009650"/>
          </a:xfrm>
        </p:grpSpPr>
        <p:sp>
          <p:nvSpPr>
            <p:cNvPr id="32776" name="Content Placeholder 2">
              <a:extLst>
                <a:ext uri="{FF2B5EF4-FFF2-40B4-BE49-F238E27FC236}">
                  <a16:creationId xmlns:a16="http://schemas.microsoft.com/office/drawing/2014/main" id="{501CACE2-9CF1-9A18-9050-4A31431B1A5F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167164" y="2446629"/>
              <a:ext cx="1010816" cy="927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buFont typeface="Wingdings 2" panose="05020102010507070707" pitchFamily="18" charset="2"/>
                <a:buNone/>
              </a:pPr>
              <a:r>
                <a:rPr kumimoji="0" lang="en-US" altLang="en-US" sz="3200">
                  <a:solidFill>
                    <a:srgbClr val="000000"/>
                  </a:solidFill>
                  <a:latin typeface="Verdana" panose="020B0604030504040204" pitchFamily="34" charset="0"/>
                </a:rPr>
                <a:t>X =</a:t>
              </a:r>
              <a:r>
                <a:rPr kumimoji="0" lang="en-US" altLang="en-US" sz="3200">
                  <a:solidFill>
                    <a:srgbClr val="898989"/>
                  </a:solidFill>
                  <a:latin typeface="Verdana" panose="020B0604030504040204" pitchFamily="34" charset="0"/>
                </a:rPr>
                <a:t> </a:t>
              </a:r>
            </a:p>
          </p:txBody>
        </p:sp>
        <p:pic>
          <p:nvPicPr>
            <p:cNvPr id="32777" name="Picture 3">
              <a:extLst>
                <a:ext uri="{FF2B5EF4-FFF2-40B4-BE49-F238E27FC236}">
                  <a16:creationId xmlns:a16="http://schemas.microsoft.com/office/drawing/2014/main" id="{DB4E7B21-1C31-0F41-9FAD-E3B698C418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6725" y="2422817"/>
              <a:ext cx="2000250" cy="1009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2774" name="Content Placeholder 2">
            <a:extLst>
              <a:ext uri="{FF2B5EF4-FFF2-40B4-BE49-F238E27FC236}">
                <a16:creationId xmlns:a16="http://schemas.microsoft.com/office/drawing/2014/main" id="{E7DFF54C-E132-2B10-DF10-9FDA4367D798}"/>
              </a:ext>
            </a:extLst>
          </p:cNvPr>
          <p:cNvSpPr txBox="1">
            <a:spLocks/>
          </p:cNvSpPr>
          <p:nvPr/>
        </p:nvSpPr>
        <p:spPr bwMode="auto">
          <a:xfrm>
            <a:off x="1135063" y="2493963"/>
            <a:ext cx="2355850" cy="92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  <a:buFont typeface="Wingdings 2" panose="05020102010507070707" pitchFamily="18" charset="2"/>
              <a:buNone/>
            </a:pPr>
            <a:r>
              <a:rPr kumimoji="0" lang="en-US" altLang="en-US" sz="3200">
                <a:solidFill>
                  <a:srgbClr val="000000"/>
                </a:solidFill>
                <a:latin typeface="Verdana" panose="020B0604030504040204" pitchFamily="34" charset="0"/>
              </a:rPr>
              <a:t>Decimal</a:t>
            </a:r>
            <a:endParaRPr kumimoji="0" lang="en-US" altLang="en-US" sz="3200">
              <a:solidFill>
                <a:srgbClr val="898989"/>
              </a:solidFill>
              <a:latin typeface="Verdana" panose="020B0604030504040204" pitchFamily="34" charset="0"/>
            </a:endParaRPr>
          </a:p>
        </p:txBody>
      </p:sp>
      <p:sp>
        <p:nvSpPr>
          <p:cNvPr id="32775" name="Content Placeholder 2">
            <a:extLst>
              <a:ext uri="{FF2B5EF4-FFF2-40B4-BE49-F238E27FC236}">
                <a16:creationId xmlns:a16="http://schemas.microsoft.com/office/drawing/2014/main" id="{7C031E71-F3FA-02AC-DEE2-C6289CEDC4BF}"/>
              </a:ext>
            </a:extLst>
          </p:cNvPr>
          <p:cNvSpPr txBox="1">
            <a:spLocks/>
          </p:cNvSpPr>
          <p:nvPr/>
        </p:nvSpPr>
        <p:spPr bwMode="auto">
          <a:xfrm>
            <a:off x="5087938" y="2484438"/>
            <a:ext cx="2355850" cy="92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  <a:buFont typeface="Wingdings 2" panose="05020102010507070707" pitchFamily="18" charset="2"/>
              <a:buNone/>
            </a:pPr>
            <a:r>
              <a:rPr kumimoji="0" lang="en-US" altLang="en-US" sz="3200">
                <a:solidFill>
                  <a:srgbClr val="000000"/>
                </a:solidFill>
                <a:latin typeface="Verdana" panose="020B0604030504040204" pitchFamily="34" charset="0"/>
              </a:rPr>
              <a:t>Binary</a:t>
            </a:r>
            <a:endParaRPr kumimoji="0" lang="en-US" altLang="en-US" sz="3200">
              <a:solidFill>
                <a:srgbClr val="898989"/>
              </a:solidFill>
              <a:latin typeface="Verdana" panose="020B060403050404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76898D1-9F54-CE30-5E6F-FF1AC060619D}"/>
              </a:ext>
            </a:extLst>
          </p:cNvPr>
          <p:cNvSpPr/>
          <p:nvPr/>
        </p:nvSpPr>
        <p:spPr>
          <a:xfrm>
            <a:off x="3059832" y="3355975"/>
            <a:ext cx="893043" cy="7080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542A53-9525-ACFC-DBCE-C44BBC309281}"/>
              </a:ext>
            </a:extLst>
          </p:cNvPr>
          <p:cNvSpPr/>
          <p:nvPr/>
        </p:nvSpPr>
        <p:spPr>
          <a:xfrm>
            <a:off x="7019490" y="3446463"/>
            <a:ext cx="893043" cy="7080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4">
            <a:extLst>
              <a:ext uri="{FF2B5EF4-FFF2-40B4-BE49-F238E27FC236}">
                <a16:creationId xmlns:a16="http://schemas.microsoft.com/office/drawing/2014/main" id="{71AAB660-E67C-85B2-83A4-2605C88EEF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452"/>
          <a:stretch>
            <a:fillRect/>
          </a:stretch>
        </p:blipFill>
        <p:spPr bwMode="auto">
          <a:xfrm>
            <a:off x="6516688" y="79375"/>
            <a:ext cx="1755775" cy="150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1" name="Content Placeholder 2">
            <a:extLst>
              <a:ext uri="{FF2B5EF4-FFF2-40B4-BE49-F238E27FC236}">
                <a16:creationId xmlns:a16="http://schemas.microsoft.com/office/drawing/2014/main" id="{9D548EE8-A0D5-F368-2B9B-6C94ECF3D95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4212" y="2852936"/>
            <a:ext cx="7344171" cy="1224136"/>
          </a:xfrm>
        </p:spPr>
        <p:txBody>
          <a:bodyPr>
            <a:normAutofit/>
          </a:bodyPr>
          <a:lstStyle/>
          <a:p>
            <a:pPr marL="0" indent="0" algn="ctr" fontAlgn="auto">
              <a:buNone/>
              <a:defRPr/>
            </a:pPr>
            <a:r>
              <a:rPr lang="en-US" altLang="en-US" sz="3600" dirty="0">
                <a:solidFill>
                  <a:srgbClr val="000000"/>
                </a:solidFill>
              </a:rPr>
              <a:t>What other (popular) number systems are there?</a:t>
            </a:r>
            <a:endParaRPr lang="en-MY" altLang="en-US" sz="3600" dirty="0">
              <a:solidFill>
                <a:srgbClr val="000000"/>
              </a:solidFill>
            </a:endParaRPr>
          </a:p>
        </p:txBody>
      </p:sp>
      <p:sp>
        <p:nvSpPr>
          <p:cNvPr id="33796" name="TextBox 3">
            <a:extLst>
              <a:ext uri="{FF2B5EF4-FFF2-40B4-BE49-F238E27FC236}">
                <a16:creationId xmlns:a16="http://schemas.microsoft.com/office/drawing/2014/main" id="{B74F95FE-152A-F1B4-1141-63C9057BC3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6150" y="476250"/>
            <a:ext cx="273685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20000"/>
              </a:spcBef>
              <a:buClr>
                <a:srgbClr val="FF0000"/>
              </a:buClr>
            </a:pPr>
            <a:r>
              <a:rPr lang="en-US" altLang="en-US" sz="4000" i="1">
                <a:solidFill>
                  <a:srgbClr val="000000"/>
                </a:solidFill>
              </a:rPr>
              <a:t>research +</a:t>
            </a:r>
            <a:endParaRPr lang="en-MY" altLang="en-US" sz="4000" i="1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69239-6E34-7364-399C-77B1B2FAD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In a nutshell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1F304-004C-0045-BF60-30B86476E8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6150" y="1828800"/>
            <a:ext cx="7269162" cy="4351338"/>
          </a:xfrm>
        </p:spPr>
        <p:txBody>
          <a:bodyPr/>
          <a:lstStyle/>
          <a:p>
            <a:r>
              <a:rPr lang="en-US" dirty="0"/>
              <a:t>The binary system is closely tied to </a:t>
            </a:r>
            <a:r>
              <a:rPr lang="en-US" sz="3200" dirty="0">
                <a:solidFill>
                  <a:srgbClr val="FF0000"/>
                </a:solidFill>
              </a:rPr>
              <a:t>Boolean logic</a:t>
            </a:r>
            <a:r>
              <a:rPr lang="en-US" dirty="0"/>
              <a:t>, a mathematical system used for representing and manipulating logical values (true and false)</a:t>
            </a:r>
          </a:p>
          <a:p>
            <a:r>
              <a:rPr lang="en-US" dirty="0"/>
              <a:t>Binary is the natural language of digital electronics. </a:t>
            </a:r>
          </a:p>
          <a:p>
            <a:r>
              <a:rPr lang="en-US" dirty="0"/>
              <a:t>Data storage in computers, including hard drives and memory, is organized into binary data structures. </a:t>
            </a:r>
          </a:p>
          <a:p>
            <a:r>
              <a:rPr lang="en-US" dirty="0"/>
              <a:t>Overall, the binary system is fundamental to the operation of computers and digital technology, as it provides a simple and efficient way to represent and process information in a digital form.</a:t>
            </a:r>
          </a:p>
        </p:txBody>
      </p:sp>
    </p:spTree>
    <p:extLst>
      <p:ext uri="{BB962C8B-B14F-4D97-AF65-F5344CB8AC3E}">
        <p14:creationId xmlns:p14="http://schemas.microsoft.com/office/powerpoint/2010/main" val="5435550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Title 1">
            <a:extLst>
              <a:ext uri="{FF2B5EF4-FFF2-40B4-BE49-F238E27FC236}">
                <a16:creationId xmlns:a16="http://schemas.microsoft.com/office/drawing/2014/main" id="{FDF8B526-E9F6-A12A-B045-9B9AEA4002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388" y="365125"/>
            <a:ext cx="8137028" cy="132556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en-US" dirty="0"/>
              <a:t>Converting From:  </a:t>
            </a:r>
            <a:br>
              <a:rPr lang="en-US" altLang="en-US" dirty="0"/>
            </a:br>
            <a:r>
              <a:rPr lang="en-US" altLang="en-US" dirty="0"/>
              <a:t>Binary To Decimal </a:t>
            </a:r>
          </a:p>
        </p:txBody>
      </p:sp>
      <p:sp>
        <p:nvSpPr>
          <p:cNvPr id="30724" name="Rectangle 23">
            <a:extLst>
              <a:ext uri="{FF2B5EF4-FFF2-40B4-BE49-F238E27FC236}">
                <a16:creationId xmlns:a16="http://schemas.microsoft.com/office/drawing/2014/main" id="{8144CB9F-1165-2E0C-A5A0-82363681B77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11188" y="1828800"/>
            <a:ext cx="7561262" cy="4351338"/>
          </a:xfrm>
        </p:spPr>
        <p:txBody>
          <a:bodyPr/>
          <a:lstStyle/>
          <a:p>
            <a:pPr marL="182880" indent="-182880" fontAlgn="auto">
              <a:defRPr/>
            </a:pPr>
            <a:r>
              <a:rPr lang="en-US" altLang="en-US" sz="3600" b="1" dirty="0">
                <a:solidFill>
                  <a:srgbClr val="92D050"/>
                </a:solidFill>
              </a:rPr>
              <a:t>Multiply</a:t>
            </a:r>
            <a:r>
              <a:rPr lang="en-US" altLang="en-US" dirty="0"/>
              <a:t> each binary digit by the appropriate </a:t>
            </a:r>
            <a:r>
              <a:rPr lang="en-US" altLang="en-US" sz="3600" b="1" dirty="0">
                <a:solidFill>
                  <a:srgbClr val="FF0000"/>
                </a:solidFill>
              </a:rPr>
              <a:t>power of 2 </a:t>
            </a:r>
            <a:r>
              <a:rPr lang="en-US" altLang="en-US" dirty="0"/>
              <a:t>and add the results</a:t>
            </a:r>
          </a:p>
        </p:txBody>
      </p:sp>
      <p:sp>
        <p:nvSpPr>
          <p:cNvPr id="35849" name="Rectangle 17">
            <a:extLst>
              <a:ext uri="{FF2B5EF4-FFF2-40B4-BE49-F238E27FC236}">
                <a16:creationId xmlns:a16="http://schemas.microsoft.com/office/drawing/2014/main" id="{209BB4DA-0478-BB78-52D2-72CEF9E61C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382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kumimoji="0" lang="en-US" altLang="en-US" sz="1800"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14D4D6-9FB6-2FF2-8D4F-D750A2A078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788" y="3439264"/>
            <a:ext cx="7040750" cy="10801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8F0C889-EE67-A01D-5619-811DC77BE0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941" y="4545291"/>
            <a:ext cx="7040804" cy="810004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AAED6-63DA-7E7B-1F06-D23851D59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365125"/>
            <a:ext cx="7603753" cy="1325563"/>
          </a:xfrm>
        </p:spPr>
        <p:txBody>
          <a:bodyPr/>
          <a:lstStyle/>
          <a:p>
            <a:r>
              <a:rPr lang="en-US" altLang="en-US" dirty="0"/>
              <a:t>Converting From:  </a:t>
            </a:r>
            <a:br>
              <a:rPr lang="en-US" altLang="en-US" dirty="0"/>
            </a:br>
            <a:r>
              <a:rPr lang="en-US" altLang="en-US" dirty="0"/>
              <a:t>Binary To Decimal 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15C57-0C9C-55B5-B278-F94D7413E9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255" y="3229441"/>
            <a:ext cx="7626254" cy="1887042"/>
          </a:xfrm>
        </p:spPr>
        <p:txBody>
          <a:bodyPr/>
          <a:lstStyle/>
          <a:p>
            <a:pPr marL="0" indent="0">
              <a:buNone/>
            </a:pPr>
            <a:r>
              <a:rPr lang="en-MY" dirty="0"/>
              <a:t>Example: </a:t>
            </a:r>
          </a:p>
          <a:p>
            <a:pPr marL="0" indent="0">
              <a:buNone/>
            </a:pPr>
            <a:r>
              <a:rPr lang="en-MY" dirty="0"/>
              <a:t>(10101.11)</a:t>
            </a:r>
            <a:r>
              <a:rPr lang="en-MY" baseline="-25000" dirty="0"/>
              <a:t>2</a:t>
            </a:r>
            <a:r>
              <a:rPr lang="en-MY" dirty="0"/>
              <a:t> </a:t>
            </a:r>
            <a:r>
              <a:rPr lang="en-MY" dirty="0">
                <a:sym typeface="Wingdings" panose="05000000000000000000" pitchFamily="2" charset="2"/>
              </a:rPr>
              <a:t> (                         )</a:t>
            </a:r>
            <a:r>
              <a:rPr lang="en-MY" baseline="-25000" dirty="0">
                <a:sym typeface="Wingdings" panose="05000000000000000000" pitchFamily="2" charset="2"/>
              </a:rPr>
              <a:t>10</a:t>
            </a:r>
            <a:endParaRPr lang="en-MY" baseline="-25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08363B-CC7D-F929-BD05-0EBE270241CC}"/>
              </a:ext>
            </a:extLst>
          </p:cNvPr>
          <p:cNvSpPr txBox="1"/>
          <p:nvPr/>
        </p:nvSpPr>
        <p:spPr>
          <a:xfrm>
            <a:off x="1331640" y="1821752"/>
            <a:ext cx="5272597" cy="5232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MY" sz="2800" dirty="0"/>
              <a:t>(a</a:t>
            </a:r>
            <a:r>
              <a:rPr lang="en-MY" sz="2800" baseline="-25000" dirty="0"/>
              <a:t>3</a:t>
            </a:r>
            <a:r>
              <a:rPr lang="en-MY" sz="2800" dirty="0"/>
              <a:t> a</a:t>
            </a:r>
            <a:r>
              <a:rPr lang="en-MY" sz="2800" baseline="-25000" dirty="0"/>
              <a:t>2</a:t>
            </a:r>
            <a:r>
              <a:rPr lang="en-MY" sz="2800" dirty="0"/>
              <a:t> a</a:t>
            </a:r>
            <a:r>
              <a:rPr lang="en-MY" sz="2800" baseline="-25000" dirty="0"/>
              <a:t>1</a:t>
            </a:r>
            <a:r>
              <a:rPr lang="en-MY" sz="2800" dirty="0"/>
              <a:t> a</a:t>
            </a:r>
            <a:r>
              <a:rPr lang="en-MY" sz="2800" baseline="-25000" dirty="0"/>
              <a:t>0</a:t>
            </a:r>
            <a:r>
              <a:rPr lang="en-MY" sz="2800" dirty="0"/>
              <a:t>.a</a:t>
            </a:r>
            <a:r>
              <a:rPr lang="en-MY" sz="2800" baseline="-25000" dirty="0"/>
              <a:t>-1</a:t>
            </a:r>
            <a:r>
              <a:rPr lang="en-MY" sz="2800" dirty="0"/>
              <a:t> a</a:t>
            </a:r>
            <a:r>
              <a:rPr lang="en-MY" sz="2800" baseline="-25000" dirty="0"/>
              <a:t>-2</a:t>
            </a:r>
            <a:r>
              <a:rPr lang="en-MY" sz="2800" dirty="0"/>
              <a:t>)</a:t>
            </a:r>
            <a:r>
              <a:rPr lang="en-MY" sz="2800" baseline="-25000" dirty="0"/>
              <a:t>2</a:t>
            </a:r>
            <a:r>
              <a:rPr lang="en-MY" sz="2800" dirty="0"/>
              <a:t> </a:t>
            </a:r>
            <a:r>
              <a:rPr lang="en-MY" sz="2800" dirty="0">
                <a:sym typeface="Wingdings" panose="05000000000000000000" pitchFamily="2" charset="2"/>
              </a:rPr>
              <a:t> (       )</a:t>
            </a:r>
            <a:r>
              <a:rPr lang="en-MY" sz="2800" baseline="-25000" dirty="0">
                <a:sym typeface="Wingdings" panose="05000000000000000000" pitchFamily="2" charset="2"/>
              </a:rPr>
              <a:t>10</a:t>
            </a:r>
            <a:endParaRPr lang="en-MY" sz="2800" baseline="-25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E45BD8-1DD3-FF4C-930D-F7D89BF030E5}"/>
              </a:ext>
            </a:extLst>
          </p:cNvPr>
          <p:cNvSpPr txBox="1"/>
          <p:nvPr/>
        </p:nvSpPr>
        <p:spPr>
          <a:xfrm>
            <a:off x="467544" y="2458006"/>
            <a:ext cx="7825604" cy="46166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MY" sz="2400" dirty="0"/>
              <a:t>(a</a:t>
            </a:r>
            <a:r>
              <a:rPr lang="en-MY" sz="2400" baseline="-25000" dirty="0"/>
              <a:t>3</a:t>
            </a:r>
            <a:r>
              <a:rPr lang="en-MY" sz="2400" dirty="0"/>
              <a:t>2</a:t>
            </a:r>
            <a:r>
              <a:rPr lang="en-MY" sz="2400" baseline="30000" dirty="0"/>
              <a:t>3</a:t>
            </a:r>
            <a:r>
              <a:rPr lang="en-MY" sz="2400" dirty="0"/>
              <a:t> + a</a:t>
            </a:r>
            <a:r>
              <a:rPr lang="en-MY" sz="2400" baseline="-25000" dirty="0"/>
              <a:t>2</a:t>
            </a:r>
            <a:r>
              <a:rPr lang="en-MY" sz="2400" dirty="0"/>
              <a:t>2</a:t>
            </a:r>
            <a:r>
              <a:rPr lang="en-MY" sz="2400" baseline="30000" dirty="0"/>
              <a:t>2</a:t>
            </a:r>
            <a:r>
              <a:rPr lang="en-MY" sz="2400" dirty="0"/>
              <a:t> + a</a:t>
            </a:r>
            <a:r>
              <a:rPr lang="en-MY" sz="2400" baseline="-25000" dirty="0"/>
              <a:t>1</a:t>
            </a:r>
            <a:r>
              <a:rPr lang="en-MY" sz="2400" dirty="0"/>
              <a:t>2</a:t>
            </a:r>
            <a:r>
              <a:rPr lang="en-MY" sz="2400" baseline="30000" dirty="0"/>
              <a:t>1</a:t>
            </a:r>
            <a:r>
              <a:rPr lang="en-MY" sz="2400" dirty="0"/>
              <a:t> + a</a:t>
            </a:r>
            <a:r>
              <a:rPr lang="en-MY" sz="2400" baseline="-25000" dirty="0"/>
              <a:t>0</a:t>
            </a:r>
            <a:r>
              <a:rPr lang="en-MY" sz="2400" dirty="0"/>
              <a:t>2</a:t>
            </a:r>
            <a:r>
              <a:rPr lang="en-MY" sz="2400" baseline="30000" dirty="0"/>
              <a:t>0</a:t>
            </a:r>
            <a:r>
              <a:rPr lang="en-MY" sz="2400" dirty="0"/>
              <a:t>+.a</a:t>
            </a:r>
            <a:r>
              <a:rPr lang="en-MY" sz="2400" baseline="-25000" dirty="0"/>
              <a:t>-1</a:t>
            </a:r>
            <a:r>
              <a:rPr lang="en-MY" sz="2400" dirty="0"/>
              <a:t>2</a:t>
            </a:r>
            <a:r>
              <a:rPr lang="en-MY" sz="2400" baseline="30000" dirty="0"/>
              <a:t>-1</a:t>
            </a:r>
            <a:r>
              <a:rPr lang="en-MY" sz="2400" dirty="0"/>
              <a:t> + a</a:t>
            </a:r>
            <a:r>
              <a:rPr lang="en-MY" sz="2400" baseline="-25000" dirty="0"/>
              <a:t>-2</a:t>
            </a:r>
            <a:r>
              <a:rPr lang="en-MY" sz="2400" dirty="0"/>
              <a:t>2</a:t>
            </a:r>
            <a:r>
              <a:rPr lang="en-MY" sz="2400" baseline="30000" dirty="0"/>
              <a:t>-2</a:t>
            </a:r>
            <a:r>
              <a:rPr lang="en-MY" sz="2400" dirty="0"/>
              <a:t>)r </a:t>
            </a:r>
            <a:r>
              <a:rPr lang="en-MY" sz="2400" dirty="0">
                <a:sym typeface="Wingdings" panose="05000000000000000000" pitchFamily="2" charset="2"/>
              </a:rPr>
              <a:t> (       )</a:t>
            </a:r>
            <a:r>
              <a:rPr lang="en-MY" sz="2400" baseline="-25000" dirty="0">
                <a:sym typeface="Wingdings" panose="05000000000000000000" pitchFamily="2" charset="2"/>
              </a:rPr>
              <a:t>10</a:t>
            </a:r>
            <a:endParaRPr lang="en-MY" sz="2400" baseline="-25000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4A7BB35F-A0BA-8106-12B1-DCC612D811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910268"/>
              </p:ext>
            </p:extLst>
          </p:nvPr>
        </p:nvGraphicFramePr>
        <p:xfrm>
          <a:off x="549601" y="4458424"/>
          <a:ext cx="1296144" cy="1706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8072">
                  <a:extLst>
                    <a:ext uri="{9D8B030D-6E8A-4147-A177-3AD203B41FA5}">
                      <a16:colId xmlns:a16="http://schemas.microsoft.com/office/drawing/2014/main" val="21983896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482677516"/>
                    </a:ext>
                  </a:extLst>
                </a:gridCol>
              </a:tblGrid>
              <a:tr h="239788">
                <a:tc>
                  <a:txBody>
                    <a:bodyPr/>
                    <a:lstStyle/>
                    <a:p>
                      <a:pPr algn="ctr"/>
                      <a:r>
                        <a:rPr lang="en-MY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000" dirty="0"/>
                        <a:t>a</a:t>
                      </a:r>
                      <a:r>
                        <a:rPr lang="en-MY" sz="1000" baseline="-250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921592"/>
                  </a:ext>
                </a:extLst>
              </a:tr>
              <a:tr h="239788">
                <a:tc>
                  <a:txBody>
                    <a:bodyPr/>
                    <a:lstStyle/>
                    <a:p>
                      <a:pPr algn="ctr"/>
                      <a:r>
                        <a:rPr lang="en-MY" sz="1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000" dirty="0"/>
                        <a:t>a</a:t>
                      </a:r>
                      <a:r>
                        <a:rPr lang="en-MY" sz="1000" baseline="-250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862923"/>
                  </a:ext>
                </a:extLst>
              </a:tr>
              <a:tr h="239788">
                <a:tc>
                  <a:txBody>
                    <a:bodyPr/>
                    <a:lstStyle/>
                    <a:p>
                      <a:pPr algn="ctr"/>
                      <a:r>
                        <a:rPr lang="en-MY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000" dirty="0"/>
                        <a:t>a</a:t>
                      </a:r>
                      <a:r>
                        <a:rPr lang="en-MY" sz="1000" baseline="-250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1431753"/>
                  </a:ext>
                </a:extLst>
              </a:tr>
              <a:tr h="239788">
                <a:tc>
                  <a:txBody>
                    <a:bodyPr/>
                    <a:lstStyle/>
                    <a:p>
                      <a:pPr algn="ctr"/>
                      <a:r>
                        <a:rPr lang="en-MY" sz="1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000" dirty="0"/>
                        <a:t>a</a:t>
                      </a:r>
                      <a:r>
                        <a:rPr lang="en-MY" sz="1000" baseline="-250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5606705"/>
                  </a:ext>
                </a:extLst>
              </a:tr>
              <a:tr h="239788">
                <a:tc>
                  <a:txBody>
                    <a:bodyPr/>
                    <a:lstStyle/>
                    <a:p>
                      <a:pPr algn="ctr"/>
                      <a:r>
                        <a:rPr lang="en-MY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000" dirty="0"/>
                        <a:t>a</a:t>
                      </a:r>
                      <a:r>
                        <a:rPr lang="en-MY" sz="1000" baseline="-250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6145619"/>
                  </a:ext>
                </a:extLst>
              </a:tr>
              <a:tr h="239788">
                <a:tc>
                  <a:txBody>
                    <a:bodyPr/>
                    <a:lstStyle/>
                    <a:p>
                      <a:pPr algn="ctr"/>
                      <a:r>
                        <a:rPr lang="en-MY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000" dirty="0"/>
                        <a:t>a</a:t>
                      </a:r>
                      <a:r>
                        <a:rPr lang="en-MY" sz="1000" baseline="-25000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637779"/>
                  </a:ext>
                </a:extLst>
              </a:tr>
              <a:tr h="239788">
                <a:tc>
                  <a:txBody>
                    <a:bodyPr/>
                    <a:lstStyle/>
                    <a:p>
                      <a:pPr algn="ctr"/>
                      <a:r>
                        <a:rPr lang="en-MY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000" dirty="0"/>
                        <a:t>a</a:t>
                      </a:r>
                      <a:r>
                        <a:rPr lang="en-MY" sz="1000" baseline="-25000" dirty="0"/>
                        <a:t>-2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162420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E3F55AA-63BD-C170-CC0D-CB2D05685F4F}"/>
              </a:ext>
            </a:extLst>
          </p:cNvPr>
          <p:cNvSpPr txBox="1"/>
          <p:nvPr/>
        </p:nvSpPr>
        <p:spPr>
          <a:xfrm>
            <a:off x="611411" y="3527430"/>
            <a:ext cx="109517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100" dirty="0">
                <a:solidFill>
                  <a:srgbClr val="00B050"/>
                </a:solidFill>
              </a:rPr>
              <a:t>4 3 2  1 0 </a:t>
            </a:r>
            <a:r>
              <a:rPr lang="en-MY" sz="1100" dirty="0">
                <a:solidFill>
                  <a:srgbClr val="FF0000"/>
                </a:solidFill>
              </a:rPr>
              <a:t>-1-2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17C91A-303F-C2DE-9F0D-05FD17494C0B}"/>
              </a:ext>
            </a:extLst>
          </p:cNvPr>
          <p:cNvSpPr txBox="1"/>
          <p:nvPr/>
        </p:nvSpPr>
        <p:spPr>
          <a:xfrm>
            <a:off x="2483768" y="4458424"/>
            <a:ext cx="59170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/>
              <a:t>(1x2</a:t>
            </a:r>
            <a:r>
              <a:rPr lang="en-MY" sz="1600" baseline="30000" dirty="0"/>
              <a:t>4</a:t>
            </a:r>
            <a:r>
              <a:rPr lang="en-MY" sz="1600" dirty="0"/>
              <a:t>) + (0x2</a:t>
            </a:r>
            <a:r>
              <a:rPr lang="en-MY" sz="1600" baseline="30000" dirty="0"/>
              <a:t>3</a:t>
            </a:r>
            <a:r>
              <a:rPr lang="en-MY" sz="1600" dirty="0"/>
              <a:t>) + (1x2</a:t>
            </a:r>
            <a:r>
              <a:rPr lang="en-MY" sz="1600" baseline="30000" dirty="0"/>
              <a:t>2</a:t>
            </a:r>
            <a:r>
              <a:rPr lang="en-MY" sz="1600" dirty="0"/>
              <a:t>) + (0x2</a:t>
            </a:r>
            <a:r>
              <a:rPr lang="en-MY" sz="1600" baseline="30000" dirty="0"/>
              <a:t>1</a:t>
            </a:r>
            <a:r>
              <a:rPr lang="en-MY" sz="1600" dirty="0"/>
              <a:t>) + (1x2</a:t>
            </a:r>
            <a:r>
              <a:rPr lang="en-MY" sz="1600" baseline="30000" dirty="0"/>
              <a:t>0</a:t>
            </a:r>
            <a:r>
              <a:rPr lang="en-MY" sz="1600" dirty="0"/>
              <a:t>) + (1x2</a:t>
            </a:r>
            <a:r>
              <a:rPr lang="en-MY" sz="1600" baseline="30000" dirty="0"/>
              <a:t>-1</a:t>
            </a:r>
            <a:r>
              <a:rPr lang="en-MY" sz="1600" dirty="0"/>
              <a:t>) + (1x2</a:t>
            </a:r>
            <a:r>
              <a:rPr lang="en-MY" sz="1600" baseline="30000" dirty="0"/>
              <a:t>-2</a:t>
            </a:r>
            <a:r>
              <a:rPr lang="en-MY" sz="1600" dirty="0"/>
              <a:t>)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DA6F2C-B883-846E-DABB-19989CA4AD21}"/>
              </a:ext>
            </a:extLst>
          </p:cNvPr>
          <p:cNvSpPr txBox="1"/>
          <p:nvPr/>
        </p:nvSpPr>
        <p:spPr>
          <a:xfrm>
            <a:off x="2507517" y="5068247"/>
            <a:ext cx="31438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/>
              <a:t>16 + 0 + 4 + 0 + 1 + 0.5+ 0.25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7FC990-7399-82E7-CDBF-920DB6AEBD12}"/>
              </a:ext>
            </a:extLst>
          </p:cNvPr>
          <p:cNvGrpSpPr/>
          <p:nvPr/>
        </p:nvGrpSpPr>
        <p:grpSpPr>
          <a:xfrm>
            <a:off x="6804248" y="4068988"/>
            <a:ext cx="384914" cy="475551"/>
            <a:chOff x="6804248" y="3933056"/>
            <a:chExt cx="384914" cy="475551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067E0F2-6F1F-93E1-17E1-75641B19A3A5}"/>
                </a:ext>
              </a:extLst>
            </p:cNvPr>
            <p:cNvSpPr txBox="1"/>
            <p:nvPr/>
          </p:nvSpPr>
          <p:spPr>
            <a:xfrm>
              <a:off x="6876256" y="3933056"/>
              <a:ext cx="26161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100" dirty="0">
                  <a:solidFill>
                    <a:srgbClr val="00B050"/>
                  </a:solidFill>
                </a:rPr>
                <a:t>1</a:t>
              </a:r>
              <a:endParaRPr lang="en-MY" sz="1100" dirty="0">
                <a:solidFill>
                  <a:srgbClr val="FF0000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EC1115-3A69-9750-3432-5316316D2D97}"/>
                </a:ext>
              </a:extLst>
            </p:cNvPr>
            <p:cNvSpPr txBox="1"/>
            <p:nvPr/>
          </p:nvSpPr>
          <p:spPr>
            <a:xfrm>
              <a:off x="6850608" y="4146997"/>
              <a:ext cx="31290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100" dirty="0">
                  <a:solidFill>
                    <a:srgbClr val="00B050"/>
                  </a:solidFill>
                </a:rPr>
                <a:t>2</a:t>
              </a:r>
              <a:r>
                <a:rPr lang="en-MY" sz="1100" baseline="30000" dirty="0">
                  <a:solidFill>
                    <a:srgbClr val="00B050"/>
                  </a:solidFill>
                </a:rPr>
                <a:t>1</a:t>
              </a:r>
              <a:endParaRPr lang="en-MY" sz="1100" baseline="30000" dirty="0">
                <a:solidFill>
                  <a:srgbClr val="FF0000"/>
                </a:solidFill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0F9723D-3B12-864A-3FEA-5F697823F831}"/>
                </a:ext>
              </a:extLst>
            </p:cNvPr>
            <p:cNvCxnSpPr/>
            <p:nvPr/>
          </p:nvCxnSpPr>
          <p:spPr>
            <a:xfrm>
              <a:off x="6804248" y="4169484"/>
              <a:ext cx="38491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0D8370D-DAA6-F94A-23F5-498C28C8F6E1}"/>
              </a:ext>
            </a:extLst>
          </p:cNvPr>
          <p:cNvGrpSpPr/>
          <p:nvPr/>
        </p:nvGrpSpPr>
        <p:grpSpPr>
          <a:xfrm>
            <a:off x="7706974" y="4068988"/>
            <a:ext cx="384914" cy="475551"/>
            <a:chOff x="6804248" y="3933056"/>
            <a:chExt cx="384914" cy="475551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5FB4762-2776-3B9B-1167-607ECB8F92EE}"/>
                </a:ext>
              </a:extLst>
            </p:cNvPr>
            <p:cNvSpPr txBox="1"/>
            <p:nvPr/>
          </p:nvSpPr>
          <p:spPr>
            <a:xfrm>
              <a:off x="6876256" y="3933056"/>
              <a:ext cx="26161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100" dirty="0">
                  <a:solidFill>
                    <a:srgbClr val="00B050"/>
                  </a:solidFill>
                </a:rPr>
                <a:t>1</a:t>
              </a:r>
              <a:endParaRPr lang="en-MY" sz="1100" dirty="0">
                <a:solidFill>
                  <a:srgbClr val="FF0000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B564644-4256-8AB8-3758-CEB807F6CCE4}"/>
                </a:ext>
              </a:extLst>
            </p:cNvPr>
            <p:cNvSpPr txBox="1"/>
            <p:nvPr/>
          </p:nvSpPr>
          <p:spPr>
            <a:xfrm>
              <a:off x="6850608" y="4146997"/>
              <a:ext cx="31290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100" dirty="0">
                  <a:solidFill>
                    <a:srgbClr val="00B050"/>
                  </a:solidFill>
                </a:rPr>
                <a:t>2</a:t>
              </a:r>
              <a:r>
                <a:rPr lang="en-MY" sz="1100" baseline="30000" dirty="0">
                  <a:solidFill>
                    <a:srgbClr val="00B050"/>
                  </a:solidFill>
                </a:rPr>
                <a:t>2</a:t>
              </a:r>
              <a:endParaRPr lang="en-MY" sz="1100" baseline="30000" dirty="0">
                <a:solidFill>
                  <a:srgbClr val="FF0000"/>
                </a:solidFill>
              </a:endParaRP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CD8B7CC-20F5-3054-68C5-F1BF888E8538}"/>
                </a:ext>
              </a:extLst>
            </p:cNvPr>
            <p:cNvCxnSpPr/>
            <p:nvPr/>
          </p:nvCxnSpPr>
          <p:spPr>
            <a:xfrm>
              <a:off x="6804248" y="4169484"/>
              <a:ext cx="38491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E4182031-24F9-697C-B782-F458EEC50C6E}"/>
              </a:ext>
            </a:extLst>
          </p:cNvPr>
          <p:cNvSpPr txBox="1"/>
          <p:nvPr/>
        </p:nvSpPr>
        <p:spPr>
          <a:xfrm>
            <a:off x="2699792" y="3689241"/>
            <a:ext cx="7745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b="1" dirty="0"/>
              <a:t>21.75</a:t>
            </a:r>
          </a:p>
        </p:txBody>
      </p:sp>
      <p:pic>
        <p:nvPicPr>
          <p:cNvPr id="20" name="Picture 19" descr="Thinking Chicken">
            <a:extLst>
              <a:ext uri="{FF2B5EF4-FFF2-40B4-BE49-F238E27FC236}">
                <a16:creationId xmlns:a16="http://schemas.microsoft.com/office/drawing/2014/main" id="{B87E1049-2659-12B4-2C8B-A22BD588F1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3616" y="364108"/>
            <a:ext cx="1547664" cy="1547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578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 animBg="1"/>
      <p:bldP spid="7" grpId="0"/>
      <p:bldP spid="8" grpId="0"/>
      <p:bldP spid="9" grpId="0"/>
      <p:bldP spid="1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EFA0CA37-CDC3-386A-3755-4B3ACC97EB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en-US" dirty="0"/>
              <a:t>Converting From:</a:t>
            </a:r>
            <a:br>
              <a:rPr lang="en-US" altLang="en-US" dirty="0"/>
            </a:br>
            <a:r>
              <a:rPr lang="en-US" altLang="en-US" dirty="0"/>
              <a:t>Decimal To Binary (Integer)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A40B75-C563-CE6A-32E4-08E3812A4E36}"/>
              </a:ext>
            </a:extLst>
          </p:cNvPr>
          <p:cNvSpPr txBox="1"/>
          <p:nvPr/>
        </p:nvSpPr>
        <p:spPr>
          <a:xfrm>
            <a:off x="611560" y="3198406"/>
            <a:ext cx="54980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MY" sz="3200" dirty="0"/>
              <a:t>(13)</a:t>
            </a:r>
            <a:r>
              <a:rPr lang="en-MY" sz="3200" baseline="-25000" dirty="0"/>
              <a:t>10</a:t>
            </a:r>
            <a:r>
              <a:rPr lang="en-MY" sz="3200" dirty="0"/>
              <a:t> </a:t>
            </a:r>
            <a:r>
              <a:rPr lang="en-MY" sz="3200" dirty="0">
                <a:sym typeface="Wingdings" panose="05000000000000000000" pitchFamily="2" charset="2"/>
              </a:rPr>
              <a:t> (        )</a:t>
            </a:r>
            <a:r>
              <a:rPr lang="en-MY" sz="3200" baseline="-25000" dirty="0">
                <a:sym typeface="Wingdings" panose="05000000000000000000" pitchFamily="2" charset="2"/>
              </a:rPr>
              <a:t>2</a:t>
            </a:r>
            <a:endParaRPr lang="en-MY" sz="3200" baseline="-25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1A55F6-2358-852C-EDAB-FDF17CE4C75D}"/>
              </a:ext>
            </a:extLst>
          </p:cNvPr>
          <p:cNvSpPr txBox="1"/>
          <p:nvPr/>
        </p:nvSpPr>
        <p:spPr>
          <a:xfrm>
            <a:off x="467544" y="1895823"/>
            <a:ext cx="78488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3200" baseline="-25000" dirty="0"/>
              <a:t>To convert decimal to any other base ‘r’, </a:t>
            </a:r>
            <a:r>
              <a:rPr lang="en-MY" sz="4000" b="1" baseline="-25000" dirty="0">
                <a:solidFill>
                  <a:srgbClr val="FF0000"/>
                </a:solidFill>
              </a:rPr>
              <a:t>divide</a:t>
            </a:r>
            <a:r>
              <a:rPr lang="en-MY" sz="3200" baseline="-25000" dirty="0"/>
              <a:t> </a:t>
            </a:r>
            <a:r>
              <a:rPr lang="en-MY" sz="4000" b="1" baseline="-25000" dirty="0">
                <a:solidFill>
                  <a:srgbClr val="FF0000"/>
                </a:solidFill>
              </a:rPr>
              <a:t>integer</a:t>
            </a:r>
            <a:r>
              <a:rPr lang="en-MY" sz="3200" baseline="-25000" dirty="0"/>
              <a:t> part by r and </a:t>
            </a:r>
            <a:r>
              <a:rPr lang="en-MY" sz="4400" b="1" baseline="-25000" dirty="0">
                <a:solidFill>
                  <a:srgbClr val="00B050"/>
                </a:solidFill>
              </a:rPr>
              <a:t>multiply</a:t>
            </a:r>
            <a:r>
              <a:rPr lang="en-MY" sz="3200" baseline="-25000" dirty="0"/>
              <a:t> </a:t>
            </a:r>
            <a:r>
              <a:rPr lang="en-MY" sz="4400" b="1" baseline="-25000" dirty="0">
                <a:solidFill>
                  <a:srgbClr val="00B050"/>
                </a:solidFill>
              </a:rPr>
              <a:t>fractional</a:t>
            </a:r>
            <a:r>
              <a:rPr lang="en-MY" sz="3200" baseline="-25000" dirty="0"/>
              <a:t> part by r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4CD5360-53EC-02BD-4A7C-9947CDAA1F21}"/>
              </a:ext>
            </a:extLst>
          </p:cNvPr>
          <p:cNvCxnSpPr/>
          <p:nvPr/>
        </p:nvCxnSpPr>
        <p:spPr>
          <a:xfrm>
            <a:off x="2055574" y="4509380"/>
            <a:ext cx="0" cy="20882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40B7CBA-D2D6-9459-55C8-DCBD5BB56B76}"/>
              </a:ext>
            </a:extLst>
          </p:cNvPr>
          <p:cNvCxnSpPr/>
          <p:nvPr/>
        </p:nvCxnSpPr>
        <p:spPr>
          <a:xfrm>
            <a:off x="2775654" y="4509380"/>
            <a:ext cx="0" cy="20882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8017F76-8750-113E-4C84-45A1492E648E}"/>
              </a:ext>
            </a:extLst>
          </p:cNvPr>
          <p:cNvCxnSpPr>
            <a:cxnSpLocks/>
          </p:cNvCxnSpPr>
          <p:nvPr/>
        </p:nvCxnSpPr>
        <p:spPr>
          <a:xfrm>
            <a:off x="1764248" y="4797412"/>
            <a:ext cx="13321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0422990-5805-7F74-7A78-B66BD21E2CE5}"/>
              </a:ext>
            </a:extLst>
          </p:cNvPr>
          <p:cNvCxnSpPr>
            <a:cxnSpLocks/>
          </p:cNvCxnSpPr>
          <p:nvPr/>
        </p:nvCxnSpPr>
        <p:spPr>
          <a:xfrm>
            <a:off x="1764248" y="5229460"/>
            <a:ext cx="13321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A7E77C8-D83A-EEB5-EE47-56D89E946344}"/>
              </a:ext>
            </a:extLst>
          </p:cNvPr>
          <p:cNvCxnSpPr>
            <a:cxnSpLocks/>
          </p:cNvCxnSpPr>
          <p:nvPr/>
        </p:nvCxnSpPr>
        <p:spPr>
          <a:xfrm>
            <a:off x="1764248" y="6093556"/>
            <a:ext cx="13321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3F93D0C-6C9B-41B0-26DB-EFACD9E0143C}"/>
              </a:ext>
            </a:extLst>
          </p:cNvPr>
          <p:cNvCxnSpPr>
            <a:cxnSpLocks/>
          </p:cNvCxnSpPr>
          <p:nvPr/>
        </p:nvCxnSpPr>
        <p:spPr>
          <a:xfrm>
            <a:off x="1764248" y="5661508"/>
            <a:ext cx="13321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DA11E97-D37F-D7FE-253B-702B686EDEC9}"/>
              </a:ext>
            </a:extLst>
          </p:cNvPr>
          <p:cNvSpPr txBox="1"/>
          <p:nvPr/>
        </p:nvSpPr>
        <p:spPr>
          <a:xfrm>
            <a:off x="2183820" y="4413272"/>
            <a:ext cx="463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13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1BCAA7A-3163-04B4-09DF-84720B94B51D}"/>
              </a:ext>
            </a:extLst>
          </p:cNvPr>
          <p:cNvSpPr txBox="1"/>
          <p:nvPr/>
        </p:nvSpPr>
        <p:spPr>
          <a:xfrm>
            <a:off x="1701015" y="4413059"/>
            <a:ext cx="32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3A75061-B074-302D-8B46-CA7A1FEB5CA1}"/>
              </a:ext>
            </a:extLst>
          </p:cNvPr>
          <p:cNvSpPr txBox="1"/>
          <p:nvPr/>
        </p:nvSpPr>
        <p:spPr>
          <a:xfrm>
            <a:off x="2242530" y="4798034"/>
            <a:ext cx="32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043D168-C6DA-39CA-231A-BF6FF1B3DD95}"/>
              </a:ext>
            </a:extLst>
          </p:cNvPr>
          <p:cNvSpPr txBox="1"/>
          <p:nvPr/>
        </p:nvSpPr>
        <p:spPr>
          <a:xfrm>
            <a:off x="2771800" y="4430376"/>
            <a:ext cx="32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AC4285D-9F69-2204-37E9-9E0BE4C6099F}"/>
              </a:ext>
            </a:extLst>
          </p:cNvPr>
          <p:cNvSpPr txBox="1"/>
          <p:nvPr/>
        </p:nvSpPr>
        <p:spPr>
          <a:xfrm>
            <a:off x="1701015" y="4786624"/>
            <a:ext cx="32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ACB0F6B-129A-B027-9793-61181516224D}"/>
              </a:ext>
            </a:extLst>
          </p:cNvPr>
          <p:cNvSpPr txBox="1"/>
          <p:nvPr/>
        </p:nvSpPr>
        <p:spPr>
          <a:xfrm>
            <a:off x="2242530" y="5242480"/>
            <a:ext cx="32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F686E89-040A-5DA9-2C63-5B7EF2AE7594}"/>
              </a:ext>
            </a:extLst>
          </p:cNvPr>
          <p:cNvSpPr txBox="1"/>
          <p:nvPr/>
        </p:nvSpPr>
        <p:spPr>
          <a:xfrm>
            <a:off x="2771800" y="4819891"/>
            <a:ext cx="32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1524965-F9D7-77A5-074E-DF6B81ED2128}"/>
              </a:ext>
            </a:extLst>
          </p:cNvPr>
          <p:cNvSpPr txBox="1"/>
          <p:nvPr/>
        </p:nvSpPr>
        <p:spPr>
          <a:xfrm>
            <a:off x="1701015" y="5242809"/>
            <a:ext cx="32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3BA5888-FF7C-7BE0-3F12-84CAFFB8819D}"/>
              </a:ext>
            </a:extLst>
          </p:cNvPr>
          <p:cNvSpPr txBox="1"/>
          <p:nvPr/>
        </p:nvSpPr>
        <p:spPr>
          <a:xfrm>
            <a:off x="2242530" y="5680708"/>
            <a:ext cx="32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4592F60-A14E-5AA1-00B9-F8F9ADCF9EE6}"/>
              </a:ext>
            </a:extLst>
          </p:cNvPr>
          <p:cNvSpPr txBox="1"/>
          <p:nvPr/>
        </p:nvSpPr>
        <p:spPr>
          <a:xfrm>
            <a:off x="2771800" y="5250585"/>
            <a:ext cx="32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C746AA2-DB36-3FA8-4865-2F34A0F953A0}"/>
              </a:ext>
            </a:extLst>
          </p:cNvPr>
          <p:cNvSpPr txBox="1"/>
          <p:nvPr/>
        </p:nvSpPr>
        <p:spPr>
          <a:xfrm>
            <a:off x="1701015" y="5667103"/>
            <a:ext cx="32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C689B79-C600-2CCA-42A4-6F07F85AA12F}"/>
              </a:ext>
            </a:extLst>
          </p:cNvPr>
          <p:cNvSpPr txBox="1"/>
          <p:nvPr/>
        </p:nvSpPr>
        <p:spPr>
          <a:xfrm>
            <a:off x="2242530" y="6134706"/>
            <a:ext cx="32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C8EE021-846B-DB6D-46BF-D517EC8179AD}"/>
              </a:ext>
            </a:extLst>
          </p:cNvPr>
          <p:cNvSpPr txBox="1"/>
          <p:nvPr/>
        </p:nvSpPr>
        <p:spPr>
          <a:xfrm>
            <a:off x="2771800" y="5665854"/>
            <a:ext cx="32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1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EE19DD60-2FC1-41ED-7F27-4D9D1B148ADD}"/>
              </a:ext>
            </a:extLst>
          </p:cNvPr>
          <p:cNvSpPr/>
          <p:nvPr/>
        </p:nvSpPr>
        <p:spPr>
          <a:xfrm>
            <a:off x="2233288" y="4448877"/>
            <a:ext cx="342612" cy="31753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F4BB4F4A-9682-898D-004C-CA710CEF5799}"/>
              </a:ext>
            </a:extLst>
          </p:cNvPr>
          <p:cNvSpPr/>
          <p:nvPr/>
        </p:nvSpPr>
        <p:spPr>
          <a:xfrm>
            <a:off x="1648840" y="4449891"/>
            <a:ext cx="342612" cy="317534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7FE1D041-1554-C3A6-A69F-8C21A92FE995}"/>
              </a:ext>
            </a:extLst>
          </p:cNvPr>
          <p:cNvSpPr/>
          <p:nvPr/>
        </p:nvSpPr>
        <p:spPr>
          <a:xfrm>
            <a:off x="2806085" y="4443164"/>
            <a:ext cx="342612" cy="317534"/>
          </a:xfrm>
          <a:prstGeom prst="round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38" name="Callout: Line 37">
            <a:extLst>
              <a:ext uri="{FF2B5EF4-FFF2-40B4-BE49-F238E27FC236}">
                <a16:creationId xmlns:a16="http://schemas.microsoft.com/office/drawing/2014/main" id="{27A51450-B62E-2F89-5F1A-04C260A55AE4}"/>
              </a:ext>
            </a:extLst>
          </p:cNvPr>
          <p:cNvSpPr/>
          <p:nvPr/>
        </p:nvSpPr>
        <p:spPr>
          <a:xfrm>
            <a:off x="2877632" y="4041195"/>
            <a:ext cx="1338182" cy="263717"/>
          </a:xfrm>
          <a:prstGeom prst="borderCallout1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1600" dirty="0"/>
              <a:t>Dividend</a:t>
            </a:r>
          </a:p>
        </p:txBody>
      </p:sp>
      <p:sp>
        <p:nvSpPr>
          <p:cNvPr id="39" name="Callout: Line 38">
            <a:extLst>
              <a:ext uri="{FF2B5EF4-FFF2-40B4-BE49-F238E27FC236}">
                <a16:creationId xmlns:a16="http://schemas.microsoft.com/office/drawing/2014/main" id="{4945DE60-4423-AA16-EE20-4B26906D101A}"/>
              </a:ext>
            </a:extLst>
          </p:cNvPr>
          <p:cNvSpPr/>
          <p:nvPr/>
        </p:nvSpPr>
        <p:spPr>
          <a:xfrm>
            <a:off x="3732538" y="4456272"/>
            <a:ext cx="1338182" cy="263717"/>
          </a:xfrm>
          <a:prstGeom prst="borderCallout1">
            <a:avLst>
              <a:gd name="adj1" fmla="val 18750"/>
              <a:gd name="adj2" fmla="val -8333"/>
              <a:gd name="adj3" fmla="val 49895"/>
              <a:gd name="adj4" fmla="val -36909"/>
            </a:avLst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1600" dirty="0"/>
              <a:t>Remainder</a:t>
            </a:r>
          </a:p>
        </p:txBody>
      </p:sp>
      <p:sp>
        <p:nvSpPr>
          <p:cNvPr id="40" name="Callout: Line 39">
            <a:extLst>
              <a:ext uri="{FF2B5EF4-FFF2-40B4-BE49-F238E27FC236}">
                <a16:creationId xmlns:a16="http://schemas.microsoft.com/office/drawing/2014/main" id="{F18DB0D5-9EB5-4A2E-475D-FCD3D83FA8B9}"/>
              </a:ext>
            </a:extLst>
          </p:cNvPr>
          <p:cNvSpPr/>
          <p:nvPr/>
        </p:nvSpPr>
        <p:spPr>
          <a:xfrm>
            <a:off x="717392" y="4069597"/>
            <a:ext cx="1338182" cy="263717"/>
          </a:xfrm>
          <a:prstGeom prst="borderCallout1">
            <a:avLst>
              <a:gd name="adj1" fmla="val 136737"/>
              <a:gd name="adj2" fmla="val 45763"/>
              <a:gd name="adj3" fmla="val 218447"/>
              <a:gd name="adj4" fmla="val 61792"/>
            </a:avLst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1600" dirty="0"/>
              <a:t>Divisor (r)</a:t>
            </a:r>
          </a:p>
        </p:txBody>
      </p:sp>
      <p:sp>
        <p:nvSpPr>
          <p:cNvPr id="41" name="Diamond 40">
            <a:extLst>
              <a:ext uri="{FF2B5EF4-FFF2-40B4-BE49-F238E27FC236}">
                <a16:creationId xmlns:a16="http://schemas.microsoft.com/office/drawing/2014/main" id="{F443BA24-503F-9AA3-479E-9BAD07339AA6}"/>
              </a:ext>
            </a:extLst>
          </p:cNvPr>
          <p:cNvSpPr/>
          <p:nvPr/>
        </p:nvSpPr>
        <p:spPr>
          <a:xfrm>
            <a:off x="2124013" y="6085645"/>
            <a:ext cx="523394" cy="529534"/>
          </a:xfrm>
          <a:prstGeom prst="diamond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4B5BB3F-D873-9392-D92D-2B006E3D141A}"/>
              </a:ext>
            </a:extLst>
          </p:cNvPr>
          <p:cNvCxnSpPr/>
          <p:nvPr/>
        </p:nvCxnSpPr>
        <p:spPr>
          <a:xfrm flipV="1">
            <a:off x="3563888" y="4449891"/>
            <a:ext cx="0" cy="2003445"/>
          </a:xfrm>
          <a:prstGeom prst="straightConnector1">
            <a:avLst/>
          </a:prstGeom>
          <a:ln w="57150">
            <a:solidFill>
              <a:srgbClr val="FF66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allout: Line 44">
            <a:extLst>
              <a:ext uri="{FF2B5EF4-FFF2-40B4-BE49-F238E27FC236}">
                <a16:creationId xmlns:a16="http://schemas.microsoft.com/office/drawing/2014/main" id="{BDA28468-72C3-6E37-6913-FF1289F36962}"/>
              </a:ext>
            </a:extLst>
          </p:cNvPr>
          <p:cNvSpPr/>
          <p:nvPr/>
        </p:nvSpPr>
        <p:spPr>
          <a:xfrm>
            <a:off x="3683030" y="5902929"/>
            <a:ext cx="2185109" cy="263717"/>
          </a:xfrm>
          <a:prstGeom prst="borderCallout1">
            <a:avLst>
              <a:gd name="adj1" fmla="val 18750"/>
              <a:gd name="adj2" fmla="val -8333"/>
              <a:gd name="adj3" fmla="val -10784"/>
              <a:gd name="adj4" fmla="val -28191"/>
            </a:avLst>
          </a:prstGeom>
          <a:solidFill>
            <a:srgbClr val="FF669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1600" dirty="0"/>
              <a:t>Most Significant bit</a:t>
            </a:r>
          </a:p>
        </p:txBody>
      </p:sp>
      <p:sp>
        <p:nvSpPr>
          <p:cNvPr id="46" name="Callout: Line 45">
            <a:extLst>
              <a:ext uri="{FF2B5EF4-FFF2-40B4-BE49-F238E27FC236}">
                <a16:creationId xmlns:a16="http://schemas.microsoft.com/office/drawing/2014/main" id="{4EA9F636-E0F5-D9A6-77F5-32BD06B7A32F}"/>
              </a:ext>
            </a:extLst>
          </p:cNvPr>
          <p:cNvSpPr/>
          <p:nvPr/>
        </p:nvSpPr>
        <p:spPr>
          <a:xfrm>
            <a:off x="4139952" y="4956284"/>
            <a:ext cx="2185109" cy="263717"/>
          </a:xfrm>
          <a:prstGeom prst="borderCallout1">
            <a:avLst>
              <a:gd name="adj1" fmla="val 18750"/>
              <a:gd name="adj2" fmla="val -8333"/>
              <a:gd name="adj3" fmla="val -83020"/>
              <a:gd name="adj4" fmla="val -45627"/>
            </a:avLst>
          </a:prstGeom>
          <a:solidFill>
            <a:srgbClr val="00206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1600" dirty="0"/>
              <a:t>Less Significant bit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41C41B9-C5C9-23AC-948A-15623A907F7B}"/>
              </a:ext>
            </a:extLst>
          </p:cNvPr>
          <p:cNvSpPr txBox="1"/>
          <p:nvPr/>
        </p:nvSpPr>
        <p:spPr>
          <a:xfrm>
            <a:off x="3327184" y="3259961"/>
            <a:ext cx="3545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800" dirty="0"/>
              <a:t>?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9D76D2E-82EC-4379-971A-90AE09B8F5F3}"/>
              </a:ext>
            </a:extLst>
          </p:cNvPr>
          <p:cNvSpPr txBox="1"/>
          <p:nvPr/>
        </p:nvSpPr>
        <p:spPr>
          <a:xfrm>
            <a:off x="3038368" y="3252985"/>
            <a:ext cx="11015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800" b="1" dirty="0"/>
              <a:t>1101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AB0FAF8-58CE-08D2-BA7A-AE42EBC9C842}"/>
              </a:ext>
            </a:extLst>
          </p:cNvPr>
          <p:cNvSpPr/>
          <p:nvPr/>
        </p:nvSpPr>
        <p:spPr>
          <a:xfrm>
            <a:off x="7573422" y="2420888"/>
            <a:ext cx="720080" cy="103355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grpSp>
        <p:nvGrpSpPr>
          <p:cNvPr id="31745" name="Group 31744">
            <a:extLst>
              <a:ext uri="{FF2B5EF4-FFF2-40B4-BE49-F238E27FC236}">
                <a16:creationId xmlns:a16="http://schemas.microsoft.com/office/drawing/2014/main" id="{51DAA074-C202-8294-A365-3738CFA25133}"/>
              </a:ext>
            </a:extLst>
          </p:cNvPr>
          <p:cNvGrpSpPr/>
          <p:nvPr/>
        </p:nvGrpSpPr>
        <p:grpSpPr>
          <a:xfrm>
            <a:off x="7645430" y="2472400"/>
            <a:ext cx="569883" cy="938140"/>
            <a:chOff x="7361149" y="4233314"/>
            <a:chExt cx="569883" cy="938140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E1997114-95EC-2D60-E065-1C90986813BA}"/>
                </a:ext>
              </a:extLst>
            </p:cNvPr>
            <p:cNvSpPr txBox="1"/>
            <p:nvPr/>
          </p:nvSpPr>
          <p:spPr>
            <a:xfrm>
              <a:off x="7572548" y="4492460"/>
              <a:ext cx="35137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200" dirty="0"/>
                <a:t>13</a:t>
              </a:r>
            </a:p>
          </p:txBody>
        </p: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133DC28D-981B-A207-9AE7-5D518F3AC619}"/>
                </a:ext>
              </a:extLst>
            </p:cNvPr>
            <p:cNvCxnSpPr>
              <a:cxnSpLocks/>
            </p:cNvCxnSpPr>
            <p:nvPr/>
          </p:nvCxnSpPr>
          <p:spPr>
            <a:xfrm>
              <a:off x="7596336" y="4509380"/>
              <a:ext cx="30380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05F9D0BD-4B1A-96CA-14A4-4CE982935D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96336" y="4512078"/>
              <a:ext cx="0" cy="25534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4A268B50-9FFB-B6ED-D628-48C35E731CD4}"/>
                </a:ext>
              </a:extLst>
            </p:cNvPr>
            <p:cNvSpPr txBox="1"/>
            <p:nvPr/>
          </p:nvSpPr>
          <p:spPr>
            <a:xfrm>
              <a:off x="7361149" y="4505174"/>
              <a:ext cx="26802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200" dirty="0"/>
                <a:t>2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A54EAA67-B945-4CC5-3D90-C44F871A4F78}"/>
                </a:ext>
              </a:extLst>
            </p:cNvPr>
            <p:cNvSpPr txBox="1"/>
            <p:nvPr/>
          </p:nvSpPr>
          <p:spPr>
            <a:xfrm>
              <a:off x="7620125" y="4233314"/>
              <a:ext cx="26802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200" dirty="0"/>
                <a:t>6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71089D41-CA75-1B37-D41D-FAA32E286680}"/>
                </a:ext>
              </a:extLst>
            </p:cNvPr>
            <p:cNvSpPr txBox="1"/>
            <p:nvPr/>
          </p:nvSpPr>
          <p:spPr>
            <a:xfrm>
              <a:off x="7579654" y="4679285"/>
              <a:ext cx="35137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200" dirty="0"/>
                <a:t>12</a:t>
              </a:r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8B7C7C5-79DF-3091-31DE-C8FC25203921}"/>
                </a:ext>
              </a:extLst>
            </p:cNvPr>
            <p:cNvCxnSpPr>
              <a:cxnSpLocks/>
            </p:cNvCxnSpPr>
            <p:nvPr/>
          </p:nvCxnSpPr>
          <p:spPr>
            <a:xfrm>
              <a:off x="7603442" y="4941168"/>
              <a:ext cx="30380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744" name="TextBox 31743">
              <a:extLst>
                <a:ext uri="{FF2B5EF4-FFF2-40B4-BE49-F238E27FC236}">
                  <a16:creationId xmlns:a16="http://schemas.microsoft.com/office/drawing/2014/main" id="{AFBCE81F-F5AE-31B9-9D53-74B69C54A858}"/>
                </a:ext>
              </a:extLst>
            </p:cNvPr>
            <p:cNvSpPr txBox="1"/>
            <p:nvPr/>
          </p:nvSpPr>
          <p:spPr>
            <a:xfrm>
              <a:off x="7660303" y="4894455"/>
              <a:ext cx="26802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200" dirty="0"/>
                <a:t>1</a:t>
              </a:r>
            </a:p>
          </p:txBody>
        </p:sp>
      </p:grpSp>
      <p:sp>
        <p:nvSpPr>
          <p:cNvPr id="31747" name="Rectangle 31746">
            <a:extLst>
              <a:ext uri="{FF2B5EF4-FFF2-40B4-BE49-F238E27FC236}">
                <a16:creationId xmlns:a16="http://schemas.microsoft.com/office/drawing/2014/main" id="{A643E8C3-E243-827C-0303-100B2C94E255}"/>
              </a:ext>
            </a:extLst>
          </p:cNvPr>
          <p:cNvSpPr/>
          <p:nvPr/>
        </p:nvSpPr>
        <p:spPr>
          <a:xfrm>
            <a:off x="7573422" y="3533502"/>
            <a:ext cx="720080" cy="103355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grpSp>
        <p:nvGrpSpPr>
          <p:cNvPr id="31748" name="Group 31747">
            <a:extLst>
              <a:ext uri="{FF2B5EF4-FFF2-40B4-BE49-F238E27FC236}">
                <a16:creationId xmlns:a16="http://schemas.microsoft.com/office/drawing/2014/main" id="{72F6FFDB-D2DA-95F9-C6CB-632992A8EE96}"/>
              </a:ext>
            </a:extLst>
          </p:cNvPr>
          <p:cNvGrpSpPr/>
          <p:nvPr/>
        </p:nvGrpSpPr>
        <p:grpSpPr>
          <a:xfrm>
            <a:off x="7645430" y="3585014"/>
            <a:ext cx="546095" cy="874526"/>
            <a:chOff x="7361149" y="4233314"/>
            <a:chExt cx="546095" cy="874526"/>
          </a:xfrm>
        </p:grpSpPr>
        <p:sp>
          <p:nvSpPr>
            <p:cNvPr id="31749" name="TextBox 31748">
              <a:extLst>
                <a:ext uri="{FF2B5EF4-FFF2-40B4-BE49-F238E27FC236}">
                  <a16:creationId xmlns:a16="http://schemas.microsoft.com/office/drawing/2014/main" id="{B892906A-BE9F-3927-93D4-4BEA6594A529}"/>
                </a:ext>
              </a:extLst>
            </p:cNvPr>
            <p:cNvSpPr txBox="1"/>
            <p:nvPr/>
          </p:nvSpPr>
          <p:spPr>
            <a:xfrm>
              <a:off x="7600087" y="4459768"/>
              <a:ext cx="26802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200" dirty="0"/>
                <a:t>6</a:t>
              </a:r>
            </a:p>
          </p:txBody>
        </p:sp>
        <p:cxnSp>
          <p:nvCxnSpPr>
            <p:cNvPr id="31750" name="Straight Connector 31749">
              <a:extLst>
                <a:ext uri="{FF2B5EF4-FFF2-40B4-BE49-F238E27FC236}">
                  <a16:creationId xmlns:a16="http://schemas.microsoft.com/office/drawing/2014/main" id="{F03EC218-8E0F-8A89-00A8-0918BCA7BF10}"/>
                </a:ext>
              </a:extLst>
            </p:cNvPr>
            <p:cNvCxnSpPr>
              <a:cxnSpLocks/>
            </p:cNvCxnSpPr>
            <p:nvPr/>
          </p:nvCxnSpPr>
          <p:spPr>
            <a:xfrm>
              <a:off x="7596336" y="4509380"/>
              <a:ext cx="30380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51" name="Straight Connector 31750">
              <a:extLst>
                <a:ext uri="{FF2B5EF4-FFF2-40B4-BE49-F238E27FC236}">
                  <a16:creationId xmlns:a16="http://schemas.microsoft.com/office/drawing/2014/main" id="{6BC4CC4B-2B0F-49DE-5015-B8ECA072C3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96336" y="4512078"/>
              <a:ext cx="0" cy="25534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752" name="TextBox 31751">
              <a:extLst>
                <a:ext uri="{FF2B5EF4-FFF2-40B4-BE49-F238E27FC236}">
                  <a16:creationId xmlns:a16="http://schemas.microsoft.com/office/drawing/2014/main" id="{8678DE0A-A8B2-F289-4587-6265C563A033}"/>
                </a:ext>
              </a:extLst>
            </p:cNvPr>
            <p:cNvSpPr txBox="1"/>
            <p:nvPr/>
          </p:nvSpPr>
          <p:spPr>
            <a:xfrm>
              <a:off x="7361149" y="4505174"/>
              <a:ext cx="26802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200" dirty="0"/>
                <a:t>2</a:t>
              </a:r>
            </a:p>
          </p:txBody>
        </p:sp>
        <p:sp>
          <p:nvSpPr>
            <p:cNvPr id="31753" name="TextBox 31752">
              <a:extLst>
                <a:ext uri="{FF2B5EF4-FFF2-40B4-BE49-F238E27FC236}">
                  <a16:creationId xmlns:a16="http://schemas.microsoft.com/office/drawing/2014/main" id="{71BEA6E8-8A34-7EA9-121A-E9629ADAB8E3}"/>
                </a:ext>
              </a:extLst>
            </p:cNvPr>
            <p:cNvSpPr txBox="1"/>
            <p:nvPr/>
          </p:nvSpPr>
          <p:spPr>
            <a:xfrm>
              <a:off x="7620125" y="4233314"/>
              <a:ext cx="26802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200" dirty="0"/>
                <a:t>3</a:t>
              </a:r>
            </a:p>
          </p:txBody>
        </p:sp>
        <p:sp>
          <p:nvSpPr>
            <p:cNvPr id="31754" name="TextBox 31753">
              <a:extLst>
                <a:ext uri="{FF2B5EF4-FFF2-40B4-BE49-F238E27FC236}">
                  <a16:creationId xmlns:a16="http://schemas.microsoft.com/office/drawing/2014/main" id="{A3E7CB2B-04F0-C83F-974A-F5FA82BDC5C9}"/>
                </a:ext>
              </a:extLst>
            </p:cNvPr>
            <p:cNvSpPr txBox="1"/>
            <p:nvPr/>
          </p:nvSpPr>
          <p:spPr>
            <a:xfrm>
              <a:off x="7607193" y="4646593"/>
              <a:ext cx="26802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200" dirty="0"/>
                <a:t>6</a:t>
              </a:r>
            </a:p>
          </p:txBody>
        </p:sp>
        <p:cxnSp>
          <p:nvCxnSpPr>
            <p:cNvPr id="31755" name="Straight Connector 31754">
              <a:extLst>
                <a:ext uri="{FF2B5EF4-FFF2-40B4-BE49-F238E27FC236}">
                  <a16:creationId xmlns:a16="http://schemas.microsoft.com/office/drawing/2014/main" id="{DB0AD822-B10B-822F-4B77-D8F2A8D7127B}"/>
                </a:ext>
              </a:extLst>
            </p:cNvPr>
            <p:cNvCxnSpPr>
              <a:cxnSpLocks/>
            </p:cNvCxnSpPr>
            <p:nvPr/>
          </p:nvCxnSpPr>
          <p:spPr>
            <a:xfrm>
              <a:off x="7603442" y="4891816"/>
              <a:ext cx="30380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756" name="TextBox 31755">
              <a:extLst>
                <a:ext uri="{FF2B5EF4-FFF2-40B4-BE49-F238E27FC236}">
                  <a16:creationId xmlns:a16="http://schemas.microsoft.com/office/drawing/2014/main" id="{81A3B8F8-D44F-C3AA-F882-25EEDDC11B6C}"/>
                </a:ext>
              </a:extLst>
            </p:cNvPr>
            <p:cNvSpPr txBox="1"/>
            <p:nvPr/>
          </p:nvSpPr>
          <p:spPr>
            <a:xfrm>
              <a:off x="7600087" y="4830841"/>
              <a:ext cx="26802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200" dirty="0"/>
                <a:t>0</a:t>
              </a:r>
            </a:p>
          </p:txBody>
        </p:sp>
      </p:grpSp>
      <p:sp>
        <p:nvSpPr>
          <p:cNvPr id="31757" name="Rectangle 31756">
            <a:extLst>
              <a:ext uri="{FF2B5EF4-FFF2-40B4-BE49-F238E27FC236}">
                <a16:creationId xmlns:a16="http://schemas.microsoft.com/office/drawing/2014/main" id="{73396C60-FEAF-D5AB-2A2E-826FD1BD35BB}"/>
              </a:ext>
            </a:extLst>
          </p:cNvPr>
          <p:cNvSpPr/>
          <p:nvPr/>
        </p:nvSpPr>
        <p:spPr>
          <a:xfrm>
            <a:off x="7587634" y="4631888"/>
            <a:ext cx="720080" cy="103355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grpSp>
        <p:nvGrpSpPr>
          <p:cNvPr id="31758" name="Group 31757">
            <a:extLst>
              <a:ext uri="{FF2B5EF4-FFF2-40B4-BE49-F238E27FC236}">
                <a16:creationId xmlns:a16="http://schemas.microsoft.com/office/drawing/2014/main" id="{FAC87416-9B45-60B7-93F1-61DD42AAA24D}"/>
              </a:ext>
            </a:extLst>
          </p:cNvPr>
          <p:cNvGrpSpPr/>
          <p:nvPr/>
        </p:nvGrpSpPr>
        <p:grpSpPr>
          <a:xfrm>
            <a:off x="7659642" y="4683400"/>
            <a:ext cx="546095" cy="933790"/>
            <a:chOff x="7361149" y="4233314"/>
            <a:chExt cx="546095" cy="933790"/>
          </a:xfrm>
        </p:grpSpPr>
        <p:sp>
          <p:nvSpPr>
            <p:cNvPr id="31759" name="TextBox 31758">
              <a:extLst>
                <a:ext uri="{FF2B5EF4-FFF2-40B4-BE49-F238E27FC236}">
                  <a16:creationId xmlns:a16="http://schemas.microsoft.com/office/drawing/2014/main" id="{8A943CD1-2A0F-B5CC-51C7-47AF0294660C}"/>
                </a:ext>
              </a:extLst>
            </p:cNvPr>
            <p:cNvSpPr txBox="1"/>
            <p:nvPr/>
          </p:nvSpPr>
          <p:spPr>
            <a:xfrm>
              <a:off x="7585875" y="4492460"/>
              <a:ext cx="26802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200" dirty="0"/>
                <a:t>3</a:t>
              </a:r>
            </a:p>
          </p:txBody>
        </p:sp>
        <p:cxnSp>
          <p:nvCxnSpPr>
            <p:cNvPr id="31760" name="Straight Connector 31759">
              <a:extLst>
                <a:ext uri="{FF2B5EF4-FFF2-40B4-BE49-F238E27FC236}">
                  <a16:creationId xmlns:a16="http://schemas.microsoft.com/office/drawing/2014/main" id="{877497FF-9906-3E35-D48C-F9B2372C0F0D}"/>
                </a:ext>
              </a:extLst>
            </p:cNvPr>
            <p:cNvCxnSpPr>
              <a:cxnSpLocks/>
            </p:cNvCxnSpPr>
            <p:nvPr/>
          </p:nvCxnSpPr>
          <p:spPr>
            <a:xfrm>
              <a:off x="7596336" y="4509380"/>
              <a:ext cx="30380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61" name="Straight Connector 31760">
              <a:extLst>
                <a:ext uri="{FF2B5EF4-FFF2-40B4-BE49-F238E27FC236}">
                  <a16:creationId xmlns:a16="http://schemas.microsoft.com/office/drawing/2014/main" id="{ACED6E49-005E-0548-E1E4-16579F41F9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96336" y="4512078"/>
              <a:ext cx="0" cy="25534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762" name="TextBox 31761">
              <a:extLst>
                <a:ext uri="{FF2B5EF4-FFF2-40B4-BE49-F238E27FC236}">
                  <a16:creationId xmlns:a16="http://schemas.microsoft.com/office/drawing/2014/main" id="{9BD4F715-E0F4-816D-07EB-4298DC6C775D}"/>
                </a:ext>
              </a:extLst>
            </p:cNvPr>
            <p:cNvSpPr txBox="1"/>
            <p:nvPr/>
          </p:nvSpPr>
          <p:spPr>
            <a:xfrm>
              <a:off x="7361149" y="4505174"/>
              <a:ext cx="26802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200" dirty="0"/>
                <a:t>2</a:t>
              </a:r>
            </a:p>
          </p:txBody>
        </p:sp>
        <p:sp>
          <p:nvSpPr>
            <p:cNvPr id="31763" name="TextBox 31762">
              <a:extLst>
                <a:ext uri="{FF2B5EF4-FFF2-40B4-BE49-F238E27FC236}">
                  <a16:creationId xmlns:a16="http://schemas.microsoft.com/office/drawing/2014/main" id="{B980B3D0-B4D6-25A1-EBF3-C8CC365B4930}"/>
                </a:ext>
              </a:extLst>
            </p:cNvPr>
            <p:cNvSpPr txBox="1"/>
            <p:nvPr/>
          </p:nvSpPr>
          <p:spPr>
            <a:xfrm>
              <a:off x="7620125" y="4233314"/>
              <a:ext cx="26802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200" dirty="0"/>
                <a:t>1</a:t>
              </a:r>
            </a:p>
          </p:txBody>
        </p:sp>
        <p:sp>
          <p:nvSpPr>
            <p:cNvPr id="31764" name="TextBox 31763">
              <a:extLst>
                <a:ext uri="{FF2B5EF4-FFF2-40B4-BE49-F238E27FC236}">
                  <a16:creationId xmlns:a16="http://schemas.microsoft.com/office/drawing/2014/main" id="{2A6917C1-31F1-B416-4B3E-9DB7C1E25B54}"/>
                </a:ext>
              </a:extLst>
            </p:cNvPr>
            <p:cNvSpPr txBox="1"/>
            <p:nvPr/>
          </p:nvSpPr>
          <p:spPr>
            <a:xfrm>
              <a:off x="7592981" y="4679285"/>
              <a:ext cx="26802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200" dirty="0"/>
                <a:t>2</a:t>
              </a:r>
            </a:p>
          </p:txBody>
        </p:sp>
        <p:cxnSp>
          <p:nvCxnSpPr>
            <p:cNvPr id="31765" name="Straight Connector 31764">
              <a:extLst>
                <a:ext uri="{FF2B5EF4-FFF2-40B4-BE49-F238E27FC236}">
                  <a16:creationId xmlns:a16="http://schemas.microsoft.com/office/drawing/2014/main" id="{B5E6CEE8-8E85-3BA9-E343-93CEF6F8481E}"/>
                </a:ext>
              </a:extLst>
            </p:cNvPr>
            <p:cNvCxnSpPr>
              <a:cxnSpLocks/>
            </p:cNvCxnSpPr>
            <p:nvPr/>
          </p:nvCxnSpPr>
          <p:spPr>
            <a:xfrm>
              <a:off x="7603442" y="4941168"/>
              <a:ext cx="30380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766" name="TextBox 31765">
              <a:extLst>
                <a:ext uri="{FF2B5EF4-FFF2-40B4-BE49-F238E27FC236}">
                  <a16:creationId xmlns:a16="http://schemas.microsoft.com/office/drawing/2014/main" id="{9F425E37-1023-5531-02F0-8A637D1DA355}"/>
                </a:ext>
              </a:extLst>
            </p:cNvPr>
            <p:cNvSpPr txBox="1"/>
            <p:nvPr/>
          </p:nvSpPr>
          <p:spPr>
            <a:xfrm>
              <a:off x="7622521" y="4890105"/>
              <a:ext cx="26802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200" dirty="0"/>
                <a:t>1</a:t>
              </a:r>
            </a:p>
          </p:txBody>
        </p:sp>
      </p:grpSp>
      <p:sp>
        <p:nvSpPr>
          <p:cNvPr id="31769" name="Rectangle 31768">
            <a:extLst>
              <a:ext uri="{FF2B5EF4-FFF2-40B4-BE49-F238E27FC236}">
                <a16:creationId xmlns:a16="http://schemas.microsoft.com/office/drawing/2014/main" id="{72420CBB-E319-49DD-9DA9-F3E8D5CEB63C}"/>
              </a:ext>
            </a:extLst>
          </p:cNvPr>
          <p:cNvSpPr/>
          <p:nvPr/>
        </p:nvSpPr>
        <p:spPr>
          <a:xfrm>
            <a:off x="7599528" y="5723091"/>
            <a:ext cx="720080" cy="103355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grpSp>
        <p:nvGrpSpPr>
          <p:cNvPr id="31770" name="Group 31769">
            <a:extLst>
              <a:ext uri="{FF2B5EF4-FFF2-40B4-BE49-F238E27FC236}">
                <a16:creationId xmlns:a16="http://schemas.microsoft.com/office/drawing/2014/main" id="{DDC106BA-6C03-EF94-6803-1960DB9D8C13}"/>
              </a:ext>
            </a:extLst>
          </p:cNvPr>
          <p:cNvGrpSpPr/>
          <p:nvPr/>
        </p:nvGrpSpPr>
        <p:grpSpPr>
          <a:xfrm>
            <a:off x="7671536" y="5774603"/>
            <a:ext cx="546095" cy="933790"/>
            <a:chOff x="7361149" y="4233314"/>
            <a:chExt cx="546095" cy="933790"/>
          </a:xfrm>
        </p:grpSpPr>
        <p:sp>
          <p:nvSpPr>
            <p:cNvPr id="31771" name="TextBox 31770">
              <a:extLst>
                <a:ext uri="{FF2B5EF4-FFF2-40B4-BE49-F238E27FC236}">
                  <a16:creationId xmlns:a16="http://schemas.microsoft.com/office/drawing/2014/main" id="{466D0B4F-088C-5AB7-61E1-18D3DE7F5020}"/>
                </a:ext>
              </a:extLst>
            </p:cNvPr>
            <p:cNvSpPr txBox="1"/>
            <p:nvPr/>
          </p:nvSpPr>
          <p:spPr>
            <a:xfrm>
              <a:off x="7585875" y="4492460"/>
              <a:ext cx="26802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200" dirty="0"/>
                <a:t>1</a:t>
              </a:r>
            </a:p>
          </p:txBody>
        </p:sp>
        <p:cxnSp>
          <p:nvCxnSpPr>
            <p:cNvPr id="31772" name="Straight Connector 31771">
              <a:extLst>
                <a:ext uri="{FF2B5EF4-FFF2-40B4-BE49-F238E27FC236}">
                  <a16:creationId xmlns:a16="http://schemas.microsoft.com/office/drawing/2014/main" id="{022032BA-8B14-522E-0DE1-D6098BD746DE}"/>
                </a:ext>
              </a:extLst>
            </p:cNvPr>
            <p:cNvCxnSpPr>
              <a:cxnSpLocks/>
            </p:cNvCxnSpPr>
            <p:nvPr/>
          </p:nvCxnSpPr>
          <p:spPr>
            <a:xfrm>
              <a:off x="7596336" y="4509380"/>
              <a:ext cx="30380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73" name="Straight Connector 31772">
              <a:extLst>
                <a:ext uri="{FF2B5EF4-FFF2-40B4-BE49-F238E27FC236}">
                  <a16:creationId xmlns:a16="http://schemas.microsoft.com/office/drawing/2014/main" id="{D2B0A90E-0B45-2A34-3AE8-E896190210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96336" y="4512078"/>
              <a:ext cx="0" cy="25534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774" name="TextBox 31773">
              <a:extLst>
                <a:ext uri="{FF2B5EF4-FFF2-40B4-BE49-F238E27FC236}">
                  <a16:creationId xmlns:a16="http://schemas.microsoft.com/office/drawing/2014/main" id="{C7B9149D-D123-A567-599E-948B5782A54B}"/>
                </a:ext>
              </a:extLst>
            </p:cNvPr>
            <p:cNvSpPr txBox="1"/>
            <p:nvPr/>
          </p:nvSpPr>
          <p:spPr>
            <a:xfrm>
              <a:off x="7361149" y="4505174"/>
              <a:ext cx="26802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200" dirty="0"/>
                <a:t>2</a:t>
              </a:r>
            </a:p>
          </p:txBody>
        </p:sp>
        <p:sp>
          <p:nvSpPr>
            <p:cNvPr id="31775" name="TextBox 31774">
              <a:extLst>
                <a:ext uri="{FF2B5EF4-FFF2-40B4-BE49-F238E27FC236}">
                  <a16:creationId xmlns:a16="http://schemas.microsoft.com/office/drawing/2014/main" id="{677727AF-FB47-D9CB-628E-C628A77F3AF2}"/>
                </a:ext>
              </a:extLst>
            </p:cNvPr>
            <p:cNvSpPr txBox="1"/>
            <p:nvPr/>
          </p:nvSpPr>
          <p:spPr>
            <a:xfrm>
              <a:off x="7620125" y="4233314"/>
              <a:ext cx="26802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200" dirty="0"/>
                <a:t>0</a:t>
              </a:r>
            </a:p>
          </p:txBody>
        </p:sp>
        <p:sp>
          <p:nvSpPr>
            <p:cNvPr id="31776" name="TextBox 31775">
              <a:extLst>
                <a:ext uri="{FF2B5EF4-FFF2-40B4-BE49-F238E27FC236}">
                  <a16:creationId xmlns:a16="http://schemas.microsoft.com/office/drawing/2014/main" id="{19A74CE4-FBDC-9FB9-D593-AA2C31A498CF}"/>
                </a:ext>
              </a:extLst>
            </p:cNvPr>
            <p:cNvSpPr txBox="1"/>
            <p:nvPr/>
          </p:nvSpPr>
          <p:spPr>
            <a:xfrm>
              <a:off x="7592981" y="4679285"/>
              <a:ext cx="26802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200" dirty="0"/>
                <a:t>0</a:t>
              </a:r>
            </a:p>
          </p:txBody>
        </p:sp>
        <p:cxnSp>
          <p:nvCxnSpPr>
            <p:cNvPr id="31777" name="Straight Connector 31776">
              <a:extLst>
                <a:ext uri="{FF2B5EF4-FFF2-40B4-BE49-F238E27FC236}">
                  <a16:creationId xmlns:a16="http://schemas.microsoft.com/office/drawing/2014/main" id="{DA72EF89-B85D-D457-ABA7-62BBC442CE68}"/>
                </a:ext>
              </a:extLst>
            </p:cNvPr>
            <p:cNvCxnSpPr>
              <a:cxnSpLocks/>
            </p:cNvCxnSpPr>
            <p:nvPr/>
          </p:nvCxnSpPr>
          <p:spPr>
            <a:xfrm>
              <a:off x="7603442" y="4941168"/>
              <a:ext cx="30380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778" name="TextBox 31777">
              <a:extLst>
                <a:ext uri="{FF2B5EF4-FFF2-40B4-BE49-F238E27FC236}">
                  <a16:creationId xmlns:a16="http://schemas.microsoft.com/office/drawing/2014/main" id="{C6D036A1-478F-48CC-39AC-C85C93754A2B}"/>
                </a:ext>
              </a:extLst>
            </p:cNvPr>
            <p:cNvSpPr txBox="1"/>
            <p:nvPr/>
          </p:nvSpPr>
          <p:spPr>
            <a:xfrm>
              <a:off x="7622521" y="4890105"/>
              <a:ext cx="26802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200" dirty="0"/>
                <a:t>1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5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4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5" grpId="0" animBg="1"/>
      <p:bldP spid="46" grpId="0" animBg="1"/>
      <p:bldP spid="47" grpId="0"/>
      <p:bldP spid="4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D356C-A1D4-E29E-346E-EC2F5D2A9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Converting From:</a:t>
            </a:r>
            <a:br>
              <a:rPr lang="en-US" altLang="en-US" dirty="0"/>
            </a:br>
            <a:r>
              <a:rPr lang="en-US" altLang="en-US" dirty="0"/>
              <a:t>Decimal To Binary (Integer)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11C78-ACB4-F363-2A7E-77EBE6752B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MY" sz="3200" dirty="0"/>
              <a:t>(11)</a:t>
            </a:r>
            <a:r>
              <a:rPr lang="en-MY" sz="3200" baseline="-25000" dirty="0"/>
              <a:t>10</a:t>
            </a:r>
            <a:r>
              <a:rPr lang="en-MY" sz="3200" dirty="0"/>
              <a:t> </a:t>
            </a:r>
            <a:r>
              <a:rPr lang="en-MY" sz="3200" dirty="0">
                <a:sym typeface="Wingdings" panose="05000000000000000000" pitchFamily="2" charset="2"/>
              </a:rPr>
              <a:t> (       )</a:t>
            </a:r>
            <a:r>
              <a:rPr lang="en-MY" sz="3200" baseline="-25000" dirty="0">
                <a:sym typeface="Wingdings" panose="05000000000000000000" pitchFamily="2" charset="2"/>
              </a:rPr>
              <a:t>2</a:t>
            </a:r>
            <a:endParaRPr lang="en-MY" sz="3200" baseline="-250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F47834B-1AC0-7F5C-E739-295FEC0D372F}"/>
              </a:ext>
            </a:extLst>
          </p:cNvPr>
          <p:cNvCxnSpPr/>
          <p:nvPr/>
        </p:nvCxnSpPr>
        <p:spPr>
          <a:xfrm>
            <a:off x="1910998" y="2996952"/>
            <a:ext cx="0" cy="20882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E773313-DB93-0263-ACAB-837CBF46B65E}"/>
              </a:ext>
            </a:extLst>
          </p:cNvPr>
          <p:cNvCxnSpPr>
            <a:cxnSpLocks/>
          </p:cNvCxnSpPr>
          <p:nvPr/>
        </p:nvCxnSpPr>
        <p:spPr>
          <a:xfrm>
            <a:off x="1619672" y="3284984"/>
            <a:ext cx="13321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8D6526B-ACA8-EA1E-A958-B92370797ECB}"/>
              </a:ext>
            </a:extLst>
          </p:cNvPr>
          <p:cNvCxnSpPr/>
          <p:nvPr/>
        </p:nvCxnSpPr>
        <p:spPr>
          <a:xfrm>
            <a:off x="2483768" y="2996952"/>
            <a:ext cx="0" cy="20882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475C206-CB64-D53B-039D-742F4AE00140}"/>
              </a:ext>
            </a:extLst>
          </p:cNvPr>
          <p:cNvCxnSpPr>
            <a:cxnSpLocks/>
          </p:cNvCxnSpPr>
          <p:nvPr/>
        </p:nvCxnSpPr>
        <p:spPr>
          <a:xfrm>
            <a:off x="1619672" y="3717032"/>
            <a:ext cx="13321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BE1A65C-7A6A-6941-3B73-B3803CB59D23}"/>
              </a:ext>
            </a:extLst>
          </p:cNvPr>
          <p:cNvCxnSpPr>
            <a:cxnSpLocks/>
          </p:cNvCxnSpPr>
          <p:nvPr/>
        </p:nvCxnSpPr>
        <p:spPr>
          <a:xfrm>
            <a:off x="1619672" y="4221088"/>
            <a:ext cx="13321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5A92953-4175-A21A-2F10-86247BFC0D61}"/>
              </a:ext>
            </a:extLst>
          </p:cNvPr>
          <p:cNvCxnSpPr>
            <a:cxnSpLocks/>
          </p:cNvCxnSpPr>
          <p:nvPr/>
        </p:nvCxnSpPr>
        <p:spPr>
          <a:xfrm>
            <a:off x="1619672" y="4725144"/>
            <a:ext cx="13321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0A8E8BB-084B-9CDE-E4E2-4E233EE3D802}"/>
              </a:ext>
            </a:extLst>
          </p:cNvPr>
          <p:cNvSpPr txBox="1"/>
          <p:nvPr/>
        </p:nvSpPr>
        <p:spPr>
          <a:xfrm>
            <a:off x="1979712" y="2884874"/>
            <a:ext cx="463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11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C7773C-036B-4E51-0610-BC2CDAB7F035}"/>
              </a:ext>
            </a:extLst>
          </p:cNvPr>
          <p:cNvSpPr txBox="1"/>
          <p:nvPr/>
        </p:nvSpPr>
        <p:spPr>
          <a:xfrm>
            <a:off x="1556920" y="2894210"/>
            <a:ext cx="32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07E7F7-B2D5-5908-4E06-A0F725D2C7CE}"/>
              </a:ext>
            </a:extLst>
          </p:cNvPr>
          <p:cNvSpPr txBox="1"/>
          <p:nvPr/>
        </p:nvSpPr>
        <p:spPr>
          <a:xfrm>
            <a:off x="2049442" y="3316921"/>
            <a:ext cx="32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29F187-A577-C527-6875-CC6AADFAC5E9}"/>
              </a:ext>
            </a:extLst>
          </p:cNvPr>
          <p:cNvSpPr txBox="1"/>
          <p:nvPr/>
        </p:nvSpPr>
        <p:spPr>
          <a:xfrm>
            <a:off x="2545888" y="2910907"/>
            <a:ext cx="32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A127A3-6684-727F-8987-B94304D8D864}"/>
              </a:ext>
            </a:extLst>
          </p:cNvPr>
          <p:cNvSpPr txBox="1"/>
          <p:nvPr/>
        </p:nvSpPr>
        <p:spPr>
          <a:xfrm>
            <a:off x="1556920" y="3315353"/>
            <a:ext cx="32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EB86D8-8101-456E-B1DE-6FBB98F299CB}"/>
              </a:ext>
            </a:extLst>
          </p:cNvPr>
          <p:cNvSpPr txBox="1"/>
          <p:nvPr/>
        </p:nvSpPr>
        <p:spPr>
          <a:xfrm>
            <a:off x="2049442" y="3772624"/>
            <a:ext cx="32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849438-2557-1444-72C4-42505049A12C}"/>
              </a:ext>
            </a:extLst>
          </p:cNvPr>
          <p:cNvSpPr txBox="1"/>
          <p:nvPr/>
        </p:nvSpPr>
        <p:spPr>
          <a:xfrm>
            <a:off x="2545888" y="3320525"/>
            <a:ext cx="32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AD6BF6-ED9F-C0E7-35C3-5053FE913D96}"/>
              </a:ext>
            </a:extLst>
          </p:cNvPr>
          <p:cNvSpPr txBox="1"/>
          <p:nvPr/>
        </p:nvSpPr>
        <p:spPr>
          <a:xfrm>
            <a:off x="1556920" y="3762478"/>
            <a:ext cx="32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004A374-F6FD-06E1-7B0D-614700EA4123}"/>
              </a:ext>
            </a:extLst>
          </p:cNvPr>
          <p:cNvSpPr txBox="1"/>
          <p:nvPr/>
        </p:nvSpPr>
        <p:spPr>
          <a:xfrm>
            <a:off x="2049442" y="4244472"/>
            <a:ext cx="32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29790C1-CB65-4D90-3811-B6DD593B0005}"/>
              </a:ext>
            </a:extLst>
          </p:cNvPr>
          <p:cNvSpPr txBox="1"/>
          <p:nvPr/>
        </p:nvSpPr>
        <p:spPr>
          <a:xfrm>
            <a:off x="2545888" y="3791494"/>
            <a:ext cx="32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86533A5-2C42-2BE0-3FBE-A394B6AE6ED8}"/>
              </a:ext>
            </a:extLst>
          </p:cNvPr>
          <p:cNvSpPr txBox="1"/>
          <p:nvPr/>
        </p:nvSpPr>
        <p:spPr>
          <a:xfrm>
            <a:off x="1556920" y="4253082"/>
            <a:ext cx="32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FC9EE7D-0420-929B-91C4-8CDBD0D38318}"/>
              </a:ext>
            </a:extLst>
          </p:cNvPr>
          <p:cNvSpPr txBox="1"/>
          <p:nvPr/>
        </p:nvSpPr>
        <p:spPr>
          <a:xfrm>
            <a:off x="2064374" y="4685236"/>
            <a:ext cx="294265" cy="399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1C7CB56-68E1-FA67-1E18-2701B21F2D12}"/>
              </a:ext>
            </a:extLst>
          </p:cNvPr>
          <p:cNvSpPr txBox="1"/>
          <p:nvPr/>
        </p:nvSpPr>
        <p:spPr>
          <a:xfrm>
            <a:off x="2545888" y="4244472"/>
            <a:ext cx="32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1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4F53F29-4E60-1B98-2BB9-EC58026E9FED}"/>
              </a:ext>
            </a:extLst>
          </p:cNvPr>
          <p:cNvSpPr/>
          <p:nvPr/>
        </p:nvSpPr>
        <p:spPr>
          <a:xfrm>
            <a:off x="5625148" y="1807101"/>
            <a:ext cx="720080" cy="103355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2BDB5AE-4DD3-465F-31AA-B186230E2EC2}"/>
              </a:ext>
            </a:extLst>
          </p:cNvPr>
          <p:cNvGrpSpPr/>
          <p:nvPr/>
        </p:nvGrpSpPr>
        <p:grpSpPr>
          <a:xfrm>
            <a:off x="5697156" y="1858613"/>
            <a:ext cx="597422" cy="874526"/>
            <a:chOff x="7361149" y="4233314"/>
            <a:chExt cx="597422" cy="874526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3ED1B0E-D2C6-9347-7F98-B95A1E635594}"/>
                </a:ext>
              </a:extLst>
            </p:cNvPr>
            <p:cNvSpPr txBox="1"/>
            <p:nvPr/>
          </p:nvSpPr>
          <p:spPr>
            <a:xfrm>
              <a:off x="7600087" y="4459768"/>
              <a:ext cx="35137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200" dirty="0"/>
                <a:t>11</a:t>
              </a: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56CF4CD6-40A4-CB20-BB54-BCED606E4F5E}"/>
                </a:ext>
              </a:extLst>
            </p:cNvPr>
            <p:cNvCxnSpPr>
              <a:cxnSpLocks/>
            </p:cNvCxnSpPr>
            <p:nvPr/>
          </p:nvCxnSpPr>
          <p:spPr>
            <a:xfrm>
              <a:off x="7596336" y="4509380"/>
              <a:ext cx="30380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F2C4CA3-A102-E420-7D5C-91D978F1F1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96336" y="4512078"/>
              <a:ext cx="0" cy="25534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B5C4412-A3CB-FF06-AA2E-BDC49F99A118}"/>
                </a:ext>
              </a:extLst>
            </p:cNvPr>
            <p:cNvSpPr txBox="1"/>
            <p:nvPr/>
          </p:nvSpPr>
          <p:spPr>
            <a:xfrm>
              <a:off x="7361149" y="4505174"/>
              <a:ext cx="26802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200" dirty="0"/>
                <a:t>2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1CFD962-8390-102F-FD86-AD8E4CDF1A85}"/>
                </a:ext>
              </a:extLst>
            </p:cNvPr>
            <p:cNvSpPr txBox="1"/>
            <p:nvPr/>
          </p:nvSpPr>
          <p:spPr>
            <a:xfrm>
              <a:off x="7620125" y="4233314"/>
              <a:ext cx="26802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200" dirty="0"/>
                <a:t>5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DE69993-5554-FFE1-A305-D2D9D51F7235}"/>
                </a:ext>
              </a:extLst>
            </p:cNvPr>
            <p:cNvSpPr txBox="1"/>
            <p:nvPr/>
          </p:nvSpPr>
          <p:spPr>
            <a:xfrm>
              <a:off x="7607193" y="4646593"/>
              <a:ext cx="35137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200" dirty="0"/>
                <a:t>10</a:t>
              </a:r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671240B-4429-4871-280E-FF883B89A6D0}"/>
                </a:ext>
              </a:extLst>
            </p:cNvPr>
            <p:cNvCxnSpPr>
              <a:cxnSpLocks/>
            </p:cNvCxnSpPr>
            <p:nvPr/>
          </p:nvCxnSpPr>
          <p:spPr>
            <a:xfrm>
              <a:off x="7603442" y="4891816"/>
              <a:ext cx="30380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F31B2CB-3049-3C6F-513E-186BC9F89D20}"/>
                </a:ext>
              </a:extLst>
            </p:cNvPr>
            <p:cNvSpPr txBox="1"/>
            <p:nvPr/>
          </p:nvSpPr>
          <p:spPr>
            <a:xfrm>
              <a:off x="7669191" y="4830841"/>
              <a:ext cx="26802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200" dirty="0"/>
                <a:t>1</a:t>
              </a:r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9AB521C9-1183-12B5-340A-CC5CE08E8E94}"/>
              </a:ext>
            </a:extLst>
          </p:cNvPr>
          <p:cNvSpPr/>
          <p:nvPr/>
        </p:nvSpPr>
        <p:spPr>
          <a:xfrm>
            <a:off x="5632110" y="2922878"/>
            <a:ext cx="720080" cy="103355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1133827-0071-A1FD-7677-1118AF44CC5A}"/>
              </a:ext>
            </a:extLst>
          </p:cNvPr>
          <p:cNvGrpSpPr/>
          <p:nvPr/>
        </p:nvGrpSpPr>
        <p:grpSpPr>
          <a:xfrm>
            <a:off x="5704118" y="2974390"/>
            <a:ext cx="546095" cy="874526"/>
            <a:chOff x="7361149" y="4233314"/>
            <a:chExt cx="546095" cy="874526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FC9F811-6D6E-5CE4-317F-E5B1C0C7E98D}"/>
                </a:ext>
              </a:extLst>
            </p:cNvPr>
            <p:cNvSpPr txBox="1"/>
            <p:nvPr/>
          </p:nvSpPr>
          <p:spPr>
            <a:xfrm>
              <a:off x="7600087" y="4459768"/>
              <a:ext cx="26802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200" dirty="0"/>
                <a:t>5</a:t>
              </a: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5B613D2-D24F-AD9F-21CF-3AB839A8320A}"/>
                </a:ext>
              </a:extLst>
            </p:cNvPr>
            <p:cNvCxnSpPr>
              <a:cxnSpLocks/>
            </p:cNvCxnSpPr>
            <p:nvPr/>
          </p:nvCxnSpPr>
          <p:spPr>
            <a:xfrm>
              <a:off x="7596336" y="4509380"/>
              <a:ext cx="30380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4D2E8056-D715-B30E-0998-F5806E58D3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96336" y="4512078"/>
              <a:ext cx="0" cy="25534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BD46392-0DE0-4626-0999-BA4BE63FBB05}"/>
                </a:ext>
              </a:extLst>
            </p:cNvPr>
            <p:cNvSpPr txBox="1"/>
            <p:nvPr/>
          </p:nvSpPr>
          <p:spPr>
            <a:xfrm>
              <a:off x="7361149" y="4505174"/>
              <a:ext cx="26802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200" dirty="0"/>
                <a:t>2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0028685-FDE5-17FE-0BE4-76799564F4C9}"/>
                </a:ext>
              </a:extLst>
            </p:cNvPr>
            <p:cNvSpPr txBox="1"/>
            <p:nvPr/>
          </p:nvSpPr>
          <p:spPr>
            <a:xfrm>
              <a:off x="7620125" y="4233314"/>
              <a:ext cx="26802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200" dirty="0"/>
                <a:t>2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332B422-024E-59A9-AC6A-F8BF8AE23493}"/>
                </a:ext>
              </a:extLst>
            </p:cNvPr>
            <p:cNvSpPr txBox="1"/>
            <p:nvPr/>
          </p:nvSpPr>
          <p:spPr>
            <a:xfrm>
              <a:off x="7607193" y="4646593"/>
              <a:ext cx="26802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200" dirty="0"/>
                <a:t>4</a:t>
              </a:r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6F924984-CF29-C3DC-EF8B-0E455212DDFA}"/>
                </a:ext>
              </a:extLst>
            </p:cNvPr>
            <p:cNvCxnSpPr>
              <a:cxnSpLocks/>
            </p:cNvCxnSpPr>
            <p:nvPr/>
          </p:nvCxnSpPr>
          <p:spPr>
            <a:xfrm>
              <a:off x="7603442" y="4891816"/>
              <a:ext cx="30380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D78E8423-ED44-550C-596E-C5AEFC74A31C}"/>
                </a:ext>
              </a:extLst>
            </p:cNvPr>
            <p:cNvSpPr txBox="1"/>
            <p:nvPr/>
          </p:nvSpPr>
          <p:spPr>
            <a:xfrm>
              <a:off x="7597183" y="4830841"/>
              <a:ext cx="26802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200" dirty="0"/>
                <a:t>1</a:t>
              </a:r>
            </a:p>
          </p:txBody>
        </p: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8B9AF439-E455-1497-87A8-E34A1A45DDF6}"/>
              </a:ext>
            </a:extLst>
          </p:cNvPr>
          <p:cNvSpPr/>
          <p:nvPr/>
        </p:nvSpPr>
        <p:spPr>
          <a:xfrm>
            <a:off x="5632254" y="4034732"/>
            <a:ext cx="720080" cy="103355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E615333C-029E-21D2-096E-832F7C57B69A}"/>
              </a:ext>
            </a:extLst>
          </p:cNvPr>
          <p:cNvGrpSpPr/>
          <p:nvPr/>
        </p:nvGrpSpPr>
        <p:grpSpPr>
          <a:xfrm>
            <a:off x="5704262" y="4086244"/>
            <a:ext cx="546095" cy="874526"/>
            <a:chOff x="7361149" y="4233314"/>
            <a:chExt cx="546095" cy="874526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23210CDA-6E7D-0227-35BE-29EFA1CADCFE}"/>
                </a:ext>
              </a:extLst>
            </p:cNvPr>
            <p:cNvSpPr txBox="1"/>
            <p:nvPr/>
          </p:nvSpPr>
          <p:spPr>
            <a:xfrm>
              <a:off x="7600087" y="4459768"/>
              <a:ext cx="26802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200" dirty="0"/>
                <a:t>2</a:t>
              </a:r>
            </a:p>
          </p:txBody>
        </p: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DDC0AF31-0DAB-8643-8C7A-EEF115859E86}"/>
                </a:ext>
              </a:extLst>
            </p:cNvPr>
            <p:cNvCxnSpPr>
              <a:cxnSpLocks/>
            </p:cNvCxnSpPr>
            <p:nvPr/>
          </p:nvCxnSpPr>
          <p:spPr>
            <a:xfrm>
              <a:off x="7596336" y="4509380"/>
              <a:ext cx="30380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09970861-6BFA-4BEC-F1FC-4CC1775B2E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96336" y="4512078"/>
              <a:ext cx="0" cy="25534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3CA74391-3288-2AEA-29F6-561C40AF70E7}"/>
                </a:ext>
              </a:extLst>
            </p:cNvPr>
            <p:cNvSpPr txBox="1"/>
            <p:nvPr/>
          </p:nvSpPr>
          <p:spPr>
            <a:xfrm>
              <a:off x="7361149" y="4505174"/>
              <a:ext cx="26802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200" dirty="0"/>
                <a:t>2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17265F41-F354-6C89-7C46-547621D98137}"/>
                </a:ext>
              </a:extLst>
            </p:cNvPr>
            <p:cNvSpPr txBox="1"/>
            <p:nvPr/>
          </p:nvSpPr>
          <p:spPr>
            <a:xfrm>
              <a:off x="7620125" y="4233314"/>
              <a:ext cx="26802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200" dirty="0"/>
                <a:t>1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6737385-9ED5-764F-83B7-8FCFB764BCE3}"/>
                </a:ext>
              </a:extLst>
            </p:cNvPr>
            <p:cNvSpPr txBox="1"/>
            <p:nvPr/>
          </p:nvSpPr>
          <p:spPr>
            <a:xfrm>
              <a:off x="7607193" y="4646593"/>
              <a:ext cx="26802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200" dirty="0"/>
                <a:t>2</a:t>
              </a:r>
            </a:p>
          </p:txBody>
        </p: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A8CD9914-9305-5EA1-75BA-5FD98E2DD37B}"/>
                </a:ext>
              </a:extLst>
            </p:cNvPr>
            <p:cNvCxnSpPr>
              <a:cxnSpLocks/>
            </p:cNvCxnSpPr>
            <p:nvPr/>
          </p:nvCxnSpPr>
          <p:spPr>
            <a:xfrm>
              <a:off x="7603442" y="4891816"/>
              <a:ext cx="30380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6AE9C1A0-FA66-D97B-BDC0-1370A4F375F5}"/>
                </a:ext>
              </a:extLst>
            </p:cNvPr>
            <p:cNvSpPr txBox="1"/>
            <p:nvPr/>
          </p:nvSpPr>
          <p:spPr>
            <a:xfrm>
              <a:off x="7597039" y="4830841"/>
              <a:ext cx="26802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200" dirty="0"/>
                <a:t>0</a:t>
              </a:r>
            </a:p>
          </p:txBody>
        </p:sp>
      </p:grpSp>
      <p:sp>
        <p:nvSpPr>
          <p:cNvPr id="54" name="Rectangle 53">
            <a:extLst>
              <a:ext uri="{FF2B5EF4-FFF2-40B4-BE49-F238E27FC236}">
                <a16:creationId xmlns:a16="http://schemas.microsoft.com/office/drawing/2014/main" id="{E4F6B61A-D831-B837-45D9-7E39C8E96A45}"/>
              </a:ext>
            </a:extLst>
          </p:cNvPr>
          <p:cNvSpPr/>
          <p:nvPr/>
        </p:nvSpPr>
        <p:spPr>
          <a:xfrm>
            <a:off x="5625148" y="5124154"/>
            <a:ext cx="720080" cy="103355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05773949-CB65-A04C-3477-8C922041869B}"/>
              </a:ext>
            </a:extLst>
          </p:cNvPr>
          <p:cNvGrpSpPr/>
          <p:nvPr/>
        </p:nvGrpSpPr>
        <p:grpSpPr>
          <a:xfrm>
            <a:off x="5697156" y="5175666"/>
            <a:ext cx="546095" cy="874526"/>
            <a:chOff x="7361149" y="4233314"/>
            <a:chExt cx="546095" cy="874526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2563EBA5-1F0D-15AF-5900-C3E6A9D6210F}"/>
                </a:ext>
              </a:extLst>
            </p:cNvPr>
            <p:cNvSpPr txBox="1"/>
            <p:nvPr/>
          </p:nvSpPr>
          <p:spPr>
            <a:xfrm>
              <a:off x="7600087" y="4459768"/>
              <a:ext cx="26802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200" dirty="0"/>
                <a:t>1</a:t>
              </a:r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946122CD-D9F0-148C-505C-BB792BA16F0B}"/>
                </a:ext>
              </a:extLst>
            </p:cNvPr>
            <p:cNvCxnSpPr>
              <a:cxnSpLocks/>
            </p:cNvCxnSpPr>
            <p:nvPr/>
          </p:nvCxnSpPr>
          <p:spPr>
            <a:xfrm>
              <a:off x="7596336" y="4509380"/>
              <a:ext cx="30380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4FBD9E3C-57EB-8EC3-6278-75AEB7AF87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96336" y="4512078"/>
              <a:ext cx="0" cy="25534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616034AA-5C72-CF2C-134F-DFA2E46AE67C}"/>
                </a:ext>
              </a:extLst>
            </p:cNvPr>
            <p:cNvSpPr txBox="1"/>
            <p:nvPr/>
          </p:nvSpPr>
          <p:spPr>
            <a:xfrm>
              <a:off x="7361149" y="4505174"/>
              <a:ext cx="26802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200" dirty="0"/>
                <a:t>2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F036EC5F-B25E-A5B4-8DC7-7337221689F5}"/>
                </a:ext>
              </a:extLst>
            </p:cNvPr>
            <p:cNvSpPr txBox="1"/>
            <p:nvPr/>
          </p:nvSpPr>
          <p:spPr>
            <a:xfrm>
              <a:off x="7620125" y="4233314"/>
              <a:ext cx="26802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200" dirty="0"/>
                <a:t>0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5EACB054-6E66-C93E-C037-80A61B06F0DF}"/>
                </a:ext>
              </a:extLst>
            </p:cNvPr>
            <p:cNvSpPr txBox="1"/>
            <p:nvPr/>
          </p:nvSpPr>
          <p:spPr>
            <a:xfrm>
              <a:off x="7607193" y="4646593"/>
              <a:ext cx="26802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200" dirty="0"/>
                <a:t>0</a:t>
              </a:r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7B95AF94-9BB4-1947-747D-AB2C10351E86}"/>
                </a:ext>
              </a:extLst>
            </p:cNvPr>
            <p:cNvCxnSpPr>
              <a:cxnSpLocks/>
            </p:cNvCxnSpPr>
            <p:nvPr/>
          </p:nvCxnSpPr>
          <p:spPr>
            <a:xfrm>
              <a:off x="7603442" y="4891816"/>
              <a:ext cx="30380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2025F7FB-4679-954D-9288-93569326E5D9}"/>
                </a:ext>
              </a:extLst>
            </p:cNvPr>
            <p:cNvSpPr txBox="1"/>
            <p:nvPr/>
          </p:nvSpPr>
          <p:spPr>
            <a:xfrm>
              <a:off x="7604145" y="4830841"/>
              <a:ext cx="26802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200" dirty="0"/>
                <a:t>1</a:t>
              </a:r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63330399-D6F9-2031-321C-08CD25F70013}"/>
              </a:ext>
            </a:extLst>
          </p:cNvPr>
          <p:cNvSpPr txBox="1"/>
          <p:nvPr/>
        </p:nvSpPr>
        <p:spPr>
          <a:xfrm>
            <a:off x="2870016" y="1861125"/>
            <a:ext cx="11015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800" b="1" dirty="0"/>
              <a:t>1011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A537F4C5-99AB-893E-4D5D-1D06E01FB0E5}"/>
              </a:ext>
            </a:extLst>
          </p:cNvPr>
          <p:cNvCxnSpPr/>
          <p:nvPr/>
        </p:nvCxnSpPr>
        <p:spPr>
          <a:xfrm flipV="1">
            <a:off x="3203848" y="3020140"/>
            <a:ext cx="0" cy="2003445"/>
          </a:xfrm>
          <a:prstGeom prst="straightConnector1">
            <a:avLst/>
          </a:prstGeom>
          <a:ln w="57150">
            <a:solidFill>
              <a:srgbClr val="FF66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0913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F7FCE5A3-99BB-17BC-25E2-C08ACF381F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en-US"/>
              <a:t>Converting From</a:t>
            </a:r>
            <a:br>
              <a:rPr lang="en-US" altLang="en-US"/>
            </a:br>
            <a:r>
              <a:rPr lang="en-US" altLang="en-US"/>
              <a:t>Decimal To Binary</a:t>
            </a:r>
          </a:p>
        </p:txBody>
      </p:sp>
      <p:sp>
        <p:nvSpPr>
          <p:cNvPr id="32771" name="Rectangle 23">
            <a:extLst>
              <a:ext uri="{FF2B5EF4-FFF2-40B4-BE49-F238E27FC236}">
                <a16:creationId xmlns:a16="http://schemas.microsoft.com/office/drawing/2014/main" id="{B1072A32-2B2F-123B-A997-E7B740D7929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182880" indent="-182880" fontAlgn="auto">
              <a:defRPr/>
            </a:pPr>
            <a:r>
              <a:rPr lang="en-US" altLang="en-US" dirty="0"/>
              <a:t>Decimal integer </a:t>
            </a:r>
            <a:r>
              <a:rPr lang="en-US" altLang="en-US" i="1" dirty="0"/>
              <a:t>N</a:t>
            </a:r>
            <a:r>
              <a:rPr lang="en-US" altLang="en-US" dirty="0"/>
              <a:t> to binary with </a:t>
            </a:r>
            <a:r>
              <a:rPr lang="en-US" altLang="en-US" i="1" dirty="0"/>
              <a:t>N</a:t>
            </a:r>
            <a:r>
              <a:rPr lang="en-US" altLang="en-US" i="1" baseline="-25000" dirty="0"/>
              <a:t>1</a:t>
            </a:r>
            <a:r>
              <a:rPr lang="en-US" altLang="en-US" dirty="0"/>
              <a:t> as quotient and </a:t>
            </a:r>
            <a:r>
              <a:rPr lang="en-US" altLang="en-US" i="1" dirty="0"/>
              <a:t>R</a:t>
            </a:r>
            <a:r>
              <a:rPr lang="en-US" altLang="en-US" i="1" baseline="-25000" dirty="0"/>
              <a:t>0</a:t>
            </a:r>
            <a:r>
              <a:rPr lang="en-US" altLang="en-US" i="1" dirty="0"/>
              <a:t> </a:t>
            </a:r>
            <a:r>
              <a:rPr lang="en-US" altLang="en-US" b="1" dirty="0">
                <a:solidFill>
                  <a:srgbClr val="00B0F0"/>
                </a:solidFill>
              </a:rPr>
              <a:t>remainder</a:t>
            </a:r>
          </a:p>
        </p:txBody>
      </p:sp>
      <p:pic>
        <p:nvPicPr>
          <p:cNvPr id="37892" name="Picture 33" descr="decimaltobinary3">
            <a:extLst>
              <a:ext uri="{FF2B5EF4-FFF2-40B4-BE49-F238E27FC236}">
                <a16:creationId xmlns:a16="http://schemas.microsoft.com/office/drawing/2014/main" id="{03A04716-6A1D-9B39-FF75-11DFA2F995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2605945"/>
            <a:ext cx="6696075" cy="3881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3" name="TextBox 17">
            <a:extLst>
              <a:ext uri="{FF2B5EF4-FFF2-40B4-BE49-F238E27FC236}">
                <a16:creationId xmlns:a16="http://schemas.microsoft.com/office/drawing/2014/main" id="{81B62830-A82C-6B3F-19AD-0EBD27FF5E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9663" y="2971800"/>
            <a:ext cx="106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kumimoji="0" lang="en-US" altLang="en-US" sz="2400">
                <a:solidFill>
                  <a:srgbClr val="000000"/>
                </a:solidFill>
                <a:latin typeface="Gill Sans MT" panose="020B0502020104020203" pitchFamily="34" charset="0"/>
              </a:rPr>
              <a:t> ,</a:t>
            </a:r>
          </a:p>
        </p:txBody>
      </p:sp>
      <p:sp>
        <p:nvSpPr>
          <p:cNvPr id="37894" name="TextBox 17">
            <a:extLst>
              <a:ext uri="{FF2B5EF4-FFF2-40B4-BE49-F238E27FC236}">
                <a16:creationId xmlns:a16="http://schemas.microsoft.com/office/drawing/2014/main" id="{7760451C-C287-5604-2F04-69C0F1EAC2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3938" y="3332163"/>
            <a:ext cx="106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kumimoji="0" lang="en-US" altLang="en-US" sz="2400">
                <a:solidFill>
                  <a:srgbClr val="000000"/>
                </a:solidFill>
                <a:latin typeface="Gill Sans MT" panose="020B0502020104020203" pitchFamily="34" charset="0"/>
              </a:rPr>
              <a:t> ,</a:t>
            </a: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A4D0446B-F74B-9218-806E-E6F16C889A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4075" y="378271"/>
            <a:ext cx="7269163" cy="132556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en-US" dirty="0"/>
              <a:t>Converting From</a:t>
            </a:r>
            <a:br>
              <a:rPr lang="en-US" altLang="en-US" dirty="0"/>
            </a:br>
            <a:r>
              <a:rPr lang="en-US" altLang="en-US" dirty="0"/>
              <a:t>Decimal To Binary (Fractions)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DDDE5E-58C5-2793-932E-ACC5912E5E1A}"/>
              </a:ext>
            </a:extLst>
          </p:cNvPr>
          <p:cNvSpPr txBox="1"/>
          <p:nvPr/>
        </p:nvSpPr>
        <p:spPr>
          <a:xfrm>
            <a:off x="939286" y="2204864"/>
            <a:ext cx="54980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MY" sz="3200" dirty="0"/>
              <a:t>(25.625)</a:t>
            </a:r>
            <a:r>
              <a:rPr lang="en-MY" sz="3200" baseline="-25000" dirty="0"/>
              <a:t>10</a:t>
            </a:r>
            <a:r>
              <a:rPr lang="en-MY" sz="3200" dirty="0"/>
              <a:t> </a:t>
            </a:r>
            <a:r>
              <a:rPr lang="en-MY" sz="3200" dirty="0">
                <a:sym typeface="Wingdings" panose="05000000000000000000" pitchFamily="2" charset="2"/>
              </a:rPr>
              <a:t> (           )</a:t>
            </a:r>
            <a:r>
              <a:rPr lang="en-MY" sz="3200" baseline="-25000" dirty="0">
                <a:sym typeface="Wingdings" panose="05000000000000000000" pitchFamily="2" charset="2"/>
              </a:rPr>
              <a:t>2</a:t>
            </a:r>
            <a:endParaRPr lang="en-MY" sz="3200" baseline="-25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D14AFFE-1A46-F352-DAA6-4040568D940E}"/>
              </a:ext>
            </a:extLst>
          </p:cNvPr>
          <p:cNvSpPr txBox="1"/>
          <p:nvPr/>
        </p:nvSpPr>
        <p:spPr>
          <a:xfrm>
            <a:off x="4580731" y="2252658"/>
            <a:ext cx="3545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800" dirty="0"/>
              <a:t>?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445F5BD-BA2A-21D0-DE1F-37F4BAA9CE68}"/>
              </a:ext>
            </a:extLst>
          </p:cNvPr>
          <p:cNvSpPr txBox="1"/>
          <p:nvPr/>
        </p:nvSpPr>
        <p:spPr>
          <a:xfrm>
            <a:off x="2956382" y="4226218"/>
            <a:ext cx="10021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b="1" dirty="0">
                <a:solidFill>
                  <a:srgbClr val="FF6699"/>
                </a:solidFill>
              </a:rPr>
              <a:t>11001</a:t>
            </a:r>
          </a:p>
        </p:txBody>
      </p:sp>
      <p:grpSp>
        <p:nvGrpSpPr>
          <p:cNvPr id="33804" name="Group 33803">
            <a:extLst>
              <a:ext uri="{FF2B5EF4-FFF2-40B4-BE49-F238E27FC236}">
                <a16:creationId xmlns:a16="http://schemas.microsoft.com/office/drawing/2014/main" id="{D1BD0E5D-904A-ACBD-EC24-7E2B13B64832}"/>
              </a:ext>
            </a:extLst>
          </p:cNvPr>
          <p:cNvGrpSpPr/>
          <p:nvPr/>
        </p:nvGrpSpPr>
        <p:grpSpPr>
          <a:xfrm>
            <a:off x="1023286" y="3042205"/>
            <a:ext cx="2971123" cy="523220"/>
            <a:chOff x="1023286" y="3042205"/>
            <a:chExt cx="2971123" cy="523220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19F7BB8-8014-21A5-F789-024A98A7CDB8}"/>
                </a:ext>
              </a:extLst>
            </p:cNvPr>
            <p:cNvSpPr txBox="1"/>
            <p:nvPr/>
          </p:nvSpPr>
          <p:spPr>
            <a:xfrm>
              <a:off x="1023286" y="3042205"/>
              <a:ext cx="64312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2800" b="1" dirty="0"/>
                <a:t>25</a:t>
              </a: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F18057EA-34A6-6756-6511-0D03D9292EC0}"/>
                </a:ext>
              </a:extLst>
            </p:cNvPr>
            <p:cNvCxnSpPr>
              <a:cxnSpLocks/>
              <a:stCxn id="34" idx="3"/>
            </p:cNvCxnSpPr>
            <p:nvPr/>
          </p:nvCxnSpPr>
          <p:spPr>
            <a:xfrm>
              <a:off x="1666411" y="3303815"/>
              <a:ext cx="130109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11320CF-6554-776E-1CF7-9A5103C795C8}"/>
                </a:ext>
              </a:extLst>
            </p:cNvPr>
            <p:cNvSpPr txBox="1"/>
            <p:nvPr/>
          </p:nvSpPr>
          <p:spPr>
            <a:xfrm>
              <a:off x="2982272" y="3096227"/>
              <a:ext cx="101213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Integer</a:t>
              </a:r>
            </a:p>
          </p:txBody>
        </p:sp>
      </p:grpSp>
      <p:grpSp>
        <p:nvGrpSpPr>
          <p:cNvPr id="33806" name="Group 33805">
            <a:extLst>
              <a:ext uri="{FF2B5EF4-FFF2-40B4-BE49-F238E27FC236}">
                <a16:creationId xmlns:a16="http://schemas.microsoft.com/office/drawing/2014/main" id="{CB9629C6-9388-BF50-F261-FBC2EB4C1643}"/>
              </a:ext>
            </a:extLst>
          </p:cNvPr>
          <p:cNvGrpSpPr/>
          <p:nvPr/>
        </p:nvGrpSpPr>
        <p:grpSpPr>
          <a:xfrm>
            <a:off x="4737119" y="3044726"/>
            <a:ext cx="3031821" cy="523220"/>
            <a:chOff x="1023286" y="3572657"/>
            <a:chExt cx="3031821" cy="523220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4A05182-DDC1-6BBB-DC1D-5BFE175F6BF6}"/>
                </a:ext>
              </a:extLst>
            </p:cNvPr>
            <p:cNvSpPr txBox="1"/>
            <p:nvPr/>
          </p:nvSpPr>
          <p:spPr>
            <a:xfrm>
              <a:off x="1023286" y="3572657"/>
              <a:ext cx="121379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2800" b="1" dirty="0"/>
                <a:t>0.625</a:t>
              </a: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9874F262-98B8-FA18-16AF-E8A153795B72}"/>
                </a:ext>
              </a:extLst>
            </p:cNvPr>
            <p:cNvCxnSpPr>
              <a:cxnSpLocks/>
              <a:stCxn id="35" idx="3"/>
            </p:cNvCxnSpPr>
            <p:nvPr/>
          </p:nvCxnSpPr>
          <p:spPr>
            <a:xfrm>
              <a:off x="2237080" y="3834267"/>
              <a:ext cx="73042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B7FF6E35-212E-AEE2-6F05-211EA338A860}"/>
                </a:ext>
              </a:extLst>
            </p:cNvPr>
            <p:cNvSpPr txBox="1"/>
            <p:nvPr/>
          </p:nvSpPr>
          <p:spPr>
            <a:xfrm>
              <a:off x="2967502" y="3625470"/>
              <a:ext cx="108760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Fraction</a:t>
              </a:r>
            </a:p>
          </p:txBody>
        </p:sp>
      </p:grpSp>
      <p:cxnSp>
        <p:nvCxnSpPr>
          <p:cNvPr id="33793" name="Straight Arrow Connector 33792">
            <a:extLst>
              <a:ext uri="{FF2B5EF4-FFF2-40B4-BE49-F238E27FC236}">
                <a16:creationId xmlns:a16="http://schemas.microsoft.com/office/drawing/2014/main" id="{ED4C5FE6-0142-41D2-B6DD-D0B8FB4856CD}"/>
              </a:ext>
            </a:extLst>
          </p:cNvPr>
          <p:cNvCxnSpPr/>
          <p:nvPr/>
        </p:nvCxnSpPr>
        <p:spPr>
          <a:xfrm flipV="1">
            <a:off x="2931442" y="4442245"/>
            <a:ext cx="0" cy="2003445"/>
          </a:xfrm>
          <a:prstGeom prst="straightConnector1">
            <a:avLst/>
          </a:prstGeom>
          <a:ln w="57150">
            <a:solidFill>
              <a:srgbClr val="FF66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828" name="Group 33827">
            <a:extLst>
              <a:ext uri="{FF2B5EF4-FFF2-40B4-BE49-F238E27FC236}">
                <a16:creationId xmlns:a16="http://schemas.microsoft.com/office/drawing/2014/main" id="{F269D8B1-2127-3716-9864-A31A5F89FAD4}"/>
              </a:ext>
            </a:extLst>
          </p:cNvPr>
          <p:cNvGrpSpPr/>
          <p:nvPr/>
        </p:nvGrpSpPr>
        <p:grpSpPr>
          <a:xfrm>
            <a:off x="1489883" y="4287774"/>
            <a:ext cx="1337065" cy="1996493"/>
            <a:chOff x="1489883" y="4287774"/>
            <a:chExt cx="1337065" cy="1996493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AB550AE6-1DB6-6FD5-77CE-9EB1ED40E4AA}"/>
                </a:ext>
              </a:extLst>
            </p:cNvPr>
            <p:cNvCxnSpPr>
              <a:cxnSpLocks/>
            </p:cNvCxnSpPr>
            <p:nvPr/>
          </p:nvCxnSpPr>
          <p:spPr>
            <a:xfrm>
              <a:off x="1848878" y="4399852"/>
              <a:ext cx="0" cy="188441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61ADA294-710D-0C91-BAAC-0CCB8EBDA336}"/>
                </a:ext>
              </a:extLst>
            </p:cNvPr>
            <p:cNvCxnSpPr>
              <a:cxnSpLocks/>
            </p:cNvCxnSpPr>
            <p:nvPr/>
          </p:nvCxnSpPr>
          <p:spPr>
            <a:xfrm>
              <a:off x="1494800" y="4626328"/>
              <a:ext cx="133214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708AF455-1961-B9D2-5728-523BF9E2626B}"/>
                </a:ext>
              </a:extLst>
            </p:cNvPr>
            <p:cNvCxnSpPr>
              <a:cxnSpLocks/>
            </p:cNvCxnSpPr>
            <p:nvPr/>
          </p:nvCxnSpPr>
          <p:spPr>
            <a:xfrm>
              <a:off x="2421648" y="4399852"/>
              <a:ext cx="0" cy="188441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F6D02B0F-E706-3A8F-5B5C-9A58A5220433}"/>
                </a:ext>
              </a:extLst>
            </p:cNvPr>
            <p:cNvCxnSpPr>
              <a:cxnSpLocks/>
            </p:cNvCxnSpPr>
            <p:nvPr/>
          </p:nvCxnSpPr>
          <p:spPr>
            <a:xfrm>
              <a:off x="1494800" y="4927455"/>
              <a:ext cx="133214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ED05AA9F-E8F2-0EB9-3032-17706A7DE8E6}"/>
                </a:ext>
              </a:extLst>
            </p:cNvPr>
            <p:cNvCxnSpPr>
              <a:cxnSpLocks/>
            </p:cNvCxnSpPr>
            <p:nvPr/>
          </p:nvCxnSpPr>
          <p:spPr>
            <a:xfrm>
              <a:off x="1494800" y="5259580"/>
              <a:ext cx="133214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93A668E-30A1-41F0-7D5C-98F6F2ED0999}"/>
                </a:ext>
              </a:extLst>
            </p:cNvPr>
            <p:cNvCxnSpPr>
              <a:cxnSpLocks/>
            </p:cNvCxnSpPr>
            <p:nvPr/>
          </p:nvCxnSpPr>
          <p:spPr>
            <a:xfrm>
              <a:off x="1494800" y="5608918"/>
              <a:ext cx="133214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DF88E6D9-8331-C238-1D37-E349A0C10280}"/>
                </a:ext>
              </a:extLst>
            </p:cNvPr>
            <p:cNvSpPr txBox="1"/>
            <p:nvPr/>
          </p:nvSpPr>
          <p:spPr>
            <a:xfrm>
              <a:off x="1917592" y="4287774"/>
              <a:ext cx="40908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600" dirty="0"/>
                <a:t>25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E726D13C-0D6A-C109-EDD2-A79F64EA8867}"/>
                </a:ext>
              </a:extLst>
            </p:cNvPr>
            <p:cNvSpPr txBox="1"/>
            <p:nvPr/>
          </p:nvSpPr>
          <p:spPr>
            <a:xfrm>
              <a:off x="1494800" y="4287774"/>
              <a:ext cx="29687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600" dirty="0"/>
                <a:t>2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19A814FD-7E31-68D7-DFB3-336CEA9297D9}"/>
                </a:ext>
              </a:extLst>
            </p:cNvPr>
            <p:cNvSpPr txBox="1"/>
            <p:nvPr/>
          </p:nvSpPr>
          <p:spPr>
            <a:xfrm>
              <a:off x="1923330" y="4590469"/>
              <a:ext cx="40908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600" dirty="0"/>
                <a:t>12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6FC4759B-66B1-1BE4-4098-83474F530BC0}"/>
                </a:ext>
              </a:extLst>
            </p:cNvPr>
            <p:cNvSpPr txBox="1"/>
            <p:nvPr/>
          </p:nvSpPr>
          <p:spPr>
            <a:xfrm>
              <a:off x="2483768" y="4287774"/>
              <a:ext cx="29687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600" dirty="0"/>
                <a:t>1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23E0309C-DEDC-586D-2919-2C8E9E2CF585}"/>
                </a:ext>
              </a:extLst>
            </p:cNvPr>
            <p:cNvSpPr txBox="1"/>
            <p:nvPr/>
          </p:nvSpPr>
          <p:spPr>
            <a:xfrm>
              <a:off x="1494800" y="4588901"/>
              <a:ext cx="29687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600" dirty="0"/>
                <a:t>2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CDE786E0-455A-A6FA-8E38-A4A6730D1349}"/>
                </a:ext>
              </a:extLst>
            </p:cNvPr>
            <p:cNvSpPr txBox="1"/>
            <p:nvPr/>
          </p:nvSpPr>
          <p:spPr>
            <a:xfrm>
              <a:off x="1987322" y="4902156"/>
              <a:ext cx="29687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600" dirty="0"/>
                <a:t>6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534A7A2-32F8-92ED-8013-EFDAC1B17137}"/>
                </a:ext>
              </a:extLst>
            </p:cNvPr>
            <p:cNvSpPr txBox="1"/>
            <p:nvPr/>
          </p:nvSpPr>
          <p:spPr>
            <a:xfrm>
              <a:off x="2483768" y="4594073"/>
              <a:ext cx="29687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600" dirty="0"/>
                <a:t>0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7F3E7A61-C59C-4E63-BE6B-A7C8FCAF2068}"/>
                </a:ext>
              </a:extLst>
            </p:cNvPr>
            <p:cNvSpPr txBox="1"/>
            <p:nvPr/>
          </p:nvSpPr>
          <p:spPr>
            <a:xfrm>
              <a:off x="1494800" y="4892010"/>
              <a:ext cx="29687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600" dirty="0"/>
                <a:t>2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879F68EA-F2F3-7DB4-13CD-79E468CF3BC4}"/>
                </a:ext>
              </a:extLst>
            </p:cNvPr>
            <p:cNvSpPr txBox="1"/>
            <p:nvPr/>
          </p:nvSpPr>
          <p:spPr>
            <a:xfrm>
              <a:off x="1987322" y="5219480"/>
              <a:ext cx="29687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600" dirty="0"/>
                <a:t>3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AE6D97E4-A4E2-CE2D-1ACD-6F7E54C36617}"/>
                </a:ext>
              </a:extLst>
            </p:cNvPr>
            <p:cNvSpPr txBox="1"/>
            <p:nvPr/>
          </p:nvSpPr>
          <p:spPr>
            <a:xfrm>
              <a:off x="2483768" y="4921026"/>
              <a:ext cx="29687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600" dirty="0"/>
                <a:t>0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36935EB2-2A38-D345-D9AA-08613671D212}"/>
                </a:ext>
              </a:extLst>
            </p:cNvPr>
            <p:cNvSpPr txBox="1"/>
            <p:nvPr/>
          </p:nvSpPr>
          <p:spPr>
            <a:xfrm>
              <a:off x="1494800" y="5228090"/>
              <a:ext cx="29687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600" dirty="0"/>
                <a:t>2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27F83BCB-DD18-CD9F-B0A7-7166347BAE03}"/>
                </a:ext>
              </a:extLst>
            </p:cNvPr>
            <p:cNvSpPr txBox="1"/>
            <p:nvPr/>
          </p:nvSpPr>
          <p:spPr>
            <a:xfrm>
              <a:off x="1944032" y="5596376"/>
              <a:ext cx="29426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sz="1600" dirty="0"/>
                <a:t>1</a:t>
              </a:r>
            </a:p>
          </p:txBody>
        </p:sp>
        <p:sp>
          <p:nvSpPr>
            <p:cNvPr id="33792" name="TextBox 33791">
              <a:extLst>
                <a:ext uri="{FF2B5EF4-FFF2-40B4-BE49-F238E27FC236}">
                  <a16:creationId xmlns:a16="http://schemas.microsoft.com/office/drawing/2014/main" id="{E8B88E2E-834A-F630-4F41-931CDB893446}"/>
                </a:ext>
              </a:extLst>
            </p:cNvPr>
            <p:cNvSpPr txBox="1"/>
            <p:nvPr/>
          </p:nvSpPr>
          <p:spPr>
            <a:xfrm>
              <a:off x="2483768" y="5219480"/>
              <a:ext cx="29687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600" dirty="0"/>
                <a:t>1</a:t>
              </a:r>
            </a:p>
          </p:txBody>
        </p:sp>
        <p:cxnSp>
          <p:nvCxnSpPr>
            <p:cNvPr id="33795" name="Straight Connector 33794">
              <a:extLst>
                <a:ext uri="{FF2B5EF4-FFF2-40B4-BE49-F238E27FC236}">
                  <a16:creationId xmlns:a16="http://schemas.microsoft.com/office/drawing/2014/main" id="{A9FFA440-8B02-7718-2F6E-1D9201F345BD}"/>
                </a:ext>
              </a:extLst>
            </p:cNvPr>
            <p:cNvCxnSpPr>
              <a:cxnSpLocks/>
            </p:cNvCxnSpPr>
            <p:nvPr/>
          </p:nvCxnSpPr>
          <p:spPr>
            <a:xfrm>
              <a:off x="1494800" y="5937282"/>
              <a:ext cx="133214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796" name="TextBox 33795">
              <a:extLst>
                <a:ext uri="{FF2B5EF4-FFF2-40B4-BE49-F238E27FC236}">
                  <a16:creationId xmlns:a16="http://schemas.microsoft.com/office/drawing/2014/main" id="{9CA37886-17B2-73A8-8F1F-849381C8F32C}"/>
                </a:ext>
              </a:extLst>
            </p:cNvPr>
            <p:cNvSpPr txBox="1"/>
            <p:nvPr/>
          </p:nvSpPr>
          <p:spPr>
            <a:xfrm>
              <a:off x="1489883" y="5596376"/>
              <a:ext cx="29687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600" dirty="0"/>
                <a:t>2</a:t>
              </a:r>
            </a:p>
          </p:txBody>
        </p:sp>
        <p:sp>
          <p:nvSpPr>
            <p:cNvPr id="33797" name="TextBox 33796">
              <a:extLst>
                <a:ext uri="{FF2B5EF4-FFF2-40B4-BE49-F238E27FC236}">
                  <a16:creationId xmlns:a16="http://schemas.microsoft.com/office/drawing/2014/main" id="{3191CAA3-96E6-321C-8713-A6DFB2F03C43}"/>
                </a:ext>
              </a:extLst>
            </p:cNvPr>
            <p:cNvSpPr txBox="1"/>
            <p:nvPr/>
          </p:nvSpPr>
          <p:spPr>
            <a:xfrm>
              <a:off x="2465234" y="5596376"/>
              <a:ext cx="29687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600" dirty="0"/>
                <a:t>1</a:t>
              </a:r>
            </a:p>
          </p:txBody>
        </p:sp>
        <p:sp>
          <p:nvSpPr>
            <p:cNvPr id="33798" name="TextBox 33797">
              <a:extLst>
                <a:ext uri="{FF2B5EF4-FFF2-40B4-BE49-F238E27FC236}">
                  <a16:creationId xmlns:a16="http://schemas.microsoft.com/office/drawing/2014/main" id="{E6240842-59DD-5626-67CF-90C78BEE9475}"/>
                </a:ext>
              </a:extLst>
            </p:cNvPr>
            <p:cNvSpPr txBox="1"/>
            <p:nvPr/>
          </p:nvSpPr>
          <p:spPr>
            <a:xfrm>
              <a:off x="1944341" y="5945713"/>
              <a:ext cx="29687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600" dirty="0"/>
                <a:t>0</a:t>
              </a:r>
            </a:p>
          </p:txBody>
        </p:sp>
      </p:grpSp>
      <p:sp>
        <p:nvSpPr>
          <p:cNvPr id="33802" name="TextBox 33801">
            <a:extLst>
              <a:ext uri="{FF2B5EF4-FFF2-40B4-BE49-F238E27FC236}">
                <a16:creationId xmlns:a16="http://schemas.microsoft.com/office/drawing/2014/main" id="{DE727ECA-873F-0B69-F861-C7240A2D8DE4}"/>
              </a:ext>
            </a:extLst>
          </p:cNvPr>
          <p:cNvSpPr txBox="1"/>
          <p:nvPr/>
        </p:nvSpPr>
        <p:spPr>
          <a:xfrm>
            <a:off x="3927693" y="2290850"/>
            <a:ext cx="18453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400" b="1" dirty="0"/>
              <a:t>11001.101</a:t>
            </a:r>
          </a:p>
        </p:txBody>
      </p:sp>
      <p:sp>
        <p:nvSpPr>
          <p:cNvPr id="33807" name="TextBox 33806">
            <a:extLst>
              <a:ext uri="{FF2B5EF4-FFF2-40B4-BE49-F238E27FC236}">
                <a16:creationId xmlns:a16="http://schemas.microsoft.com/office/drawing/2014/main" id="{163C5FC7-F566-AF04-92D4-9A1732F669A3}"/>
              </a:ext>
            </a:extLst>
          </p:cNvPr>
          <p:cNvSpPr txBox="1"/>
          <p:nvPr/>
        </p:nvSpPr>
        <p:spPr>
          <a:xfrm>
            <a:off x="4729355" y="3868307"/>
            <a:ext cx="20874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0.625 x 2 = 1.25</a:t>
            </a:r>
          </a:p>
        </p:txBody>
      </p:sp>
      <p:sp>
        <p:nvSpPr>
          <p:cNvPr id="33808" name="Oval 33807">
            <a:extLst>
              <a:ext uri="{FF2B5EF4-FFF2-40B4-BE49-F238E27FC236}">
                <a16:creationId xmlns:a16="http://schemas.microsoft.com/office/drawing/2014/main" id="{F3BD811F-F052-4F2C-95EC-525D8B629F9F}"/>
              </a:ext>
            </a:extLst>
          </p:cNvPr>
          <p:cNvSpPr/>
          <p:nvPr/>
        </p:nvSpPr>
        <p:spPr>
          <a:xfrm>
            <a:off x="6140468" y="3754473"/>
            <a:ext cx="296876" cy="6453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33816" name="TextBox 33815">
            <a:extLst>
              <a:ext uri="{FF2B5EF4-FFF2-40B4-BE49-F238E27FC236}">
                <a16:creationId xmlns:a16="http://schemas.microsoft.com/office/drawing/2014/main" id="{74CBDA4D-0493-A991-B3AB-2460B3BFB1F4}"/>
              </a:ext>
            </a:extLst>
          </p:cNvPr>
          <p:cNvSpPr txBox="1"/>
          <p:nvPr/>
        </p:nvSpPr>
        <p:spPr>
          <a:xfrm>
            <a:off x="4888176" y="4436730"/>
            <a:ext cx="19479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0.25 x 2 = 0.50</a:t>
            </a:r>
          </a:p>
        </p:txBody>
      </p:sp>
      <p:sp>
        <p:nvSpPr>
          <p:cNvPr id="33818" name="Oval 33817">
            <a:extLst>
              <a:ext uri="{FF2B5EF4-FFF2-40B4-BE49-F238E27FC236}">
                <a16:creationId xmlns:a16="http://schemas.microsoft.com/office/drawing/2014/main" id="{F5206263-52E1-5EC2-A3FF-3D2C88E2B4F6}"/>
              </a:ext>
            </a:extLst>
          </p:cNvPr>
          <p:cNvSpPr/>
          <p:nvPr/>
        </p:nvSpPr>
        <p:spPr>
          <a:xfrm>
            <a:off x="6140468" y="4308658"/>
            <a:ext cx="296876" cy="6453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33819" name="TextBox 33818">
            <a:extLst>
              <a:ext uri="{FF2B5EF4-FFF2-40B4-BE49-F238E27FC236}">
                <a16:creationId xmlns:a16="http://schemas.microsoft.com/office/drawing/2014/main" id="{AEE32172-4F3D-D8F3-1D25-A8687D8F6911}"/>
              </a:ext>
            </a:extLst>
          </p:cNvPr>
          <p:cNvSpPr txBox="1"/>
          <p:nvPr/>
        </p:nvSpPr>
        <p:spPr>
          <a:xfrm>
            <a:off x="4888176" y="5005154"/>
            <a:ext cx="19479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0.50 x 2 = 1.00</a:t>
            </a:r>
          </a:p>
        </p:txBody>
      </p:sp>
      <p:sp>
        <p:nvSpPr>
          <p:cNvPr id="33820" name="TextBox 33819">
            <a:extLst>
              <a:ext uri="{FF2B5EF4-FFF2-40B4-BE49-F238E27FC236}">
                <a16:creationId xmlns:a16="http://schemas.microsoft.com/office/drawing/2014/main" id="{F0AC2F54-8AE1-A3FB-CA66-E98FDE872D35}"/>
              </a:ext>
            </a:extLst>
          </p:cNvPr>
          <p:cNvSpPr txBox="1"/>
          <p:nvPr/>
        </p:nvSpPr>
        <p:spPr>
          <a:xfrm>
            <a:off x="4868817" y="5443967"/>
            <a:ext cx="19479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0.00 x 2 = 0.00</a:t>
            </a:r>
          </a:p>
        </p:txBody>
      </p:sp>
      <p:sp>
        <p:nvSpPr>
          <p:cNvPr id="33821" name="Oval 33820">
            <a:extLst>
              <a:ext uri="{FF2B5EF4-FFF2-40B4-BE49-F238E27FC236}">
                <a16:creationId xmlns:a16="http://schemas.microsoft.com/office/drawing/2014/main" id="{8EF104EB-D42E-5125-5A77-A41038CD3646}"/>
              </a:ext>
            </a:extLst>
          </p:cNvPr>
          <p:cNvSpPr/>
          <p:nvPr/>
        </p:nvSpPr>
        <p:spPr>
          <a:xfrm>
            <a:off x="6140468" y="4886319"/>
            <a:ext cx="296876" cy="6453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33822" name="Oval 33821">
            <a:extLst>
              <a:ext uri="{FF2B5EF4-FFF2-40B4-BE49-F238E27FC236}">
                <a16:creationId xmlns:a16="http://schemas.microsoft.com/office/drawing/2014/main" id="{4C780368-35DC-2AE8-5AE2-29618BCA70EB}"/>
              </a:ext>
            </a:extLst>
          </p:cNvPr>
          <p:cNvSpPr/>
          <p:nvPr/>
        </p:nvSpPr>
        <p:spPr>
          <a:xfrm>
            <a:off x="6140468" y="5438002"/>
            <a:ext cx="296876" cy="6453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cxnSp>
        <p:nvCxnSpPr>
          <p:cNvPr id="33823" name="Straight Arrow Connector 33822">
            <a:extLst>
              <a:ext uri="{FF2B5EF4-FFF2-40B4-BE49-F238E27FC236}">
                <a16:creationId xmlns:a16="http://schemas.microsoft.com/office/drawing/2014/main" id="{96D2D9E7-ADC7-65BD-B0DB-72E15D68E9E6}"/>
              </a:ext>
            </a:extLst>
          </p:cNvPr>
          <p:cNvCxnSpPr>
            <a:cxnSpLocks/>
          </p:cNvCxnSpPr>
          <p:nvPr/>
        </p:nvCxnSpPr>
        <p:spPr>
          <a:xfrm>
            <a:off x="7020272" y="3820298"/>
            <a:ext cx="0" cy="2003445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824" name="TextBox 33823">
            <a:extLst>
              <a:ext uri="{FF2B5EF4-FFF2-40B4-BE49-F238E27FC236}">
                <a16:creationId xmlns:a16="http://schemas.microsoft.com/office/drawing/2014/main" id="{8704884C-542A-881B-C987-6BF1C15E4FA9}"/>
              </a:ext>
            </a:extLst>
          </p:cNvPr>
          <p:cNvSpPr txBox="1"/>
          <p:nvPr/>
        </p:nvSpPr>
        <p:spPr>
          <a:xfrm>
            <a:off x="7090221" y="5423633"/>
            <a:ext cx="6751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b="1" dirty="0">
                <a:solidFill>
                  <a:srgbClr val="00B050"/>
                </a:solidFill>
              </a:rPr>
              <a:t>101</a:t>
            </a:r>
          </a:p>
        </p:txBody>
      </p:sp>
      <p:sp>
        <p:nvSpPr>
          <p:cNvPr id="33825" name="Oval 33824">
            <a:extLst>
              <a:ext uri="{FF2B5EF4-FFF2-40B4-BE49-F238E27FC236}">
                <a16:creationId xmlns:a16="http://schemas.microsoft.com/office/drawing/2014/main" id="{2288F4EA-BB99-5E3A-49B4-A23E5CF0EB4C}"/>
              </a:ext>
            </a:extLst>
          </p:cNvPr>
          <p:cNvSpPr/>
          <p:nvPr/>
        </p:nvSpPr>
        <p:spPr>
          <a:xfrm>
            <a:off x="109768" y="2768728"/>
            <a:ext cx="928614" cy="546954"/>
          </a:xfrm>
          <a:prstGeom prst="ellipse">
            <a:avLst/>
          </a:prstGeom>
          <a:solidFill>
            <a:srgbClr val="660033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1600" dirty="0"/>
              <a:t>Step 1</a:t>
            </a:r>
          </a:p>
        </p:txBody>
      </p:sp>
      <p:sp>
        <p:nvSpPr>
          <p:cNvPr id="33826" name="Oval 33825">
            <a:extLst>
              <a:ext uri="{FF2B5EF4-FFF2-40B4-BE49-F238E27FC236}">
                <a16:creationId xmlns:a16="http://schemas.microsoft.com/office/drawing/2014/main" id="{2BAEBC9C-14FB-FC95-C184-34E3BF450CC5}"/>
              </a:ext>
            </a:extLst>
          </p:cNvPr>
          <p:cNvSpPr/>
          <p:nvPr/>
        </p:nvSpPr>
        <p:spPr>
          <a:xfrm>
            <a:off x="3956142" y="2763333"/>
            <a:ext cx="928614" cy="546954"/>
          </a:xfrm>
          <a:prstGeom prst="ellipse">
            <a:avLst/>
          </a:prstGeom>
          <a:solidFill>
            <a:srgbClr val="660033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1600" dirty="0"/>
              <a:t>Step 2</a:t>
            </a:r>
          </a:p>
        </p:txBody>
      </p:sp>
      <p:sp>
        <p:nvSpPr>
          <p:cNvPr id="33829" name="TextBox 33828">
            <a:extLst>
              <a:ext uri="{FF2B5EF4-FFF2-40B4-BE49-F238E27FC236}">
                <a16:creationId xmlns:a16="http://schemas.microsoft.com/office/drawing/2014/main" id="{6A3B9161-482D-3139-435B-D2B294B86DB4}"/>
              </a:ext>
            </a:extLst>
          </p:cNvPr>
          <p:cNvSpPr txBox="1"/>
          <p:nvPr/>
        </p:nvSpPr>
        <p:spPr>
          <a:xfrm>
            <a:off x="2074542" y="2768728"/>
            <a:ext cx="5212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3200" b="1" dirty="0"/>
              <a:t>÷</a:t>
            </a:r>
          </a:p>
        </p:txBody>
      </p:sp>
      <p:sp>
        <p:nvSpPr>
          <p:cNvPr id="33830" name="TextBox 33829">
            <a:extLst>
              <a:ext uri="{FF2B5EF4-FFF2-40B4-BE49-F238E27FC236}">
                <a16:creationId xmlns:a16="http://schemas.microsoft.com/office/drawing/2014/main" id="{9E99E4C5-ECCE-3C33-08F3-386BFD8866C6}"/>
              </a:ext>
            </a:extLst>
          </p:cNvPr>
          <p:cNvSpPr txBox="1"/>
          <p:nvPr/>
        </p:nvSpPr>
        <p:spPr>
          <a:xfrm>
            <a:off x="6001472" y="2760273"/>
            <a:ext cx="4331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3200" b="1" dirty="0"/>
              <a:t>x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8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38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38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38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38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38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38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38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37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37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38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38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38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38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38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38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38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38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38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38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38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38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38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38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38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338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38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38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338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338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38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38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38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338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38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338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338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338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2" grpId="0"/>
      <p:bldP spid="33" grpId="0"/>
      <p:bldP spid="33802" grpId="0"/>
      <p:bldP spid="33807" grpId="0"/>
      <p:bldP spid="33808" grpId="0" animBg="1"/>
      <p:bldP spid="33816" grpId="0"/>
      <p:bldP spid="33818" grpId="0" animBg="1"/>
      <p:bldP spid="33819" grpId="0"/>
      <p:bldP spid="33820" grpId="0"/>
      <p:bldP spid="33821" grpId="0" animBg="1"/>
      <p:bldP spid="33822" grpId="0" animBg="1"/>
      <p:bldP spid="33824" grpId="0"/>
      <p:bldP spid="33825" grpId="0" animBg="1"/>
      <p:bldP spid="33826" grpId="0" animBg="1"/>
      <p:bldP spid="33829" grpId="0"/>
      <p:bldP spid="3383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EE3B33F3-D500-B792-FCC6-296602CB64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536" y="279399"/>
            <a:ext cx="7269163" cy="132556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en-US" dirty="0"/>
              <a:t>Converting From</a:t>
            </a:r>
            <a:br>
              <a:rPr lang="en-US" altLang="en-US" dirty="0"/>
            </a:br>
            <a:r>
              <a:rPr lang="en-US" altLang="en-US" dirty="0"/>
              <a:t>Decimal To Binary (Fractions)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5DBC75-4E26-19DC-8CFE-606ED02DA8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1604962"/>
            <a:ext cx="4610100" cy="36480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A4114E7-CC56-EC15-3F50-7C4B1A9654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7904" y="5157192"/>
            <a:ext cx="4629150" cy="155257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22" descr="decimaltobinaryfrac1">
            <a:extLst>
              <a:ext uri="{FF2B5EF4-FFF2-40B4-BE49-F238E27FC236}">
                <a16:creationId xmlns:a16="http://schemas.microsoft.com/office/drawing/2014/main" id="{C1576A9E-2E95-DD9C-8D95-1D58A74E6B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162" y="1668930"/>
            <a:ext cx="7018337" cy="5073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3" name="Rectangle 23">
            <a:extLst>
              <a:ext uri="{FF2B5EF4-FFF2-40B4-BE49-F238E27FC236}">
                <a16:creationId xmlns:a16="http://schemas.microsoft.com/office/drawing/2014/main" id="{EE86E20B-A3B6-C7E9-F5C0-2DB804AC30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552" y="374650"/>
            <a:ext cx="7269163" cy="132556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en-US" dirty="0"/>
              <a:t>Converting From</a:t>
            </a:r>
            <a:br>
              <a:rPr lang="en-US" altLang="en-US" dirty="0"/>
            </a:br>
            <a:r>
              <a:rPr lang="en-US" altLang="en-US" dirty="0"/>
              <a:t>Decimal To Binary (Fractions)</a:t>
            </a:r>
          </a:p>
        </p:txBody>
      </p:sp>
      <p:sp>
        <p:nvSpPr>
          <p:cNvPr id="40964" name="TextBox 17">
            <a:extLst>
              <a:ext uri="{FF2B5EF4-FFF2-40B4-BE49-F238E27FC236}">
                <a16:creationId xmlns:a16="http://schemas.microsoft.com/office/drawing/2014/main" id="{9F88EB07-84FA-5EAF-562D-81D3FDA3DA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4700" y="1892300"/>
            <a:ext cx="106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kumimoji="0" lang="en-US" altLang="en-US" sz="2400">
                <a:solidFill>
                  <a:srgbClr val="000000"/>
                </a:solidFill>
                <a:latin typeface="Gill Sans MT" panose="020B0502020104020203" pitchFamily="34" charset="0"/>
              </a:rPr>
              <a:t> ,</a:t>
            </a:r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1">
            <a:extLst>
              <a:ext uri="{FF2B5EF4-FFF2-40B4-BE49-F238E27FC236}">
                <a16:creationId xmlns:a16="http://schemas.microsoft.com/office/drawing/2014/main" id="{7318DF5F-D33F-DA32-FB11-7C3C5EF7DE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en-US"/>
              <a:t>The Hexadecimal Notation</a:t>
            </a:r>
          </a:p>
        </p:txBody>
      </p:sp>
      <p:sp>
        <p:nvSpPr>
          <p:cNvPr id="45059" name="Rectangle 22">
            <a:extLst>
              <a:ext uri="{FF2B5EF4-FFF2-40B4-BE49-F238E27FC236}">
                <a16:creationId xmlns:a16="http://schemas.microsoft.com/office/drawing/2014/main" id="{0C599618-679D-5037-F06C-5F77812FFC3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46150" y="1828800"/>
            <a:ext cx="6938218" cy="4351338"/>
          </a:xfrm>
        </p:spPr>
        <p:txBody>
          <a:bodyPr/>
          <a:lstStyle/>
          <a:p>
            <a:pPr marL="182880" indent="-182880" fontAlgn="auto">
              <a:defRPr/>
            </a:pPr>
            <a:r>
              <a:rPr lang="en-US" altLang="en-US" sz="3600" b="1" dirty="0">
                <a:solidFill>
                  <a:srgbClr val="92D050"/>
                </a:solidFill>
              </a:rPr>
              <a:t>Binary</a:t>
            </a:r>
            <a:r>
              <a:rPr lang="en-US" altLang="en-US" dirty="0"/>
              <a:t> notation is </a:t>
            </a:r>
            <a:r>
              <a:rPr lang="en-US" altLang="en-US" sz="3600" b="1" dirty="0">
                <a:solidFill>
                  <a:srgbClr val="FF0000"/>
                </a:solidFill>
              </a:rPr>
              <a:t>cumbersome</a:t>
            </a:r>
            <a:endParaRPr lang="en-US" altLang="en-US" b="1" dirty="0">
              <a:solidFill>
                <a:srgbClr val="FF0000"/>
              </a:solidFill>
            </a:endParaRPr>
          </a:p>
          <a:p>
            <a:pPr marL="182880" indent="-182880" fontAlgn="auto">
              <a:defRPr/>
            </a:pPr>
            <a:r>
              <a:rPr lang="en-US" altLang="en-US" dirty="0"/>
              <a:t>Converting to decimal – </a:t>
            </a:r>
            <a:r>
              <a:rPr lang="en-US" altLang="en-US" sz="3600" b="1" dirty="0">
                <a:solidFill>
                  <a:srgbClr val="00B0F0"/>
                </a:solidFill>
              </a:rPr>
              <a:t>tedious</a:t>
            </a:r>
            <a:endParaRPr lang="en-US" altLang="en-US" b="1" dirty="0">
              <a:solidFill>
                <a:srgbClr val="00B0F0"/>
              </a:solidFill>
            </a:endParaRPr>
          </a:p>
        </p:txBody>
      </p:sp>
      <p:pic>
        <p:nvPicPr>
          <p:cNvPr id="1026" name="Picture 2" descr="Matrix GIF | GIFER">
            <a:extLst>
              <a:ext uri="{FF2B5EF4-FFF2-40B4-BE49-F238E27FC236}">
                <a16:creationId xmlns:a16="http://schemas.microsoft.com/office/drawing/2014/main" id="{75986DF7-C625-EE82-6169-3E57006E23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3317438"/>
            <a:ext cx="5357746" cy="3013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21">
            <a:extLst>
              <a:ext uri="{FF2B5EF4-FFF2-40B4-BE49-F238E27FC236}">
                <a16:creationId xmlns:a16="http://schemas.microsoft.com/office/drawing/2014/main" id="{6FC43D56-1245-81FE-688D-633BAC4595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en-US" dirty="0"/>
              <a:t>The Hexadecimal Notation</a:t>
            </a:r>
          </a:p>
        </p:txBody>
      </p:sp>
      <p:sp>
        <p:nvSpPr>
          <p:cNvPr id="46084" name="Rectangle 22">
            <a:extLst>
              <a:ext uri="{FF2B5EF4-FFF2-40B4-BE49-F238E27FC236}">
                <a16:creationId xmlns:a16="http://schemas.microsoft.com/office/drawing/2014/main" id="{34F16D3E-D36B-C72F-AACF-6190C7527BB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46150" y="1828800"/>
            <a:ext cx="7269162" cy="4351338"/>
          </a:xfrm>
        </p:spPr>
        <p:txBody>
          <a:bodyPr/>
          <a:lstStyle/>
          <a:p>
            <a:pPr marL="182880" indent="-182880" fontAlgn="auto">
              <a:defRPr/>
            </a:pPr>
            <a:r>
              <a:rPr lang="en-US" altLang="en-US" dirty="0"/>
              <a:t>In hexadecimal number system, we have 16 different digits </a:t>
            </a:r>
          </a:p>
          <a:p>
            <a:pPr marL="182880" indent="-182880" fontAlgn="auto">
              <a:defRPr/>
            </a:pPr>
            <a:r>
              <a:rPr lang="en-US" altLang="en-US" dirty="0"/>
              <a:t>Each one of them can be represented by equivalent </a:t>
            </a:r>
            <a:r>
              <a:rPr lang="en-US" altLang="en-US" dirty="0">
                <a:solidFill>
                  <a:srgbClr val="00B050"/>
                </a:solidFill>
              </a:rPr>
              <a:t>4-bit binary number</a:t>
            </a:r>
          </a:p>
          <a:p>
            <a:pPr marL="182880" indent="-182880" fontAlgn="auto">
              <a:defRPr/>
            </a:pPr>
            <a:r>
              <a:rPr lang="en-US" altLang="en-US" dirty="0"/>
              <a:t>Better option is </a:t>
            </a:r>
            <a:r>
              <a:rPr lang="en-US" altLang="en-US" sz="3600" b="1" dirty="0">
                <a:solidFill>
                  <a:srgbClr val="92D050"/>
                </a:solidFill>
              </a:rPr>
              <a:t>hexadecimal</a:t>
            </a:r>
            <a:r>
              <a:rPr lang="en-US" altLang="en-US" dirty="0"/>
              <a:t> – </a:t>
            </a:r>
            <a:r>
              <a:rPr lang="en-US" altLang="en-US" sz="3600" b="1" dirty="0">
                <a:solidFill>
                  <a:srgbClr val="FF0000"/>
                </a:solidFill>
              </a:rPr>
              <a:t>16 digits </a:t>
            </a:r>
            <a:r>
              <a:rPr lang="en-US" altLang="en-US" dirty="0"/>
              <a:t>0…9, A, B, C, D, E, F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E52B4C-B54F-AA39-536E-52EDA5CC8F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275" y="4581128"/>
            <a:ext cx="7858575" cy="147124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BD71A152-EC04-BC72-DAC3-FCA9F9BDAB06}"/>
              </a:ext>
            </a:extLst>
          </p:cNvPr>
          <p:cNvGrpSpPr/>
          <p:nvPr/>
        </p:nvGrpSpPr>
        <p:grpSpPr>
          <a:xfrm>
            <a:off x="7308304" y="187821"/>
            <a:ext cx="1483072" cy="1008931"/>
            <a:chOff x="7308304" y="187821"/>
            <a:chExt cx="1483072" cy="1008931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C03A89E8-CC2F-1B6B-E42A-E82461190A13}"/>
                </a:ext>
              </a:extLst>
            </p:cNvPr>
            <p:cNvSpPr/>
            <p:nvPr/>
          </p:nvSpPr>
          <p:spPr>
            <a:xfrm>
              <a:off x="7308304" y="187821"/>
              <a:ext cx="1483072" cy="1008931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sz="4400" baseline="30000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D54639D-1AFD-3846-556E-E1777F2DB762}"/>
                </a:ext>
              </a:extLst>
            </p:cNvPr>
            <p:cNvSpPr txBox="1"/>
            <p:nvPr/>
          </p:nvSpPr>
          <p:spPr>
            <a:xfrm>
              <a:off x="7400012" y="531766"/>
              <a:ext cx="1299656" cy="5437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MY" sz="4400" baseline="30000" dirty="0">
                  <a:solidFill>
                    <a:schemeClr val="bg1"/>
                  </a:solidFill>
                </a:rPr>
                <a:t>r=16</a:t>
              </a:r>
            </a:p>
          </p:txBody>
        </p:sp>
      </p:grp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39776-DEE0-4348-5FE9-8BB16ABA0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151" y="365125"/>
            <a:ext cx="4633962" cy="1325563"/>
          </a:xfrm>
        </p:spPr>
        <p:txBody>
          <a:bodyPr/>
          <a:lstStyle/>
          <a:p>
            <a:r>
              <a:rPr lang="en-US" altLang="en-US" dirty="0"/>
              <a:t>The Hexadecimal Notation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23D82A-EB30-9736-04C9-9C8EA68E80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/>
              <a:t>r = 16 </a:t>
            </a:r>
          </a:p>
          <a:p>
            <a:r>
              <a:rPr lang="en-MY" dirty="0"/>
              <a:t>0 will be the first digit </a:t>
            </a:r>
          </a:p>
          <a:p>
            <a:r>
              <a:rPr lang="en-MY" dirty="0"/>
              <a:t>Plus 15 other digits 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A63EC309-4986-7A82-4B1D-74BB73F7F8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5329556"/>
              </p:ext>
            </p:extLst>
          </p:nvPr>
        </p:nvGraphicFramePr>
        <p:xfrm>
          <a:off x="6060788" y="647342"/>
          <a:ext cx="1944216" cy="593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72108">
                  <a:extLst>
                    <a:ext uri="{9D8B030D-6E8A-4147-A177-3AD203B41FA5}">
                      <a16:colId xmlns:a16="http://schemas.microsoft.com/office/drawing/2014/main" val="2751217899"/>
                    </a:ext>
                  </a:extLst>
                </a:gridCol>
                <a:gridCol w="972108">
                  <a:extLst>
                    <a:ext uri="{9D8B030D-6E8A-4147-A177-3AD203B41FA5}">
                      <a16:colId xmlns:a16="http://schemas.microsoft.com/office/drawing/2014/main" val="8588600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0459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0558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0010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98398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0011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97628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2564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8247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53415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28500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0469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68861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6464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4506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49650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52225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17442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9968750"/>
                  </a:ext>
                </a:extLst>
              </a:tr>
            </a:tbl>
          </a:graphicData>
        </a:graphic>
      </p:graphicFrame>
      <p:grpSp>
        <p:nvGrpSpPr>
          <p:cNvPr id="11" name="Group 10">
            <a:extLst>
              <a:ext uri="{FF2B5EF4-FFF2-40B4-BE49-F238E27FC236}">
                <a16:creationId xmlns:a16="http://schemas.microsoft.com/office/drawing/2014/main" id="{7007D488-7C7D-5914-E2B5-6DBAA078BE18}"/>
              </a:ext>
            </a:extLst>
          </p:cNvPr>
          <p:cNvGrpSpPr/>
          <p:nvPr/>
        </p:nvGrpSpPr>
        <p:grpSpPr>
          <a:xfrm>
            <a:off x="5494607" y="4370218"/>
            <a:ext cx="566181" cy="2175490"/>
            <a:chOff x="5594169" y="4359289"/>
            <a:chExt cx="566181" cy="217549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A74D516-51C7-4DB1-00FF-BE16C9F355F7}"/>
                </a:ext>
              </a:extLst>
            </p:cNvPr>
            <p:cNvSpPr txBox="1"/>
            <p:nvPr/>
          </p:nvSpPr>
          <p:spPr>
            <a:xfrm>
              <a:off x="5594169" y="4359289"/>
              <a:ext cx="56618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600" dirty="0">
                  <a:solidFill>
                    <a:srgbClr val="FF0000"/>
                  </a:solidFill>
                </a:rPr>
                <a:t>(10)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375D69E-C899-5E38-8292-EE032E4BA920}"/>
                </a:ext>
              </a:extLst>
            </p:cNvPr>
            <p:cNvSpPr txBox="1"/>
            <p:nvPr/>
          </p:nvSpPr>
          <p:spPr>
            <a:xfrm>
              <a:off x="5594169" y="4726676"/>
              <a:ext cx="56618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600" dirty="0">
                  <a:solidFill>
                    <a:srgbClr val="FF0000"/>
                  </a:solidFill>
                </a:rPr>
                <a:t>(11)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FF14AD3-0C67-38BA-17EA-FF1CB2370C6D}"/>
                </a:ext>
              </a:extLst>
            </p:cNvPr>
            <p:cNvSpPr txBox="1"/>
            <p:nvPr/>
          </p:nvSpPr>
          <p:spPr>
            <a:xfrm>
              <a:off x="5594169" y="5094063"/>
              <a:ext cx="56618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600" dirty="0">
                  <a:solidFill>
                    <a:srgbClr val="FF0000"/>
                  </a:solidFill>
                </a:rPr>
                <a:t>(12)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FF3AC7E-FD9E-10F0-8F1D-EADE25185B29}"/>
                </a:ext>
              </a:extLst>
            </p:cNvPr>
            <p:cNvSpPr txBox="1"/>
            <p:nvPr/>
          </p:nvSpPr>
          <p:spPr>
            <a:xfrm>
              <a:off x="5594169" y="5461450"/>
              <a:ext cx="56618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600" dirty="0">
                  <a:solidFill>
                    <a:srgbClr val="FF0000"/>
                  </a:solidFill>
                </a:rPr>
                <a:t>(13)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5773D1C-9424-9E11-467F-B65C1BFC0AFE}"/>
                </a:ext>
              </a:extLst>
            </p:cNvPr>
            <p:cNvSpPr txBox="1"/>
            <p:nvPr/>
          </p:nvSpPr>
          <p:spPr>
            <a:xfrm>
              <a:off x="5594169" y="5828837"/>
              <a:ext cx="56618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600" dirty="0">
                  <a:solidFill>
                    <a:srgbClr val="FF0000"/>
                  </a:solidFill>
                </a:rPr>
                <a:t>(14)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01066A0-BE44-BA3A-6961-9D6D1D58FC16}"/>
                </a:ext>
              </a:extLst>
            </p:cNvPr>
            <p:cNvSpPr txBox="1"/>
            <p:nvPr/>
          </p:nvSpPr>
          <p:spPr>
            <a:xfrm>
              <a:off x="5594169" y="6196225"/>
              <a:ext cx="56618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600" dirty="0">
                  <a:solidFill>
                    <a:srgbClr val="FF0000"/>
                  </a:solidFill>
                </a:rPr>
                <a:t>(15)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817327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A3A72-891C-18EC-10BD-557DAE732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365125"/>
            <a:ext cx="7747769" cy="1325563"/>
          </a:xfrm>
        </p:spPr>
        <p:txBody>
          <a:bodyPr/>
          <a:lstStyle/>
          <a:p>
            <a:r>
              <a:rPr lang="en-MY" dirty="0"/>
              <a:t>T</a:t>
            </a:r>
            <a:r>
              <a:rPr lang="en-US" dirty="0"/>
              <a:t>he need for hexadecimal numbers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EA488-9E60-0ADD-60CF-8A1C8C072E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686" y="1828800"/>
            <a:ext cx="7578706" cy="4351338"/>
          </a:xfrm>
        </p:spPr>
        <p:txBody>
          <a:bodyPr/>
          <a:lstStyle/>
          <a:p>
            <a:r>
              <a:rPr lang="en-US" dirty="0"/>
              <a:t>In computing systems, the binary string equivalents of large decimal numbers can become quite long. </a:t>
            </a:r>
          </a:p>
          <a:p>
            <a:r>
              <a:rPr lang="en-US" dirty="0"/>
              <a:t>When 16- or 32-bit numbers are involved, it becomes difficult to read and write them without producing errors. </a:t>
            </a:r>
          </a:p>
          <a:p>
            <a:r>
              <a:rPr lang="en-US" dirty="0"/>
              <a:t>These problems can be overcome by arranging the binary numbers into groups of four bits, i.e., by using the hexadecimal numbering system.</a:t>
            </a:r>
          </a:p>
          <a:p>
            <a:r>
              <a:rPr lang="en-US" dirty="0"/>
              <a:t>The format of hex numbers is more compact than binary numbers because they can represent large binary numbers with fewer digits. </a:t>
            </a:r>
          </a:p>
          <a:p>
            <a:r>
              <a:rPr lang="en-US" dirty="0"/>
              <a:t>As a result, they are easier to understand than long binary strings of 1s and 0s.</a:t>
            </a:r>
          </a:p>
          <a:p>
            <a:endParaRPr lang="en-US" dirty="0"/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3307404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39776-DEE0-4348-5FE9-8BB16ABA0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3808" y="188640"/>
            <a:ext cx="5426050" cy="1325563"/>
          </a:xfrm>
        </p:spPr>
        <p:txBody>
          <a:bodyPr/>
          <a:lstStyle/>
          <a:p>
            <a:r>
              <a:rPr lang="en-US" altLang="en-US" dirty="0"/>
              <a:t>Hexadecimal to Binary</a:t>
            </a:r>
            <a:endParaRPr lang="en-MY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A63EC309-4986-7A82-4B1D-74BB73F7F8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9437227"/>
              </p:ext>
            </p:extLst>
          </p:nvPr>
        </p:nvGraphicFramePr>
        <p:xfrm>
          <a:off x="755576" y="692696"/>
          <a:ext cx="1944216" cy="593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72108">
                  <a:extLst>
                    <a:ext uri="{9D8B030D-6E8A-4147-A177-3AD203B41FA5}">
                      <a16:colId xmlns:a16="http://schemas.microsoft.com/office/drawing/2014/main" val="2751217899"/>
                    </a:ext>
                  </a:extLst>
                </a:gridCol>
                <a:gridCol w="972108">
                  <a:extLst>
                    <a:ext uri="{9D8B030D-6E8A-4147-A177-3AD203B41FA5}">
                      <a16:colId xmlns:a16="http://schemas.microsoft.com/office/drawing/2014/main" val="8588600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0459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0558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0010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98398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0011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97628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2564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8247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53415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28500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0469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68861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6464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4506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49650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52225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17442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9968750"/>
                  </a:ext>
                </a:extLst>
              </a:tr>
            </a:tbl>
          </a:graphicData>
        </a:graphic>
      </p:graphicFrame>
      <p:grpSp>
        <p:nvGrpSpPr>
          <p:cNvPr id="11" name="Group 10">
            <a:extLst>
              <a:ext uri="{FF2B5EF4-FFF2-40B4-BE49-F238E27FC236}">
                <a16:creationId xmlns:a16="http://schemas.microsoft.com/office/drawing/2014/main" id="{7007D488-7C7D-5914-E2B5-6DBAA078BE18}"/>
              </a:ext>
            </a:extLst>
          </p:cNvPr>
          <p:cNvGrpSpPr/>
          <p:nvPr/>
        </p:nvGrpSpPr>
        <p:grpSpPr>
          <a:xfrm>
            <a:off x="288957" y="4404643"/>
            <a:ext cx="566181" cy="2175490"/>
            <a:chOff x="5594169" y="4359289"/>
            <a:chExt cx="566181" cy="217549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A74D516-51C7-4DB1-00FF-BE16C9F355F7}"/>
                </a:ext>
              </a:extLst>
            </p:cNvPr>
            <p:cNvSpPr txBox="1"/>
            <p:nvPr/>
          </p:nvSpPr>
          <p:spPr>
            <a:xfrm>
              <a:off x="5594169" y="4359289"/>
              <a:ext cx="56618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600" dirty="0">
                  <a:solidFill>
                    <a:srgbClr val="FF0000"/>
                  </a:solidFill>
                </a:rPr>
                <a:t>(10)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375D69E-C899-5E38-8292-EE032E4BA920}"/>
                </a:ext>
              </a:extLst>
            </p:cNvPr>
            <p:cNvSpPr txBox="1"/>
            <p:nvPr/>
          </p:nvSpPr>
          <p:spPr>
            <a:xfrm>
              <a:off x="5594169" y="4726676"/>
              <a:ext cx="56618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600" dirty="0">
                  <a:solidFill>
                    <a:srgbClr val="FF0000"/>
                  </a:solidFill>
                </a:rPr>
                <a:t>(11)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FF14AD3-0C67-38BA-17EA-FF1CB2370C6D}"/>
                </a:ext>
              </a:extLst>
            </p:cNvPr>
            <p:cNvSpPr txBox="1"/>
            <p:nvPr/>
          </p:nvSpPr>
          <p:spPr>
            <a:xfrm>
              <a:off x="5594169" y="5094063"/>
              <a:ext cx="56618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600" dirty="0">
                  <a:solidFill>
                    <a:srgbClr val="FF0000"/>
                  </a:solidFill>
                </a:rPr>
                <a:t>(12)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FF3AC7E-FD9E-10F0-8F1D-EADE25185B29}"/>
                </a:ext>
              </a:extLst>
            </p:cNvPr>
            <p:cNvSpPr txBox="1"/>
            <p:nvPr/>
          </p:nvSpPr>
          <p:spPr>
            <a:xfrm>
              <a:off x="5594169" y="5461450"/>
              <a:ext cx="56618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600" dirty="0">
                  <a:solidFill>
                    <a:srgbClr val="FF0000"/>
                  </a:solidFill>
                </a:rPr>
                <a:t>(13)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5773D1C-9424-9E11-467F-B65C1BFC0AFE}"/>
                </a:ext>
              </a:extLst>
            </p:cNvPr>
            <p:cNvSpPr txBox="1"/>
            <p:nvPr/>
          </p:nvSpPr>
          <p:spPr>
            <a:xfrm>
              <a:off x="5594169" y="5828837"/>
              <a:ext cx="56618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600" dirty="0">
                  <a:solidFill>
                    <a:srgbClr val="FF0000"/>
                  </a:solidFill>
                </a:rPr>
                <a:t>(14)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01066A0-BE44-BA3A-6961-9D6D1D58FC16}"/>
                </a:ext>
              </a:extLst>
            </p:cNvPr>
            <p:cNvSpPr txBox="1"/>
            <p:nvPr/>
          </p:nvSpPr>
          <p:spPr>
            <a:xfrm>
              <a:off x="5594169" y="6196225"/>
              <a:ext cx="56618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600" dirty="0">
                  <a:solidFill>
                    <a:srgbClr val="FF0000"/>
                  </a:solidFill>
                </a:rPr>
                <a:t>(15)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60A81459-7C19-BA2B-3873-958D20ECD988}"/>
              </a:ext>
            </a:extLst>
          </p:cNvPr>
          <p:cNvSpPr txBox="1"/>
          <p:nvPr/>
        </p:nvSpPr>
        <p:spPr>
          <a:xfrm>
            <a:off x="3124029" y="1988840"/>
            <a:ext cx="52643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1. (259A)</a:t>
            </a:r>
            <a:r>
              <a:rPr lang="en-MY" baseline="-25000" dirty="0"/>
              <a:t>16</a:t>
            </a:r>
            <a:r>
              <a:rPr lang="en-MY" dirty="0"/>
              <a:t>               (                           )</a:t>
            </a:r>
            <a:r>
              <a:rPr lang="en-MY" baseline="-25000" dirty="0"/>
              <a:t>2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55A6C4F-D804-A269-79CC-B38EEB51ED9C}"/>
              </a:ext>
            </a:extLst>
          </p:cNvPr>
          <p:cNvCxnSpPr/>
          <p:nvPr/>
        </p:nvCxnSpPr>
        <p:spPr>
          <a:xfrm>
            <a:off x="4572000" y="2204284"/>
            <a:ext cx="1008112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81EBA67-11F3-AF6A-38B5-48671F36CD8E}"/>
              </a:ext>
            </a:extLst>
          </p:cNvPr>
          <p:cNvSpPr txBox="1"/>
          <p:nvPr/>
        </p:nvSpPr>
        <p:spPr>
          <a:xfrm>
            <a:off x="4572000" y="2419728"/>
            <a:ext cx="124264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2 = 0010</a:t>
            </a:r>
          </a:p>
          <a:p>
            <a:r>
              <a:rPr lang="en-MY" dirty="0"/>
              <a:t>5 = 0101</a:t>
            </a:r>
          </a:p>
          <a:p>
            <a:r>
              <a:rPr lang="en-MY" dirty="0"/>
              <a:t>9 = 1001</a:t>
            </a:r>
          </a:p>
          <a:p>
            <a:r>
              <a:rPr lang="en-MY" dirty="0"/>
              <a:t>A = 1010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5A5DC47-42B1-A283-A7AE-01C2A4BD2DA6}"/>
              </a:ext>
            </a:extLst>
          </p:cNvPr>
          <p:cNvSpPr txBox="1"/>
          <p:nvPr/>
        </p:nvSpPr>
        <p:spPr>
          <a:xfrm>
            <a:off x="5600990" y="2019618"/>
            <a:ext cx="2499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800" dirty="0"/>
              <a:t>0010 0101 1001 1010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A6E767-A9C1-4F5F-1670-2FBA420E6F51}"/>
              </a:ext>
            </a:extLst>
          </p:cNvPr>
          <p:cNvSpPr txBox="1"/>
          <p:nvPr/>
        </p:nvSpPr>
        <p:spPr>
          <a:xfrm>
            <a:off x="3124028" y="4005064"/>
            <a:ext cx="52643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2. (CAFE.3D)</a:t>
            </a:r>
            <a:r>
              <a:rPr lang="en-MY" baseline="-25000" dirty="0"/>
              <a:t>16</a:t>
            </a:r>
            <a:r>
              <a:rPr lang="en-MY" dirty="0"/>
              <a:t>      (                                 )</a:t>
            </a:r>
            <a:r>
              <a:rPr lang="en-MY" baseline="-25000" dirty="0"/>
              <a:t>2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4C1C3B0-8D42-E48E-CC57-94FA5B8013D2}"/>
              </a:ext>
            </a:extLst>
          </p:cNvPr>
          <p:cNvCxnSpPr>
            <a:cxnSpLocks/>
          </p:cNvCxnSpPr>
          <p:nvPr/>
        </p:nvCxnSpPr>
        <p:spPr>
          <a:xfrm>
            <a:off x="4748113" y="4159979"/>
            <a:ext cx="445211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CA8DFD3-4F63-D606-85D3-D16E7DCB2884}"/>
              </a:ext>
            </a:extLst>
          </p:cNvPr>
          <p:cNvSpPr txBox="1"/>
          <p:nvPr/>
        </p:nvSpPr>
        <p:spPr>
          <a:xfrm>
            <a:off x="4381790" y="4575073"/>
            <a:ext cx="126348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C = 1100</a:t>
            </a:r>
          </a:p>
          <a:p>
            <a:r>
              <a:rPr lang="en-MY" dirty="0"/>
              <a:t>A = 1010</a:t>
            </a:r>
          </a:p>
          <a:p>
            <a:r>
              <a:rPr lang="en-MY" dirty="0"/>
              <a:t>F = 1111</a:t>
            </a:r>
          </a:p>
          <a:p>
            <a:r>
              <a:rPr lang="en-MY" dirty="0"/>
              <a:t>E = 1110</a:t>
            </a:r>
          </a:p>
          <a:p>
            <a:r>
              <a:rPr lang="en-MY" dirty="0"/>
              <a:t>3 = 0011</a:t>
            </a:r>
          </a:p>
          <a:p>
            <a:r>
              <a:rPr lang="en-MY" dirty="0"/>
              <a:t>D = 1101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7862713-1BE7-0ED6-6A28-A09743CEF1AE}"/>
              </a:ext>
            </a:extLst>
          </p:cNvPr>
          <p:cNvSpPr txBox="1"/>
          <p:nvPr/>
        </p:nvSpPr>
        <p:spPr>
          <a:xfrm>
            <a:off x="5364088" y="4072716"/>
            <a:ext cx="264207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300" dirty="0"/>
              <a:t>1100 1010 1111 1110 0011 1101</a:t>
            </a:r>
          </a:p>
        </p:txBody>
      </p:sp>
    </p:spTree>
    <p:extLst>
      <p:ext uri="{BB962C8B-B14F-4D97-AF65-F5344CB8AC3E}">
        <p14:creationId xmlns:p14="http://schemas.microsoft.com/office/powerpoint/2010/main" val="118518107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39776-DEE0-4348-5FE9-8BB16ABA0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3808" y="188640"/>
            <a:ext cx="5426050" cy="1325563"/>
          </a:xfrm>
        </p:spPr>
        <p:txBody>
          <a:bodyPr/>
          <a:lstStyle/>
          <a:p>
            <a:pPr algn="r"/>
            <a:r>
              <a:rPr lang="en-US" altLang="en-US" dirty="0"/>
              <a:t>Binary to Hexadecimal</a:t>
            </a:r>
            <a:endParaRPr lang="en-MY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A63EC309-4986-7A82-4B1D-74BB73F7F823}"/>
              </a:ext>
            </a:extLst>
          </p:cNvPr>
          <p:cNvGraphicFramePr>
            <a:graphicFrameLocks noGrp="1"/>
          </p:cNvGraphicFramePr>
          <p:nvPr/>
        </p:nvGraphicFramePr>
        <p:xfrm>
          <a:off x="755576" y="692696"/>
          <a:ext cx="1944216" cy="593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72108">
                  <a:extLst>
                    <a:ext uri="{9D8B030D-6E8A-4147-A177-3AD203B41FA5}">
                      <a16:colId xmlns:a16="http://schemas.microsoft.com/office/drawing/2014/main" val="2751217899"/>
                    </a:ext>
                  </a:extLst>
                </a:gridCol>
                <a:gridCol w="972108">
                  <a:extLst>
                    <a:ext uri="{9D8B030D-6E8A-4147-A177-3AD203B41FA5}">
                      <a16:colId xmlns:a16="http://schemas.microsoft.com/office/drawing/2014/main" val="8588600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0459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0558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0010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98398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0011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97628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2564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8247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53415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0111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28500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0469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68861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6464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1011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4506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49650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52225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17442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1111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9968750"/>
                  </a:ext>
                </a:extLst>
              </a:tr>
            </a:tbl>
          </a:graphicData>
        </a:graphic>
      </p:graphicFrame>
      <p:grpSp>
        <p:nvGrpSpPr>
          <p:cNvPr id="11" name="Group 10">
            <a:extLst>
              <a:ext uri="{FF2B5EF4-FFF2-40B4-BE49-F238E27FC236}">
                <a16:creationId xmlns:a16="http://schemas.microsoft.com/office/drawing/2014/main" id="{7007D488-7C7D-5914-E2B5-6DBAA078BE18}"/>
              </a:ext>
            </a:extLst>
          </p:cNvPr>
          <p:cNvGrpSpPr/>
          <p:nvPr/>
        </p:nvGrpSpPr>
        <p:grpSpPr>
          <a:xfrm>
            <a:off x="288957" y="4404643"/>
            <a:ext cx="566181" cy="2175490"/>
            <a:chOff x="5594169" y="4359289"/>
            <a:chExt cx="566181" cy="217549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A74D516-51C7-4DB1-00FF-BE16C9F355F7}"/>
                </a:ext>
              </a:extLst>
            </p:cNvPr>
            <p:cNvSpPr txBox="1"/>
            <p:nvPr/>
          </p:nvSpPr>
          <p:spPr>
            <a:xfrm>
              <a:off x="5594169" y="4359289"/>
              <a:ext cx="56618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600" dirty="0">
                  <a:solidFill>
                    <a:srgbClr val="FF0000"/>
                  </a:solidFill>
                </a:rPr>
                <a:t>(10)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375D69E-C899-5E38-8292-EE032E4BA920}"/>
                </a:ext>
              </a:extLst>
            </p:cNvPr>
            <p:cNvSpPr txBox="1"/>
            <p:nvPr/>
          </p:nvSpPr>
          <p:spPr>
            <a:xfrm>
              <a:off x="5594169" y="4726676"/>
              <a:ext cx="56618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600" dirty="0">
                  <a:solidFill>
                    <a:srgbClr val="FF0000"/>
                  </a:solidFill>
                </a:rPr>
                <a:t>(11)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FF14AD3-0C67-38BA-17EA-FF1CB2370C6D}"/>
                </a:ext>
              </a:extLst>
            </p:cNvPr>
            <p:cNvSpPr txBox="1"/>
            <p:nvPr/>
          </p:nvSpPr>
          <p:spPr>
            <a:xfrm>
              <a:off x="5594169" y="5094063"/>
              <a:ext cx="56618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600" dirty="0">
                  <a:solidFill>
                    <a:srgbClr val="FF0000"/>
                  </a:solidFill>
                </a:rPr>
                <a:t>(12)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FF3AC7E-FD9E-10F0-8F1D-EADE25185B29}"/>
                </a:ext>
              </a:extLst>
            </p:cNvPr>
            <p:cNvSpPr txBox="1"/>
            <p:nvPr/>
          </p:nvSpPr>
          <p:spPr>
            <a:xfrm>
              <a:off x="5594169" y="5461450"/>
              <a:ext cx="56618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600" dirty="0">
                  <a:solidFill>
                    <a:srgbClr val="FF0000"/>
                  </a:solidFill>
                </a:rPr>
                <a:t>(13)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5773D1C-9424-9E11-467F-B65C1BFC0AFE}"/>
                </a:ext>
              </a:extLst>
            </p:cNvPr>
            <p:cNvSpPr txBox="1"/>
            <p:nvPr/>
          </p:nvSpPr>
          <p:spPr>
            <a:xfrm>
              <a:off x="5594169" y="5828837"/>
              <a:ext cx="56618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600" dirty="0">
                  <a:solidFill>
                    <a:srgbClr val="FF0000"/>
                  </a:solidFill>
                </a:rPr>
                <a:t>(14)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01066A0-BE44-BA3A-6961-9D6D1D58FC16}"/>
                </a:ext>
              </a:extLst>
            </p:cNvPr>
            <p:cNvSpPr txBox="1"/>
            <p:nvPr/>
          </p:nvSpPr>
          <p:spPr>
            <a:xfrm>
              <a:off x="5594169" y="6196225"/>
              <a:ext cx="56618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600" dirty="0">
                  <a:solidFill>
                    <a:srgbClr val="FF0000"/>
                  </a:solidFill>
                </a:rPr>
                <a:t>(15)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0EAD5DD-751D-36F3-FD12-9B1994489962}"/>
              </a:ext>
            </a:extLst>
          </p:cNvPr>
          <p:cNvSpPr txBox="1"/>
          <p:nvPr/>
        </p:nvSpPr>
        <p:spPr>
          <a:xfrm>
            <a:off x="3166411" y="2132856"/>
            <a:ext cx="51475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800" dirty="0"/>
              <a:t>(10001001.11)</a:t>
            </a:r>
            <a:r>
              <a:rPr lang="en-MY" sz="2800" baseline="-25000" dirty="0"/>
              <a:t>2              </a:t>
            </a:r>
            <a:r>
              <a:rPr lang="en-MY" sz="2800" dirty="0"/>
              <a:t>(        )</a:t>
            </a:r>
            <a:r>
              <a:rPr lang="en-MY" sz="2800" baseline="-25000" dirty="0"/>
              <a:t>16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A6B75AA-3771-01BC-3A72-CAD9C64CB315}"/>
              </a:ext>
            </a:extLst>
          </p:cNvPr>
          <p:cNvCxnSpPr/>
          <p:nvPr/>
        </p:nvCxnSpPr>
        <p:spPr>
          <a:xfrm>
            <a:off x="5724128" y="2420888"/>
            <a:ext cx="1008112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B7742D8-A9CA-DF13-0B95-3351D4F5E369}"/>
              </a:ext>
            </a:extLst>
          </p:cNvPr>
          <p:cNvSpPr txBox="1"/>
          <p:nvPr/>
        </p:nvSpPr>
        <p:spPr>
          <a:xfrm>
            <a:off x="3166411" y="2955648"/>
            <a:ext cx="37730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1. Group the integer into 4 bits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947F162-C762-903B-3AB0-EB2E9185C738}"/>
              </a:ext>
            </a:extLst>
          </p:cNvPr>
          <p:cNvSpPr txBox="1"/>
          <p:nvPr/>
        </p:nvSpPr>
        <p:spPr>
          <a:xfrm>
            <a:off x="3978850" y="3506807"/>
            <a:ext cx="22493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800" dirty="0"/>
              <a:t>10001001.11</a:t>
            </a:r>
            <a:endParaRPr lang="en-MY" sz="2800" baseline="-25000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50BCE53-F44A-A809-CBA0-1DCF29661918}"/>
              </a:ext>
            </a:extLst>
          </p:cNvPr>
          <p:cNvGrpSpPr/>
          <p:nvPr/>
        </p:nvGrpSpPr>
        <p:grpSpPr>
          <a:xfrm>
            <a:off x="4847772" y="3935429"/>
            <a:ext cx="792090" cy="92407"/>
            <a:chOff x="5724128" y="3930865"/>
            <a:chExt cx="792090" cy="92407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8021962-FBC6-74C5-D2C7-43C995E38843}"/>
                </a:ext>
              </a:extLst>
            </p:cNvPr>
            <p:cNvCxnSpPr/>
            <p:nvPr/>
          </p:nvCxnSpPr>
          <p:spPr>
            <a:xfrm>
              <a:off x="6516216" y="3930865"/>
              <a:ext cx="0" cy="9240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767A290-1C82-8F0A-70FF-90F33A7A15E6}"/>
                </a:ext>
              </a:extLst>
            </p:cNvPr>
            <p:cNvCxnSpPr/>
            <p:nvPr/>
          </p:nvCxnSpPr>
          <p:spPr>
            <a:xfrm>
              <a:off x="5724128" y="3930865"/>
              <a:ext cx="0" cy="9240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CA43E6E-3425-07BB-6E30-7CF1E938A2D1}"/>
                </a:ext>
              </a:extLst>
            </p:cNvPr>
            <p:cNvCxnSpPr>
              <a:cxnSpLocks/>
            </p:cNvCxnSpPr>
            <p:nvPr/>
          </p:nvCxnSpPr>
          <p:spPr>
            <a:xfrm>
              <a:off x="5724128" y="4023272"/>
              <a:ext cx="79209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3093277-938F-2350-9DA5-6354FC3870DF}"/>
              </a:ext>
            </a:extLst>
          </p:cNvPr>
          <p:cNvGrpSpPr/>
          <p:nvPr/>
        </p:nvGrpSpPr>
        <p:grpSpPr>
          <a:xfrm>
            <a:off x="4037626" y="3935428"/>
            <a:ext cx="792090" cy="92407"/>
            <a:chOff x="5724128" y="3930865"/>
            <a:chExt cx="792090" cy="9240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92C7265-EC75-7EF9-F7EE-AC484AC9B6F3}"/>
                </a:ext>
              </a:extLst>
            </p:cNvPr>
            <p:cNvCxnSpPr/>
            <p:nvPr/>
          </p:nvCxnSpPr>
          <p:spPr>
            <a:xfrm>
              <a:off x="6516216" y="3930865"/>
              <a:ext cx="0" cy="9240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AE6F31A1-E153-EB66-A001-3EFF9C153C5E}"/>
                </a:ext>
              </a:extLst>
            </p:cNvPr>
            <p:cNvCxnSpPr/>
            <p:nvPr/>
          </p:nvCxnSpPr>
          <p:spPr>
            <a:xfrm>
              <a:off x="5724128" y="3930865"/>
              <a:ext cx="0" cy="9240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C8458E6-1215-71DB-4191-9406E64D7D62}"/>
                </a:ext>
              </a:extLst>
            </p:cNvPr>
            <p:cNvCxnSpPr>
              <a:cxnSpLocks/>
            </p:cNvCxnSpPr>
            <p:nvPr/>
          </p:nvCxnSpPr>
          <p:spPr>
            <a:xfrm>
              <a:off x="5724128" y="4023272"/>
              <a:ext cx="79209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0066EAE-AAC4-12A3-CD50-E66CBB513A84}"/>
              </a:ext>
            </a:extLst>
          </p:cNvPr>
          <p:cNvGrpSpPr/>
          <p:nvPr/>
        </p:nvGrpSpPr>
        <p:grpSpPr>
          <a:xfrm>
            <a:off x="5739283" y="3935428"/>
            <a:ext cx="792090" cy="92407"/>
            <a:chOff x="5724128" y="3930865"/>
            <a:chExt cx="792090" cy="92407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91A4B0D9-749F-07BC-79BC-24406F84C91B}"/>
                </a:ext>
              </a:extLst>
            </p:cNvPr>
            <p:cNvCxnSpPr/>
            <p:nvPr/>
          </p:nvCxnSpPr>
          <p:spPr>
            <a:xfrm>
              <a:off x="6516216" y="3930865"/>
              <a:ext cx="0" cy="9240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7A0D30A-5019-B814-0C57-69D550441CDB}"/>
                </a:ext>
              </a:extLst>
            </p:cNvPr>
            <p:cNvCxnSpPr/>
            <p:nvPr/>
          </p:nvCxnSpPr>
          <p:spPr>
            <a:xfrm>
              <a:off x="5724128" y="3930865"/>
              <a:ext cx="0" cy="9240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2CD91C5-2BE3-68FE-41C5-E0338BE96D85}"/>
                </a:ext>
              </a:extLst>
            </p:cNvPr>
            <p:cNvCxnSpPr>
              <a:cxnSpLocks/>
            </p:cNvCxnSpPr>
            <p:nvPr/>
          </p:nvCxnSpPr>
          <p:spPr>
            <a:xfrm>
              <a:off x="5724128" y="4023272"/>
              <a:ext cx="79209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AFCFB91F-B5A2-8979-1DD3-DD1994246B22}"/>
              </a:ext>
            </a:extLst>
          </p:cNvPr>
          <p:cNvSpPr txBox="1"/>
          <p:nvPr/>
        </p:nvSpPr>
        <p:spPr>
          <a:xfrm>
            <a:off x="3134452" y="4256401"/>
            <a:ext cx="52539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/>
              <a:t>2. For the digit with insufficient bit, you will add 00 to complete the group of 4 bits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C26060C-4C9F-5CBA-2AE5-CE6B6BC932C7}"/>
              </a:ext>
            </a:extLst>
          </p:cNvPr>
          <p:cNvSpPr txBox="1"/>
          <p:nvPr/>
        </p:nvSpPr>
        <p:spPr>
          <a:xfrm>
            <a:off x="3994328" y="4763410"/>
            <a:ext cx="22493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800" dirty="0"/>
              <a:t>10001001.11</a:t>
            </a:r>
            <a:endParaRPr lang="en-MY" sz="2800" baseline="-25000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E183B82-2E4B-1078-B6B4-C8FFCC8D17C8}"/>
              </a:ext>
            </a:extLst>
          </p:cNvPr>
          <p:cNvGrpSpPr/>
          <p:nvPr/>
        </p:nvGrpSpPr>
        <p:grpSpPr>
          <a:xfrm>
            <a:off x="4863250" y="5192032"/>
            <a:ext cx="792090" cy="92407"/>
            <a:chOff x="5724128" y="3930865"/>
            <a:chExt cx="792090" cy="92407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589F6FB8-F840-6F08-87B1-E78354231A13}"/>
                </a:ext>
              </a:extLst>
            </p:cNvPr>
            <p:cNvCxnSpPr/>
            <p:nvPr/>
          </p:nvCxnSpPr>
          <p:spPr>
            <a:xfrm>
              <a:off x="6516216" y="3930865"/>
              <a:ext cx="0" cy="9240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63267929-318C-7DAF-C1F3-F5B9F3624E75}"/>
                </a:ext>
              </a:extLst>
            </p:cNvPr>
            <p:cNvCxnSpPr/>
            <p:nvPr/>
          </p:nvCxnSpPr>
          <p:spPr>
            <a:xfrm>
              <a:off x="5724128" y="3930865"/>
              <a:ext cx="0" cy="9240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040BD43F-EBE5-C835-9844-400CD030BA54}"/>
                </a:ext>
              </a:extLst>
            </p:cNvPr>
            <p:cNvCxnSpPr>
              <a:cxnSpLocks/>
            </p:cNvCxnSpPr>
            <p:nvPr/>
          </p:nvCxnSpPr>
          <p:spPr>
            <a:xfrm>
              <a:off x="5724128" y="4023272"/>
              <a:ext cx="79209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FFC6C92-B5B1-BFD4-80BA-D3DBDDF2867E}"/>
              </a:ext>
            </a:extLst>
          </p:cNvPr>
          <p:cNvGrpSpPr/>
          <p:nvPr/>
        </p:nvGrpSpPr>
        <p:grpSpPr>
          <a:xfrm>
            <a:off x="4053104" y="5192031"/>
            <a:ext cx="792090" cy="92407"/>
            <a:chOff x="5724128" y="3930865"/>
            <a:chExt cx="792090" cy="92407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314769EC-1122-6A17-B57D-6BCE58B2EEEC}"/>
                </a:ext>
              </a:extLst>
            </p:cNvPr>
            <p:cNvCxnSpPr/>
            <p:nvPr/>
          </p:nvCxnSpPr>
          <p:spPr>
            <a:xfrm>
              <a:off x="6516216" y="3930865"/>
              <a:ext cx="0" cy="9240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228056EB-04ED-D2CA-56FA-06981AFB86B4}"/>
                </a:ext>
              </a:extLst>
            </p:cNvPr>
            <p:cNvCxnSpPr/>
            <p:nvPr/>
          </p:nvCxnSpPr>
          <p:spPr>
            <a:xfrm>
              <a:off x="5724128" y="3930865"/>
              <a:ext cx="0" cy="9240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B7FC621E-05F9-7149-136F-0F75BD573598}"/>
                </a:ext>
              </a:extLst>
            </p:cNvPr>
            <p:cNvCxnSpPr>
              <a:cxnSpLocks/>
            </p:cNvCxnSpPr>
            <p:nvPr/>
          </p:nvCxnSpPr>
          <p:spPr>
            <a:xfrm>
              <a:off x="5724128" y="4023272"/>
              <a:ext cx="79209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A31DEF28-44BF-6E72-54AB-C8D043271D0B}"/>
              </a:ext>
            </a:extLst>
          </p:cNvPr>
          <p:cNvGrpSpPr/>
          <p:nvPr/>
        </p:nvGrpSpPr>
        <p:grpSpPr>
          <a:xfrm>
            <a:off x="5754761" y="5192031"/>
            <a:ext cx="792090" cy="92407"/>
            <a:chOff x="5724128" y="3930865"/>
            <a:chExt cx="792090" cy="92407"/>
          </a:xfrm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FBFCD8A9-993B-6D99-46D7-16679808F152}"/>
                </a:ext>
              </a:extLst>
            </p:cNvPr>
            <p:cNvCxnSpPr/>
            <p:nvPr/>
          </p:nvCxnSpPr>
          <p:spPr>
            <a:xfrm>
              <a:off x="6516216" y="3930865"/>
              <a:ext cx="0" cy="9240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D39AB8F-53E5-059E-5802-7A9752CCC063}"/>
                </a:ext>
              </a:extLst>
            </p:cNvPr>
            <p:cNvCxnSpPr/>
            <p:nvPr/>
          </p:nvCxnSpPr>
          <p:spPr>
            <a:xfrm>
              <a:off x="5724128" y="3930865"/>
              <a:ext cx="0" cy="9240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FB41C2B3-8CA4-EA72-22A1-C494B233FA54}"/>
                </a:ext>
              </a:extLst>
            </p:cNvPr>
            <p:cNvCxnSpPr>
              <a:cxnSpLocks/>
            </p:cNvCxnSpPr>
            <p:nvPr/>
          </p:nvCxnSpPr>
          <p:spPr>
            <a:xfrm>
              <a:off x="5724128" y="4023272"/>
              <a:ext cx="79209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F036A8B7-F44F-BD93-85C0-6C5EC804BFA9}"/>
              </a:ext>
            </a:extLst>
          </p:cNvPr>
          <p:cNvSpPr txBox="1"/>
          <p:nvPr/>
        </p:nvSpPr>
        <p:spPr>
          <a:xfrm>
            <a:off x="6038650" y="4763410"/>
            <a:ext cx="5757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800" dirty="0">
                <a:solidFill>
                  <a:srgbClr val="00B050"/>
                </a:solidFill>
              </a:rPr>
              <a:t>00</a:t>
            </a:r>
            <a:endParaRPr lang="en-MY" sz="2800" baseline="-25000" dirty="0">
              <a:solidFill>
                <a:srgbClr val="00B050"/>
              </a:solidFill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B45A35FC-EBDD-5773-1F99-9E74034A5663}"/>
              </a:ext>
            </a:extLst>
          </p:cNvPr>
          <p:cNvSpPr/>
          <p:nvPr/>
        </p:nvSpPr>
        <p:spPr>
          <a:xfrm>
            <a:off x="5655338" y="3355758"/>
            <a:ext cx="1148910" cy="898451"/>
          </a:xfrm>
          <a:prstGeom prst="ellipse">
            <a:avLst/>
          </a:prstGeom>
          <a:noFill/>
          <a:ln>
            <a:solidFill>
              <a:srgbClr val="0099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294D282-9957-21E8-26DC-AEC2AB997495}"/>
              </a:ext>
            </a:extLst>
          </p:cNvPr>
          <p:cNvSpPr txBox="1"/>
          <p:nvPr/>
        </p:nvSpPr>
        <p:spPr>
          <a:xfrm>
            <a:off x="4809011" y="5845358"/>
            <a:ext cx="1995237" cy="58477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MY" sz="3200" dirty="0">
                <a:solidFill>
                  <a:schemeClr val="bg1"/>
                </a:solidFill>
              </a:rPr>
              <a:t>(89.C)</a:t>
            </a:r>
            <a:r>
              <a:rPr lang="en-MY" sz="3200" baseline="-25000" dirty="0">
                <a:solidFill>
                  <a:schemeClr val="bg1"/>
                </a:solidFill>
              </a:rPr>
              <a:t>16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E2B7C6F-71E9-3497-34E1-F444D5BC9AEF}"/>
              </a:ext>
            </a:extLst>
          </p:cNvPr>
          <p:cNvSpPr/>
          <p:nvPr/>
        </p:nvSpPr>
        <p:spPr>
          <a:xfrm>
            <a:off x="763314" y="3646260"/>
            <a:ext cx="1944216" cy="3815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628CF78-D573-2630-AA7E-5794F0EE9680}"/>
              </a:ext>
            </a:extLst>
          </p:cNvPr>
          <p:cNvSpPr/>
          <p:nvPr/>
        </p:nvSpPr>
        <p:spPr>
          <a:xfrm>
            <a:off x="763314" y="4011263"/>
            <a:ext cx="1944216" cy="3815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2D228DB-7AE0-6FED-F0BC-3B8978745CDE}"/>
              </a:ext>
            </a:extLst>
          </p:cNvPr>
          <p:cNvSpPr/>
          <p:nvPr/>
        </p:nvSpPr>
        <p:spPr>
          <a:xfrm>
            <a:off x="763314" y="5141039"/>
            <a:ext cx="1944216" cy="3815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161820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39" grpId="0"/>
      <p:bldP spid="40" grpId="0"/>
      <p:bldP spid="53" grpId="0"/>
      <p:bldP spid="54" grpId="0" animBg="1"/>
      <p:bldP spid="55" grpId="0" animBg="1"/>
      <p:bldP spid="56" grpId="0" animBg="1"/>
      <p:bldP spid="57" grpId="0" animBg="1"/>
      <p:bldP spid="5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>
            <a:extLst>
              <a:ext uri="{FF2B5EF4-FFF2-40B4-BE49-F238E27FC236}">
                <a16:creationId xmlns:a16="http://schemas.microsoft.com/office/drawing/2014/main" id="{E8508F4B-7E88-ED64-F6F4-7F7338CF8D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en-US" dirty="0"/>
              <a:t>Binary to Hexadecimal</a:t>
            </a:r>
          </a:p>
        </p:txBody>
      </p:sp>
      <p:sp>
        <p:nvSpPr>
          <p:cNvPr id="47107" name="Content Placeholder 2">
            <a:extLst>
              <a:ext uri="{FF2B5EF4-FFF2-40B4-BE49-F238E27FC236}">
                <a16:creationId xmlns:a16="http://schemas.microsoft.com/office/drawing/2014/main" id="{881D8A89-E5C3-F9E8-1D64-6D0ABCFE9C5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46150" y="1828800"/>
            <a:ext cx="7082234" cy="4351338"/>
          </a:xfrm>
        </p:spPr>
        <p:txBody>
          <a:bodyPr/>
          <a:lstStyle/>
          <a:p>
            <a:pPr marL="182880" indent="-182880" fontAlgn="auto">
              <a:defRPr/>
            </a:pPr>
            <a:r>
              <a:rPr lang="en-US" altLang="en-US" dirty="0"/>
              <a:t>The binary number is </a:t>
            </a:r>
            <a:r>
              <a:rPr lang="en-US" altLang="en-US" sz="3600" b="1" dirty="0">
                <a:solidFill>
                  <a:srgbClr val="92D050"/>
                </a:solidFill>
              </a:rPr>
              <a:t>divided</a:t>
            </a:r>
            <a:r>
              <a:rPr lang="en-US" altLang="en-US" dirty="0"/>
              <a:t> into </a:t>
            </a:r>
            <a:r>
              <a:rPr lang="en-US" altLang="en-US" sz="3600" b="1" dirty="0">
                <a:solidFill>
                  <a:srgbClr val="00B0F0"/>
                </a:solidFill>
              </a:rPr>
              <a:t>groups of four digits = </a:t>
            </a:r>
            <a:r>
              <a:rPr lang="en-US" altLang="en-US" sz="3600" b="1" dirty="0">
                <a:solidFill>
                  <a:srgbClr val="FF0000"/>
                </a:solidFill>
              </a:rPr>
              <a:t>nibble</a:t>
            </a:r>
            <a:endParaRPr lang="en-MY" altLang="en-US" b="1" dirty="0">
              <a:solidFill>
                <a:srgbClr val="FF0000"/>
              </a:solidFill>
            </a:endParaRPr>
          </a:p>
        </p:txBody>
      </p:sp>
      <p:sp>
        <p:nvSpPr>
          <p:cNvPr id="52228" name="TextBox 6">
            <a:extLst>
              <a:ext uri="{FF2B5EF4-FFF2-40B4-BE49-F238E27FC236}">
                <a16:creationId xmlns:a16="http://schemas.microsoft.com/office/drawing/2014/main" id="{93CEBD09-6739-587B-BBD9-15DD126ABE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4397375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kumimoji="0" lang="en-US" altLang="en-US" sz="2800">
                <a:latin typeface="Arial" panose="020B0604020202020204" pitchFamily="34" charset="0"/>
              </a:rPr>
              <a:t>=</a:t>
            </a:r>
          </a:p>
        </p:txBody>
      </p:sp>
      <p:grpSp>
        <p:nvGrpSpPr>
          <p:cNvPr id="52229" name="Group 16">
            <a:extLst>
              <a:ext uri="{FF2B5EF4-FFF2-40B4-BE49-F238E27FC236}">
                <a16:creationId xmlns:a16="http://schemas.microsoft.com/office/drawing/2014/main" id="{69B311BD-38BB-55F8-EB4F-B909CD5327C9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4387850"/>
            <a:ext cx="3429000" cy="519113"/>
            <a:chOff x="1152" y="1680"/>
            <a:chExt cx="2160" cy="327"/>
          </a:xfrm>
        </p:grpSpPr>
        <p:sp>
          <p:nvSpPr>
            <p:cNvPr id="52238" name="TextBox 3">
              <a:extLst>
                <a:ext uri="{FF2B5EF4-FFF2-40B4-BE49-F238E27FC236}">
                  <a16:creationId xmlns:a16="http://schemas.microsoft.com/office/drawing/2014/main" id="{A14D37C1-30FE-C9AF-5229-3921CD21EF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1680"/>
              <a:ext cx="6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r>
                <a:rPr kumimoji="0" lang="en-US" altLang="en-US" sz="2800">
                  <a:latin typeface="Arial" panose="020B0604020202020204" pitchFamily="34" charset="0"/>
                </a:rPr>
                <a:t>1101</a:t>
              </a:r>
            </a:p>
          </p:txBody>
        </p:sp>
        <p:sp>
          <p:nvSpPr>
            <p:cNvPr id="52239" name="TextBox 4">
              <a:extLst>
                <a:ext uri="{FF2B5EF4-FFF2-40B4-BE49-F238E27FC236}">
                  <a16:creationId xmlns:a16="http://schemas.microsoft.com/office/drawing/2014/main" id="{D0D6753E-28BF-755C-E69A-79E28BD835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1680"/>
              <a:ext cx="6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r>
                <a:rPr kumimoji="0" lang="en-US" altLang="en-US" sz="2800">
                  <a:latin typeface="Arial" panose="020B0604020202020204" pitchFamily="34" charset="0"/>
                </a:rPr>
                <a:t>1110</a:t>
              </a:r>
            </a:p>
          </p:txBody>
        </p:sp>
        <p:sp>
          <p:nvSpPr>
            <p:cNvPr id="52240" name="TextBox 5">
              <a:extLst>
                <a:ext uri="{FF2B5EF4-FFF2-40B4-BE49-F238E27FC236}">
                  <a16:creationId xmlns:a16="http://schemas.microsoft.com/office/drawing/2014/main" id="{F618C2C6-31D2-4F5A-A808-A3FC72443D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1680"/>
              <a:ext cx="6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r>
                <a:rPr kumimoji="0" lang="en-US" altLang="en-US" sz="2800">
                  <a:latin typeface="Arial" panose="020B0604020202020204" pitchFamily="34" charset="0"/>
                </a:rPr>
                <a:t>0001</a:t>
              </a:r>
            </a:p>
          </p:txBody>
        </p:sp>
      </p:grpSp>
      <p:sp>
        <p:nvSpPr>
          <p:cNvPr id="52230" name="TextBox 7">
            <a:extLst>
              <a:ext uri="{FF2B5EF4-FFF2-40B4-BE49-F238E27FC236}">
                <a16:creationId xmlns:a16="http://schemas.microsoft.com/office/drawing/2014/main" id="{66F7DCDD-D18D-7329-7792-717121C24F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4854575"/>
            <a:ext cx="533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kumimoji="0" lang="en-US" altLang="en-US" sz="2800">
                <a:latin typeface="Arial" panose="020B0604020202020204" pitchFamily="34" charset="0"/>
              </a:rPr>
              <a:t>D</a:t>
            </a:r>
          </a:p>
        </p:txBody>
      </p:sp>
      <p:sp>
        <p:nvSpPr>
          <p:cNvPr id="52231" name="TextBox 8">
            <a:extLst>
              <a:ext uri="{FF2B5EF4-FFF2-40B4-BE49-F238E27FC236}">
                <a16:creationId xmlns:a16="http://schemas.microsoft.com/office/drawing/2014/main" id="{104C3605-F87C-2780-E2C9-B95F325022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4854575"/>
            <a:ext cx="533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kumimoji="0" lang="en-US" altLang="en-US" sz="2800">
                <a:latin typeface="Arial" panose="020B0604020202020204" pitchFamily="34" charset="0"/>
              </a:rPr>
              <a:t>E</a:t>
            </a:r>
          </a:p>
        </p:txBody>
      </p:sp>
      <p:sp>
        <p:nvSpPr>
          <p:cNvPr id="52232" name="TextBox 9">
            <a:extLst>
              <a:ext uri="{FF2B5EF4-FFF2-40B4-BE49-F238E27FC236}">
                <a16:creationId xmlns:a16="http://schemas.microsoft.com/office/drawing/2014/main" id="{02A6D0FD-56AE-1B47-C9AA-FCE08D6382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4854575"/>
            <a:ext cx="533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kumimoji="0" lang="en-US" altLang="en-US" sz="280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52233" name="TextBox 10">
            <a:extLst>
              <a:ext uri="{FF2B5EF4-FFF2-40B4-BE49-F238E27FC236}">
                <a16:creationId xmlns:a16="http://schemas.microsoft.com/office/drawing/2014/main" id="{7D1B1201-2B23-41F4-8322-AF5F647417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4387850"/>
            <a:ext cx="11430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kumimoji="0" lang="en-US" altLang="en-US" sz="2800">
                <a:latin typeface="Arial" panose="020B0604020202020204" pitchFamily="34" charset="0"/>
              </a:rPr>
              <a:t>DE1</a:t>
            </a:r>
            <a:r>
              <a:rPr kumimoji="0" lang="en-US" altLang="en-US" sz="2800" baseline="-25000">
                <a:latin typeface="Arial" panose="020B0604020202020204" pitchFamily="34" charset="0"/>
              </a:rPr>
              <a:t>16</a:t>
            </a:r>
          </a:p>
        </p:txBody>
      </p:sp>
      <p:sp>
        <p:nvSpPr>
          <p:cNvPr id="52234" name="TextBox 3">
            <a:extLst>
              <a:ext uri="{FF2B5EF4-FFF2-40B4-BE49-F238E27FC236}">
                <a16:creationId xmlns:a16="http://schemas.microsoft.com/office/drawing/2014/main" id="{7A37B8A6-A438-85E1-25DC-FEB12F853D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6950" y="3382963"/>
            <a:ext cx="268605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kumimoji="0" lang="en-US" altLang="en-US" sz="2800" dirty="0">
                <a:latin typeface="Arial" panose="020B0604020202020204" pitchFamily="34" charset="0"/>
              </a:rPr>
              <a:t>110111100001</a:t>
            </a:r>
            <a:r>
              <a:rPr kumimoji="0" lang="en-US" altLang="en-US" sz="2800" baseline="-25000" dirty="0">
                <a:latin typeface="Arial" panose="020B0604020202020204" pitchFamily="34" charset="0"/>
              </a:rPr>
              <a:t>2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0B9A183-2820-73A0-278F-B5507C00D7CA}"/>
              </a:ext>
            </a:extLst>
          </p:cNvPr>
          <p:cNvCxnSpPr>
            <a:cxnSpLocks/>
            <a:endCxn id="52238" idx="0"/>
          </p:cNvCxnSpPr>
          <p:nvPr/>
        </p:nvCxnSpPr>
        <p:spPr bwMode="auto">
          <a:xfrm flipH="1">
            <a:off x="2362200" y="3838575"/>
            <a:ext cx="381000" cy="549275"/>
          </a:xfrm>
          <a:prstGeom prst="straightConnector1">
            <a:avLst/>
          </a:prstGeom>
          <a:noFill/>
          <a:ln w="349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C3FE643-C0E3-B570-1CC9-7F42D1DF70C2}"/>
              </a:ext>
            </a:extLst>
          </p:cNvPr>
          <p:cNvCxnSpPr>
            <a:cxnSpLocks/>
          </p:cNvCxnSpPr>
          <p:nvPr/>
        </p:nvCxnSpPr>
        <p:spPr bwMode="auto">
          <a:xfrm>
            <a:off x="4229100" y="3802063"/>
            <a:ext cx="381000" cy="549275"/>
          </a:xfrm>
          <a:prstGeom prst="straightConnector1">
            <a:avLst/>
          </a:prstGeom>
          <a:noFill/>
          <a:ln w="349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E92FD7B-DE3B-C9BE-EB00-ABA954906F2F}"/>
              </a:ext>
            </a:extLst>
          </p:cNvPr>
          <p:cNvCxnSpPr>
            <a:cxnSpLocks/>
          </p:cNvCxnSpPr>
          <p:nvPr/>
        </p:nvCxnSpPr>
        <p:spPr bwMode="auto">
          <a:xfrm>
            <a:off x="3492500" y="3802063"/>
            <a:ext cx="0" cy="585787"/>
          </a:xfrm>
          <a:prstGeom prst="straightConnector1">
            <a:avLst/>
          </a:prstGeom>
          <a:noFill/>
          <a:ln w="349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" name="Line 20">
            <a:extLst>
              <a:ext uri="{FF2B5EF4-FFF2-40B4-BE49-F238E27FC236}">
                <a16:creationId xmlns:a16="http://schemas.microsoft.com/office/drawing/2014/main" id="{D87DA8DE-70E8-6706-6000-3D5BF47855E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51920" y="3284537"/>
            <a:ext cx="0" cy="719137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5" name="Line 21">
            <a:extLst>
              <a:ext uri="{FF2B5EF4-FFF2-40B4-BE49-F238E27FC236}">
                <a16:creationId xmlns:a16="http://schemas.microsoft.com/office/drawing/2014/main" id="{7D24E0B7-5CAC-6DE2-B9B8-225445E22DE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31840" y="3251994"/>
            <a:ext cx="0" cy="719137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>
            <a:extLst>
              <a:ext uri="{FF2B5EF4-FFF2-40B4-BE49-F238E27FC236}">
                <a16:creationId xmlns:a16="http://schemas.microsoft.com/office/drawing/2014/main" id="{6962F1AC-9AE2-8495-6C43-012B3F3A3F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en-US"/>
              <a:t>Binary to Hexadecimal</a:t>
            </a:r>
          </a:p>
        </p:txBody>
      </p:sp>
      <p:sp>
        <p:nvSpPr>
          <p:cNvPr id="48131" name="Content Placeholder 2">
            <a:extLst>
              <a:ext uri="{FF2B5EF4-FFF2-40B4-BE49-F238E27FC236}">
                <a16:creationId xmlns:a16="http://schemas.microsoft.com/office/drawing/2014/main" id="{90AA13EC-5E88-8730-2D8F-1D50288AB6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46150" y="1828800"/>
            <a:ext cx="7269162" cy="4351338"/>
          </a:xfrm>
        </p:spPr>
        <p:txBody>
          <a:bodyPr/>
          <a:lstStyle/>
          <a:p>
            <a:pPr marL="182880" indent="-182880" fontAlgn="auto">
              <a:defRPr/>
            </a:pPr>
            <a:r>
              <a:rPr lang="en-US" altLang="en-US" dirty="0"/>
              <a:t>The binary number is </a:t>
            </a:r>
            <a:r>
              <a:rPr lang="en-US" altLang="en-US" sz="3600" b="1" dirty="0">
                <a:solidFill>
                  <a:srgbClr val="92D050"/>
                </a:solidFill>
              </a:rPr>
              <a:t>divided</a:t>
            </a:r>
            <a:r>
              <a:rPr lang="en-US" altLang="en-US" dirty="0"/>
              <a:t> into </a:t>
            </a:r>
            <a:r>
              <a:rPr lang="en-US" altLang="en-US" sz="3600" b="1" dirty="0">
                <a:solidFill>
                  <a:srgbClr val="00B0F0"/>
                </a:solidFill>
              </a:rPr>
              <a:t>groups of four digits</a:t>
            </a:r>
            <a:endParaRPr lang="en-MY" altLang="en-US" b="1" dirty="0">
              <a:solidFill>
                <a:srgbClr val="00B0F0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A87D328-996E-A0E7-69D9-7728EB62E130}"/>
              </a:ext>
            </a:extLst>
          </p:cNvPr>
          <p:cNvGrpSpPr/>
          <p:nvPr/>
        </p:nvGrpSpPr>
        <p:grpSpPr>
          <a:xfrm>
            <a:off x="1214437" y="3429471"/>
            <a:ext cx="6732588" cy="719137"/>
            <a:chOff x="1295400" y="3573463"/>
            <a:chExt cx="6732588" cy="719137"/>
          </a:xfrm>
        </p:grpSpPr>
        <p:sp>
          <p:nvSpPr>
            <p:cNvPr id="28682" name="TextBox 16">
              <a:extLst>
                <a:ext uri="{FF2B5EF4-FFF2-40B4-BE49-F238E27FC236}">
                  <a16:creationId xmlns:a16="http://schemas.microsoft.com/office/drawing/2014/main" id="{3C1504D6-288C-B4AE-932B-57F7D09886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5400" y="3692525"/>
              <a:ext cx="4954588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r>
                <a:rPr kumimoji="0" lang="en-US" altLang="en-US" sz="2800" dirty="0">
                  <a:latin typeface="Arial" panose="020B0604020202020204" pitchFamily="34" charset="0"/>
                </a:rPr>
                <a:t>10110001101011.11110010 =</a:t>
              </a:r>
              <a:endParaRPr kumimoji="0" lang="en-MY" altLang="en-US" sz="2800" dirty="0">
                <a:latin typeface="Arial" panose="020B0604020202020204" pitchFamily="34" charset="0"/>
              </a:endParaRPr>
            </a:p>
          </p:txBody>
        </p:sp>
        <p:sp>
          <p:nvSpPr>
            <p:cNvPr id="19467" name="TextBox 17">
              <a:extLst>
                <a:ext uri="{FF2B5EF4-FFF2-40B4-BE49-F238E27FC236}">
                  <a16:creationId xmlns:a16="http://schemas.microsoft.com/office/drawing/2014/main" id="{0260A608-E7E9-2BCF-594A-1B89D6DD6A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69025" y="3702050"/>
              <a:ext cx="1858963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r>
                <a:rPr kumimoji="0" lang="en-US" altLang="en-US" sz="2800">
                  <a:latin typeface="Arial" panose="020B0604020202020204" pitchFamily="34" charset="0"/>
                </a:rPr>
                <a:t>2C6B.F2</a:t>
              </a:r>
              <a:r>
                <a:rPr kumimoji="0" lang="en-US" altLang="en-US" sz="2800" baseline="-25000">
                  <a:latin typeface="Arial" panose="020B0604020202020204" pitchFamily="34" charset="0"/>
                </a:rPr>
                <a:t>16</a:t>
              </a:r>
              <a:endParaRPr kumimoji="0" lang="en-MY" altLang="en-US" sz="2800" baseline="-25000">
                <a:latin typeface="Arial" panose="020B0604020202020204" pitchFamily="34" charset="0"/>
              </a:endParaRPr>
            </a:p>
          </p:txBody>
        </p:sp>
        <p:grpSp>
          <p:nvGrpSpPr>
            <p:cNvPr id="4" name="Group 22">
              <a:extLst>
                <a:ext uri="{FF2B5EF4-FFF2-40B4-BE49-F238E27FC236}">
                  <a16:creationId xmlns:a16="http://schemas.microsoft.com/office/drawing/2014/main" id="{D0352C7E-C426-E381-3CE4-7B83580487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97050" y="3573463"/>
              <a:ext cx="3062288" cy="719137"/>
              <a:chOff x="1797050" y="4581525"/>
              <a:chExt cx="3062982" cy="719138"/>
            </a:xfrm>
          </p:grpSpPr>
          <p:sp>
            <p:nvSpPr>
              <p:cNvPr id="53255" name="Line 18">
                <a:extLst>
                  <a:ext uri="{FF2B5EF4-FFF2-40B4-BE49-F238E27FC236}">
                    <a16:creationId xmlns:a16="http://schemas.microsoft.com/office/drawing/2014/main" id="{242CC250-BA14-CEF2-CE96-DAAD5BC932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47864" y="4581525"/>
                <a:ext cx="0" cy="71913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53256" name="Line 20">
                <a:extLst>
                  <a:ext uri="{FF2B5EF4-FFF2-40B4-BE49-F238E27FC236}">
                    <a16:creationId xmlns:a16="http://schemas.microsoft.com/office/drawing/2014/main" id="{146F7275-ED51-963C-736F-B79C6594DC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566988" y="4581525"/>
                <a:ext cx="0" cy="71913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53257" name="Line 21">
                <a:extLst>
                  <a:ext uri="{FF2B5EF4-FFF2-40B4-BE49-F238E27FC236}">
                    <a16:creationId xmlns:a16="http://schemas.microsoft.com/office/drawing/2014/main" id="{9AA36F74-E020-CE8A-EF8C-AE1A7DCD8D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97050" y="4581525"/>
                <a:ext cx="0" cy="71913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53258" name="Line 22">
                <a:extLst>
                  <a:ext uri="{FF2B5EF4-FFF2-40B4-BE49-F238E27FC236}">
                    <a16:creationId xmlns:a16="http://schemas.microsoft.com/office/drawing/2014/main" id="{E0BC3E81-F26A-6AF9-23BF-E0B4F763F9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140200" y="4581525"/>
                <a:ext cx="0" cy="71913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53259" name="Line 23">
                <a:extLst>
                  <a:ext uri="{FF2B5EF4-FFF2-40B4-BE49-F238E27FC236}">
                    <a16:creationId xmlns:a16="http://schemas.microsoft.com/office/drawing/2014/main" id="{6D7C72C3-4678-AFAD-6A02-DBBA7F6BD0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860032" y="4581525"/>
                <a:ext cx="0" cy="71913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</p:grp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787496A4-88AA-94BC-73A2-19DAC1870F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728" y="4797626"/>
            <a:ext cx="4600575" cy="16668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9C4D10A-79AF-CAC5-ADCE-C82D25BD08A9}"/>
              </a:ext>
            </a:extLst>
          </p:cNvPr>
          <p:cNvSpPr txBox="1"/>
          <p:nvPr/>
        </p:nvSpPr>
        <p:spPr>
          <a:xfrm>
            <a:off x="1085030" y="2944351"/>
            <a:ext cx="3802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800" dirty="0">
                <a:solidFill>
                  <a:srgbClr val="00B050"/>
                </a:solidFill>
              </a:rPr>
              <a:t>2</a:t>
            </a:r>
            <a:endParaRPr lang="en-MY" sz="2800" baseline="-25000" dirty="0">
              <a:solidFill>
                <a:srgbClr val="00B050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C5576CA-49CD-EB91-B15F-48A4A8CDBAC3}"/>
              </a:ext>
            </a:extLst>
          </p:cNvPr>
          <p:cNvGrpSpPr/>
          <p:nvPr/>
        </p:nvGrpSpPr>
        <p:grpSpPr>
          <a:xfrm>
            <a:off x="4820457" y="4128681"/>
            <a:ext cx="792090" cy="92407"/>
            <a:chOff x="5724128" y="3930865"/>
            <a:chExt cx="792090" cy="92407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8B1EE1E9-A6D8-347B-24FC-A3038BF352F9}"/>
                </a:ext>
              </a:extLst>
            </p:cNvPr>
            <p:cNvCxnSpPr/>
            <p:nvPr/>
          </p:nvCxnSpPr>
          <p:spPr>
            <a:xfrm>
              <a:off x="6516216" y="3930865"/>
              <a:ext cx="0" cy="9240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6749153-A239-A190-6850-E688AC3B92C4}"/>
                </a:ext>
              </a:extLst>
            </p:cNvPr>
            <p:cNvCxnSpPr/>
            <p:nvPr/>
          </p:nvCxnSpPr>
          <p:spPr>
            <a:xfrm>
              <a:off x="5724128" y="3930865"/>
              <a:ext cx="0" cy="9240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25DFB21-B462-E583-C660-7A04411267D8}"/>
                </a:ext>
              </a:extLst>
            </p:cNvPr>
            <p:cNvCxnSpPr>
              <a:cxnSpLocks/>
            </p:cNvCxnSpPr>
            <p:nvPr/>
          </p:nvCxnSpPr>
          <p:spPr>
            <a:xfrm>
              <a:off x="5724128" y="4023272"/>
              <a:ext cx="79209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2C2DF9B-0103-0466-385E-BC7F79E26518}"/>
              </a:ext>
            </a:extLst>
          </p:cNvPr>
          <p:cNvGrpSpPr/>
          <p:nvPr/>
        </p:nvGrpSpPr>
        <p:grpSpPr>
          <a:xfrm>
            <a:off x="4100787" y="4128682"/>
            <a:ext cx="650245" cy="92406"/>
            <a:chOff x="5724128" y="3930865"/>
            <a:chExt cx="792090" cy="9240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075D778-701E-A63E-8817-6692F518D1A3}"/>
                </a:ext>
              </a:extLst>
            </p:cNvPr>
            <p:cNvCxnSpPr/>
            <p:nvPr/>
          </p:nvCxnSpPr>
          <p:spPr>
            <a:xfrm>
              <a:off x="6516216" y="3930865"/>
              <a:ext cx="0" cy="9240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4BA6B10-C2D1-C497-7D0F-C4FD54A8BC75}"/>
                </a:ext>
              </a:extLst>
            </p:cNvPr>
            <p:cNvCxnSpPr/>
            <p:nvPr/>
          </p:nvCxnSpPr>
          <p:spPr>
            <a:xfrm>
              <a:off x="5724128" y="3930865"/>
              <a:ext cx="0" cy="9240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00E1B4F-83C7-2C5D-0230-26007FD85DC7}"/>
                </a:ext>
              </a:extLst>
            </p:cNvPr>
            <p:cNvCxnSpPr>
              <a:cxnSpLocks/>
            </p:cNvCxnSpPr>
            <p:nvPr/>
          </p:nvCxnSpPr>
          <p:spPr>
            <a:xfrm>
              <a:off x="5724128" y="4023272"/>
              <a:ext cx="79209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555BCC6-A22B-DD65-4281-A1038AC6892F}"/>
              </a:ext>
            </a:extLst>
          </p:cNvPr>
          <p:cNvGrpSpPr/>
          <p:nvPr/>
        </p:nvGrpSpPr>
        <p:grpSpPr>
          <a:xfrm>
            <a:off x="3293895" y="4128682"/>
            <a:ext cx="734474" cy="92406"/>
            <a:chOff x="5724128" y="3930865"/>
            <a:chExt cx="792090" cy="92407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36C019A-DD3C-2DEE-5AC1-E4C9157AFA57}"/>
                </a:ext>
              </a:extLst>
            </p:cNvPr>
            <p:cNvCxnSpPr/>
            <p:nvPr/>
          </p:nvCxnSpPr>
          <p:spPr>
            <a:xfrm>
              <a:off x="6516216" y="3930865"/>
              <a:ext cx="0" cy="9240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84AA789-F4AF-5DEC-487E-6E593BC9A974}"/>
                </a:ext>
              </a:extLst>
            </p:cNvPr>
            <p:cNvCxnSpPr/>
            <p:nvPr/>
          </p:nvCxnSpPr>
          <p:spPr>
            <a:xfrm>
              <a:off x="5724128" y="3930865"/>
              <a:ext cx="0" cy="9240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688D125-488A-B8E5-97DB-13F189B72EC9}"/>
                </a:ext>
              </a:extLst>
            </p:cNvPr>
            <p:cNvCxnSpPr>
              <a:cxnSpLocks/>
            </p:cNvCxnSpPr>
            <p:nvPr/>
          </p:nvCxnSpPr>
          <p:spPr>
            <a:xfrm>
              <a:off x="5724128" y="4023272"/>
              <a:ext cx="79209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AD79206-14E1-A1BA-E4EF-859BCD894B0D}"/>
              </a:ext>
            </a:extLst>
          </p:cNvPr>
          <p:cNvGrpSpPr/>
          <p:nvPr/>
        </p:nvGrpSpPr>
        <p:grpSpPr>
          <a:xfrm>
            <a:off x="2513196" y="4072531"/>
            <a:ext cx="708280" cy="148557"/>
            <a:chOff x="5724128" y="3930865"/>
            <a:chExt cx="792090" cy="92407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FC24D09-2C2F-856A-15E3-AD3C2C4027D1}"/>
                </a:ext>
              </a:extLst>
            </p:cNvPr>
            <p:cNvCxnSpPr/>
            <p:nvPr/>
          </p:nvCxnSpPr>
          <p:spPr>
            <a:xfrm>
              <a:off x="6516216" y="3930865"/>
              <a:ext cx="0" cy="9240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743728F-7742-F641-5BA4-79A92587B8F6}"/>
                </a:ext>
              </a:extLst>
            </p:cNvPr>
            <p:cNvCxnSpPr/>
            <p:nvPr/>
          </p:nvCxnSpPr>
          <p:spPr>
            <a:xfrm>
              <a:off x="5724128" y="3930865"/>
              <a:ext cx="0" cy="9240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0461321-DCCF-E302-793F-85D8F6E75070}"/>
                </a:ext>
              </a:extLst>
            </p:cNvPr>
            <p:cNvCxnSpPr>
              <a:cxnSpLocks/>
            </p:cNvCxnSpPr>
            <p:nvPr/>
          </p:nvCxnSpPr>
          <p:spPr>
            <a:xfrm>
              <a:off x="5724128" y="4023272"/>
              <a:ext cx="79209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5B958EB-5B48-3F2B-4E82-5BDB848145F9}"/>
              </a:ext>
            </a:extLst>
          </p:cNvPr>
          <p:cNvGrpSpPr/>
          <p:nvPr/>
        </p:nvGrpSpPr>
        <p:grpSpPr>
          <a:xfrm>
            <a:off x="1736996" y="4010385"/>
            <a:ext cx="721511" cy="210703"/>
            <a:chOff x="5724128" y="3930865"/>
            <a:chExt cx="792090" cy="92407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CD874DF-18AE-42F3-BA7F-DA806DF76954}"/>
                </a:ext>
              </a:extLst>
            </p:cNvPr>
            <p:cNvCxnSpPr/>
            <p:nvPr/>
          </p:nvCxnSpPr>
          <p:spPr>
            <a:xfrm>
              <a:off x="6516216" y="3930865"/>
              <a:ext cx="0" cy="9240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6187A41-1584-7376-AFA1-4C228DFBC060}"/>
                </a:ext>
              </a:extLst>
            </p:cNvPr>
            <p:cNvCxnSpPr/>
            <p:nvPr/>
          </p:nvCxnSpPr>
          <p:spPr>
            <a:xfrm>
              <a:off x="5724128" y="3930865"/>
              <a:ext cx="0" cy="9240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0C3ACEE-7D67-D983-A242-7D5687366E4D}"/>
                </a:ext>
              </a:extLst>
            </p:cNvPr>
            <p:cNvCxnSpPr>
              <a:cxnSpLocks/>
            </p:cNvCxnSpPr>
            <p:nvPr/>
          </p:nvCxnSpPr>
          <p:spPr>
            <a:xfrm>
              <a:off x="5724128" y="4023272"/>
              <a:ext cx="79209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4F22ADD-B50F-F51D-DBC0-4295C6E3C20F}"/>
              </a:ext>
            </a:extLst>
          </p:cNvPr>
          <p:cNvGrpSpPr/>
          <p:nvPr/>
        </p:nvGrpSpPr>
        <p:grpSpPr>
          <a:xfrm>
            <a:off x="931464" y="4010385"/>
            <a:ext cx="721511" cy="210703"/>
            <a:chOff x="5724128" y="3930865"/>
            <a:chExt cx="792090" cy="92407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E2067AF-A2E9-589A-9B28-1D0CDC3EF32A}"/>
                </a:ext>
              </a:extLst>
            </p:cNvPr>
            <p:cNvCxnSpPr/>
            <p:nvPr/>
          </p:nvCxnSpPr>
          <p:spPr>
            <a:xfrm>
              <a:off x="6516216" y="3930865"/>
              <a:ext cx="0" cy="9240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6F8737F-DD98-A50F-E7A0-F57036489B33}"/>
                </a:ext>
              </a:extLst>
            </p:cNvPr>
            <p:cNvCxnSpPr/>
            <p:nvPr/>
          </p:nvCxnSpPr>
          <p:spPr>
            <a:xfrm>
              <a:off x="5724128" y="3930865"/>
              <a:ext cx="0" cy="9240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ADA291A-8C29-7639-9000-8430E31D8F35}"/>
                </a:ext>
              </a:extLst>
            </p:cNvPr>
            <p:cNvCxnSpPr>
              <a:cxnSpLocks/>
            </p:cNvCxnSpPr>
            <p:nvPr/>
          </p:nvCxnSpPr>
          <p:spPr>
            <a:xfrm>
              <a:off x="5724128" y="4023272"/>
              <a:ext cx="79209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4E2695A6-F184-A32F-C231-E2A888F5B830}"/>
              </a:ext>
            </a:extLst>
          </p:cNvPr>
          <p:cNvSpPr txBox="1"/>
          <p:nvPr/>
        </p:nvSpPr>
        <p:spPr>
          <a:xfrm>
            <a:off x="845046" y="3553951"/>
            <a:ext cx="5757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800" dirty="0">
                <a:solidFill>
                  <a:srgbClr val="CC0000"/>
                </a:solidFill>
              </a:rPr>
              <a:t>00</a:t>
            </a:r>
            <a:endParaRPr lang="en-MY" sz="2800" baseline="-25000" dirty="0">
              <a:solidFill>
                <a:srgbClr val="CC000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0674EE0-7CD0-DF61-2C6D-F7F81EB5F3EE}"/>
              </a:ext>
            </a:extLst>
          </p:cNvPr>
          <p:cNvSpPr txBox="1"/>
          <p:nvPr/>
        </p:nvSpPr>
        <p:spPr>
          <a:xfrm>
            <a:off x="1938838" y="2944351"/>
            <a:ext cx="4010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800" dirty="0">
                <a:solidFill>
                  <a:srgbClr val="00B050"/>
                </a:solidFill>
              </a:rPr>
              <a:t>C</a:t>
            </a:r>
            <a:endParaRPr lang="en-MY" sz="2800" baseline="-25000" dirty="0">
              <a:solidFill>
                <a:srgbClr val="00B05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CB3ACE3-113D-E278-BE09-3E103C3F700B}"/>
              </a:ext>
            </a:extLst>
          </p:cNvPr>
          <p:cNvSpPr txBox="1"/>
          <p:nvPr/>
        </p:nvSpPr>
        <p:spPr>
          <a:xfrm>
            <a:off x="2685983" y="2944351"/>
            <a:ext cx="3802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800" dirty="0">
                <a:solidFill>
                  <a:srgbClr val="00B050"/>
                </a:solidFill>
              </a:rPr>
              <a:t>6</a:t>
            </a:r>
            <a:endParaRPr lang="en-MY" sz="2800" baseline="-25000" dirty="0">
              <a:solidFill>
                <a:srgbClr val="00B05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0BD4D30-EF42-46B0-8F78-2F1869572C82}"/>
              </a:ext>
            </a:extLst>
          </p:cNvPr>
          <p:cNvSpPr txBox="1"/>
          <p:nvPr/>
        </p:nvSpPr>
        <p:spPr>
          <a:xfrm>
            <a:off x="3501615" y="2944351"/>
            <a:ext cx="3962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800" dirty="0">
                <a:solidFill>
                  <a:srgbClr val="00B050"/>
                </a:solidFill>
              </a:rPr>
              <a:t>B</a:t>
            </a:r>
            <a:endParaRPr lang="en-MY" sz="2800" baseline="-25000" dirty="0">
              <a:solidFill>
                <a:srgbClr val="00B05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0DC8A03-4355-D1E2-DEA6-3BAD5A2325EA}"/>
              </a:ext>
            </a:extLst>
          </p:cNvPr>
          <p:cNvSpPr txBox="1"/>
          <p:nvPr/>
        </p:nvSpPr>
        <p:spPr>
          <a:xfrm>
            <a:off x="3925466" y="2944351"/>
            <a:ext cx="2936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800" dirty="0">
                <a:solidFill>
                  <a:srgbClr val="00B050"/>
                </a:solidFill>
              </a:rPr>
              <a:t>.</a:t>
            </a:r>
            <a:endParaRPr lang="en-MY" sz="2800" baseline="-25000" dirty="0">
              <a:solidFill>
                <a:srgbClr val="00B05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F27164F-1728-3EFA-79D0-D4B1A022F90F}"/>
              </a:ext>
            </a:extLst>
          </p:cNvPr>
          <p:cNvSpPr txBox="1"/>
          <p:nvPr/>
        </p:nvSpPr>
        <p:spPr>
          <a:xfrm>
            <a:off x="4298069" y="2944351"/>
            <a:ext cx="3802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800" dirty="0">
                <a:solidFill>
                  <a:srgbClr val="00B050"/>
                </a:solidFill>
              </a:rPr>
              <a:t>F</a:t>
            </a:r>
            <a:endParaRPr lang="en-MY" sz="2800" baseline="-25000" dirty="0">
              <a:solidFill>
                <a:srgbClr val="00B050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17D4F24-73DA-CD23-A930-8CF7D2E47C4B}"/>
              </a:ext>
            </a:extLst>
          </p:cNvPr>
          <p:cNvSpPr txBox="1"/>
          <p:nvPr/>
        </p:nvSpPr>
        <p:spPr>
          <a:xfrm>
            <a:off x="5052987" y="2944351"/>
            <a:ext cx="3802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800" dirty="0">
                <a:solidFill>
                  <a:srgbClr val="00B050"/>
                </a:solidFill>
              </a:rPr>
              <a:t>2</a:t>
            </a:r>
            <a:endParaRPr lang="en-MY" sz="2800" baseline="-250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82" grpId="0"/>
      <p:bldP spid="19467" grpId="0"/>
      <p:bldP spid="6" grpId="0"/>
      <p:bldP spid="31" grpId="0"/>
      <p:bldP spid="32" grpId="0"/>
      <p:bldP spid="33" grpId="0"/>
      <p:bldP spid="34" grpId="0"/>
      <p:bldP spid="35" grpId="0"/>
      <p:bldP spid="36" grpId="0"/>
      <p:bldP spid="37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A9D40-F90B-7BD3-F8D5-6C9E78868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Decimal to Hexadecimal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11F1D-3E3B-FA57-49AA-3468AAC832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6150" y="2060848"/>
            <a:ext cx="6446838" cy="8640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MY" sz="4400" dirty="0"/>
              <a:t>(479)</a:t>
            </a:r>
            <a:r>
              <a:rPr lang="en-MY" sz="4400" baseline="-25000" dirty="0"/>
              <a:t>10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8CA70B-0C4B-0DF9-D9CA-D457AEE702DC}"/>
              </a:ext>
            </a:extLst>
          </p:cNvPr>
          <p:cNvSpPr txBox="1"/>
          <p:nvPr/>
        </p:nvSpPr>
        <p:spPr>
          <a:xfrm>
            <a:off x="3059832" y="2060848"/>
            <a:ext cx="7809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3600" dirty="0">
                <a:sym typeface="Wingdings" panose="05000000000000000000" pitchFamily="2" charset="2"/>
              </a:rPr>
              <a:t> </a:t>
            </a:r>
            <a:endParaRPr lang="en-MY" sz="36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78CB5AF-FB4A-5CE7-9BBE-71289E3E113C}"/>
              </a:ext>
            </a:extLst>
          </p:cNvPr>
          <p:cNvSpPr txBox="1">
            <a:spLocks/>
          </p:cNvSpPr>
          <p:nvPr/>
        </p:nvSpPr>
        <p:spPr>
          <a:xfrm>
            <a:off x="3840815" y="2013987"/>
            <a:ext cx="6446838" cy="8640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563" indent="-182563" algn="l" rtl="0" fontAlgn="base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defRPr kern="1200" spc="1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563" algn="l" rtl="0" fontAlgn="base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600" kern="120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2pPr>
            <a:lvl3pPr marL="730250" indent="-182563" algn="l" rtl="0" fontAlgn="base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400" kern="120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3pPr>
            <a:lvl4pPr marL="1004888" indent="-182563" algn="l" rtl="0" fontAlgn="base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400" kern="120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4pPr>
            <a:lvl5pPr marL="1279525" indent="-182563" algn="l" rtl="0" fontAlgn="base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400" kern="120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buFont typeface="Arial" panose="020B0604020202020204" pitchFamily="34" charset="0"/>
              <a:buNone/>
            </a:pPr>
            <a:r>
              <a:rPr kumimoji="0" lang="en-MY" sz="4400" dirty="0"/>
              <a:t>( ? )</a:t>
            </a:r>
            <a:r>
              <a:rPr kumimoji="0" lang="en-MY" sz="4400" baseline="-25000" dirty="0"/>
              <a:t>16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0D6C640-AB73-D70E-804A-21D8F1939BD9}"/>
              </a:ext>
            </a:extLst>
          </p:cNvPr>
          <p:cNvSpPr/>
          <p:nvPr/>
        </p:nvSpPr>
        <p:spPr>
          <a:xfrm>
            <a:off x="-1836712" y="365125"/>
            <a:ext cx="928614" cy="546954"/>
          </a:xfrm>
          <a:prstGeom prst="ellipse">
            <a:avLst/>
          </a:prstGeom>
          <a:solidFill>
            <a:srgbClr val="660033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1600" dirty="0"/>
              <a:t>Step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57D1A9-7A2C-F09C-4757-1F039996628F}"/>
              </a:ext>
            </a:extLst>
          </p:cNvPr>
          <p:cNvSpPr txBox="1"/>
          <p:nvPr/>
        </p:nvSpPr>
        <p:spPr>
          <a:xfrm>
            <a:off x="1115616" y="3162165"/>
            <a:ext cx="33794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400" dirty="0"/>
              <a:t>479 ÷ 16 = 29.9375 = 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B9FB0CC-2D77-BCD6-8FE6-8797CC887D4F}"/>
              </a:ext>
            </a:extLst>
          </p:cNvPr>
          <p:cNvSpPr/>
          <p:nvPr/>
        </p:nvSpPr>
        <p:spPr>
          <a:xfrm>
            <a:off x="2805341" y="3068960"/>
            <a:ext cx="466843" cy="64807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335115-A8BE-51F6-315A-B86B0721B745}"/>
              </a:ext>
            </a:extLst>
          </p:cNvPr>
          <p:cNvSpPr txBox="1"/>
          <p:nvPr/>
        </p:nvSpPr>
        <p:spPr>
          <a:xfrm>
            <a:off x="4352369" y="3187043"/>
            <a:ext cx="521297" cy="461665"/>
          </a:xfrm>
          <a:prstGeom prst="rect">
            <a:avLst/>
          </a:prstGeom>
          <a:solidFill>
            <a:schemeClr val="accent3"/>
          </a:solidFill>
        </p:spPr>
        <p:txBody>
          <a:bodyPr wrap="none" rtlCol="0">
            <a:spAutoFit/>
          </a:bodyPr>
          <a:lstStyle/>
          <a:p>
            <a:r>
              <a:rPr lang="en-MY" sz="2400" dirty="0"/>
              <a:t>29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AF7367F-E20B-A550-F785-0AB66B3FF439}"/>
              </a:ext>
            </a:extLst>
          </p:cNvPr>
          <p:cNvCxnSpPr>
            <a:cxnSpLocks/>
          </p:cNvCxnSpPr>
          <p:nvPr/>
        </p:nvCxnSpPr>
        <p:spPr>
          <a:xfrm>
            <a:off x="3272184" y="3623830"/>
            <a:ext cx="723752" cy="0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0A1FECB-2B33-6142-AED7-B15E30776396}"/>
              </a:ext>
            </a:extLst>
          </p:cNvPr>
          <p:cNvSpPr txBox="1"/>
          <p:nvPr/>
        </p:nvSpPr>
        <p:spPr>
          <a:xfrm>
            <a:off x="2805341" y="3800688"/>
            <a:ext cx="25539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400" dirty="0"/>
              <a:t>0.9375 x16 = 15 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7253CFE-E227-D0B1-1DCB-1619E3E92A4F}"/>
              </a:ext>
            </a:extLst>
          </p:cNvPr>
          <p:cNvSpPr/>
          <p:nvPr/>
        </p:nvSpPr>
        <p:spPr>
          <a:xfrm>
            <a:off x="4728487" y="3704098"/>
            <a:ext cx="466843" cy="64807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E52087F-A545-4DD3-2AB5-3420C626118F}"/>
              </a:ext>
            </a:extLst>
          </p:cNvPr>
          <p:cNvSpPr txBox="1"/>
          <p:nvPr/>
        </p:nvSpPr>
        <p:spPr>
          <a:xfrm>
            <a:off x="4355514" y="3192417"/>
            <a:ext cx="1241045" cy="461665"/>
          </a:xfrm>
          <a:prstGeom prst="rect">
            <a:avLst/>
          </a:prstGeom>
          <a:solidFill>
            <a:schemeClr val="accent3"/>
          </a:solidFill>
        </p:spPr>
        <p:txBody>
          <a:bodyPr wrap="none" rtlCol="0">
            <a:spAutoFit/>
          </a:bodyPr>
          <a:lstStyle/>
          <a:p>
            <a:r>
              <a:rPr lang="en-MY" sz="2400" dirty="0"/>
              <a:t>29 R 15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77D9F8C-2D81-AF67-FC8F-42DC55C4F8D8}"/>
              </a:ext>
            </a:extLst>
          </p:cNvPr>
          <p:cNvCxnSpPr>
            <a:cxnSpLocks/>
          </p:cNvCxnSpPr>
          <p:nvPr/>
        </p:nvCxnSpPr>
        <p:spPr>
          <a:xfrm>
            <a:off x="4373950" y="3648708"/>
            <a:ext cx="414074" cy="0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C7C748B-3DF2-BC7F-1FAF-16F62227F0B4}"/>
              </a:ext>
            </a:extLst>
          </p:cNvPr>
          <p:cNvSpPr txBox="1"/>
          <p:nvPr/>
        </p:nvSpPr>
        <p:spPr>
          <a:xfrm>
            <a:off x="1115616" y="4366684"/>
            <a:ext cx="30428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400" dirty="0"/>
              <a:t>29 ÷ 16 = 1.8125 =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395184E-7923-0B90-6BC4-723692571CF2}"/>
              </a:ext>
            </a:extLst>
          </p:cNvPr>
          <p:cNvSpPr txBox="1"/>
          <p:nvPr/>
        </p:nvSpPr>
        <p:spPr>
          <a:xfrm>
            <a:off x="3995936" y="4399303"/>
            <a:ext cx="352982" cy="461665"/>
          </a:xfrm>
          <a:prstGeom prst="rect">
            <a:avLst/>
          </a:prstGeom>
          <a:solidFill>
            <a:schemeClr val="accent3"/>
          </a:solidFill>
        </p:spPr>
        <p:txBody>
          <a:bodyPr wrap="none" rtlCol="0">
            <a:spAutoFit/>
          </a:bodyPr>
          <a:lstStyle/>
          <a:p>
            <a:r>
              <a:rPr lang="en-MY" sz="24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3515D6F-8BB1-9591-6053-5ADA2EE9F5ED}"/>
              </a:ext>
            </a:extLst>
          </p:cNvPr>
          <p:cNvSpPr txBox="1"/>
          <p:nvPr/>
        </p:nvSpPr>
        <p:spPr>
          <a:xfrm>
            <a:off x="2881485" y="4912004"/>
            <a:ext cx="25539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400" dirty="0"/>
              <a:t>0.8125 x16 = 13 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EE0AED9-E7D0-2CFC-3074-98AB277F7677}"/>
              </a:ext>
            </a:extLst>
          </p:cNvPr>
          <p:cNvSpPr/>
          <p:nvPr/>
        </p:nvSpPr>
        <p:spPr>
          <a:xfrm>
            <a:off x="4848904" y="4860968"/>
            <a:ext cx="466843" cy="64807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E1D3A5C-69EE-BFFE-D63C-E250F471F6B8}"/>
              </a:ext>
            </a:extLst>
          </p:cNvPr>
          <p:cNvSpPr txBox="1"/>
          <p:nvPr/>
        </p:nvSpPr>
        <p:spPr>
          <a:xfrm>
            <a:off x="3989044" y="4398707"/>
            <a:ext cx="1072730" cy="461665"/>
          </a:xfrm>
          <a:prstGeom prst="rect">
            <a:avLst/>
          </a:prstGeom>
          <a:solidFill>
            <a:schemeClr val="accent3"/>
          </a:solidFill>
        </p:spPr>
        <p:txBody>
          <a:bodyPr wrap="none" rtlCol="0">
            <a:spAutoFit/>
          </a:bodyPr>
          <a:lstStyle/>
          <a:p>
            <a:r>
              <a:rPr lang="en-MY" sz="2400" dirty="0"/>
              <a:t>1 R 13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14E269A-B387-1B7C-47E1-F3D6F5C3795D}"/>
              </a:ext>
            </a:extLst>
          </p:cNvPr>
          <p:cNvCxnSpPr>
            <a:cxnSpLocks/>
          </p:cNvCxnSpPr>
          <p:nvPr/>
        </p:nvCxnSpPr>
        <p:spPr>
          <a:xfrm>
            <a:off x="4009595" y="4857557"/>
            <a:ext cx="414074" cy="0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41FBA1FB-D2F6-F5E9-0BF5-AD0A8EEAF132}"/>
              </a:ext>
            </a:extLst>
          </p:cNvPr>
          <p:cNvSpPr txBox="1"/>
          <p:nvPr/>
        </p:nvSpPr>
        <p:spPr>
          <a:xfrm>
            <a:off x="1114128" y="5460098"/>
            <a:ext cx="29706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400" dirty="0"/>
              <a:t>1 ÷ 16 = 0.0625 = 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C6ED030-900F-E208-B114-9E6E0DFF58EE}"/>
              </a:ext>
            </a:extLst>
          </p:cNvPr>
          <p:cNvSpPr/>
          <p:nvPr/>
        </p:nvSpPr>
        <p:spPr>
          <a:xfrm>
            <a:off x="2336613" y="5366893"/>
            <a:ext cx="466843" cy="64807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2283233-3DC6-91FC-1625-E020A4848DE7}"/>
              </a:ext>
            </a:extLst>
          </p:cNvPr>
          <p:cNvSpPr/>
          <p:nvPr/>
        </p:nvSpPr>
        <p:spPr>
          <a:xfrm>
            <a:off x="2520028" y="4306098"/>
            <a:ext cx="466843" cy="64807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939B1C0-B3AC-02E5-391C-FF84F92C9268}"/>
              </a:ext>
            </a:extLst>
          </p:cNvPr>
          <p:cNvSpPr txBox="1"/>
          <p:nvPr/>
        </p:nvSpPr>
        <p:spPr>
          <a:xfrm>
            <a:off x="3812553" y="5523691"/>
            <a:ext cx="352982" cy="461665"/>
          </a:xfrm>
          <a:prstGeom prst="rect">
            <a:avLst/>
          </a:prstGeom>
          <a:solidFill>
            <a:schemeClr val="accent3"/>
          </a:solidFill>
        </p:spPr>
        <p:txBody>
          <a:bodyPr wrap="none" rtlCol="0">
            <a:spAutoFit/>
          </a:bodyPr>
          <a:lstStyle/>
          <a:p>
            <a:r>
              <a:rPr lang="en-MY" sz="2400" dirty="0"/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F260F14-0CAD-6948-EFC9-2F7C5D35F8CD}"/>
              </a:ext>
            </a:extLst>
          </p:cNvPr>
          <p:cNvSpPr txBox="1"/>
          <p:nvPr/>
        </p:nvSpPr>
        <p:spPr>
          <a:xfrm>
            <a:off x="2865352" y="6031210"/>
            <a:ext cx="22894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400" dirty="0"/>
              <a:t>0.0625 x16 = 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B00E01D-AFB6-AEB2-8BBD-739C01D76B4E}"/>
              </a:ext>
            </a:extLst>
          </p:cNvPr>
          <p:cNvSpPr txBox="1"/>
          <p:nvPr/>
        </p:nvSpPr>
        <p:spPr>
          <a:xfrm>
            <a:off x="3813381" y="5523691"/>
            <a:ext cx="904415" cy="461665"/>
          </a:xfrm>
          <a:prstGeom prst="rect">
            <a:avLst/>
          </a:prstGeom>
          <a:solidFill>
            <a:schemeClr val="accent3"/>
          </a:solidFill>
        </p:spPr>
        <p:txBody>
          <a:bodyPr wrap="none" rtlCol="0">
            <a:spAutoFit/>
          </a:bodyPr>
          <a:lstStyle/>
          <a:p>
            <a:r>
              <a:rPr lang="en-MY" sz="2400" dirty="0"/>
              <a:t>0 R 1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301D299-A7C7-E2F5-AEAE-CDD9B6D37C1C}"/>
              </a:ext>
            </a:extLst>
          </p:cNvPr>
          <p:cNvCxnSpPr>
            <a:cxnSpLocks/>
          </p:cNvCxnSpPr>
          <p:nvPr/>
        </p:nvCxnSpPr>
        <p:spPr>
          <a:xfrm>
            <a:off x="2910308" y="4828349"/>
            <a:ext cx="723752" cy="0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E2A4D8C-64F4-F3D0-4271-1DDF2549580D}"/>
              </a:ext>
            </a:extLst>
          </p:cNvPr>
          <p:cNvCxnSpPr>
            <a:cxnSpLocks/>
          </p:cNvCxnSpPr>
          <p:nvPr/>
        </p:nvCxnSpPr>
        <p:spPr>
          <a:xfrm>
            <a:off x="2753449" y="5842618"/>
            <a:ext cx="723752" cy="0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9992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6" grpId="0"/>
      <p:bldP spid="9" grpId="0"/>
      <p:bldP spid="10" grpId="0" animBg="1"/>
      <p:bldP spid="11" grpId="0" animBg="1"/>
      <p:bldP spid="16" grpId="0"/>
      <p:bldP spid="17" grpId="0" animBg="1"/>
      <p:bldP spid="18" grpId="0" animBg="1"/>
      <p:bldP spid="21" grpId="0"/>
      <p:bldP spid="22" grpId="0" animBg="1"/>
      <p:bldP spid="23" grpId="0"/>
      <p:bldP spid="24" grpId="0" animBg="1"/>
      <p:bldP spid="25" grpId="0" animBg="1"/>
      <p:bldP spid="27" grpId="0"/>
      <p:bldP spid="28" grpId="0" animBg="1"/>
      <p:bldP spid="29" grpId="0" animBg="1"/>
      <p:bldP spid="30" grpId="0" animBg="1"/>
      <p:bldP spid="32" grpId="0"/>
      <p:bldP spid="33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A9D40-F90B-7BD3-F8D5-6C9E78868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Decimal to Hexadecimal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11F1D-3E3B-FA57-49AA-3468AAC832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6150" y="2060848"/>
            <a:ext cx="6446838" cy="8640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MY" sz="4400" dirty="0"/>
              <a:t>(479)</a:t>
            </a:r>
            <a:r>
              <a:rPr lang="en-MY" sz="4400" baseline="-25000" dirty="0"/>
              <a:t>10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8CA70B-0C4B-0DF9-D9CA-D457AEE702DC}"/>
              </a:ext>
            </a:extLst>
          </p:cNvPr>
          <p:cNvSpPr txBox="1"/>
          <p:nvPr/>
        </p:nvSpPr>
        <p:spPr>
          <a:xfrm>
            <a:off x="3059832" y="2060848"/>
            <a:ext cx="7809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3600" dirty="0">
                <a:sym typeface="Wingdings" panose="05000000000000000000" pitchFamily="2" charset="2"/>
              </a:rPr>
              <a:t> </a:t>
            </a:r>
            <a:endParaRPr lang="en-MY" sz="36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78CB5AF-FB4A-5CE7-9BBE-71289E3E113C}"/>
              </a:ext>
            </a:extLst>
          </p:cNvPr>
          <p:cNvSpPr txBox="1">
            <a:spLocks/>
          </p:cNvSpPr>
          <p:nvPr/>
        </p:nvSpPr>
        <p:spPr>
          <a:xfrm>
            <a:off x="3840815" y="2013987"/>
            <a:ext cx="2531385" cy="8640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563" indent="-182563" algn="l" rtl="0" fontAlgn="base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defRPr kern="1200" spc="1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563" algn="l" rtl="0" fontAlgn="base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600" kern="120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2pPr>
            <a:lvl3pPr marL="730250" indent="-182563" algn="l" rtl="0" fontAlgn="base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400" kern="120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3pPr>
            <a:lvl4pPr marL="1004888" indent="-182563" algn="l" rtl="0" fontAlgn="base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400" kern="120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4pPr>
            <a:lvl5pPr marL="1279525" indent="-182563" algn="l" rtl="0" fontAlgn="base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400" kern="120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buFont typeface="Arial" panose="020B0604020202020204" pitchFamily="34" charset="0"/>
              <a:buNone/>
            </a:pPr>
            <a:r>
              <a:rPr kumimoji="0" lang="en-MY" sz="4400" dirty="0"/>
              <a:t>(        )</a:t>
            </a:r>
            <a:r>
              <a:rPr kumimoji="0" lang="en-MY" sz="4400" baseline="-25000" dirty="0"/>
              <a:t>16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0D6C640-AB73-D70E-804A-21D8F1939BD9}"/>
              </a:ext>
            </a:extLst>
          </p:cNvPr>
          <p:cNvSpPr/>
          <p:nvPr/>
        </p:nvSpPr>
        <p:spPr>
          <a:xfrm>
            <a:off x="-1836712" y="365125"/>
            <a:ext cx="928614" cy="546954"/>
          </a:xfrm>
          <a:prstGeom prst="ellipse">
            <a:avLst/>
          </a:prstGeom>
          <a:solidFill>
            <a:srgbClr val="660033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1600" dirty="0"/>
              <a:t>Step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E52087F-A545-4DD3-2AB5-3420C626118F}"/>
              </a:ext>
            </a:extLst>
          </p:cNvPr>
          <p:cNvSpPr txBox="1"/>
          <p:nvPr/>
        </p:nvSpPr>
        <p:spPr>
          <a:xfrm>
            <a:off x="1115616" y="3453358"/>
            <a:ext cx="1241045" cy="461665"/>
          </a:xfrm>
          <a:prstGeom prst="rect">
            <a:avLst/>
          </a:prstGeom>
          <a:solidFill>
            <a:schemeClr val="accent3"/>
          </a:solidFill>
        </p:spPr>
        <p:txBody>
          <a:bodyPr wrap="none" rtlCol="0">
            <a:spAutoFit/>
          </a:bodyPr>
          <a:lstStyle/>
          <a:p>
            <a:r>
              <a:rPr lang="en-MY" sz="2400" dirty="0"/>
              <a:t>29 R 15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E1D3A5C-69EE-BFFE-D63C-E250F471F6B8}"/>
              </a:ext>
            </a:extLst>
          </p:cNvPr>
          <p:cNvSpPr txBox="1"/>
          <p:nvPr/>
        </p:nvSpPr>
        <p:spPr>
          <a:xfrm>
            <a:off x="1283931" y="4245447"/>
            <a:ext cx="1072730" cy="461665"/>
          </a:xfrm>
          <a:prstGeom prst="rect">
            <a:avLst/>
          </a:prstGeom>
          <a:solidFill>
            <a:schemeClr val="accent3"/>
          </a:solidFill>
        </p:spPr>
        <p:txBody>
          <a:bodyPr wrap="none" rtlCol="0">
            <a:spAutoFit/>
          </a:bodyPr>
          <a:lstStyle/>
          <a:p>
            <a:r>
              <a:rPr lang="en-MY" sz="2400" dirty="0"/>
              <a:t>1 R 13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B00E01D-AFB6-AEB2-8BBD-739C01D76B4E}"/>
              </a:ext>
            </a:extLst>
          </p:cNvPr>
          <p:cNvSpPr txBox="1"/>
          <p:nvPr/>
        </p:nvSpPr>
        <p:spPr>
          <a:xfrm>
            <a:off x="1452246" y="5037536"/>
            <a:ext cx="904415" cy="461665"/>
          </a:xfrm>
          <a:prstGeom prst="rect">
            <a:avLst/>
          </a:prstGeom>
          <a:solidFill>
            <a:schemeClr val="accent3"/>
          </a:solidFill>
        </p:spPr>
        <p:txBody>
          <a:bodyPr wrap="none" rtlCol="0">
            <a:spAutoFit/>
          </a:bodyPr>
          <a:lstStyle/>
          <a:p>
            <a:r>
              <a:rPr lang="en-MY" sz="2400" dirty="0"/>
              <a:t>0 R 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93CA04-5083-2B00-860F-7D4BFC697BC6}"/>
              </a:ext>
            </a:extLst>
          </p:cNvPr>
          <p:cNvSpPr/>
          <p:nvPr/>
        </p:nvSpPr>
        <p:spPr>
          <a:xfrm>
            <a:off x="1907704" y="3295104"/>
            <a:ext cx="576064" cy="236614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E12EE5-AA81-C218-0C48-417408A69BC5}"/>
              </a:ext>
            </a:extLst>
          </p:cNvPr>
          <p:cNvSpPr txBox="1"/>
          <p:nvPr/>
        </p:nvSpPr>
        <p:spPr>
          <a:xfrm>
            <a:off x="2823648" y="5040934"/>
            <a:ext cx="352982" cy="461665"/>
          </a:xfrm>
          <a:prstGeom prst="rect">
            <a:avLst/>
          </a:prstGeom>
          <a:solidFill>
            <a:schemeClr val="accent3"/>
          </a:solidFill>
        </p:spPr>
        <p:txBody>
          <a:bodyPr wrap="none" rtlCol="0">
            <a:spAutoFit/>
          </a:bodyPr>
          <a:lstStyle/>
          <a:p>
            <a:r>
              <a:rPr lang="en-MY" sz="24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F3F4B4-656A-52CD-DEF0-C9857FF79935}"/>
              </a:ext>
            </a:extLst>
          </p:cNvPr>
          <p:cNvSpPr txBox="1"/>
          <p:nvPr/>
        </p:nvSpPr>
        <p:spPr>
          <a:xfrm>
            <a:off x="2823648" y="4256163"/>
            <a:ext cx="521297" cy="461665"/>
          </a:xfrm>
          <a:prstGeom prst="rect">
            <a:avLst/>
          </a:prstGeom>
          <a:solidFill>
            <a:schemeClr val="accent3"/>
          </a:solidFill>
        </p:spPr>
        <p:txBody>
          <a:bodyPr wrap="none" rtlCol="0">
            <a:spAutoFit/>
          </a:bodyPr>
          <a:lstStyle/>
          <a:p>
            <a:r>
              <a:rPr lang="en-MY" sz="2400" dirty="0"/>
              <a:t>13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C6BF19-970E-358A-9926-8CAD50CDF0C4}"/>
              </a:ext>
            </a:extLst>
          </p:cNvPr>
          <p:cNvSpPr txBox="1"/>
          <p:nvPr/>
        </p:nvSpPr>
        <p:spPr>
          <a:xfrm>
            <a:off x="2823648" y="3471392"/>
            <a:ext cx="521297" cy="461665"/>
          </a:xfrm>
          <a:prstGeom prst="rect">
            <a:avLst/>
          </a:prstGeom>
          <a:solidFill>
            <a:schemeClr val="accent3"/>
          </a:solidFill>
        </p:spPr>
        <p:txBody>
          <a:bodyPr wrap="none" rtlCol="0">
            <a:spAutoFit/>
          </a:bodyPr>
          <a:lstStyle/>
          <a:p>
            <a:r>
              <a:rPr lang="en-MY" sz="2400" dirty="0"/>
              <a:t>15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60F259-910E-CDEB-61F2-D363FADB1B85}"/>
              </a:ext>
            </a:extLst>
          </p:cNvPr>
          <p:cNvSpPr txBox="1"/>
          <p:nvPr/>
        </p:nvSpPr>
        <p:spPr>
          <a:xfrm>
            <a:off x="3843088" y="5043887"/>
            <a:ext cx="352982" cy="461665"/>
          </a:xfrm>
          <a:prstGeom prst="rect">
            <a:avLst/>
          </a:prstGeom>
          <a:solidFill>
            <a:schemeClr val="accent3"/>
          </a:solidFill>
        </p:spPr>
        <p:txBody>
          <a:bodyPr wrap="none" rtlCol="0">
            <a:spAutoFit/>
          </a:bodyPr>
          <a:lstStyle/>
          <a:p>
            <a:r>
              <a:rPr lang="en-MY" sz="24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63EE7E1-7EA9-FCC3-FD18-662E2BFFC3FD}"/>
              </a:ext>
            </a:extLst>
          </p:cNvPr>
          <p:cNvSpPr txBox="1"/>
          <p:nvPr/>
        </p:nvSpPr>
        <p:spPr>
          <a:xfrm>
            <a:off x="3843088" y="4259116"/>
            <a:ext cx="393056" cy="461665"/>
          </a:xfrm>
          <a:prstGeom prst="rect">
            <a:avLst/>
          </a:prstGeom>
          <a:solidFill>
            <a:schemeClr val="accent3"/>
          </a:solidFill>
        </p:spPr>
        <p:txBody>
          <a:bodyPr wrap="none" rtlCol="0">
            <a:spAutoFit/>
          </a:bodyPr>
          <a:lstStyle/>
          <a:p>
            <a:r>
              <a:rPr lang="en-MY" sz="2400" dirty="0"/>
              <a:t>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12C1B9A-77BF-1435-C501-F05E27378CDF}"/>
              </a:ext>
            </a:extLst>
          </p:cNvPr>
          <p:cNvSpPr txBox="1"/>
          <p:nvPr/>
        </p:nvSpPr>
        <p:spPr>
          <a:xfrm>
            <a:off x="3843088" y="3474345"/>
            <a:ext cx="344966" cy="461665"/>
          </a:xfrm>
          <a:prstGeom prst="rect">
            <a:avLst/>
          </a:prstGeom>
          <a:solidFill>
            <a:schemeClr val="accent3"/>
          </a:solidFill>
        </p:spPr>
        <p:txBody>
          <a:bodyPr wrap="none" rtlCol="0">
            <a:spAutoFit/>
          </a:bodyPr>
          <a:lstStyle/>
          <a:p>
            <a:r>
              <a:rPr lang="en-MY" sz="2400" dirty="0"/>
              <a:t>F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A139C69-313C-A133-2B28-4DCAC307F383}"/>
              </a:ext>
            </a:extLst>
          </p:cNvPr>
          <p:cNvCxnSpPr/>
          <p:nvPr/>
        </p:nvCxnSpPr>
        <p:spPr>
          <a:xfrm flipV="1">
            <a:off x="5220072" y="3429000"/>
            <a:ext cx="0" cy="2304256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ontent Placeholder 2">
            <a:extLst>
              <a:ext uri="{FF2B5EF4-FFF2-40B4-BE49-F238E27FC236}">
                <a16:creationId xmlns:a16="http://schemas.microsoft.com/office/drawing/2014/main" id="{1F76C2EE-658C-F9A2-D8B5-A149F83CA50C}"/>
              </a:ext>
            </a:extLst>
          </p:cNvPr>
          <p:cNvSpPr txBox="1">
            <a:spLocks/>
          </p:cNvSpPr>
          <p:nvPr/>
        </p:nvSpPr>
        <p:spPr>
          <a:xfrm>
            <a:off x="4204096" y="2084296"/>
            <a:ext cx="1159992" cy="8640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563" indent="-182563" algn="l" rtl="0" fontAlgn="base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defRPr kern="1200" spc="1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563" algn="l" rtl="0" fontAlgn="base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600" kern="120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2pPr>
            <a:lvl3pPr marL="730250" indent="-182563" algn="l" rtl="0" fontAlgn="base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400" kern="120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3pPr>
            <a:lvl4pPr marL="1004888" indent="-182563" algn="l" rtl="0" fontAlgn="base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400" kern="120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4pPr>
            <a:lvl5pPr marL="1279525" indent="-182563" algn="l" rtl="0" fontAlgn="base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400" kern="120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buFont typeface="Arial" panose="020B0604020202020204" pitchFamily="34" charset="0"/>
              <a:buNone/>
            </a:pPr>
            <a:r>
              <a:rPr kumimoji="0" lang="en-MY" sz="3600" dirty="0">
                <a:solidFill>
                  <a:srgbClr val="00B050"/>
                </a:solidFill>
              </a:rPr>
              <a:t>1DF</a:t>
            </a:r>
            <a:endParaRPr kumimoji="0" lang="en-MY" sz="3600" baseline="-250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410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5" grpId="0" animBg="1"/>
      <p:bldP spid="33" grpId="0" animBg="1"/>
      <p:bldP spid="4" grpId="0" animBg="1"/>
      <p:bldP spid="7" grpId="0" animBg="1"/>
      <p:bldP spid="12" grpId="0" animBg="1"/>
      <p:bldP spid="14" grpId="0" animBg="1"/>
      <p:bldP spid="15" grpId="0" animBg="1"/>
      <p:bldP spid="20" grpId="0" animBg="1"/>
      <p:bldP spid="31" grpId="0" animBg="1"/>
      <p:bldP spid="38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B0B6DA4-3B1C-5419-9AF4-CCA9C9B66C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808" y="188640"/>
            <a:ext cx="6059472" cy="648072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F5DCBD7-9458-6709-F165-A46BEC82C993}"/>
              </a:ext>
            </a:extLst>
          </p:cNvPr>
          <p:cNvSpPr/>
          <p:nvPr/>
        </p:nvSpPr>
        <p:spPr>
          <a:xfrm rot="5400000">
            <a:off x="3867392" y="-1194984"/>
            <a:ext cx="257088" cy="43204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B00C2F-FB91-D79A-01EF-F129009A86EA}"/>
              </a:ext>
            </a:extLst>
          </p:cNvPr>
          <p:cNvSpPr/>
          <p:nvPr/>
        </p:nvSpPr>
        <p:spPr>
          <a:xfrm rot="5400000">
            <a:off x="3867392" y="1901360"/>
            <a:ext cx="257088" cy="43204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620A38-4F6B-8E30-D59E-20BF2341E9AF}"/>
              </a:ext>
            </a:extLst>
          </p:cNvPr>
          <p:cNvSpPr/>
          <p:nvPr/>
        </p:nvSpPr>
        <p:spPr>
          <a:xfrm rot="5400000">
            <a:off x="3867392" y="2405416"/>
            <a:ext cx="257088" cy="43204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26984884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22C04-9C26-864C-A679-39CF23601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In a nutshell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2ECE6-130C-1874-FE9D-ABE90E5BA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6150" y="1828800"/>
            <a:ext cx="7269162" cy="4351338"/>
          </a:xfrm>
        </p:spPr>
        <p:txBody>
          <a:bodyPr>
            <a:normAutofit/>
          </a:bodyPr>
          <a:lstStyle/>
          <a:p>
            <a:r>
              <a:rPr lang="en-US" sz="2000" dirty="0"/>
              <a:t>Hexadecimal notation is not only used for representing integers but also used as a concise notation for representing any sequence of binary digits, whether they represent text, numbers, or some other type of data</a:t>
            </a:r>
          </a:p>
          <a:p>
            <a:r>
              <a:rPr lang="en-US" sz="2000" dirty="0"/>
              <a:t>The reasons for using hexadecimal notation:</a:t>
            </a:r>
          </a:p>
          <a:p>
            <a:pPr marL="0" indent="0">
              <a:buNone/>
            </a:pPr>
            <a:endParaRPr lang="en-US" sz="2000" dirty="0"/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/>
              <a:t>It is more compact than binary notation.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/>
              <a:t>In most computers, binary data occupy some multiple of 4 bits, and hence some multiple of a single hexadecimal digit.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/>
              <a:t>It is extremely easy to convert between binary and hexadecimal notation.</a:t>
            </a:r>
            <a:endParaRPr lang="en-MY" sz="1800" dirty="0"/>
          </a:p>
        </p:txBody>
      </p:sp>
    </p:spTree>
    <p:extLst>
      <p:ext uri="{BB962C8B-B14F-4D97-AF65-F5344CB8AC3E}">
        <p14:creationId xmlns:p14="http://schemas.microsoft.com/office/powerpoint/2010/main" val="63370439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Content Placeholder 3">
            <a:extLst>
              <a:ext uri="{FF2B5EF4-FFF2-40B4-BE49-F238E27FC236}">
                <a16:creationId xmlns:a16="http://schemas.microsoft.com/office/drawing/2014/main" id="{F985D939-DA5C-8A98-F173-5B9BBD6852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3789363"/>
            <a:ext cx="8178800" cy="2519362"/>
          </a:xfrm>
        </p:spPr>
        <p:txBody>
          <a:bodyPr/>
          <a:lstStyle/>
          <a:p>
            <a:pPr marL="182880" indent="-182880" fontAlgn="auto">
              <a:defRPr/>
            </a:pPr>
            <a:r>
              <a:rPr lang="en-US" altLang="en-US" dirty="0">
                <a:solidFill>
                  <a:schemeClr val="bg2"/>
                </a:solidFill>
              </a:rPr>
              <a:t>Convert the above octal number to decimal.</a:t>
            </a:r>
            <a:endParaRPr lang="en-MY" altLang="en-US" dirty="0">
              <a:solidFill>
                <a:schemeClr val="bg2"/>
              </a:solidFill>
            </a:endParaRPr>
          </a:p>
        </p:txBody>
      </p:sp>
      <p:sp>
        <p:nvSpPr>
          <p:cNvPr id="31748" name="TextBox 1">
            <a:extLst>
              <a:ext uri="{FF2B5EF4-FFF2-40B4-BE49-F238E27FC236}">
                <a16:creationId xmlns:a16="http://schemas.microsoft.com/office/drawing/2014/main" id="{6553C8B8-79E2-58AE-B3EE-712ADD9A3A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900" y="1773238"/>
            <a:ext cx="8820150" cy="15684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buFontTx/>
              <a:buNone/>
              <a:defRPr/>
            </a:pPr>
            <a:r>
              <a:rPr lang="en-US" altLang="en-US" sz="96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567</a:t>
            </a:r>
            <a:r>
              <a:rPr lang="en-US" altLang="en-US" sz="9600" baseline="-250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8</a:t>
            </a:r>
            <a:endParaRPr lang="en-MY" altLang="en-US" sz="9600" baseline="-25000" dirty="0">
              <a:solidFill>
                <a:schemeClr val="bg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58372" name="Picture 4">
            <a:extLst>
              <a:ext uri="{FF2B5EF4-FFF2-40B4-BE49-F238E27FC236}">
                <a16:creationId xmlns:a16="http://schemas.microsoft.com/office/drawing/2014/main" id="{3697B2CB-6061-1847-8CD4-84D62F6D05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452"/>
          <a:stretch>
            <a:fillRect/>
          </a:stretch>
        </p:blipFill>
        <p:spPr bwMode="auto">
          <a:xfrm>
            <a:off x="7235825" y="79375"/>
            <a:ext cx="1755775" cy="150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Content Placeholder 3">
            <a:extLst>
              <a:ext uri="{FF2B5EF4-FFF2-40B4-BE49-F238E27FC236}">
                <a16:creationId xmlns:a16="http://schemas.microsoft.com/office/drawing/2014/main" id="{93B33957-1342-7BEE-4AC4-1586009CAB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3789363"/>
            <a:ext cx="8178800" cy="2519362"/>
          </a:xfrm>
        </p:spPr>
        <p:txBody>
          <a:bodyPr/>
          <a:lstStyle/>
          <a:p>
            <a:pPr marL="182880" indent="-182880" fontAlgn="auto">
              <a:defRPr/>
            </a:pPr>
            <a:r>
              <a:rPr lang="en-US" altLang="en-US" dirty="0">
                <a:solidFill>
                  <a:schemeClr val="bg2"/>
                </a:solidFill>
              </a:rPr>
              <a:t>Convert the above </a:t>
            </a:r>
            <a:r>
              <a:rPr lang="en-US" altLang="en-US" sz="3600" dirty="0">
                <a:solidFill>
                  <a:srgbClr val="FFFF00"/>
                </a:solidFill>
              </a:rPr>
              <a:t>octal</a:t>
            </a:r>
            <a:r>
              <a:rPr lang="en-US" altLang="en-US" dirty="0">
                <a:solidFill>
                  <a:schemeClr val="bg2"/>
                </a:solidFill>
              </a:rPr>
              <a:t> number to </a:t>
            </a:r>
            <a:r>
              <a:rPr lang="en-US" altLang="en-US" sz="3600" dirty="0">
                <a:solidFill>
                  <a:srgbClr val="FFFF00"/>
                </a:solidFill>
              </a:rPr>
              <a:t>decimal</a:t>
            </a:r>
            <a:r>
              <a:rPr lang="en-US" altLang="en-US" dirty="0">
                <a:solidFill>
                  <a:schemeClr val="bg2"/>
                </a:solidFill>
              </a:rPr>
              <a:t>.</a:t>
            </a:r>
          </a:p>
          <a:p>
            <a:pPr marL="182880" indent="-182880" fontAlgn="auto">
              <a:defRPr/>
            </a:pPr>
            <a:r>
              <a:rPr lang="en-US" altLang="en-US" dirty="0">
                <a:solidFill>
                  <a:schemeClr val="bg2"/>
                </a:solidFill>
              </a:rPr>
              <a:t>What numbers did you add to get the answer?</a:t>
            </a:r>
            <a:endParaRPr lang="en-MY" altLang="en-US" dirty="0">
              <a:solidFill>
                <a:schemeClr val="bg2"/>
              </a:solidFill>
            </a:endParaRPr>
          </a:p>
        </p:txBody>
      </p:sp>
      <p:sp>
        <p:nvSpPr>
          <p:cNvPr id="31748" name="TextBox 1">
            <a:extLst>
              <a:ext uri="{FF2B5EF4-FFF2-40B4-BE49-F238E27FC236}">
                <a16:creationId xmlns:a16="http://schemas.microsoft.com/office/drawing/2014/main" id="{7FDF332B-F2D1-CE20-4408-CA2C7D8242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900" y="1773238"/>
            <a:ext cx="8820150" cy="15684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buFontTx/>
              <a:buNone/>
              <a:defRPr/>
            </a:pPr>
            <a:r>
              <a:rPr lang="en-US" altLang="en-US" sz="96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567</a:t>
            </a:r>
            <a:r>
              <a:rPr lang="en-US" altLang="en-US" sz="9600" baseline="-250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8</a:t>
            </a:r>
            <a:endParaRPr lang="en-MY" altLang="en-US" sz="9600" baseline="-25000" dirty="0">
              <a:solidFill>
                <a:schemeClr val="bg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59396" name="Picture 4">
            <a:extLst>
              <a:ext uri="{FF2B5EF4-FFF2-40B4-BE49-F238E27FC236}">
                <a16:creationId xmlns:a16="http://schemas.microsoft.com/office/drawing/2014/main" id="{DB738A59-2FD8-70B6-0CC0-CECF69DED1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452"/>
          <a:stretch>
            <a:fillRect/>
          </a:stretch>
        </p:blipFill>
        <p:spPr bwMode="auto">
          <a:xfrm>
            <a:off x="7235825" y="79375"/>
            <a:ext cx="1755775" cy="150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6E1E6-A342-CFF0-C850-3C7D97A65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365125"/>
            <a:ext cx="7819777" cy="1325563"/>
          </a:xfrm>
        </p:spPr>
        <p:txBody>
          <a:bodyPr/>
          <a:lstStyle/>
          <a:p>
            <a:r>
              <a:rPr lang="en-MY" dirty="0"/>
              <a:t>Conversion summary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3242FF-4C62-5AB1-93A5-59369EE43B99}"/>
              </a:ext>
            </a:extLst>
          </p:cNvPr>
          <p:cNvSpPr/>
          <p:nvPr/>
        </p:nvSpPr>
        <p:spPr>
          <a:xfrm>
            <a:off x="683568" y="1988840"/>
            <a:ext cx="2016224" cy="108012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MY" dirty="0">
                <a:solidFill>
                  <a:schemeClr val="tx1"/>
                </a:solidFill>
              </a:rPr>
              <a:t>Binary</a:t>
            </a:r>
            <a:r>
              <a:rPr lang="en-MY" baseline="-25000" dirty="0">
                <a:solidFill>
                  <a:schemeClr val="tx1"/>
                </a:solidFill>
              </a:rPr>
              <a:t>2</a:t>
            </a:r>
            <a:r>
              <a:rPr lang="en-MY" dirty="0">
                <a:solidFill>
                  <a:schemeClr val="tx1"/>
                </a:solidFill>
              </a:rPr>
              <a:t> </a:t>
            </a:r>
          </a:p>
          <a:p>
            <a:r>
              <a:rPr lang="en-MY" dirty="0">
                <a:solidFill>
                  <a:schemeClr val="tx1"/>
                </a:solidFill>
              </a:rPr>
              <a:t>Octal</a:t>
            </a:r>
            <a:r>
              <a:rPr lang="en-MY" baseline="-25000" dirty="0">
                <a:solidFill>
                  <a:schemeClr val="tx1"/>
                </a:solidFill>
              </a:rPr>
              <a:t>8</a:t>
            </a:r>
          </a:p>
          <a:p>
            <a:r>
              <a:rPr lang="en-MY" dirty="0">
                <a:solidFill>
                  <a:schemeClr val="tx1"/>
                </a:solidFill>
              </a:rPr>
              <a:t>Hexadecimal</a:t>
            </a:r>
            <a:r>
              <a:rPr lang="en-MY" baseline="-25000" dirty="0">
                <a:solidFill>
                  <a:schemeClr val="tx1"/>
                </a:solidFill>
              </a:rPr>
              <a:t>16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BCAD65-F658-DA83-57BC-7204F3D94CF3}"/>
              </a:ext>
            </a:extLst>
          </p:cNvPr>
          <p:cNvSpPr/>
          <p:nvPr/>
        </p:nvSpPr>
        <p:spPr>
          <a:xfrm>
            <a:off x="3196607" y="2348880"/>
            <a:ext cx="1368152" cy="35813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MY" dirty="0">
                <a:solidFill>
                  <a:schemeClr val="tx1"/>
                </a:solidFill>
              </a:rPr>
              <a:t>Decimal</a:t>
            </a:r>
            <a:r>
              <a:rPr lang="en-MY" baseline="-25000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EFA993AE-6D71-DE5C-E123-49BE83506196}"/>
              </a:ext>
            </a:extLst>
          </p:cNvPr>
          <p:cNvSpPr/>
          <p:nvPr/>
        </p:nvSpPr>
        <p:spPr>
          <a:xfrm>
            <a:off x="4572000" y="1916832"/>
            <a:ext cx="288034" cy="1152128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124AAD-3E2C-4C48-483E-33BE7C295442}"/>
              </a:ext>
            </a:extLst>
          </p:cNvPr>
          <p:cNvSpPr/>
          <p:nvPr/>
        </p:nvSpPr>
        <p:spPr>
          <a:xfrm>
            <a:off x="5148066" y="2281411"/>
            <a:ext cx="3168350" cy="35813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MY" dirty="0">
                <a:solidFill>
                  <a:schemeClr val="tx1"/>
                </a:solidFill>
              </a:rPr>
              <a:t>(d x </a:t>
            </a:r>
            <a:r>
              <a:rPr lang="en-MY" dirty="0" err="1">
                <a:solidFill>
                  <a:schemeClr val="tx1"/>
                </a:solidFill>
              </a:rPr>
              <a:t>r</a:t>
            </a:r>
            <a:r>
              <a:rPr lang="en-MY" baseline="30000" dirty="0" err="1">
                <a:solidFill>
                  <a:schemeClr val="tx1"/>
                </a:solidFill>
              </a:rPr>
              <a:t>n</a:t>
            </a:r>
            <a:r>
              <a:rPr lang="en-MY" dirty="0">
                <a:solidFill>
                  <a:schemeClr val="tx1"/>
                </a:solidFill>
              </a:rPr>
              <a:t>) + (d x </a:t>
            </a:r>
            <a:r>
              <a:rPr lang="en-MY" dirty="0" err="1">
                <a:solidFill>
                  <a:schemeClr val="tx1"/>
                </a:solidFill>
              </a:rPr>
              <a:t>r</a:t>
            </a:r>
            <a:r>
              <a:rPr lang="en-MY" baseline="30000" dirty="0" err="1">
                <a:solidFill>
                  <a:schemeClr val="tx1"/>
                </a:solidFill>
              </a:rPr>
              <a:t>n</a:t>
            </a:r>
            <a:r>
              <a:rPr lang="en-MY" dirty="0">
                <a:solidFill>
                  <a:schemeClr val="tx1"/>
                </a:solidFill>
              </a:rPr>
              <a:t>) ………</a:t>
            </a:r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B7B365EA-6C90-2A7F-95CC-B052F5E90D0A}"/>
              </a:ext>
            </a:extLst>
          </p:cNvPr>
          <p:cNvSpPr/>
          <p:nvPr/>
        </p:nvSpPr>
        <p:spPr>
          <a:xfrm>
            <a:off x="4572000" y="3355578"/>
            <a:ext cx="288034" cy="1945628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A3023A6-2B8C-5002-521E-D789E1748C5B}"/>
              </a:ext>
            </a:extLst>
          </p:cNvPr>
          <p:cNvSpPr/>
          <p:nvPr/>
        </p:nvSpPr>
        <p:spPr>
          <a:xfrm>
            <a:off x="5132042" y="4057771"/>
            <a:ext cx="2834455" cy="610023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MY" dirty="0">
                <a:solidFill>
                  <a:schemeClr val="tx1"/>
                </a:solidFill>
              </a:rPr>
              <a:t>(÷) with R </a:t>
            </a:r>
          </a:p>
          <a:p>
            <a:r>
              <a:rPr lang="en-MY" dirty="0">
                <a:solidFill>
                  <a:schemeClr val="tx1"/>
                </a:solidFill>
              </a:rPr>
              <a:t>Arrange R B-U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A894922-AB9F-2E39-D061-9017C5BE7062}"/>
              </a:ext>
            </a:extLst>
          </p:cNvPr>
          <p:cNvSpPr/>
          <p:nvPr/>
        </p:nvSpPr>
        <p:spPr>
          <a:xfrm>
            <a:off x="683568" y="4099313"/>
            <a:ext cx="1368152" cy="396043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MY" dirty="0">
                <a:solidFill>
                  <a:schemeClr val="tx1"/>
                </a:solidFill>
              </a:rPr>
              <a:t>Decimal</a:t>
            </a:r>
            <a:r>
              <a:rPr lang="en-MY" baseline="-25000" dirty="0">
                <a:solidFill>
                  <a:schemeClr val="tx1"/>
                </a:solidFill>
              </a:rPr>
              <a:t>10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816596C-2BC2-001E-4CC5-15560D1299C8}"/>
              </a:ext>
            </a:extLst>
          </p:cNvPr>
          <p:cNvCxnSpPr/>
          <p:nvPr/>
        </p:nvCxnSpPr>
        <p:spPr>
          <a:xfrm>
            <a:off x="497843" y="3212976"/>
            <a:ext cx="7560840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55F8A16-CAB6-1F04-5093-91F0FCF68636}"/>
              </a:ext>
            </a:extLst>
          </p:cNvPr>
          <p:cNvCxnSpPr/>
          <p:nvPr/>
        </p:nvCxnSpPr>
        <p:spPr>
          <a:xfrm>
            <a:off x="517352" y="5445224"/>
            <a:ext cx="7560840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3F8C01FB-883C-9772-C0B0-C62678B1D178}"/>
              </a:ext>
            </a:extLst>
          </p:cNvPr>
          <p:cNvSpPr/>
          <p:nvPr/>
        </p:nvSpPr>
        <p:spPr>
          <a:xfrm>
            <a:off x="2548535" y="3776674"/>
            <a:ext cx="2016224" cy="108012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MY" dirty="0">
                <a:solidFill>
                  <a:schemeClr val="tx1"/>
                </a:solidFill>
              </a:rPr>
              <a:t>Binary</a:t>
            </a:r>
            <a:r>
              <a:rPr lang="en-MY" baseline="-25000" dirty="0">
                <a:solidFill>
                  <a:schemeClr val="tx1"/>
                </a:solidFill>
              </a:rPr>
              <a:t>2</a:t>
            </a:r>
            <a:r>
              <a:rPr lang="en-MY" dirty="0">
                <a:solidFill>
                  <a:schemeClr val="tx1"/>
                </a:solidFill>
              </a:rPr>
              <a:t> </a:t>
            </a:r>
          </a:p>
          <a:p>
            <a:r>
              <a:rPr lang="en-MY" dirty="0">
                <a:solidFill>
                  <a:schemeClr val="tx1"/>
                </a:solidFill>
              </a:rPr>
              <a:t>Octal</a:t>
            </a:r>
            <a:r>
              <a:rPr lang="en-MY" baseline="-25000" dirty="0">
                <a:solidFill>
                  <a:schemeClr val="tx1"/>
                </a:solidFill>
              </a:rPr>
              <a:t>8</a:t>
            </a:r>
          </a:p>
          <a:p>
            <a:r>
              <a:rPr lang="en-MY" dirty="0">
                <a:solidFill>
                  <a:schemeClr val="tx1"/>
                </a:solidFill>
              </a:rPr>
              <a:t>Hexadecimal</a:t>
            </a:r>
            <a:r>
              <a:rPr lang="en-MY" baseline="-25000" dirty="0">
                <a:solidFill>
                  <a:schemeClr val="tx1"/>
                </a:solidFill>
              </a:rPr>
              <a:t>16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AE28C7E-99D5-A597-0B5A-0A705B96BB29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 flipV="1">
            <a:off x="2699792" y="2527945"/>
            <a:ext cx="496815" cy="95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6B6BE3B-AFBA-7178-865C-CF49E8CA99AB}"/>
              </a:ext>
            </a:extLst>
          </p:cNvPr>
          <p:cNvCxnSpPr>
            <a:cxnSpLocks/>
          </p:cNvCxnSpPr>
          <p:nvPr/>
        </p:nvCxnSpPr>
        <p:spPr>
          <a:xfrm flipV="1">
            <a:off x="2051720" y="4296379"/>
            <a:ext cx="496815" cy="95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373060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6E1E6-A342-CFF0-C850-3C7D97A65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365125"/>
            <a:ext cx="7819777" cy="1325563"/>
          </a:xfrm>
        </p:spPr>
        <p:txBody>
          <a:bodyPr/>
          <a:lstStyle/>
          <a:p>
            <a:r>
              <a:rPr lang="en-MY" dirty="0"/>
              <a:t>Conversion summary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3242FF-4C62-5AB1-93A5-59369EE43B99}"/>
              </a:ext>
            </a:extLst>
          </p:cNvPr>
          <p:cNvSpPr/>
          <p:nvPr/>
        </p:nvSpPr>
        <p:spPr>
          <a:xfrm>
            <a:off x="395536" y="3383886"/>
            <a:ext cx="1224136" cy="358129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MY" dirty="0">
                <a:solidFill>
                  <a:schemeClr val="tx1"/>
                </a:solidFill>
              </a:rPr>
              <a:t>Binary</a:t>
            </a:r>
            <a:r>
              <a:rPr lang="en-MY" baseline="-25000" dirty="0">
                <a:solidFill>
                  <a:schemeClr val="tx1"/>
                </a:solidFill>
              </a:rPr>
              <a:t>2</a:t>
            </a:r>
            <a:r>
              <a:rPr lang="en-MY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BCAD65-F658-DA83-57BC-7204F3D94CF3}"/>
              </a:ext>
            </a:extLst>
          </p:cNvPr>
          <p:cNvSpPr/>
          <p:nvPr/>
        </p:nvSpPr>
        <p:spPr>
          <a:xfrm>
            <a:off x="2338341" y="4625412"/>
            <a:ext cx="2017635" cy="35813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MY" dirty="0">
                <a:solidFill>
                  <a:schemeClr val="tx1"/>
                </a:solidFill>
              </a:rPr>
              <a:t>Hexadecimal</a:t>
            </a:r>
            <a:r>
              <a:rPr lang="en-MY" baseline="-25000" dirty="0">
                <a:solidFill>
                  <a:schemeClr val="tx1"/>
                </a:solidFill>
              </a:rPr>
              <a:t>16</a:t>
            </a: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EFA993AE-6D71-DE5C-E123-49BE83506196}"/>
              </a:ext>
            </a:extLst>
          </p:cNvPr>
          <p:cNvSpPr/>
          <p:nvPr/>
        </p:nvSpPr>
        <p:spPr>
          <a:xfrm>
            <a:off x="4399764" y="4528835"/>
            <a:ext cx="288034" cy="551283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124AAD-3E2C-4C48-483E-33BE7C295442}"/>
              </a:ext>
            </a:extLst>
          </p:cNvPr>
          <p:cNvSpPr/>
          <p:nvPr/>
        </p:nvSpPr>
        <p:spPr>
          <a:xfrm>
            <a:off x="4876224" y="4625412"/>
            <a:ext cx="2978244" cy="35813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MY" dirty="0">
                <a:solidFill>
                  <a:schemeClr val="tx1"/>
                </a:solidFill>
              </a:rPr>
              <a:t>Grouping  of a Nibble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1E782D7-C88A-3784-4189-64713E6F62BD}"/>
              </a:ext>
            </a:extLst>
          </p:cNvPr>
          <p:cNvSpPr/>
          <p:nvPr/>
        </p:nvSpPr>
        <p:spPr>
          <a:xfrm>
            <a:off x="2338341" y="2149431"/>
            <a:ext cx="1295436" cy="351057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MY" dirty="0">
                <a:solidFill>
                  <a:schemeClr val="tx1"/>
                </a:solidFill>
              </a:rPr>
              <a:t>Octal</a:t>
            </a:r>
            <a:r>
              <a:rPr lang="en-MY" baseline="-250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20" name="Right Brace 19">
            <a:extLst>
              <a:ext uri="{FF2B5EF4-FFF2-40B4-BE49-F238E27FC236}">
                <a16:creationId xmlns:a16="http://schemas.microsoft.com/office/drawing/2014/main" id="{A96F055A-A48A-2417-329D-0A4B6C59AF8E}"/>
              </a:ext>
            </a:extLst>
          </p:cNvPr>
          <p:cNvSpPr/>
          <p:nvPr/>
        </p:nvSpPr>
        <p:spPr>
          <a:xfrm>
            <a:off x="4271546" y="2065494"/>
            <a:ext cx="288034" cy="551283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1B4D9E1-6BB3-890F-149B-4A8ABA1218AE}"/>
              </a:ext>
            </a:extLst>
          </p:cNvPr>
          <p:cNvSpPr/>
          <p:nvPr/>
        </p:nvSpPr>
        <p:spPr>
          <a:xfrm>
            <a:off x="4687798" y="2150100"/>
            <a:ext cx="3211349" cy="35813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MY" dirty="0">
                <a:solidFill>
                  <a:schemeClr val="tx1"/>
                </a:solidFill>
              </a:rPr>
              <a:t>Grouping of 3-bits digit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7EBF7AC-E2CE-0884-229D-7473D0D5468B}"/>
              </a:ext>
            </a:extLst>
          </p:cNvPr>
          <p:cNvSpPr/>
          <p:nvPr/>
        </p:nvSpPr>
        <p:spPr>
          <a:xfrm>
            <a:off x="2338341" y="3383885"/>
            <a:ext cx="1405567" cy="35813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MY" dirty="0">
                <a:solidFill>
                  <a:schemeClr val="tx1"/>
                </a:solidFill>
              </a:rPr>
              <a:t>Decimal</a:t>
            </a:r>
            <a:r>
              <a:rPr lang="en-MY" baseline="-25000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33" name="Right Brace 32">
            <a:extLst>
              <a:ext uri="{FF2B5EF4-FFF2-40B4-BE49-F238E27FC236}">
                <a16:creationId xmlns:a16="http://schemas.microsoft.com/office/drawing/2014/main" id="{8EDB8546-097D-547C-EBAA-7A6ACA540F28}"/>
              </a:ext>
            </a:extLst>
          </p:cNvPr>
          <p:cNvSpPr/>
          <p:nvPr/>
        </p:nvSpPr>
        <p:spPr>
          <a:xfrm>
            <a:off x="4399764" y="3402785"/>
            <a:ext cx="288034" cy="551283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551088F-8321-16DC-0E8B-9C4BF23A23E1}"/>
              </a:ext>
            </a:extLst>
          </p:cNvPr>
          <p:cNvCxnSpPr>
            <a:stCxn id="4" idx="3"/>
            <a:endCxn id="8" idx="1"/>
          </p:cNvCxnSpPr>
          <p:nvPr/>
        </p:nvCxnSpPr>
        <p:spPr>
          <a:xfrm flipV="1">
            <a:off x="1619672" y="2324960"/>
            <a:ext cx="718669" cy="123799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951F44C-B6DB-898F-85AE-0E617B141A9C}"/>
              </a:ext>
            </a:extLst>
          </p:cNvPr>
          <p:cNvCxnSpPr>
            <a:cxnSpLocks/>
            <a:stCxn id="4" idx="3"/>
            <a:endCxn id="29" idx="1"/>
          </p:cNvCxnSpPr>
          <p:nvPr/>
        </p:nvCxnSpPr>
        <p:spPr>
          <a:xfrm flipV="1">
            <a:off x="1619672" y="3562950"/>
            <a:ext cx="718669" cy="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381B410-FB2D-7579-D23F-F13991DE0E50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1619672" y="3562951"/>
            <a:ext cx="718669" cy="124152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1B428E8E-BFB5-E5C3-A1C2-C7D64BDE655F}"/>
              </a:ext>
            </a:extLst>
          </p:cNvPr>
          <p:cNvSpPr/>
          <p:nvPr/>
        </p:nvSpPr>
        <p:spPr>
          <a:xfrm>
            <a:off x="4781171" y="3499361"/>
            <a:ext cx="3168350" cy="35813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MY" dirty="0">
                <a:solidFill>
                  <a:schemeClr val="tx1"/>
                </a:solidFill>
              </a:rPr>
              <a:t>(d x </a:t>
            </a:r>
            <a:r>
              <a:rPr lang="en-MY" dirty="0" err="1">
                <a:solidFill>
                  <a:schemeClr val="tx1"/>
                </a:solidFill>
              </a:rPr>
              <a:t>r</a:t>
            </a:r>
            <a:r>
              <a:rPr lang="en-MY" baseline="30000" dirty="0" err="1">
                <a:solidFill>
                  <a:schemeClr val="tx1"/>
                </a:solidFill>
              </a:rPr>
              <a:t>n</a:t>
            </a:r>
            <a:r>
              <a:rPr lang="en-MY" dirty="0">
                <a:solidFill>
                  <a:schemeClr val="tx1"/>
                </a:solidFill>
              </a:rPr>
              <a:t>) + (d x </a:t>
            </a:r>
            <a:r>
              <a:rPr lang="en-MY" dirty="0" err="1">
                <a:solidFill>
                  <a:schemeClr val="tx1"/>
                </a:solidFill>
              </a:rPr>
              <a:t>r</a:t>
            </a:r>
            <a:r>
              <a:rPr lang="en-MY" baseline="30000" dirty="0" err="1">
                <a:solidFill>
                  <a:schemeClr val="tx1"/>
                </a:solidFill>
              </a:rPr>
              <a:t>n</a:t>
            </a:r>
            <a:r>
              <a:rPr lang="en-MY" dirty="0">
                <a:solidFill>
                  <a:schemeClr val="tx1"/>
                </a:solidFill>
              </a:rPr>
              <a:t>) ………</a:t>
            </a:r>
          </a:p>
        </p:txBody>
      </p:sp>
    </p:spTree>
    <p:extLst>
      <p:ext uri="{BB962C8B-B14F-4D97-AF65-F5344CB8AC3E}">
        <p14:creationId xmlns:p14="http://schemas.microsoft.com/office/powerpoint/2010/main" val="2401968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42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Content Placeholder 3">
            <a:extLst>
              <a:ext uri="{FF2B5EF4-FFF2-40B4-BE49-F238E27FC236}">
                <a16:creationId xmlns:a16="http://schemas.microsoft.com/office/drawing/2014/main" id="{8707FD32-E5B1-C5B6-19F6-2002AB09765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3789363"/>
            <a:ext cx="8178800" cy="2519362"/>
          </a:xfrm>
        </p:spPr>
        <p:txBody>
          <a:bodyPr/>
          <a:lstStyle/>
          <a:p>
            <a:pPr marL="182880" indent="-182880" fontAlgn="auto">
              <a:defRPr/>
            </a:pPr>
            <a:r>
              <a:rPr lang="en-US" altLang="en-US" dirty="0">
                <a:solidFill>
                  <a:schemeClr val="bg2"/>
                </a:solidFill>
              </a:rPr>
              <a:t>Convert the above </a:t>
            </a:r>
            <a:r>
              <a:rPr lang="en-US" altLang="en-US" sz="3200" dirty="0">
                <a:solidFill>
                  <a:srgbClr val="FFFF00"/>
                </a:solidFill>
              </a:rPr>
              <a:t>hexadecimal</a:t>
            </a:r>
            <a:r>
              <a:rPr lang="en-US" altLang="en-US" dirty="0">
                <a:solidFill>
                  <a:schemeClr val="bg2"/>
                </a:solidFill>
              </a:rPr>
              <a:t> number to </a:t>
            </a:r>
            <a:r>
              <a:rPr lang="en-US" altLang="en-US" sz="3200" dirty="0">
                <a:solidFill>
                  <a:srgbClr val="FFFF00"/>
                </a:solidFill>
              </a:rPr>
              <a:t>octal</a:t>
            </a:r>
            <a:r>
              <a:rPr lang="en-US" altLang="en-US" dirty="0">
                <a:solidFill>
                  <a:schemeClr val="bg2"/>
                </a:solidFill>
              </a:rPr>
              <a:t>.</a:t>
            </a:r>
            <a:endParaRPr lang="en-MY" altLang="en-US" dirty="0">
              <a:solidFill>
                <a:schemeClr val="bg2"/>
              </a:solidFill>
            </a:endParaRPr>
          </a:p>
        </p:txBody>
      </p:sp>
      <p:sp>
        <p:nvSpPr>
          <p:cNvPr id="32772" name="TextBox 1">
            <a:extLst>
              <a:ext uri="{FF2B5EF4-FFF2-40B4-BE49-F238E27FC236}">
                <a16:creationId xmlns:a16="http://schemas.microsoft.com/office/drawing/2014/main" id="{3F0DA076-35B3-D8FD-B620-D75D91A15D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900" y="1773238"/>
            <a:ext cx="8820150" cy="15684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buFontTx/>
              <a:buNone/>
              <a:defRPr/>
            </a:pPr>
            <a:r>
              <a:rPr lang="en-US" altLang="en-US" sz="9600" dirty="0">
                <a:solidFill>
                  <a:srgbClr val="0099FF"/>
                </a:solidFill>
              </a:rPr>
              <a:t>A98</a:t>
            </a:r>
            <a:r>
              <a:rPr lang="en-US" altLang="en-US" sz="9600" baseline="-25000" dirty="0">
                <a:solidFill>
                  <a:srgbClr val="0099FF"/>
                </a:solidFill>
              </a:rPr>
              <a:t>16</a:t>
            </a:r>
            <a:endParaRPr lang="en-MY" altLang="en-US" sz="9600" baseline="-25000" dirty="0">
              <a:solidFill>
                <a:srgbClr val="0099FF"/>
              </a:solidFill>
            </a:endParaRPr>
          </a:p>
        </p:txBody>
      </p:sp>
      <p:pic>
        <p:nvPicPr>
          <p:cNvPr id="61444" name="Picture 4">
            <a:extLst>
              <a:ext uri="{FF2B5EF4-FFF2-40B4-BE49-F238E27FC236}">
                <a16:creationId xmlns:a16="http://schemas.microsoft.com/office/drawing/2014/main" id="{B723F312-2C89-12F3-42BF-FB61169B52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452"/>
          <a:stretch>
            <a:fillRect/>
          </a:stretch>
        </p:blipFill>
        <p:spPr bwMode="auto">
          <a:xfrm>
            <a:off x="7235825" y="79375"/>
            <a:ext cx="1755775" cy="150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>
            <a:extLst>
              <a:ext uri="{FF2B5EF4-FFF2-40B4-BE49-F238E27FC236}">
                <a16:creationId xmlns:a16="http://schemas.microsoft.com/office/drawing/2014/main" id="{1BEBF2C9-2321-D0FE-B554-27E948A636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552" y="221108"/>
            <a:ext cx="7531745" cy="132556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en-US" dirty="0"/>
              <a:t>Character Codes : BCD</a:t>
            </a:r>
            <a:endParaRPr lang="en-MY" altLang="en-US" dirty="0"/>
          </a:p>
        </p:txBody>
      </p:sp>
      <p:sp>
        <p:nvSpPr>
          <p:cNvPr id="60419" name="Content Placeholder 2">
            <a:extLst>
              <a:ext uri="{FF2B5EF4-FFF2-40B4-BE49-F238E27FC236}">
                <a16:creationId xmlns:a16="http://schemas.microsoft.com/office/drawing/2014/main" id="{A40B81FB-556C-F977-6551-251F932E121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11561" y="1628800"/>
            <a:ext cx="7459736" cy="4351338"/>
          </a:xfrm>
        </p:spPr>
        <p:txBody>
          <a:bodyPr/>
          <a:lstStyle/>
          <a:p>
            <a:pPr marL="182880" indent="-182880" fontAlgn="auto">
              <a:defRPr/>
            </a:pPr>
            <a:r>
              <a:rPr lang="en-US" altLang="en-US" dirty="0"/>
              <a:t>Decimal digits</a:t>
            </a:r>
          </a:p>
          <a:p>
            <a:pPr lvl="1" indent="-182880" fontAlgn="auto">
              <a:defRPr/>
            </a:pPr>
            <a:r>
              <a:rPr lang="en-US" altLang="en-US" sz="3200" b="1" dirty="0">
                <a:solidFill>
                  <a:srgbClr val="92D050"/>
                </a:solidFill>
              </a:rPr>
              <a:t>Binary Coded Decimal</a:t>
            </a:r>
            <a:r>
              <a:rPr lang="en-US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(BCD) code</a:t>
            </a:r>
          </a:p>
          <a:p>
            <a:pPr marL="182880" indent="-182880" fontAlgn="auto">
              <a:defRPr/>
            </a:pPr>
            <a:endParaRPr lang="en-MY" alt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5CEDB82-BCB4-BBE4-E9EE-2737717EAC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7885681"/>
              </p:ext>
            </p:extLst>
          </p:nvPr>
        </p:nvGraphicFramePr>
        <p:xfrm>
          <a:off x="5004048" y="2780928"/>
          <a:ext cx="3259138" cy="3783956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629569">
                  <a:extLst>
                    <a:ext uri="{9D8B030D-6E8A-4147-A177-3AD203B41FA5}">
                      <a16:colId xmlns:a16="http://schemas.microsoft.com/office/drawing/2014/main" val="2751217899"/>
                    </a:ext>
                  </a:extLst>
                </a:gridCol>
                <a:gridCol w="1629569">
                  <a:extLst>
                    <a:ext uri="{9D8B030D-6E8A-4147-A177-3AD203B41FA5}">
                      <a16:colId xmlns:a16="http://schemas.microsoft.com/office/drawing/2014/main" val="858860058"/>
                    </a:ext>
                  </a:extLst>
                </a:gridCol>
              </a:tblGrid>
              <a:tr h="343996">
                <a:tc>
                  <a:txBody>
                    <a:bodyPr/>
                    <a:lstStyle/>
                    <a:p>
                      <a:pPr algn="ctr"/>
                      <a:r>
                        <a:rPr lang="en-MY" sz="1600" dirty="0"/>
                        <a:t>Decimal digit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600" dirty="0"/>
                        <a:t>BCD code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1586491"/>
                  </a:ext>
                </a:extLst>
              </a:tr>
              <a:tr h="343996">
                <a:tc>
                  <a:txBody>
                    <a:bodyPr/>
                    <a:lstStyle/>
                    <a:p>
                      <a:pPr algn="ctr"/>
                      <a:r>
                        <a:rPr lang="en-MY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600" dirty="0"/>
                        <a:t>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045961"/>
                  </a:ext>
                </a:extLst>
              </a:tr>
              <a:tr h="343996">
                <a:tc>
                  <a:txBody>
                    <a:bodyPr/>
                    <a:lstStyle/>
                    <a:p>
                      <a:pPr algn="ctr"/>
                      <a:r>
                        <a:rPr lang="en-MY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600" dirty="0"/>
                        <a:t>0001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0558345"/>
                  </a:ext>
                </a:extLst>
              </a:tr>
              <a:tr h="343996">
                <a:tc>
                  <a:txBody>
                    <a:bodyPr/>
                    <a:lstStyle/>
                    <a:p>
                      <a:pPr algn="ctr"/>
                      <a:r>
                        <a:rPr lang="en-MY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600" dirty="0"/>
                        <a:t>0010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9839856"/>
                  </a:ext>
                </a:extLst>
              </a:tr>
              <a:tr h="343996">
                <a:tc>
                  <a:txBody>
                    <a:bodyPr/>
                    <a:lstStyle/>
                    <a:p>
                      <a:pPr algn="ctr"/>
                      <a:r>
                        <a:rPr lang="en-MY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600" dirty="0"/>
                        <a:t>0011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9762829"/>
                  </a:ext>
                </a:extLst>
              </a:tr>
              <a:tr h="343996">
                <a:tc>
                  <a:txBody>
                    <a:bodyPr/>
                    <a:lstStyle/>
                    <a:p>
                      <a:pPr algn="ctr"/>
                      <a:r>
                        <a:rPr lang="en-MY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600" dirty="0"/>
                        <a:t>0100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2564852"/>
                  </a:ext>
                </a:extLst>
              </a:tr>
              <a:tr h="343996">
                <a:tc>
                  <a:txBody>
                    <a:bodyPr/>
                    <a:lstStyle/>
                    <a:p>
                      <a:pPr algn="ctr"/>
                      <a:r>
                        <a:rPr lang="en-MY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600" dirty="0"/>
                        <a:t>0101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8247420"/>
                  </a:ext>
                </a:extLst>
              </a:tr>
              <a:tr h="343996">
                <a:tc>
                  <a:txBody>
                    <a:bodyPr/>
                    <a:lstStyle/>
                    <a:p>
                      <a:pPr algn="ctr"/>
                      <a:r>
                        <a:rPr lang="en-MY" sz="16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600" dirty="0"/>
                        <a:t>0110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5341509"/>
                  </a:ext>
                </a:extLst>
              </a:tr>
              <a:tr h="343996">
                <a:tc>
                  <a:txBody>
                    <a:bodyPr/>
                    <a:lstStyle/>
                    <a:p>
                      <a:pPr algn="ctr"/>
                      <a:r>
                        <a:rPr lang="en-MY" sz="16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600" dirty="0"/>
                        <a:t>0111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2850097"/>
                  </a:ext>
                </a:extLst>
              </a:tr>
              <a:tr h="343996">
                <a:tc>
                  <a:txBody>
                    <a:bodyPr/>
                    <a:lstStyle/>
                    <a:p>
                      <a:pPr algn="ctr"/>
                      <a:r>
                        <a:rPr lang="en-MY" sz="16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600" dirty="0"/>
                        <a:t>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0387466"/>
                  </a:ext>
                </a:extLst>
              </a:tr>
              <a:tr h="343996">
                <a:tc>
                  <a:txBody>
                    <a:bodyPr/>
                    <a:lstStyle/>
                    <a:p>
                      <a:pPr algn="ctr"/>
                      <a:r>
                        <a:rPr lang="en-MY" sz="16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600" dirty="0"/>
                        <a:t>1001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4911957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9F674CDB-AE71-9E9C-F84D-B4B6931E22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3645024"/>
            <a:ext cx="4408141" cy="144016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>
            <a:extLst>
              <a:ext uri="{FF2B5EF4-FFF2-40B4-BE49-F238E27FC236}">
                <a16:creationId xmlns:a16="http://schemas.microsoft.com/office/drawing/2014/main" id="{C4878313-393E-549D-E380-FEE6C805F9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en-US" dirty="0"/>
              <a:t>Character Codes : ASCII</a:t>
            </a:r>
            <a:endParaRPr lang="en-MY" altLang="en-US" dirty="0"/>
          </a:p>
        </p:txBody>
      </p:sp>
      <p:sp>
        <p:nvSpPr>
          <p:cNvPr id="62467" name="Content Placeholder 2">
            <a:extLst>
              <a:ext uri="{FF2B5EF4-FFF2-40B4-BE49-F238E27FC236}">
                <a16:creationId xmlns:a16="http://schemas.microsoft.com/office/drawing/2014/main" id="{1B59A6D1-EBE2-8C54-23B0-F0ACD1F7D0F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7544" y="1828800"/>
            <a:ext cx="7920879" cy="4351338"/>
          </a:xfrm>
        </p:spPr>
        <p:txBody>
          <a:bodyPr>
            <a:normAutofit/>
          </a:bodyPr>
          <a:lstStyle/>
          <a:p>
            <a:pPr marL="0" indent="0" fontAlgn="auto">
              <a:buNone/>
              <a:defRPr/>
            </a:pPr>
            <a:r>
              <a:rPr lang="en-US" altLang="en-US" dirty="0"/>
              <a:t>ASCII stands for American Standard Code for Information Interchange </a:t>
            </a:r>
          </a:p>
          <a:p>
            <a:pPr fontAlgn="auto">
              <a:defRPr/>
            </a:pPr>
            <a:r>
              <a:rPr lang="en-US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7-bit </a:t>
            </a:r>
            <a:r>
              <a:rPr lang="en-US" altLang="en-US" sz="3200" b="1" dirty="0">
                <a:solidFill>
                  <a:srgbClr val="FF0000"/>
                </a:solidFill>
              </a:rPr>
              <a:t>ASCII</a:t>
            </a:r>
            <a:r>
              <a:rPr lang="en-US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codes (American Standards Committee on Information Interchange)</a:t>
            </a:r>
          </a:p>
          <a:p>
            <a:pPr fontAlgn="auto">
              <a:defRPr/>
            </a:pPr>
            <a:r>
              <a:rPr lang="en-US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ASCII codes represent text in computers, communications equipment, and other devices that use text</a:t>
            </a:r>
          </a:p>
          <a:p>
            <a:pPr fontAlgn="auto">
              <a:defRPr/>
            </a:pPr>
            <a:r>
              <a:rPr lang="en-US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This code is basically used for identifying characters and numerals in a keyboard. </a:t>
            </a:r>
          </a:p>
          <a:p>
            <a:pPr fontAlgn="auto">
              <a:defRPr/>
            </a:pPr>
            <a:r>
              <a:rPr lang="en-US" altLang="en-US" dirty="0"/>
              <a:t>ASCII is a character encoding method that uses a 7-bit code to represent 128 characters, which include letters, numbers, and special characters.</a:t>
            </a:r>
          </a:p>
          <a:p>
            <a:pPr marL="182880" indent="-182880" fontAlgn="auto">
              <a:defRPr/>
            </a:pPr>
            <a:endParaRPr lang="en-MY" altLang="en-US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">
            <a:extLst>
              <a:ext uri="{FF2B5EF4-FFF2-40B4-BE49-F238E27FC236}">
                <a16:creationId xmlns:a16="http://schemas.microsoft.com/office/drawing/2014/main" id="{8CC6859B-C603-FCAE-7419-20A46C08B4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552" y="260648"/>
            <a:ext cx="7269163" cy="132556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en-US" dirty="0"/>
              <a:t>ASCII Code</a:t>
            </a:r>
            <a:endParaRPr lang="en-MY" altLang="en-US" dirty="0"/>
          </a:p>
        </p:txBody>
      </p:sp>
      <p:pic>
        <p:nvPicPr>
          <p:cNvPr id="3074" name="Picture 2" descr="Difference Between ASCII and Unicode - Pediaa.Com">
            <a:extLst>
              <a:ext uri="{FF2B5EF4-FFF2-40B4-BE49-F238E27FC236}">
                <a16:creationId xmlns:a16="http://schemas.microsoft.com/office/drawing/2014/main" id="{DCAF66EA-A712-F83E-3D4E-F178E5F907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75"/>
          <a:stretch/>
        </p:blipFill>
        <p:spPr bwMode="auto">
          <a:xfrm>
            <a:off x="251520" y="1700808"/>
            <a:ext cx="7620000" cy="4536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B30CD-1EBB-668A-FF95-28904D27A00C}"/>
              </a:ext>
            </a:extLst>
          </p:cNvPr>
          <p:cNvSpPr txBox="1">
            <a:spLocks noChangeArrowheads="1"/>
          </p:cNvSpPr>
          <p:nvPr/>
        </p:nvSpPr>
        <p:spPr>
          <a:xfrm>
            <a:off x="683568" y="332656"/>
            <a:ext cx="7053139" cy="104765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kern="1200" spc="-5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en-US" dirty="0"/>
              <a:t>Character Codes : </a:t>
            </a:r>
            <a:r>
              <a:rPr lang="en-US" altLang="en-US" dirty="0"/>
              <a:t>EBCDIC</a:t>
            </a:r>
            <a:endParaRPr kumimoji="0" lang="en-MY" alt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BE228E-25CF-24E9-AC8E-CF3A0FC3AA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828800"/>
            <a:ext cx="7272808" cy="3904456"/>
          </a:xfrm>
        </p:spPr>
        <p:txBody>
          <a:bodyPr/>
          <a:lstStyle/>
          <a:p>
            <a:r>
              <a:rPr lang="en-US" dirty="0"/>
              <a:t>An 8-bit character encoding used mainly on IBM mainframe and IBM midrange computer operating systems</a:t>
            </a:r>
          </a:p>
          <a:p>
            <a:r>
              <a:rPr lang="en-US" dirty="0"/>
              <a:t>EBCDIC has 256 characters and is used to represent a wide variety of characters, such as letters, numbers, special characters, and control characters.</a:t>
            </a:r>
            <a:endParaRPr lang="en-MY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 descr="part17">
            <a:extLst>
              <a:ext uri="{FF2B5EF4-FFF2-40B4-BE49-F238E27FC236}">
                <a16:creationId xmlns:a16="http://schemas.microsoft.com/office/drawing/2014/main" id="{D94A32B6-2616-53CD-5834-29283236CB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160" y="1484784"/>
            <a:ext cx="6625929" cy="4166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89B30CD-1EBB-668A-FF95-28904D27A00C}"/>
              </a:ext>
            </a:extLst>
          </p:cNvPr>
          <p:cNvSpPr txBox="1">
            <a:spLocks noChangeArrowheads="1"/>
          </p:cNvSpPr>
          <p:nvPr/>
        </p:nvSpPr>
        <p:spPr>
          <a:xfrm>
            <a:off x="467544" y="332656"/>
            <a:ext cx="7269163" cy="104765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kern="1200" spc="-5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en-US" dirty="0"/>
              <a:t>Character Codes : </a:t>
            </a:r>
            <a:r>
              <a:rPr lang="en-US" altLang="en-US" dirty="0"/>
              <a:t>EBCDIC</a:t>
            </a:r>
            <a:endParaRPr kumimoji="0" lang="en-MY" altLang="en-US" dirty="0"/>
          </a:p>
        </p:txBody>
      </p:sp>
    </p:spTree>
    <p:extLst>
      <p:ext uri="{BB962C8B-B14F-4D97-AF65-F5344CB8AC3E}">
        <p14:creationId xmlns:p14="http://schemas.microsoft.com/office/powerpoint/2010/main" val="363626521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58" name="Picture 2" descr="A person sitting on top of a grass covered field&#10;&#10;Description automatically generated">
            <a:extLst>
              <a:ext uri="{FF2B5EF4-FFF2-40B4-BE49-F238E27FC236}">
                <a16:creationId xmlns:a16="http://schemas.microsoft.com/office/drawing/2014/main" id="{10BBA126-FBD2-C7BF-6914-7516D403B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699"/>
          <a:stretch>
            <a:fillRect/>
          </a:stretch>
        </p:blipFill>
        <p:spPr bwMode="auto">
          <a:xfrm>
            <a:off x="-36513" y="0"/>
            <a:ext cx="918051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659" name="Text Box 4">
            <a:extLst>
              <a:ext uri="{FF2B5EF4-FFF2-40B4-BE49-F238E27FC236}">
                <a16:creationId xmlns:a16="http://schemas.microsoft.com/office/drawing/2014/main" id="{F5840E6F-A799-2260-F7B6-6EF0B11774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6477000"/>
            <a:ext cx="6264276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100000"/>
              </a:spcBef>
            </a:pPr>
            <a:r>
              <a:rPr kumimoji="0" lang="en-US" altLang="en-US" sz="1400">
                <a:solidFill>
                  <a:srgbClr val="FFFFFF"/>
                </a:solidFill>
              </a:rPr>
              <a:t>Image source: https://www.flickr.com/photos/29143375@N05/4582236533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D6DC6C7-3E58-8AB5-3C50-7D1027DDAD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400" y="228600"/>
            <a:ext cx="8204200" cy="11430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34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34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34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34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34" charset="0"/>
              </a:defRPr>
            </a:lvl9pPr>
          </a:lstStyle>
          <a:p>
            <a:pPr>
              <a:defRPr/>
            </a:pPr>
            <a:r>
              <a:rPr lang="en-US" altLang="en-US" kern="0" dirty="0">
                <a:solidFill>
                  <a:srgbClr val="000000"/>
                </a:solidFill>
              </a:rPr>
              <a:t>Reflection…</a:t>
            </a:r>
            <a:endParaRPr lang="en-MY" altLang="en-US" kern="0" dirty="0">
              <a:solidFill>
                <a:srgbClr val="000000"/>
              </a:solidFill>
            </a:endParaRPr>
          </a:p>
        </p:txBody>
      </p:sp>
      <p:sp>
        <p:nvSpPr>
          <p:cNvPr id="70661" name="TextBox 6">
            <a:extLst>
              <a:ext uri="{FF2B5EF4-FFF2-40B4-BE49-F238E27FC236}">
                <a16:creationId xmlns:a16="http://schemas.microsoft.com/office/drawing/2014/main" id="{30932320-593D-0409-80CF-0DA60EFA24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5" y="3725863"/>
            <a:ext cx="7199313" cy="261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/>
            <a:r>
              <a:rPr lang="en-MY" altLang="en-US" sz="3600" dirty="0">
                <a:solidFill>
                  <a:srgbClr val="FFFFFF"/>
                </a:solidFill>
              </a:rPr>
              <a:t>Watch video on Format Wars: ASCII vs EBCDIC.</a:t>
            </a:r>
          </a:p>
          <a:p>
            <a:pPr algn="r"/>
            <a:r>
              <a:rPr lang="en-MY" altLang="en-US" sz="3600" dirty="0">
                <a:solidFill>
                  <a:srgbClr val="FFFFFF"/>
                </a:solidFill>
              </a:rPr>
              <a:t>Who won/lost and why?</a:t>
            </a:r>
          </a:p>
          <a:p>
            <a:pPr algn="r"/>
            <a:endParaRPr lang="en-MY" altLang="en-US" sz="2800" dirty="0">
              <a:solidFill>
                <a:srgbClr val="FFFFFF"/>
              </a:solidFill>
            </a:endParaRPr>
          </a:p>
          <a:p>
            <a:pPr algn="r"/>
            <a:r>
              <a:rPr lang="en-MY" altLang="en-US" sz="2800" dirty="0">
                <a:solidFill>
                  <a:srgbClr val="FFFF00"/>
                </a:solidFill>
              </a:rPr>
              <a:t>Link on eLearn / Chat</a:t>
            </a:r>
            <a:endParaRPr lang="en-MY" altLang="en-US" sz="36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nline Media 1" title="Format Wars: ASCII vs EBCDIC">
            <a:hlinkClick r:id="" action="ppaction://media"/>
            <a:extLst>
              <a:ext uri="{FF2B5EF4-FFF2-40B4-BE49-F238E27FC236}">
                <a16:creationId xmlns:a16="http://schemas.microsoft.com/office/drawing/2014/main" id="{B7B64BB3-A266-3260-9355-830008A0FC6B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366223" y="908720"/>
            <a:ext cx="8411554" cy="4752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548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3.xml><?xml version="1.0" encoding="utf-8"?>
<a:theme xmlns:a="http://schemas.openxmlformats.org/drawingml/2006/main" name="1_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View">
    <a:dk1>
      <a:srgbClr val="000000"/>
    </a:dk1>
    <a:lt1>
      <a:srgbClr val="FFFFFF"/>
    </a:lt1>
    <a:dk2>
      <a:srgbClr val="46464A"/>
    </a:dk2>
    <a:lt2>
      <a:srgbClr val="D6D3CC"/>
    </a:lt2>
    <a:accent1>
      <a:srgbClr val="6F6F74"/>
    </a:accent1>
    <a:accent2>
      <a:srgbClr val="92A9B9"/>
    </a:accent2>
    <a:accent3>
      <a:srgbClr val="A7B789"/>
    </a:accent3>
    <a:accent4>
      <a:srgbClr val="B9A489"/>
    </a:accent4>
    <a:accent5>
      <a:srgbClr val="8D6374"/>
    </a:accent5>
    <a:accent6>
      <a:srgbClr val="9B7362"/>
    </a:accent6>
    <a:hlink>
      <a:srgbClr val="67AABF"/>
    </a:hlink>
    <a:folHlink>
      <a:srgbClr val="ABAFA5"/>
    </a:folHlink>
  </a:clrScheme>
</a:themeOverride>
</file>

<file path=ppt/theme/themeOverride2.xml><?xml version="1.0" encoding="utf-8"?>
<a:themeOverride xmlns:a="http://schemas.openxmlformats.org/drawingml/2006/main">
  <a:clrScheme name="View">
    <a:dk1>
      <a:srgbClr val="000000"/>
    </a:dk1>
    <a:lt1>
      <a:srgbClr val="FFFFFF"/>
    </a:lt1>
    <a:dk2>
      <a:srgbClr val="46464A"/>
    </a:dk2>
    <a:lt2>
      <a:srgbClr val="D6D3CC"/>
    </a:lt2>
    <a:accent1>
      <a:srgbClr val="6F6F74"/>
    </a:accent1>
    <a:accent2>
      <a:srgbClr val="92A9B9"/>
    </a:accent2>
    <a:accent3>
      <a:srgbClr val="A7B789"/>
    </a:accent3>
    <a:accent4>
      <a:srgbClr val="B9A489"/>
    </a:accent4>
    <a:accent5>
      <a:srgbClr val="8D6374"/>
    </a:accent5>
    <a:accent6>
      <a:srgbClr val="9B7362"/>
    </a:accent6>
    <a:hlink>
      <a:srgbClr val="67AABF"/>
    </a:hlink>
    <a:folHlink>
      <a:srgbClr val="ABAFA5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Designs\stallings.pot</Template>
  <TotalTime>7511</TotalTime>
  <Words>3625</Words>
  <Application>Microsoft Office PowerPoint</Application>
  <PresentationFormat>On-screen Show (4:3)</PresentationFormat>
  <Paragraphs>736</Paragraphs>
  <Slides>56</Slides>
  <Notes>18</Notes>
  <HiddenSlides>4</HiddenSlides>
  <MMClips>1</MMClips>
  <ScaleCrop>false</ScaleCrop>
  <HeadingPairs>
    <vt:vector size="6" baseType="variant">
      <vt:variant>
        <vt:lpstr>Fonts Used</vt:lpstr>
      </vt:variant>
      <vt:variant>
        <vt:i4>21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56</vt:i4>
      </vt:variant>
    </vt:vector>
  </HeadingPairs>
  <TitlesOfParts>
    <vt:vector size="80" baseType="lpstr">
      <vt:lpstr>Arial</vt:lpstr>
      <vt:lpstr>Arial</vt:lpstr>
      <vt:lpstr>Calibri</vt:lpstr>
      <vt:lpstr>Calibri Light</vt:lpstr>
      <vt:lpstr>Century Schoolbook</vt:lpstr>
      <vt:lpstr>Gill Sans MT</vt:lpstr>
      <vt:lpstr>museo-sans</vt:lpstr>
      <vt:lpstr>Nunito</vt:lpstr>
      <vt:lpstr>PearsonMATHPRO02</vt:lpstr>
      <vt:lpstr>PearsonMATHPRO08</vt:lpstr>
      <vt:lpstr>PearsonMATHPRO13</vt:lpstr>
      <vt:lpstr>PearsonMATHPRO18</vt:lpstr>
      <vt:lpstr>Söhne</vt:lpstr>
      <vt:lpstr>Tahoma</vt:lpstr>
      <vt:lpstr>Times New Roman</vt:lpstr>
      <vt:lpstr>TimesTenLTStd-Bold</vt:lpstr>
      <vt:lpstr>TimesTenLTStd-Italic</vt:lpstr>
      <vt:lpstr>TimesTenLTStd-Roman</vt:lpstr>
      <vt:lpstr>Verdana</vt:lpstr>
      <vt:lpstr>Wingdings</vt:lpstr>
      <vt:lpstr>Wingdings 2</vt:lpstr>
      <vt:lpstr>2_Office Theme</vt:lpstr>
      <vt:lpstr>View</vt:lpstr>
      <vt:lpstr>1_View</vt:lpstr>
      <vt:lpstr>PowerPoint Presentation</vt:lpstr>
      <vt:lpstr>Computer Organisation</vt:lpstr>
      <vt:lpstr>PowerPoint Presentation</vt:lpstr>
      <vt:lpstr>Outline</vt:lpstr>
      <vt:lpstr>Introduction</vt:lpstr>
      <vt:lpstr>Number systems</vt:lpstr>
      <vt:lpstr>Types of number system</vt:lpstr>
      <vt:lpstr>Quick Activity #0</vt:lpstr>
      <vt:lpstr>Positional Number Systems</vt:lpstr>
      <vt:lpstr>Introduction</vt:lpstr>
      <vt:lpstr>Decimal  </vt:lpstr>
      <vt:lpstr>The Decimal System </vt:lpstr>
      <vt:lpstr>The Decimal System </vt:lpstr>
      <vt:lpstr>The Decimal System</vt:lpstr>
      <vt:lpstr>The Decimal System</vt:lpstr>
      <vt:lpstr>Quick research </vt:lpstr>
      <vt:lpstr>Introduction</vt:lpstr>
      <vt:lpstr>The Binary System</vt:lpstr>
      <vt:lpstr>The Binary System</vt:lpstr>
      <vt:lpstr>The terminology</vt:lpstr>
      <vt:lpstr>The Binary System</vt:lpstr>
      <vt:lpstr>PowerPoint Presentation</vt:lpstr>
      <vt:lpstr>PowerPoint Presentation</vt:lpstr>
      <vt:lpstr>In a nutshell</vt:lpstr>
      <vt:lpstr>Converting From:   Binary To Decimal </vt:lpstr>
      <vt:lpstr>Converting From:   Binary To Decimal </vt:lpstr>
      <vt:lpstr>Converting From: Decimal To Binary (Integer)</vt:lpstr>
      <vt:lpstr>Converting From: Decimal To Binary (Integer)</vt:lpstr>
      <vt:lpstr>Converting From Decimal To Binary</vt:lpstr>
      <vt:lpstr>Converting From Decimal To Binary (Fractions)</vt:lpstr>
      <vt:lpstr>Converting From Decimal To Binary (Fractions)</vt:lpstr>
      <vt:lpstr>Converting From Decimal To Binary (Fractions)</vt:lpstr>
      <vt:lpstr>The Hexadecimal Notation</vt:lpstr>
      <vt:lpstr>The Hexadecimal Notation</vt:lpstr>
      <vt:lpstr>The Hexadecimal Notation</vt:lpstr>
      <vt:lpstr>The need for hexadecimal numbers</vt:lpstr>
      <vt:lpstr>Hexadecimal to Binary</vt:lpstr>
      <vt:lpstr>Binary to Hexadecimal</vt:lpstr>
      <vt:lpstr>Binary to Hexadecimal</vt:lpstr>
      <vt:lpstr>Binary to Hexadecimal</vt:lpstr>
      <vt:lpstr>Decimal to Hexadecimal </vt:lpstr>
      <vt:lpstr>Decimal to Hexadecimal </vt:lpstr>
      <vt:lpstr>PowerPoint Presentation</vt:lpstr>
      <vt:lpstr>In a nutshell</vt:lpstr>
      <vt:lpstr>PowerPoint Presentation</vt:lpstr>
      <vt:lpstr>PowerPoint Presentation</vt:lpstr>
      <vt:lpstr>Conversion summary </vt:lpstr>
      <vt:lpstr>Conversion summary </vt:lpstr>
      <vt:lpstr>PowerPoint Presentation</vt:lpstr>
      <vt:lpstr>Character Codes : BCD</vt:lpstr>
      <vt:lpstr>Character Codes : ASCII</vt:lpstr>
      <vt:lpstr>ASCII Code</vt:lpstr>
      <vt:lpstr>PowerPoint Presentation</vt:lpstr>
      <vt:lpstr>PowerPoint Presentation</vt:lpstr>
      <vt:lpstr>PowerPoint Presentation</vt:lpstr>
      <vt:lpstr>PowerPoint Presentation</vt:lpstr>
    </vt:vector>
  </TitlesOfParts>
  <Company>NEWI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Control Unit</dc:title>
  <dc:creator>Adrian J Pullin</dc:creator>
  <cp:lastModifiedBy>Nursakirah Ab Rahman Muton</cp:lastModifiedBy>
  <cp:revision>254</cp:revision>
  <dcterms:created xsi:type="dcterms:W3CDTF">1998-11-24T13:30:26Z</dcterms:created>
  <dcterms:modified xsi:type="dcterms:W3CDTF">2023-10-26T15:15:06Z</dcterms:modified>
</cp:coreProperties>
</file>