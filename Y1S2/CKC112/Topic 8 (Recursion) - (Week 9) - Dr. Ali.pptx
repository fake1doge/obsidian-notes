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5"/>
  </p:notesMasterIdLst>
  <p:sldIdLst>
    <p:sldId id="256" r:id="rId2"/>
    <p:sldId id="257" r:id="rId3"/>
    <p:sldId id="371" r:id="rId4"/>
    <p:sldId id="387" r:id="rId5"/>
    <p:sldId id="388" r:id="rId6"/>
    <p:sldId id="389" r:id="rId7"/>
    <p:sldId id="372" r:id="rId8"/>
    <p:sldId id="373" r:id="rId9"/>
    <p:sldId id="386" r:id="rId10"/>
    <p:sldId id="374" r:id="rId11"/>
    <p:sldId id="384" r:id="rId12"/>
    <p:sldId id="385" r:id="rId13"/>
    <p:sldId id="391" r:id="rId14"/>
    <p:sldId id="390" r:id="rId15"/>
    <p:sldId id="392" r:id="rId16"/>
    <p:sldId id="375" r:id="rId17"/>
    <p:sldId id="393" r:id="rId18"/>
    <p:sldId id="377" r:id="rId19"/>
    <p:sldId id="376" r:id="rId20"/>
    <p:sldId id="378" r:id="rId21"/>
    <p:sldId id="379" r:id="rId22"/>
    <p:sldId id="380" r:id="rId23"/>
    <p:sldId id="32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AC1AF1-2899-4157-9E22-7DFAA8D4CEBE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9234488-4E2A-4D15-93DD-8D840BB1B0D4}">
      <dgm:prSet/>
      <dgm:spPr/>
      <dgm:t>
        <a:bodyPr/>
        <a:lstStyle/>
        <a:p>
          <a:pPr algn="ctr"/>
          <a:r>
            <a:rPr lang="en-US" b="1" dirty="0"/>
            <a:t>THANK YOU</a:t>
          </a:r>
        </a:p>
      </dgm:t>
    </dgm:pt>
    <dgm:pt modelId="{77216DB3-8E43-4EC8-8EB9-B2C6030059F2}" type="parTrans" cxnId="{91610F85-03CF-4129-A056-07BA843C38C5}">
      <dgm:prSet/>
      <dgm:spPr/>
      <dgm:t>
        <a:bodyPr/>
        <a:lstStyle/>
        <a:p>
          <a:endParaRPr lang="en-US"/>
        </a:p>
      </dgm:t>
    </dgm:pt>
    <dgm:pt modelId="{C6E9C382-DE67-4358-A2B9-84574050D65F}" type="sibTrans" cxnId="{91610F85-03CF-4129-A056-07BA843C38C5}">
      <dgm:prSet/>
      <dgm:spPr/>
      <dgm:t>
        <a:bodyPr/>
        <a:lstStyle/>
        <a:p>
          <a:endParaRPr lang="en-US"/>
        </a:p>
      </dgm:t>
    </dgm:pt>
    <dgm:pt modelId="{E605730D-B56E-4EC1-9520-471BAD40D4D6}">
      <dgm:prSet custT="1"/>
      <dgm:spPr/>
      <dgm:t>
        <a:bodyPr/>
        <a:lstStyle/>
        <a:p>
          <a:pPr algn="ctr"/>
          <a:r>
            <a:rPr lang="en-US" sz="4000" b="0" i="1" baseline="0" dirty="0"/>
            <a:t>Dr. Mohammad </a:t>
          </a:r>
          <a:r>
            <a:rPr lang="en-US" sz="4000" i="1" dirty="0"/>
            <a:t>A</a:t>
          </a:r>
          <a:r>
            <a:rPr lang="en-US" sz="4000" b="0" i="1" baseline="0" dirty="0"/>
            <a:t>li </a:t>
          </a:r>
          <a:r>
            <a:rPr lang="en-US" sz="4000" i="1" dirty="0" err="1"/>
            <a:t>S</a:t>
          </a:r>
          <a:r>
            <a:rPr lang="en-US" sz="4000" b="0" i="1" baseline="0" dirty="0" err="1"/>
            <a:t>arvghadi</a:t>
          </a:r>
          <a:endParaRPr lang="en-US" sz="4000" dirty="0"/>
        </a:p>
      </dgm:t>
    </dgm:pt>
    <dgm:pt modelId="{FD34AA86-51B7-4E33-9902-51C06D3C3F15}" type="parTrans" cxnId="{DDB38941-8603-42A3-8A2E-2E0BFD77DA2C}">
      <dgm:prSet/>
      <dgm:spPr/>
      <dgm:t>
        <a:bodyPr/>
        <a:lstStyle/>
        <a:p>
          <a:endParaRPr lang="en-US"/>
        </a:p>
      </dgm:t>
    </dgm:pt>
    <dgm:pt modelId="{E6E164D2-670F-4CEB-A661-787BCFF181DB}" type="sibTrans" cxnId="{DDB38941-8603-42A3-8A2E-2E0BFD77DA2C}">
      <dgm:prSet/>
      <dgm:spPr/>
      <dgm:t>
        <a:bodyPr/>
        <a:lstStyle/>
        <a:p>
          <a:endParaRPr lang="en-US"/>
        </a:p>
      </dgm:t>
    </dgm:pt>
    <dgm:pt modelId="{30D2457F-F587-43E4-B4F6-8785BCDE004F}">
      <dgm:prSet custT="1"/>
      <dgm:spPr/>
      <dgm:t>
        <a:bodyPr/>
        <a:lstStyle/>
        <a:p>
          <a:pPr algn="ctr"/>
          <a:r>
            <a:rPr lang="en-US" sz="3200" i="1" dirty="0"/>
            <a:t>masarvghadi@usm.my</a:t>
          </a:r>
          <a:endParaRPr lang="en-US" sz="3200" dirty="0"/>
        </a:p>
      </dgm:t>
    </dgm:pt>
    <dgm:pt modelId="{69CA5984-A9AB-4FF9-8152-147FB8F70EDD}" type="parTrans" cxnId="{F693B0FE-F428-473F-862A-845A86F8EFF5}">
      <dgm:prSet/>
      <dgm:spPr/>
      <dgm:t>
        <a:bodyPr/>
        <a:lstStyle/>
        <a:p>
          <a:endParaRPr lang="en-US"/>
        </a:p>
      </dgm:t>
    </dgm:pt>
    <dgm:pt modelId="{7AECF96B-8A26-451D-AF4D-85A067F6A391}" type="sibTrans" cxnId="{F693B0FE-F428-473F-862A-845A86F8EFF5}">
      <dgm:prSet/>
      <dgm:spPr/>
      <dgm:t>
        <a:bodyPr/>
        <a:lstStyle/>
        <a:p>
          <a:endParaRPr lang="en-US"/>
        </a:p>
      </dgm:t>
    </dgm:pt>
    <dgm:pt modelId="{E2D1FD7F-0FE8-42E9-8B1A-332539377314}" type="pres">
      <dgm:prSet presAssocID="{A2AC1AF1-2899-4157-9E22-7DFAA8D4CEBE}" presName="vert0" presStyleCnt="0">
        <dgm:presLayoutVars>
          <dgm:dir/>
          <dgm:animOne val="branch"/>
          <dgm:animLvl val="lvl"/>
        </dgm:presLayoutVars>
      </dgm:prSet>
      <dgm:spPr/>
    </dgm:pt>
    <dgm:pt modelId="{2E73CB3F-B252-4E82-8383-555EFFE3C048}" type="pres">
      <dgm:prSet presAssocID="{39234488-4E2A-4D15-93DD-8D840BB1B0D4}" presName="thickLine" presStyleLbl="alignNode1" presStyleIdx="0" presStyleCnt="3"/>
      <dgm:spPr/>
    </dgm:pt>
    <dgm:pt modelId="{22463FDD-DB3D-437F-B0A2-849D4C40E582}" type="pres">
      <dgm:prSet presAssocID="{39234488-4E2A-4D15-93DD-8D840BB1B0D4}" presName="horz1" presStyleCnt="0"/>
      <dgm:spPr/>
    </dgm:pt>
    <dgm:pt modelId="{98E034B1-7ABE-4244-99BF-0CEE40FEC83A}" type="pres">
      <dgm:prSet presAssocID="{39234488-4E2A-4D15-93DD-8D840BB1B0D4}" presName="tx1" presStyleLbl="revTx" presStyleIdx="0" presStyleCnt="3"/>
      <dgm:spPr/>
    </dgm:pt>
    <dgm:pt modelId="{41C17598-E55D-4997-AD4D-5594840DA83D}" type="pres">
      <dgm:prSet presAssocID="{39234488-4E2A-4D15-93DD-8D840BB1B0D4}" presName="vert1" presStyleCnt="0"/>
      <dgm:spPr/>
    </dgm:pt>
    <dgm:pt modelId="{F702C7E0-A71B-4BE6-AAB0-6D94933D47AF}" type="pres">
      <dgm:prSet presAssocID="{E605730D-B56E-4EC1-9520-471BAD40D4D6}" presName="thickLine" presStyleLbl="alignNode1" presStyleIdx="1" presStyleCnt="3"/>
      <dgm:spPr/>
    </dgm:pt>
    <dgm:pt modelId="{D1505CA8-61BD-4D07-BC4D-586B1380F73E}" type="pres">
      <dgm:prSet presAssocID="{E605730D-B56E-4EC1-9520-471BAD40D4D6}" presName="horz1" presStyleCnt="0"/>
      <dgm:spPr/>
    </dgm:pt>
    <dgm:pt modelId="{E7A38161-9D73-45FE-9C45-E3D9FCE44A02}" type="pres">
      <dgm:prSet presAssocID="{E605730D-B56E-4EC1-9520-471BAD40D4D6}" presName="tx1" presStyleLbl="revTx" presStyleIdx="1" presStyleCnt="3"/>
      <dgm:spPr/>
    </dgm:pt>
    <dgm:pt modelId="{ED635BFF-BC14-47B2-A693-2A911A43534A}" type="pres">
      <dgm:prSet presAssocID="{E605730D-B56E-4EC1-9520-471BAD40D4D6}" presName="vert1" presStyleCnt="0"/>
      <dgm:spPr/>
    </dgm:pt>
    <dgm:pt modelId="{73C2C563-347A-4833-925E-029FF0CF4368}" type="pres">
      <dgm:prSet presAssocID="{30D2457F-F587-43E4-B4F6-8785BCDE004F}" presName="thickLine" presStyleLbl="alignNode1" presStyleIdx="2" presStyleCnt="3"/>
      <dgm:spPr/>
    </dgm:pt>
    <dgm:pt modelId="{BE808CAC-084D-45A2-B004-E430018B16FB}" type="pres">
      <dgm:prSet presAssocID="{30D2457F-F587-43E4-B4F6-8785BCDE004F}" presName="horz1" presStyleCnt="0"/>
      <dgm:spPr/>
    </dgm:pt>
    <dgm:pt modelId="{6DAC808A-1E83-4B08-81FB-2D43DC249AD7}" type="pres">
      <dgm:prSet presAssocID="{30D2457F-F587-43E4-B4F6-8785BCDE004F}" presName="tx1" presStyleLbl="revTx" presStyleIdx="2" presStyleCnt="3"/>
      <dgm:spPr/>
    </dgm:pt>
    <dgm:pt modelId="{4DCEBA3D-D44B-4CAA-BC44-222199589B5F}" type="pres">
      <dgm:prSet presAssocID="{30D2457F-F587-43E4-B4F6-8785BCDE004F}" presName="vert1" presStyleCnt="0"/>
      <dgm:spPr/>
    </dgm:pt>
  </dgm:ptLst>
  <dgm:cxnLst>
    <dgm:cxn modelId="{455A9617-DCFD-4129-A5D7-D344D2BA19EE}" type="presOf" srcId="{E605730D-B56E-4EC1-9520-471BAD40D4D6}" destId="{E7A38161-9D73-45FE-9C45-E3D9FCE44A02}" srcOrd="0" destOrd="0" presId="urn:microsoft.com/office/officeart/2008/layout/LinedList"/>
    <dgm:cxn modelId="{CD247C19-3D82-454B-B0A8-0BF6E65EEF5A}" type="presOf" srcId="{39234488-4E2A-4D15-93DD-8D840BB1B0D4}" destId="{98E034B1-7ABE-4244-99BF-0CEE40FEC83A}" srcOrd="0" destOrd="0" presId="urn:microsoft.com/office/officeart/2008/layout/LinedList"/>
    <dgm:cxn modelId="{DDB38941-8603-42A3-8A2E-2E0BFD77DA2C}" srcId="{A2AC1AF1-2899-4157-9E22-7DFAA8D4CEBE}" destId="{E605730D-B56E-4EC1-9520-471BAD40D4D6}" srcOrd="1" destOrd="0" parTransId="{FD34AA86-51B7-4E33-9902-51C06D3C3F15}" sibTransId="{E6E164D2-670F-4CEB-A661-787BCFF181DB}"/>
    <dgm:cxn modelId="{57F1FB71-788A-41DD-8303-7DDE6E545DA4}" type="presOf" srcId="{A2AC1AF1-2899-4157-9E22-7DFAA8D4CEBE}" destId="{E2D1FD7F-0FE8-42E9-8B1A-332539377314}" srcOrd="0" destOrd="0" presId="urn:microsoft.com/office/officeart/2008/layout/LinedList"/>
    <dgm:cxn modelId="{91610F85-03CF-4129-A056-07BA843C38C5}" srcId="{A2AC1AF1-2899-4157-9E22-7DFAA8D4CEBE}" destId="{39234488-4E2A-4D15-93DD-8D840BB1B0D4}" srcOrd="0" destOrd="0" parTransId="{77216DB3-8E43-4EC8-8EB9-B2C6030059F2}" sibTransId="{C6E9C382-DE67-4358-A2B9-84574050D65F}"/>
    <dgm:cxn modelId="{1A5402ED-C42F-4D22-98A5-7BCD3F0BF579}" type="presOf" srcId="{30D2457F-F587-43E4-B4F6-8785BCDE004F}" destId="{6DAC808A-1E83-4B08-81FB-2D43DC249AD7}" srcOrd="0" destOrd="0" presId="urn:microsoft.com/office/officeart/2008/layout/LinedList"/>
    <dgm:cxn modelId="{F693B0FE-F428-473F-862A-845A86F8EFF5}" srcId="{A2AC1AF1-2899-4157-9E22-7DFAA8D4CEBE}" destId="{30D2457F-F587-43E4-B4F6-8785BCDE004F}" srcOrd="2" destOrd="0" parTransId="{69CA5984-A9AB-4FF9-8152-147FB8F70EDD}" sibTransId="{7AECF96B-8A26-451D-AF4D-85A067F6A391}"/>
    <dgm:cxn modelId="{FB9A2C43-AC4C-4FB1-94E5-003221469092}" type="presParOf" srcId="{E2D1FD7F-0FE8-42E9-8B1A-332539377314}" destId="{2E73CB3F-B252-4E82-8383-555EFFE3C048}" srcOrd="0" destOrd="0" presId="urn:microsoft.com/office/officeart/2008/layout/LinedList"/>
    <dgm:cxn modelId="{D28E3633-145E-4338-AD5F-C6F28B79B98E}" type="presParOf" srcId="{E2D1FD7F-0FE8-42E9-8B1A-332539377314}" destId="{22463FDD-DB3D-437F-B0A2-849D4C40E582}" srcOrd="1" destOrd="0" presId="urn:microsoft.com/office/officeart/2008/layout/LinedList"/>
    <dgm:cxn modelId="{823DB321-C6D5-418E-A1D5-443BA58AE711}" type="presParOf" srcId="{22463FDD-DB3D-437F-B0A2-849D4C40E582}" destId="{98E034B1-7ABE-4244-99BF-0CEE40FEC83A}" srcOrd="0" destOrd="0" presId="urn:microsoft.com/office/officeart/2008/layout/LinedList"/>
    <dgm:cxn modelId="{DDA6603C-B266-4362-873B-091D2899A70B}" type="presParOf" srcId="{22463FDD-DB3D-437F-B0A2-849D4C40E582}" destId="{41C17598-E55D-4997-AD4D-5594840DA83D}" srcOrd="1" destOrd="0" presId="urn:microsoft.com/office/officeart/2008/layout/LinedList"/>
    <dgm:cxn modelId="{D380D187-D638-45E8-9E75-411ECC9ECDEF}" type="presParOf" srcId="{E2D1FD7F-0FE8-42E9-8B1A-332539377314}" destId="{F702C7E0-A71B-4BE6-AAB0-6D94933D47AF}" srcOrd="2" destOrd="0" presId="urn:microsoft.com/office/officeart/2008/layout/LinedList"/>
    <dgm:cxn modelId="{69D23DF1-F798-481C-8181-9C7D16108CC9}" type="presParOf" srcId="{E2D1FD7F-0FE8-42E9-8B1A-332539377314}" destId="{D1505CA8-61BD-4D07-BC4D-586B1380F73E}" srcOrd="3" destOrd="0" presId="urn:microsoft.com/office/officeart/2008/layout/LinedList"/>
    <dgm:cxn modelId="{1F292FAC-A18D-41E2-92E5-C7D32FB35F44}" type="presParOf" srcId="{D1505CA8-61BD-4D07-BC4D-586B1380F73E}" destId="{E7A38161-9D73-45FE-9C45-E3D9FCE44A02}" srcOrd="0" destOrd="0" presId="urn:microsoft.com/office/officeart/2008/layout/LinedList"/>
    <dgm:cxn modelId="{9442FA7A-19EC-4FFC-807B-CA72C668D56D}" type="presParOf" srcId="{D1505CA8-61BD-4D07-BC4D-586B1380F73E}" destId="{ED635BFF-BC14-47B2-A693-2A911A43534A}" srcOrd="1" destOrd="0" presId="urn:microsoft.com/office/officeart/2008/layout/LinedList"/>
    <dgm:cxn modelId="{A6503952-BBC5-4DBC-A4DD-E5513F8C3096}" type="presParOf" srcId="{E2D1FD7F-0FE8-42E9-8B1A-332539377314}" destId="{73C2C563-347A-4833-925E-029FF0CF4368}" srcOrd="4" destOrd="0" presId="urn:microsoft.com/office/officeart/2008/layout/LinedList"/>
    <dgm:cxn modelId="{CF979DE2-C05F-4D19-83D0-A3AEAC4795F3}" type="presParOf" srcId="{E2D1FD7F-0FE8-42E9-8B1A-332539377314}" destId="{BE808CAC-084D-45A2-B004-E430018B16FB}" srcOrd="5" destOrd="0" presId="urn:microsoft.com/office/officeart/2008/layout/LinedList"/>
    <dgm:cxn modelId="{B19846F7-B905-488F-A0F4-38D4B47FB3BB}" type="presParOf" srcId="{BE808CAC-084D-45A2-B004-E430018B16FB}" destId="{6DAC808A-1E83-4B08-81FB-2D43DC249AD7}" srcOrd="0" destOrd="0" presId="urn:microsoft.com/office/officeart/2008/layout/LinedList"/>
    <dgm:cxn modelId="{FE4C0A5C-C02C-4BB8-8890-D2529A56F99E}" type="presParOf" srcId="{BE808CAC-084D-45A2-B004-E430018B16FB}" destId="{4DCEBA3D-D44B-4CAA-BC44-222199589B5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73CB3F-B252-4E82-8383-555EFFE3C048}">
      <dsp:nvSpPr>
        <dsp:cNvPr id="0" name=""/>
        <dsp:cNvSpPr/>
      </dsp:nvSpPr>
      <dsp:spPr>
        <a:xfrm>
          <a:off x="0" y="1893"/>
          <a:ext cx="105064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E034B1-7ABE-4244-99BF-0CEE40FEC83A}">
      <dsp:nvSpPr>
        <dsp:cNvPr id="0" name=""/>
        <dsp:cNvSpPr/>
      </dsp:nvSpPr>
      <dsp:spPr>
        <a:xfrm>
          <a:off x="0" y="1893"/>
          <a:ext cx="10506456" cy="1291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4790" tIns="224790" rIns="224790" bIns="224790" numCol="1" spcCol="1270" anchor="t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900" b="1" kern="1200" dirty="0"/>
            <a:t>THANK YOU</a:t>
          </a:r>
        </a:p>
      </dsp:txBody>
      <dsp:txXfrm>
        <a:off x="0" y="1893"/>
        <a:ext cx="10506456" cy="1291053"/>
      </dsp:txXfrm>
    </dsp:sp>
    <dsp:sp modelId="{F702C7E0-A71B-4BE6-AAB0-6D94933D47AF}">
      <dsp:nvSpPr>
        <dsp:cNvPr id="0" name=""/>
        <dsp:cNvSpPr/>
      </dsp:nvSpPr>
      <dsp:spPr>
        <a:xfrm>
          <a:off x="0" y="1292947"/>
          <a:ext cx="10506456" cy="0"/>
        </a:xfrm>
        <a:prstGeom prst="line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A38161-9D73-45FE-9C45-E3D9FCE44A02}">
      <dsp:nvSpPr>
        <dsp:cNvPr id="0" name=""/>
        <dsp:cNvSpPr/>
      </dsp:nvSpPr>
      <dsp:spPr>
        <a:xfrm>
          <a:off x="0" y="1292947"/>
          <a:ext cx="10506456" cy="1291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1" kern="1200" baseline="0" dirty="0"/>
            <a:t>Dr. Mohammad </a:t>
          </a:r>
          <a:r>
            <a:rPr lang="en-US" sz="4000" i="1" kern="1200" dirty="0"/>
            <a:t>A</a:t>
          </a:r>
          <a:r>
            <a:rPr lang="en-US" sz="4000" b="0" i="1" kern="1200" baseline="0" dirty="0"/>
            <a:t>li </a:t>
          </a:r>
          <a:r>
            <a:rPr lang="en-US" sz="4000" i="1" kern="1200" dirty="0" err="1"/>
            <a:t>S</a:t>
          </a:r>
          <a:r>
            <a:rPr lang="en-US" sz="4000" b="0" i="1" kern="1200" baseline="0" dirty="0" err="1"/>
            <a:t>arvghadi</a:t>
          </a:r>
          <a:endParaRPr lang="en-US" sz="4000" kern="1200" dirty="0"/>
        </a:p>
      </dsp:txBody>
      <dsp:txXfrm>
        <a:off x="0" y="1292947"/>
        <a:ext cx="10506456" cy="1291053"/>
      </dsp:txXfrm>
    </dsp:sp>
    <dsp:sp modelId="{73C2C563-347A-4833-925E-029FF0CF4368}">
      <dsp:nvSpPr>
        <dsp:cNvPr id="0" name=""/>
        <dsp:cNvSpPr/>
      </dsp:nvSpPr>
      <dsp:spPr>
        <a:xfrm>
          <a:off x="0" y="2584000"/>
          <a:ext cx="10506456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AC808A-1E83-4B08-81FB-2D43DC249AD7}">
      <dsp:nvSpPr>
        <dsp:cNvPr id="0" name=""/>
        <dsp:cNvSpPr/>
      </dsp:nvSpPr>
      <dsp:spPr>
        <a:xfrm>
          <a:off x="0" y="2584000"/>
          <a:ext cx="10506456" cy="1291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i="1" kern="1200" dirty="0"/>
            <a:t>masarvghadi@usm.my</a:t>
          </a:r>
          <a:endParaRPr lang="en-US" sz="3200" kern="1200" dirty="0"/>
        </a:p>
      </dsp:txBody>
      <dsp:txXfrm>
        <a:off x="0" y="2584000"/>
        <a:ext cx="10506456" cy="12910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6CB5C-2DBC-415E-B2B3-897560BC01F1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48D0A-BC4E-40FC-83D5-E4AD45B03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113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47374-3A9C-9E39-DABB-CB210FA07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C3CD48-8213-8BA8-88B9-0DB443980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EEA87-41AA-0B29-F3DC-7A3B5F927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0D624-50C5-4CA8-95D7-7D1912591510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67EAE-33BC-3A0F-052E-06708552D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masarvghadi@usm.my for UOW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7106E-395C-B799-61D1-3DE0EE3C6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44C7-9DEF-494D-9EBF-CD8FA9A95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886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77AE7-E425-8876-D1AD-4E7FDB8DE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5AB15-D230-5559-EA92-34AE1F2DA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8013B-157B-431E-6FE1-82F549B30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9412F-F1A3-4D8F-9067-AF9CAC6610C8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69656-F513-92ED-5402-E5670D55C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masarvghadi@usm.my for UOW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8325B-A317-389C-3C64-D6981D27F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44C7-9DEF-494D-9EBF-CD8FA9A95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959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16787-01BC-5189-53DA-536175D19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DFA9B-1A25-1838-635A-0D0F8C046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C6AD3-E0CF-70C5-F966-237CAE1CE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6195A-2607-4075-BC28-6A65CF94BE3F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23872-FC73-C117-F225-2CEE57BDC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masarvghadi@usm.my for UOW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B7CA6-8FCE-8E98-BC1C-F3D23BFBB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44C7-9DEF-494D-9EBF-CD8FA9A95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549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CD54D-4F04-C6A6-8ABE-E69341DCD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ECECF-E03F-38A8-50CF-8B39EFB4BF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31ABA-A6D2-A827-4E9A-92E869BCB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FB9464-7C66-051C-0D62-0C13C4BDE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A39A2-676A-41A4-AE54-8C5BB33690B3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AB4EC5-2247-1777-7680-5FC80B7A9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masarvghadi@usm.my for UOW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0A294-082C-A25D-71DA-A481BED03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44C7-9DEF-494D-9EBF-CD8FA9A95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066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07A99-6307-22BC-27A3-6EA7DCFCF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6C820-67D3-EBD8-5D48-AC6CF5F0F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D65BDB-5562-66E7-6235-5E27B2E22E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8191C3-F836-0348-BD91-9D65C84B9E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7D9A63-9FA7-F2EA-0561-3CCACA8BE4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DAAC91-C218-2D45-7B83-A2A4EA16A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30EDF-466C-4F57-A06C-94B100188B9D}" type="datetime1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2180E8-EC79-791C-2577-73388B03E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masarvghadi@usm.my for UOW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A81461-C355-C359-8625-D1A8EE0DB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44C7-9DEF-494D-9EBF-CD8FA9A95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4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47567-EBC9-EC8B-1877-7F739F930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65E790-B765-557E-A281-FC621FBD9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FB3CE-E190-428B-8BCC-C74103D34F42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25BB34-2071-9E3C-D825-56DA289EE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masarvghadi@usm.my for UOW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5A0F95-F83D-D92F-A9BA-4011F127B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44C7-9DEF-494D-9EBF-CD8FA9A95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007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018D4C-29EF-6D81-0026-0F498B382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28AFC-6479-4A11-B849-36BCD8FC88A2}" type="datetime1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66F042-94C2-2BDF-2F6C-CE12B76DD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masarvghadi@usm.my for UOW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C3BF1-51F4-F2F2-1E31-9F423C4DE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44C7-9DEF-494D-9EBF-CD8FA9A95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230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A8027-7377-979E-1041-2B56ED6F8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E578E-D5C5-2B81-423B-3D538ED65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2ECB3-709B-90C6-AA77-9B7C1CA33B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2B0422-FB53-2902-4C88-719C24AA6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6E25-CF3F-464B-A3EE-B7E2AE595C20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FA085-D801-1538-3DA8-4D08F910B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masarvghadi@usm.my for UOW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5BC448-1012-C8F7-6FFF-C5964970D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44C7-9DEF-494D-9EBF-CD8FA9A95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692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44C90-FB4A-1C77-6AA6-BE17BBBE5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F8319C-8E21-165C-7CF8-9DD18C2EBD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D3DE2-6775-D638-799A-5A6EA0667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F3AD36-7EBB-97D8-9FAD-3B073FC23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BB4A-60FA-4D5A-AB32-888C975A686D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CD23DE-FDB5-7C7B-63E5-6587AD662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masarvghadi@usm.my for UOW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390B78-7F3A-04FB-4E6E-40AE4AC26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44C7-9DEF-494D-9EBF-CD8FA9A95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804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FA6D8-249E-6157-822A-537A8885F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19B7C5-8AF6-0A71-09A7-4E4848441E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76CFF-5C13-1BDB-CC51-1C66370C2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D9B0D-DC2A-4C7D-A44D-8CBC5B390D30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BB2E6-70A0-EB87-B2D7-2BFAFE854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masarvghadi@usm.my for UOW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392CF-742B-A093-51FD-3A0A2515C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44C7-9DEF-494D-9EBF-CD8FA9A95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621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829133-39E8-1C8B-F4A5-25019577D5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2463DE-2DE3-2636-7A4A-2B9DAF19E7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5462F-7973-C51D-F4DB-C378592B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5561D-B539-4642-8BAF-23E5A5B1C492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438C9-5793-C7D4-3C9D-8D9BEE3AB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masarvghadi@usm.my for UOW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76F0A-2D5C-234F-92C8-CDBDD378C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44C7-9DEF-494D-9EBF-CD8FA9A95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45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24F0F9-DB40-E3E8-1B1B-15D034AFA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01D7B-8597-E035-7FD2-1BE735578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726AF-7232-3A96-FA25-4A7AF825D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8392B2-34E7-4ED7-A0D8-31C153AC4472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55D2E-B08A-86DF-48BF-F26AC75546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n-NO"/>
              <a:t>masarvghadi@usm.my for UOW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8EDA3-EDA1-F42B-E05E-1E643B91B4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CA44C7-9DEF-494D-9EBF-CD8FA9A95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780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5C10042-5E08-EFBC-F773-FBDBDD9DFA67}"/>
              </a:ext>
            </a:extLst>
          </p:cNvPr>
          <p:cNvSpPr/>
          <p:nvPr/>
        </p:nvSpPr>
        <p:spPr>
          <a:xfrm>
            <a:off x="5867400" y="190500"/>
            <a:ext cx="4651117" cy="20193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C271D6-90E0-1E82-F766-29014647B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0653" y="1865739"/>
            <a:ext cx="7528167" cy="4567812"/>
          </a:xfrm>
        </p:spPr>
        <p:txBody>
          <a:bodyPr anchor="ctr">
            <a:normAutofit/>
          </a:bodyPr>
          <a:lstStyle/>
          <a:p>
            <a:pPr algn="ctr"/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32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Topic 8</a:t>
            </a:r>
            <a:br>
              <a:rPr lang="en-US" sz="32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br>
              <a:rPr lang="en-US" sz="32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br>
              <a:rPr lang="en-US" sz="32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n-MY" sz="3200" b="1" dirty="0">
                <a:solidFill>
                  <a:srgbClr val="000000"/>
                </a:solidFill>
                <a:latin typeface="Calibri" panose="020F0502020204030204" pitchFamily="34" charset="0"/>
              </a:rPr>
              <a:t>Recursion</a:t>
            </a:r>
            <a:br>
              <a:rPr lang="en-US" sz="32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br>
              <a:rPr lang="en-US" sz="32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n-US" sz="32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3200" b="0" i="1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Dr. Mohammad </a:t>
            </a:r>
            <a:r>
              <a:rPr lang="en-US" sz="3200" i="1" dirty="0">
                <a:solidFill>
                  <a:srgbClr val="000000"/>
                </a:solidFill>
                <a:latin typeface="Calibri" panose="020F0502020204030204" pitchFamily="34" charset="0"/>
              </a:rPr>
              <a:t>A</a:t>
            </a:r>
            <a:r>
              <a:rPr lang="en-US" sz="3200" b="0" i="1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li </a:t>
            </a:r>
            <a:r>
              <a:rPr lang="en-US" sz="3200" i="1" dirty="0" err="1">
                <a:solidFill>
                  <a:srgbClr val="000000"/>
                </a:solidFill>
                <a:latin typeface="Calibri" panose="020F0502020204030204" pitchFamily="34" charset="0"/>
              </a:rPr>
              <a:t>S</a:t>
            </a:r>
            <a:r>
              <a:rPr lang="en-US" sz="3200" b="0" i="1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arvghadi</a:t>
            </a:r>
            <a:endParaRPr lang="en-US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D5AA92-195B-8805-26AA-D758AAF5CF35}"/>
              </a:ext>
            </a:extLst>
          </p:cNvPr>
          <p:cNvSpPr txBox="1"/>
          <p:nvPr/>
        </p:nvSpPr>
        <p:spPr>
          <a:xfrm>
            <a:off x="6991927" y="6088852"/>
            <a:ext cx="3094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masarvghadi@usm.my</a:t>
            </a:r>
          </a:p>
        </p:txBody>
      </p:sp>
      <p:pic>
        <p:nvPicPr>
          <p:cNvPr id="14" name="Picture 13" descr="A white letter s on a black background">
            <a:extLst>
              <a:ext uri="{FF2B5EF4-FFF2-40B4-BE49-F238E27FC236}">
                <a16:creationId xmlns:a16="http://schemas.microsoft.com/office/drawing/2014/main" id="{23520C6D-9175-6AC7-889F-DA6F08F035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368" y="200314"/>
            <a:ext cx="4610100" cy="2019300"/>
          </a:xfrm>
          <a:prstGeom prst="rect">
            <a:avLst/>
          </a:prstGeom>
        </p:spPr>
      </p:pic>
      <p:pic>
        <p:nvPicPr>
          <p:cNvPr id="4" name="Picture 3" descr="A book cover with text and images&#10;&#10;Description automatically generated">
            <a:extLst>
              <a:ext uri="{FF2B5EF4-FFF2-40B4-BE49-F238E27FC236}">
                <a16:creationId xmlns:a16="http://schemas.microsoft.com/office/drawing/2014/main" id="{4C26D840-1584-7226-5175-77DAB91BA2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99256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BBA4B-9F25-1155-B942-4CA06C7F0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masarvghadi@usm.my for UOW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4E88C-A6F6-19C9-271C-B4FD1589A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44C7-9DEF-494D-9EBF-CD8FA9A959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66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C4FD0BC-1521-A055-39B4-A7AFDB971AEA}"/>
              </a:ext>
            </a:extLst>
          </p:cNvPr>
          <p:cNvSpPr txBox="1"/>
          <p:nvPr/>
        </p:nvSpPr>
        <p:spPr>
          <a:xfrm>
            <a:off x="1" y="561976"/>
            <a:ext cx="6095999" cy="5592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              </a:t>
            </a:r>
            <a:r>
              <a:rPr lang="en-US" sz="2000" b="1" i="0" u="none" strike="noStrike" baseline="0" dirty="0"/>
              <a:t>Topic 8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b="1" i="0" u="none" strike="noStrike" baseline="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MY" sz="2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Recursion</a:t>
            </a:r>
            <a:endParaRPr lang="en-US" sz="2800" b="1" i="0" u="none" strike="noStrike" baseline="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algn="l"/>
            <a:endParaRPr lang="en-US" sz="2400" dirty="0"/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Recursion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endParaRPr lang="en-US" sz="2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8BC164-E230-753F-2C7E-B4EE7BA77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8086" y="0"/>
            <a:ext cx="4803913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8AB76C-2440-8EA4-CC9C-A4B77CE5D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masarvghadi@usm.my for UOW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9B38D6-D74E-D404-1E4B-A263B3E8A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44C7-9DEF-494D-9EBF-CD8FA9A95986}" type="slidenum">
              <a:rPr lang="en-US" smtClean="0"/>
              <a:t>2</a:t>
            </a:fld>
            <a:endParaRPr lang="en-US"/>
          </a:p>
        </p:txBody>
      </p:sp>
      <p:pic>
        <p:nvPicPr>
          <p:cNvPr id="3" name="Picture 2" descr="A book cover with text and images&#10;&#10;Description automatically generated">
            <a:extLst>
              <a:ext uri="{FF2B5EF4-FFF2-40B4-BE49-F238E27FC236}">
                <a16:creationId xmlns:a16="http://schemas.microsoft.com/office/drawing/2014/main" id="{8A352470-DE4D-BBD3-026F-9E6205F18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629" y="1085850"/>
            <a:ext cx="3552825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246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DD77349-6ADE-99FE-8E04-12919EE5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5B2B92C-44DF-B41D-C67A-EBF175DF52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41EB2F1-D26A-D7C9-E9AC-B63BE629A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6D16430-53D3-47E5-F4B8-B441E710D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55F4528-163C-1FA9-2A64-19D803F5D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Introduction to Recursion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792997B-61AE-7625-2C4D-1BF7A0667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509" y="1941985"/>
            <a:ext cx="11018981" cy="4230152"/>
          </a:xfrm>
        </p:spPr>
        <p:txBody>
          <a:bodyPr>
            <a:noAutofit/>
          </a:bodyPr>
          <a:lstStyle/>
          <a:p>
            <a:pPr algn="l"/>
            <a:r>
              <a:rPr lang="en-US" sz="1800" b="0" i="0" u="none" strike="noStrike" baseline="0" dirty="0">
                <a:latin typeface="SabonLTStd-Roman"/>
              </a:rPr>
              <a:t>A function </a:t>
            </a:r>
            <a:r>
              <a:rPr lang="en-MY" sz="1800" b="0" i="0" u="none" strike="noStrike" baseline="0" dirty="0">
                <a:latin typeface="SabonLTStd-Roman"/>
              </a:rPr>
              <a:t>that calls itself is a </a:t>
            </a:r>
            <a:r>
              <a:rPr lang="en-MY" sz="1800" b="0" i="1" u="none" strike="noStrike" baseline="0" dirty="0">
                <a:latin typeface="SabonLTStd-Italic"/>
              </a:rPr>
              <a:t>recursive function</a:t>
            </a:r>
            <a:r>
              <a:rPr lang="en-MY" sz="1800" b="0" i="0" u="none" strike="noStrike" baseline="0" dirty="0">
                <a:latin typeface="SabonLTStd-Roman"/>
              </a:rPr>
              <a:t>.</a:t>
            </a:r>
          </a:p>
          <a:p>
            <a:pPr marL="0" indent="0" algn="l">
              <a:buNone/>
            </a:pPr>
            <a:r>
              <a:rPr lang="en-MY" sz="1800" dirty="0">
                <a:latin typeface="SabonLTStd-Roman"/>
                <a:cs typeface="Arial" panose="020B0604020202020204" pitchFamily="34" charset="0"/>
              </a:rPr>
              <a:t>		</a:t>
            </a:r>
          </a:p>
          <a:p>
            <a:pPr marL="0" indent="0" algn="l">
              <a:buNone/>
            </a:pPr>
            <a:r>
              <a:rPr lang="en-MY" sz="1800" dirty="0">
                <a:latin typeface="SabonLTStd-Roman"/>
                <a:cs typeface="Arial" panose="020B0604020202020204" pitchFamily="34" charset="0"/>
              </a:rPr>
              <a:t>		</a:t>
            </a:r>
            <a:r>
              <a:rPr lang="en-US" sz="1800" i="1" dirty="0">
                <a:latin typeface="Courier10PitchBT-Roman"/>
              </a:rPr>
              <a:t>void message()</a:t>
            </a:r>
          </a:p>
          <a:p>
            <a:pPr marL="0" indent="0" algn="l">
              <a:buNone/>
            </a:pPr>
            <a:r>
              <a:rPr lang="en-US" sz="1800" i="1" dirty="0">
                <a:latin typeface="Courier10PitchBT-Roman"/>
              </a:rPr>
              <a:t>		{</a:t>
            </a:r>
          </a:p>
          <a:p>
            <a:pPr marL="0" indent="0" algn="l">
              <a:buNone/>
            </a:pPr>
            <a:r>
              <a:rPr lang="en-MY" sz="1800" i="1" dirty="0">
                <a:latin typeface="Courier10PitchBT-Roman"/>
              </a:rPr>
              <a:t>			</a:t>
            </a:r>
            <a:r>
              <a:rPr lang="en-MY" sz="1800" i="1" dirty="0" err="1">
                <a:latin typeface="Courier10PitchBT-Roman"/>
              </a:rPr>
              <a:t>cout</a:t>
            </a:r>
            <a:r>
              <a:rPr lang="en-MY" sz="1800" i="1" dirty="0">
                <a:latin typeface="Courier10PitchBT-Roman"/>
              </a:rPr>
              <a:t> &lt;&lt; "This is a recursive function.\n";</a:t>
            </a:r>
          </a:p>
          <a:p>
            <a:pPr marL="0" indent="0" algn="l">
              <a:buNone/>
            </a:pPr>
            <a:r>
              <a:rPr lang="en-US" sz="1800" i="1" dirty="0">
                <a:latin typeface="Courier10PitchBT-Roman"/>
              </a:rPr>
              <a:t>			message();</a:t>
            </a:r>
          </a:p>
          <a:p>
            <a:pPr marL="0" indent="0" algn="l">
              <a:buNone/>
            </a:pPr>
            <a:r>
              <a:rPr lang="en-US" sz="1800" i="1" dirty="0">
                <a:latin typeface="Courier10PitchBT-Roman"/>
              </a:rPr>
              <a:t>		}</a:t>
            </a:r>
          </a:p>
          <a:p>
            <a:pPr marL="0" indent="0" algn="l">
              <a:buNone/>
            </a:pPr>
            <a:endParaRPr lang="en-US" sz="1800" i="1" dirty="0">
              <a:latin typeface="Courier10PitchBT-Roman"/>
            </a:endParaRPr>
          </a:p>
          <a:p>
            <a:pPr marL="0" indent="0" algn="l">
              <a:buNone/>
            </a:pPr>
            <a:endParaRPr lang="en-US" sz="1800" dirty="0">
              <a:solidFill>
                <a:srgbClr val="FF0000"/>
              </a:solidFill>
              <a:latin typeface="SabonLTStd-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20E4DC-F19F-55CC-C19E-56A83BEC3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nn-NO">
                <a:solidFill>
                  <a:schemeClr val="tx1">
                    <a:lumMod val="50000"/>
                    <a:lumOff val="50000"/>
                  </a:schemeClr>
                </a:solidFill>
              </a:rPr>
              <a:t>masarvghadi@usm.my for UOW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4B9548-4903-DF53-9E3E-FA8288D24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0CA44C7-9DEF-494D-9EBF-CD8FA9A95986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516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90C8B9-4F86-06A1-4F12-5183D7EFA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82AB46D-DC3A-B584-06D2-D5A2072FE4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557F21-8093-6E95-67CA-634C85EADC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3C764D-872E-EA24-71D6-A51685E7CD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2E1C044-C15A-360B-8688-5D47D9F814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CB60D1-0F51-1417-B28C-D39C20337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Introduction to Recursion </a:t>
            </a:r>
            <a:r>
              <a:rPr lang="en-US" sz="3000" b="1" dirty="0">
                <a:solidFill>
                  <a:srgbClr val="FFFFFF"/>
                </a:solidFill>
              </a:rPr>
              <a:t>(Cont.)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18CBDA1-7E2B-2784-2DCC-EFD0D3D0D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509" y="1941985"/>
            <a:ext cx="11018981" cy="4230152"/>
          </a:xfrm>
        </p:spPr>
        <p:txBody>
          <a:bodyPr>
            <a:noAutofit/>
          </a:bodyPr>
          <a:lstStyle/>
          <a:p>
            <a:pPr algn="l"/>
            <a:r>
              <a:rPr lang="en-US" sz="1800" b="0" i="0" u="none" strike="noStrike" baseline="0" dirty="0">
                <a:latin typeface="SabonLTStd-Roman"/>
              </a:rPr>
              <a:t>A function </a:t>
            </a:r>
            <a:r>
              <a:rPr lang="en-MY" sz="1800" b="0" i="0" u="none" strike="noStrike" baseline="0" dirty="0">
                <a:latin typeface="SabonLTStd-Roman"/>
              </a:rPr>
              <a:t>that calls itself is a </a:t>
            </a:r>
            <a:r>
              <a:rPr lang="en-MY" sz="1800" b="0" i="1" u="none" strike="noStrike" baseline="0" dirty="0">
                <a:latin typeface="SabonLTStd-Italic"/>
              </a:rPr>
              <a:t>recursive function</a:t>
            </a:r>
            <a:r>
              <a:rPr lang="en-MY" sz="1800" b="0" i="0" u="none" strike="noStrike" baseline="0" dirty="0">
                <a:latin typeface="SabonLTStd-Roman"/>
              </a:rPr>
              <a:t>.</a:t>
            </a:r>
          </a:p>
          <a:p>
            <a:pPr marL="0" indent="0" algn="l">
              <a:buNone/>
            </a:pPr>
            <a:r>
              <a:rPr lang="en-MY" sz="1800" dirty="0">
                <a:latin typeface="SabonLTStd-Roman"/>
                <a:cs typeface="Arial" panose="020B0604020202020204" pitchFamily="34" charset="0"/>
              </a:rPr>
              <a:t>		</a:t>
            </a:r>
          </a:p>
          <a:p>
            <a:pPr marL="0" indent="0" algn="l">
              <a:buNone/>
            </a:pPr>
            <a:r>
              <a:rPr lang="en-MY" sz="1800" dirty="0">
                <a:latin typeface="SabonLTStd-Roman"/>
                <a:cs typeface="Arial" panose="020B0604020202020204" pitchFamily="34" charset="0"/>
              </a:rPr>
              <a:t>		</a:t>
            </a:r>
            <a:r>
              <a:rPr lang="en-US" sz="1800" i="1" dirty="0">
                <a:latin typeface="Courier10PitchBT-Roman"/>
              </a:rPr>
              <a:t>void message()</a:t>
            </a:r>
          </a:p>
          <a:p>
            <a:pPr marL="0" indent="0" algn="l">
              <a:buNone/>
            </a:pPr>
            <a:r>
              <a:rPr lang="en-US" sz="1800" i="1" dirty="0">
                <a:latin typeface="Courier10PitchBT-Roman"/>
              </a:rPr>
              <a:t>		{</a:t>
            </a:r>
          </a:p>
          <a:p>
            <a:pPr marL="0" indent="0" algn="l">
              <a:buNone/>
            </a:pPr>
            <a:r>
              <a:rPr lang="en-MY" sz="1800" i="1" dirty="0">
                <a:latin typeface="Courier10PitchBT-Roman"/>
              </a:rPr>
              <a:t>			</a:t>
            </a:r>
            <a:r>
              <a:rPr lang="en-MY" sz="1800" i="1" dirty="0" err="1">
                <a:latin typeface="Courier10PitchBT-Roman"/>
              </a:rPr>
              <a:t>cout</a:t>
            </a:r>
            <a:r>
              <a:rPr lang="en-MY" sz="1800" i="1" dirty="0">
                <a:latin typeface="Courier10PitchBT-Roman"/>
              </a:rPr>
              <a:t> &lt;&lt; "This is a recursive function.\n";</a:t>
            </a:r>
          </a:p>
          <a:p>
            <a:pPr marL="0" indent="0" algn="l">
              <a:buNone/>
            </a:pPr>
            <a:r>
              <a:rPr lang="en-US" sz="1800" i="1" dirty="0">
                <a:latin typeface="Courier10PitchBT-Roman"/>
              </a:rPr>
              <a:t>			message();</a:t>
            </a:r>
          </a:p>
          <a:p>
            <a:pPr marL="0" indent="0" algn="l">
              <a:buNone/>
            </a:pPr>
            <a:r>
              <a:rPr lang="en-US" sz="1800" i="1" dirty="0">
                <a:latin typeface="Courier10PitchBT-Roman"/>
              </a:rPr>
              <a:t>		}</a:t>
            </a:r>
          </a:p>
          <a:p>
            <a:pPr marL="0" indent="0" algn="l">
              <a:buNone/>
            </a:pPr>
            <a:endParaRPr lang="en-US" sz="1800" i="1" dirty="0">
              <a:latin typeface="Courier10PitchBT-Roman"/>
            </a:endParaRPr>
          </a:p>
          <a:p>
            <a:pPr marL="0" indent="0" algn="l">
              <a:buNone/>
            </a:pPr>
            <a:r>
              <a:rPr lang="en-US" sz="1800" dirty="0">
                <a:latin typeface="SabonLTStd-Roman"/>
              </a:rPr>
              <a:t>What is the problem with the function above? </a:t>
            </a:r>
          </a:p>
          <a:p>
            <a:pPr marL="0" indent="0" algn="l">
              <a:buNone/>
            </a:pPr>
            <a:endParaRPr lang="en-US" sz="1800" dirty="0">
              <a:solidFill>
                <a:srgbClr val="FF0000"/>
              </a:solidFill>
              <a:latin typeface="SabonLTStd-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17AA58-AC59-5CE8-8DB1-B7B5F69E9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nn-NO">
                <a:solidFill>
                  <a:schemeClr val="tx1">
                    <a:lumMod val="50000"/>
                    <a:lumOff val="50000"/>
                  </a:schemeClr>
                </a:solidFill>
              </a:rPr>
              <a:t>masarvghadi@usm.my for UOW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8CCC25-8A05-6A76-ADED-A3FF9871F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0CA44C7-9DEF-494D-9EBF-CD8FA9A95986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941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C9AD9C-6C95-0C0C-64CC-58B478C9B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ECE8058-90C7-62B5-678E-AC3AD94BD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801D8CE-C83B-1ED3-9582-79F35722D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2F084B7-828F-006E-80D0-644A42BFAF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4C5F07D-07D4-13A3-AFCA-A41B6DBB9B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41091C0-5E49-DC0C-E0B5-EEC3D9F0F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Introduction to Recursion </a:t>
            </a:r>
            <a:r>
              <a:rPr lang="en-US" sz="3000" b="1" dirty="0">
                <a:solidFill>
                  <a:srgbClr val="FFFFFF"/>
                </a:solidFill>
              </a:rPr>
              <a:t>(Cont.)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938F7CA-CCBF-3F6F-2EE5-524A75C1B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509" y="1941985"/>
            <a:ext cx="11018981" cy="4230152"/>
          </a:xfrm>
        </p:spPr>
        <p:txBody>
          <a:bodyPr>
            <a:noAutofit/>
          </a:bodyPr>
          <a:lstStyle/>
          <a:p>
            <a:pPr algn="l"/>
            <a:r>
              <a:rPr lang="en-US" sz="1800" b="0" i="0" u="none" strike="noStrike" baseline="0" dirty="0">
                <a:latin typeface="SabonLTStd-Roman"/>
              </a:rPr>
              <a:t>A function </a:t>
            </a:r>
            <a:r>
              <a:rPr lang="en-MY" sz="1800" b="0" i="0" u="none" strike="noStrike" baseline="0" dirty="0">
                <a:latin typeface="SabonLTStd-Roman"/>
              </a:rPr>
              <a:t>that calls itself is a </a:t>
            </a:r>
            <a:r>
              <a:rPr lang="en-MY" sz="1800" b="0" i="1" u="none" strike="noStrike" baseline="0" dirty="0">
                <a:latin typeface="SabonLTStd-Italic"/>
              </a:rPr>
              <a:t>recursive function</a:t>
            </a:r>
            <a:r>
              <a:rPr lang="en-MY" sz="1800" b="0" i="0" u="none" strike="noStrike" baseline="0" dirty="0">
                <a:latin typeface="SabonLTStd-Roman"/>
              </a:rPr>
              <a:t>.</a:t>
            </a:r>
          </a:p>
          <a:p>
            <a:pPr marL="0" indent="0" algn="l">
              <a:buNone/>
            </a:pPr>
            <a:r>
              <a:rPr lang="en-MY" sz="1800" dirty="0">
                <a:latin typeface="SabonLTStd-Roman"/>
                <a:cs typeface="Arial" panose="020B0604020202020204" pitchFamily="34" charset="0"/>
              </a:rPr>
              <a:t>		</a:t>
            </a:r>
          </a:p>
          <a:p>
            <a:pPr marL="0" indent="0" algn="l">
              <a:buNone/>
            </a:pPr>
            <a:r>
              <a:rPr lang="en-MY" sz="1800" dirty="0">
                <a:latin typeface="SabonLTStd-Roman"/>
                <a:cs typeface="Arial" panose="020B0604020202020204" pitchFamily="34" charset="0"/>
              </a:rPr>
              <a:t>		</a:t>
            </a:r>
            <a:r>
              <a:rPr lang="en-US" sz="1800" i="1" dirty="0">
                <a:latin typeface="Courier10PitchBT-Roman"/>
              </a:rPr>
              <a:t>void message()</a:t>
            </a:r>
          </a:p>
          <a:p>
            <a:pPr marL="0" indent="0" algn="l">
              <a:buNone/>
            </a:pPr>
            <a:r>
              <a:rPr lang="en-US" sz="1800" i="1" dirty="0">
                <a:latin typeface="Courier10PitchBT-Roman"/>
              </a:rPr>
              <a:t>		{</a:t>
            </a:r>
          </a:p>
          <a:p>
            <a:pPr marL="0" indent="0" algn="l">
              <a:buNone/>
            </a:pPr>
            <a:r>
              <a:rPr lang="en-MY" sz="1800" i="1" dirty="0">
                <a:latin typeface="Courier10PitchBT-Roman"/>
              </a:rPr>
              <a:t>			</a:t>
            </a:r>
            <a:r>
              <a:rPr lang="en-MY" sz="1800" i="1" dirty="0" err="1">
                <a:latin typeface="Courier10PitchBT-Roman"/>
              </a:rPr>
              <a:t>cout</a:t>
            </a:r>
            <a:r>
              <a:rPr lang="en-MY" sz="1800" i="1" dirty="0">
                <a:latin typeface="Courier10PitchBT-Roman"/>
              </a:rPr>
              <a:t> &lt;&lt; "This is a recursive function.\n";</a:t>
            </a:r>
          </a:p>
          <a:p>
            <a:pPr marL="0" indent="0" algn="l">
              <a:buNone/>
            </a:pPr>
            <a:r>
              <a:rPr lang="en-US" sz="1800" i="1" dirty="0">
                <a:latin typeface="Courier10PitchBT-Roman"/>
              </a:rPr>
              <a:t>			message();</a:t>
            </a:r>
          </a:p>
          <a:p>
            <a:pPr marL="0" indent="0" algn="l">
              <a:buNone/>
            </a:pPr>
            <a:r>
              <a:rPr lang="en-US" sz="1800" i="1" dirty="0">
                <a:latin typeface="Courier10PitchBT-Roman"/>
              </a:rPr>
              <a:t>		}</a:t>
            </a:r>
          </a:p>
          <a:p>
            <a:pPr marL="0" indent="0" algn="l">
              <a:buNone/>
            </a:pPr>
            <a:endParaRPr lang="en-US" sz="1800" i="1" dirty="0">
              <a:latin typeface="Courier10PitchBT-Roman"/>
            </a:endParaRPr>
          </a:p>
          <a:p>
            <a:pPr marL="0" indent="0" algn="l">
              <a:buNone/>
            </a:pPr>
            <a:r>
              <a:rPr lang="en-US" sz="1800" dirty="0">
                <a:latin typeface="SabonLTStd-Roman"/>
              </a:rPr>
              <a:t>What is the problem with the function above? </a:t>
            </a:r>
          </a:p>
          <a:p>
            <a:pPr marL="0" indent="0" algn="l">
              <a:buNone/>
            </a:pPr>
            <a:r>
              <a:rPr lang="en-US" sz="1800" dirty="0">
                <a:solidFill>
                  <a:srgbClr val="FF0000"/>
                </a:solidFill>
                <a:latin typeface="SabonLTStd-Roman"/>
              </a:rPr>
              <a:t>It acts like an infinite loop which leads the program to crash due to </a:t>
            </a:r>
            <a:r>
              <a:rPr lang="en-US" sz="1800" b="1" dirty="0">
                <a:solidFill>
                  <a:srgbClr val="FF0000"/>
                </a:solidFill>
                <a:latin typeface="SabonLTStd-Roman"/>
              </a:rPr>
              <a:t>stack overflow</a:t>
            </a:r>
            <a:r>
              <a:rPr lang="en-US" sz="1800" dirty="0">
                <a:solidFill>
                  <a:srgbClr val="FF0000"/>
                </a:solidFill>
                <a:latin typeface="SabonLTStd-Roman"/>
              </a:rPr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F712C-75B3-97A4-E397-4F17A46E2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nn-NO">
                <a:solidFill>
                  <a:schemeClr val="tx1">
                    <a:lumMod val="50000"/>
                    <a:lumOff val="50000"/>
                  </a:schemeClr>
                </a:solidFill>
              </a:rPr>
              <a:t>masarvghadi@usm.my for UOW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DAC82F-551E-5AF6-1565-77646F305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0CA44C7-9DEF-494D-9EBF-CD8FA9A95986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7542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F28109-DB78-4024-9414-19E9F6EA8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8218974-7874-6C0B-C6FC-CDD452ED5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BD606C4-118F-8F80-4478-81313714F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FAFED0-1D1E-1F15-6A65-BEBEFCAFC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3571C9A-5C86-C38E-BAE4-555CF3452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3F5FF8-86BE-BCBB-C016-96D8A4FA9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Stack Mechanism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3AAD62B-50C0-64F7-DD89-B481DEBA5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509" y="1941985"/>
            <a:ext cx="6303241" cy="4230152"/>
          </a:xfrm>
        </p:spPr>
        <p:txBody>
          <a:bodyPr>
            <a:noAutofit/>
          </a:bodyPr>
          <a:lstStyle/>
          <a:p>
            <a:r>
              <a:rPr lang="en-US" sz="1800" dirty="0"/>
              <a:t>The computer’s memory for recursive functions operates like a </a:t>
            </a:r>
            <a:r>
              <a:rPr lang="en-US" sz="1800" b="1" dirty="0"/>
              <a:t>vertical stack of dishes</a:t>
            </a:r>
            <a:r>
              <a:rPr lang="en-US" sz="1800" dirty="0"/>
              <a:t>.</a:t>
            </a:r>
            <a:endParaRPr lang="en-US" sz="1800" dirty="0">
              <a:latin typeface="SabonLTStd-Roman"/>
            </a:endParaRPr>
          </a:p>
          <a:p>
            <a:r>
              <a:rPr lang="en-US" sz="1800" dirty="0"/>
              <a:t>It follows the </a:t>
            </a:r>
            <a:r>
              <a:rPr lang="en-US" sz="1800" b="1" dirty="0">
                <a:solidFill>
                  <a:srgbClr val="FF0000"/>
                </a:solidFill>
              </a:rPr>
              <a:t>Last-In, First-Out (LIFO)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/>
              <a:t>mechanism.</a:t>
            </a:r>
            <a:endParaRPr lang="en-US" sz="1800" dirty="0">
              <a:latin typeface="SabonLTStd-Roman"/>
            </a:endParaRPr>
          </a:p>
          <a:p>
            <a:r>
              <a:rPr lang="en-US" sz="1800" dirty="0"/>
              <a:t>The last item </a:t>
            </a:r>
            <a:r>
              <a:rPr lang="en-US" sz="1800" b="1" dirty="0">
                <a:solidFill>
                  <a:srgbClr val="FF0000"/>
                </a:solidFill>
              </a:rPr>
              <a:t>pushed</a:t>
            </a:r>
            <a:r>
              <a:rPr lang="en-US" sz="1800" dirty="0"/>
              <a:t> onto the stack is the first item to be </a:t>
            </a:r>
            <a:r>
              <a:rPr lang="en-US" sz="1800" b="1" dirty="0">
                <a:solidFill>
                  <a:srgbClr val="FF0000"/>
                </a:solidFill>
              </a:rPr>
              <a:t>popped </a:t>
            </a:r>
            <a:r>
              <a:rPr lang="en-US" sz="1800" dirty="0"/>
              <a:t>(removed).</a:t>
            </a:r>
            <a:endParaRPr lang="en-US" sz="1800" dirty="0">
              <a:latin typeface="SabonLTStd-Roman"/>
            </a:endParaRPr>
          </a:p>
          <a:p>
            <a:r>
              <a:rPr lang="en-US" sz="1800" dirty="0"/>
              <a:t>In recursive functions, each call pushes a new </a:t>
            </a:r>
            <a:r>
              <a:rPr lang="en-US" sz="1800" b="1" dirty="0"/>
              <a:t>stack frame</a:t>
            </a:r>
            <a:r>
              <a:rPr lang="en-US" sz="1800" dirty="0"/>
              <a:t> (containing the return address and local variables) onto the memory.</a:t>
            </a:r>
            <a:endParaRPr lang="en-US" sz="1800" dirty="0">
              <a:latin typeface="SabonLTStd-Roman"/>
            </a:endParaRPr>
          </a:p>
          <a:p>
            <a:r>
              <a:rPr lang="en-US" sz="1800" dirty="0"/>
              <a:t>Because computer memory is </a:t>
            </a:r>
            <a:r>
              <a:rPr lang="en-US" sz="1800" b="1" dirty="0"/>
              <a:t>finite</a:t>
            </a:r>
            <a:r>
              <a:rPr lang="en-US" sz="1800" dirty="0"/>
              <a:t>, pushing frames infinitely leads to a </a:t>
            </a:r>
            <a:r>
              <a:rPr lang="en-US" sz="1800" b="1" dirty="0">
                <a:solidFill>
                  <a:srgbClr val="FF0000"/>
                </a:solidFill>
              </a:rPr>
              <a:t>Stack Overflow</a:t>
            </a:r>
            <a:r>
              <a:rPr lang="en-US" sz="1800" dirty="0"/>
              <a:t>, the point where the "pile" hits the ceiling and crashes.</a:t>
            </a:r>
            <a:endParaRPr lang="en-US" sz="1800" dirty="0">
              <a:latin typeface="SabonLTStd-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A1ABD7-ECC4-6027-9F78-AE675EC99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nn-NO">
                <a:solidFill>
                  <a:schemeClr val="tx1">
                    <a:lumMod val="50000"/>
                    <a:lumOff val="50000"/>
                  </a:schemeClr>
                </a:solidFill>
              </a:rPr>
              <a:t>masarvghadi@usm.my for UOW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B46C1C-CBAA-E4AD-C0CB-A796EA032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0CA44C7-9DEF-494D-9EBF-CD8FA9A95986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E39238-3459-568C-D10F-27B15C4563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1024" y="2749023"/>
            <a:ext cx="4304467" cy="234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938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DD77349-6ADE-99FE-8E04-12919EE5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5B2B92C-44DF-B41D-C67A-EBF175DF52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41EB2F1-D26A-D7C9-E9AC-B63BE629A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6D16430-53D3-47E5-F4B8-B441E710D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55F4528-163C-1FA9-2A64-19D803F5D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Introduction to Recursion </a:t>
            </a:r>
            <a:r>
              <a:rPr lang="en-US" sz="3000" b="1" dirty="0">
                <a:solidFill>
                  <a:srgbClr val="FFFFFF"/>
                </a:solidFill>
              </a:rPr>
              <a:t>(Cont.)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792997B-61AE-7625-2C4D-1BF7A0667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509" y="1941985"/>
            <a:ext cx="11018981" cy="4230152"/>
          </a:xfrm>
        </p:spPr>
        <p:txBody>
          <a:bodyPr>
            <a:noAutofit/>
          </a:bodyPr>
          <a:lstStyle/>
          <a:p>
            <a:pPr algn="l"/>
            <a:r>
              <a:rPr lang="en-US" sz="1800" b="1" i="0" u="none" strike="noStrike" baseline="0" dirty="0">
                <a:latin typeface="SabonLTStd-Roman"/>
              </a:rPr>
              <a:t>Solution</a:t>
            </a:r>
          </a:p>
          <a:p>
            <a:pPr marL="0" indent="0">
              <a:buNone/>
            </a:pPr>
            <a:r>
              <a:rPr lang="en-US" sz="1800" i="1" dirty="0">
                <a:latin typeface="Courier10PitchBT-Roman"/>
              </a:rPr>
              <a:t>		void message(int times)</a:t>
            </a:r>
          </a:p>
          <a:p>
            <a:pPr marL="0" indent="0">
              <a:buNone/>
            </a:pPr>
            <a:r>
              <a:rPr lang="en-US" sz="1800" i="1" dirty="0">
                <a:latin typeface="Courier10PitchBT-Roman"/>
              </a:rPr>
              <a:t>		{</a:t>
            </a:r>
          </a:p>
          <a:p>
            <a:pPr marL="0" indent="0">
              <a:buNone/>
            </a:pPr>
            <a:r>
              <a:rPr lang="en-US" sz="1800" i="1" dirty="0">
                <a:latin typeface="Courier10PitchBT-Roman"/>
              </a:rPr>
              <a:t>		   </a:t>
            </a:r>
            <a:r>
              <a:rPr lang="en-US" sz="1800" b="1" i="1" dirty="0">
                <a:solidFill>
                  <a:srgbClr val="FF0000"/>
                </a:solidFill>
                <a:latin typeface="Courier10PitchBT-Roman"/>
              </a:rPr>
              <a:t>if (times &gt; 0)</a:t>
            </a:r>
          </a:p>
          <a:p>
            <a:pPr marL="0" indent="0">
              <a:buNone/>
            </a:pPr>
            <a:r>
              <a:rPr lang="en-US" sz="1800" i="1" dirty="0">
                <a:latin typeface="Courier10PitchBT-Roman"/>
              </a:rPr>
              <a:t>		   {</a:t>
            </a:r>
          </a:p>
          <a:p>
            <a:pPr marL="0" indent="0">
              <a:buNone/>
            </a:pPr>
            <a:r>
              <a:rPr lang="en-MY" sz="1800" i="1" dirty="0">
                <a:latin typeface="Courier10PitchBT-Roman"/>
              </a:rPr>
              <a:t>			</a:t>
            </a:r>
            <a:r>
              <a:rPr lang="en-MY" sz="1800" i="1" dirty="0" err="1">
                <a:latin typeface="Courier10PitchBT-Roman"/>
              </a:rPr>
              <a:t>cout</a:t>
            </a:r>
            <a:r>
              <a:rPr lang="en-MY" sz="1800" i="1" dirty="0">
                <a:latin typeface="Courier10PitchBT-Roman"/>
              </a:rPr>
              <a:t> &lt;&lt; "This is a recursive function.\n";</a:t>
            </a:r>
          </a:p>
          <a:p>
            <a:pPr marL="0" indent="0">
              <a:buNone/>
            </a:pPr>
            <a:r>
              <a:rPr lang="en-US" sz="1800" i="1" dirty="0">
                <a:latin typeface="Courier10PitchBT-Roman"/>
              </a:rPr>
              <a:t>			message(</a:t>
            </a:r>
            <a:r>
              <a:rPr lang="en-US" sz="1800" b="1" i="1" dirty="0">
                <a:solidFill>
                  <a:srgbClr val="FF0000"/>
                </a:solidFill>
                <a:latin typeface="Courier10PitchBT-Roman"/>
              </a:rPr>
              <a:t>times − 1</a:t>
            </a:r>
            <a:r>
              <a:rPr lang="en-US" sz="1800" i="1" dirty="0">
                <a:latin typeface="Courier10PitchBT-Roman"/>
              </a:rPr>
              <a:t>);  </a:t>
            </a:r>
            <a:r>
              <a:rPr lang="en-US" sz="1800" i="1" dirty="0">
                <a:latin typeface="Courier10PitchBT-Roman"/>
                <a:sym typeface="Wingdings" panose="05000000000000000000" pitchFamily="2" charset="2"/>
              </a:rPr>
              <a:t> </a:t>
            </a:r>
            <a:r>
              <a:rPr lang="en-US" sz="1800" dirty="0">
                <a:sym typeface="Wingdings" panose="05000000000000000000" pitchFamily="2" charset="2"/>
              </a:rPr>
              <a:t>recursive call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latin typeface="Courier10PitchBT-Roman"/>
              </a:rPr>
              <a:t>		   }</a:t>
            </a:r>
          </a:p>
          <a:p>
            <a:r>
              <a:rPr lang="en-US" sz="1800" i="1" dirty="0">
                <a:latin typeface="Courier10PitchBT-Roman"/>
              </a:rPr>
              <a:t>		}	</a:t>
            </a:r>
            <a:r>
              <a:rPr lang="en-US" sz="1800" i="1" dirty="0">
                <a:latin typeface="Courier10PitchBT-Roman"/>
                <a:sym typeface="Wingdings" panose="05000000000000000000" pitchFamily="2" charset="2"/>
              </a:rPr>
              <a:t>  </a:t>
            </a:r>
            <a:r>
              <a:rPr lang="en-MY" sz="1800" dirty="0"/>
              <a:t>Control returns here from the recursive call, causing the function to return.</a:t>
            </a:r>
            <a:r>
              <a:rPr lang="en-US" sz="1800" dirty="0"/>
              <a:t>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20E4DC-F19F-55CC-C19E-56A83BEC3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nn-NO">
                <a:solidFill>
                  <a:schemeClr val="tx1">
                    <a:lumMod val="50000"/>
                    <a:lumOff val="50000"/>
                  </a:schemeClr>
                </a:solidFill>
              </a:rPr>
              <a:t>masarvghadi@usm.my for UOW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4B9548-4903-DF53-9E3E-FA8288D24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0CA44C7-9DEF-494D-9EBF-CD8FA9A95986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2043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DD77349-6ADE-99FE-8E04-12919EE5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5B2B92C-44DF-B41D-C67A-EBF175DF52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41EB2F1-D26A-D7C9-E9AC-B63BE629A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6D16430-53D3-47E5-F4B8-B441E710D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55F4528-163C-1FA9-2A64-19D803F5D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Introduction to Recursion </a:t>
            </a:r>
            <a:r>
              <a:rPr lang="en-US" sz="3000" b="1" dirty="0">
                <a:solidFill>
                  <a:srgbClr val="FFFFFF"/>
                </a:solidFill>
              </a:rPr>
              <a:t>(Cont.)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20E4DC-F19F-55CC-C19E-56A83BEC3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nn-NO">
                <a:solidFill>
                  <a:schemeClr val="tx1">
                    <a:lumMod val="50000"/>
                    <a:lumOff val="50000"/>
                  </a:schemeClr>
                </a:solidFill>
              </a:rPr>
              <a:t>masarvghadi@usm.my for UOW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4B9548-4903-DF53-9E3E-FA8288D24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0CA44C7-9DEF-494D-9EBF-CD8FA9A95986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B13777A-B39C-F87F-D19E-A407BCCF7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876471"/>
              </p:ext>
            </p:extLst>
          </p:nvPr>
        </p:nvGraphicFramePr>
        <p:xfrm>
          <a:off x="405352" y="1610999"/>
          <a:ext cx="11340444" cy="4302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28322">
                  <a:extLst>
                    <a:ext uri="{9D8B030D-6E8A-4147-A177-3AD203B41FA5}">
                      <a16:colId xmlns:a16="http://schemas.microsoft.com/office/drawing/2014/main" val="299204728"/>
                    </a:ext>
                  </a:extLst>
                </a:gridCol>
                <a:gridCol w="3912122">
                  <a:extLst>
                    <a:ext uri="{9D8B030D-6E8A-4147-A177-3AD203B41FA5}">
                      <a16:colId xmlns:a16="http://schemas.microsoft.com/office/drawing/2014/main" val="34161346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en-US" sz="1800" b="1" i="1" kern="1200" dirty="0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1" kern="1200" dirty="0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1205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void message(int times)</a:t>
                      </a:r>
                    </a:p>
                    <a:p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{</a:t>
                      </a:r>
                    </a:p>
                    <a:p>
                      <a:r>
                        <a:rPr lang="en-MY" sz="1800" i="1" kern="1200" dirty="0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   </a:t>
                      </a:r>
                      <a:r>
                        <a:rPr lang="en-MY" sz="1800" i="1" kern="1200" dirty="0" err="1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cout</a:t>
                      </a:r>
                      <a:r>
                        <a:rPr lang="en-MY" sz="1800" i="1" kern="1200" dirty="0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 &lt;&lt; “Called with " &lt;&lt; times &lt;&lt; " in times.\n";</a:t>
                      </a:r>
                    </a:p>
                    <a:p>
                      <a:endParaRPr lang="en-US" sz="1800" i="1" kern="1200" dirty="0">
                        <a:solidFill>
                          <a:schemeClr val="tx1"/>
                        </a:solidFill>
                        <a:latin typeface="Courier10PitchBT-Roman"/>
                        <a:ea typeface="+mn-ea"/>
                        <a:cs typeface="+mn-cs"/>
                      </a:endParaRPr>
                    </a:p>
                    <a:p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   if (times &gt; 0)</a:t>
                      </a:r>
                    </a:p>
                    <a:p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   {</a:t>
                      </a:r>
                    </a:p>
                    <a:p>
                      <a:r>
                        <a:rPr lang="en-MY" sz="1800" i="1" kern="1200" dirty="0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      </a:t>
                      </a:r>
                      <a:r>
                        <a:rPr lang="en-MY" sz="1800" i="1" kern="1200" dirty="0" err="1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cout</a:t>
                      </a:r>
                      <a:r>
                        <a:rPr lang="en-MY" sz="1800" i="1" kern="1200" dirty="0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 &lt;&lt; “A recursive function.\n";</a:t>
                      </a:r>
                    </a:p>
                    <a:p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      message(times − 1);</a:t>
                      </a:r>
                    </a:p>
                    <a:p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   }</a:t>
                      </a:r>
                    </a:p>
                    <a:p>
                      <a:endParaRPr lang="en-US" sz="1800" i="1" kern="1200" dirty="0">
                        <a:solidFill>
                          <a:schemeClr val="tx1"/>
                        </a:solidFill>
                        <a:latin typeface="Courier10PitchBT-Roman"/>
                        <a:ea typeface="+mn-ea"/>
                        <a:cs typeface="+mn-cs"/>
                      </a:endParaRPr>
                    </a:p>
                    <a:p>
                      <a:r>
                        <a:rPr lang="en-MY" sz="1800" i="1" kern="1200" dirty="0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   </a:t>
                      </a:r>
                      <a:r>
                        <a:rPr lang="en-MY" sz="1800" i="1" kern="1200" dirty="0" err="1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cout</a:t>
                      </a:r>
                      <a:r>
                        <a:rPr lang="en-MY" sz="1800" i="1" kern="1200" dirty="0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 &lt;&lt; “Returning with " &lt;&lt; times;</a:t>
                      </a:r>
                    </a:p>
                    <a:p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  }</a:t>
                      </a:r>
                    </a:p>
                    <a:p>
                      <a:endParaRPr lang="en-US" altLang="en-US" sz="1800" i="1" kern="1200" dirty="0">
                        <a:solidFill>
                          <a:schemeClr val="tx1"/>
                        </a:solidFill>
                        <a:latin typeface="Courier10PitchBT-Roman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i="1" kern="1200" dirty="0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Function call: message(5);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???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215708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4021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651CE9-D542-41D5-E283-5B45EDB4E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8B6975F-899D-C398-AD1C-A47FE08BE8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50F1C7A-FF01-F3E0-BC04-68FE9D545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6396A5C-45BE-CF4E-4C27-E57337197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84A831-BC31-26DF-2B2B-AD6CFB684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95A307-9916-46BD-7FD5-F990A0FEE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Introduction to Recursion </a:t>
            </a:r>
            <a:r>
              <a:rPr lang="en-US" sz="3000" b="1" dirty="0">
                <a:solidFill>
                  <a:srgbClr val="FFFFFF"/>
                </a:solidFill>
              </a:rPr>
              <a:t>(Cont.)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81E369-E02D-2A13-1C39-B078E07DD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nn-NO">
                <a:solidFill>
                  <a:schemeClr val="tx1">
                    <a:lumMod val="50000"/>
                    <a:lumOff val="50000"/>
                  </a:schemeClr>
                </a:solidFill>
              </a:rPr>
              <a:t>masarvghadi@usm.my for UOW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61C77C-CDE4-80C8-35AC-8683CD221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0CA44C7-9DEF-494D-9EBF-CD8FA9A95986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7741CCC-DFCF-46EE-622E-E19D8F02C9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430051"/>
              </p:ext>
            </p:extLst>
          </p:nvPr>
        </p:nvGraphicFramePr>
        <p:xfrm>
          <a:off x="405352" y="1610999"/>
          <a:ext cx="11340444" cy="5125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28322">
                  <a:extLst>
                    <a:ext uri="{9D8B030D-6E8A-4147-A177-3AD203B41FA5}">
                      <a16:colId xmlns:a16="http://schemas.microsoft.com/office/drawing/2014/main" val="299204728"/>
                    </a:ext>
                  </a:extLst>
                </a:gridCol>
                <a:gridCol w="3912122">
                  <a:extLst>
                    <a:ext uri="{9D8B030D-6E8A-4147-A177-3AD203B41FA5}">
                      <a16:colId xmlns:a16="http://schemas.microsoft.com/office/drawing/2014/main" val="34161346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en-US" sz="1800" b="1" i="1" kern="1200" dirty="0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1" kern="1200" dirty="0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1205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void message(int times)</a:t>
                      </a:r>
                    </a:p>
                    <a:p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{</a:t>
                      </a:r>
                    </a:p>
                    <a:p>
                      <a:r>
                        <a:rPr lang="en-MY" sz="1800" i="1" kern="1200" dirty="0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   </a:t>
                      </a:r>
                      <a:r>
                        <a:rPr lang="en-MY" sz="1800" i="1" kern="1200" dirty="0" err="1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cout</a:t>
                      </a:r>
                      <a:r>
                        <a:rPr lang="en-MY" sz="1800" i="1" kern="1200" dirty="0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 &lt;&lt; “Called with " &lt;&lt; times &lt;&lt; " in times.\n";</a:t>
                      </a:r>
                    </a:p>
                    <a:p>
                      <a:endParaRPr lang="en-US" sz="1800" i="1" kern="1200" dirty="0">
                        <a:solidFill>
                          <a:schemeClr val="tx1"/>
                        </a:solidFill>
                        <a:latin typeface="Courier10PitchBT-Roman"/>
                        <a:ea typeface="+mn-ea"/>
                        <a:cs typeface="+mn-cs"/>
                      </a:endParaRPr>
                    </a:p>
                    <a:p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   if (times &gt; 0)</a:t>
                      </a:r>
                    </a:p>
                    <a:p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   {</a:t>
                      </a:r>
                    </a:p>
                    <a:p>
                      <a:r>
                        <a:rPr lang="en-MY" sz="1800" i="1" kern="1200" dirty="0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      </a:t>
                      </a:r>
                      <a:r>
                        <a:rPr lang="en-MY" sz="1800" i="1" kern="1200" dirty="0" err="1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cout</a:t>
                      </a:r>
                      <a:r>
                        <a:rPr lang="en-MY" sz="1800" i="1" kern="1200" dirty="0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 &lt;&lt; “A recursive function.\n";</a:t>
                      </a:r>
                    </a:p>
                    <a:p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      message(times − 1);</a:t>
                      </a:r>
                    </a:p>
                    <a:p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   }</a:t>
                      </a:r>
                    </a:p>
                    <a:p>
                      <a:endParaRPr lang="en-US" sz="1800" i="1" kern="1200" dirty="0">
                        <a:solidFill>
                          <a:schemeClr val="tx1"/>
                        </a:solidFill>
                        <a:latin typeface="Courier10PitchBT-Roman"/>
                        <a:ea typeface="+mn-ea"/>
                        <a:cs typeface="+mn-cs"/>
                      </a:endParaRPr>
                    </a:p>
                    <a:p>
                      <a:r>
                        <a:rPr lang="en-MY" sz="1800" i="1" kern="1200" dirty="0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   </a:t>
                      </a:r>
                      <a:r>
                        <a:rPr lang="en-MY" sz="1800" i="1" kern="1200" dirty="0" err="1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cout</a:t>
                      </a:r>
                      <a:r>
                        <a:rPr lang="en-MY" sz="1800" i="1" kern="1200" dirty="0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 &lt;&lt; “Returning with " &lt;&lt; times;</a:t>
                      </a:r>
                    </a:p>
                    <a:p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  }</a:t>
                      </a:r>
                    </a:p>
                    <a:p>
                      <a:endParaRPr lang="en-US" altLang="en-US" sz="1800" i="1" kern="1200" dirty="0">
                        <a:solidFill>
                          <a:schemeClr val="tx1"/>
                        </a:solidFill>
                        <a:latin typeface="Courier10PitchBT-Roman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i="1" kern="1200" dirty="0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Function call: message(5);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1" kern="1200" dirty="0">
                          <a:solidFill>
                            <a:srgbClr val="FF0000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Called with 5 in times.</a:t>
                      </a:r>
                    </a:p>
                    <a:p>
                      <a:r>
                        <a:rPr lang="en-US" sz="1800" i="1" kern="1200" dirty="0">
                          <a:solidFill>
                            <a:srgbClr val="FF0000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A recursive function.</a:t>
                      </a:r>
                    </a:p>
                    <a:p>
                      <a:r>
                        <a:rPr lang="en-US" sz="1800" i="1" kern="1200" dirty="0">
                          <a:solidFill>
                            <a:srgbClr val="FF0000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Called with 4 in times.</a:t>
                      </a:r>
                    </a:p>
                    <a:p>
                      <a:r>
                        <a:rPr lang="en-US" sz="1800" i="1" kern="1200" dirty="0">
                          <a:solidFill>
                            <a:srgbClr val="FF0000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A recursive function.</a:t>
                      </a:r>
                    </a:p>
                    <a:p>
                      <a:r>
                        <a:rPr lang="en-US" sz="1800" i="1" kern="1200" dirty="0">
                          <a:solidFill>
                            <a:srgbClr val="FF0000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Called with 3 in times.</a:t>
                      </a:r>
                    </a:p>
                    <a:p>
                      <a:r>
                        <a:rPr lang="en-US" sz="1800" i="1" kern="1200" dirty="0">
                          <a:solidFill>
                            <a:srgbClr val="FF0000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A recursive function.</a:t>
                      </a:r>
                    </a:p>
                    <a:p>
                      <a:r>
                        <a:rPr lang="en-US" sz="1800" i="1" kern="1200" dirty="0">
                          <a:solidFill>
                            <a:srgbClr val="FF0000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Called with 2 in times.</a:t>
                      </a:r>
                    </a:p>
                    <a:p>
                      <a:r>
                        <a:rPr lang="en-US" sz="1800" i="1" kern="1200" dirty="0">
                          <a:solidFill>
                            <a:srgbClr val="FF0000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A recursive function.</a:t>
                      </a:r>
                    </a:p>
                    <a:p>
                      <a:r>
                        <a:rPr lang="en-US" sz="1800" i="1" kern="1200" dirty="0">
                          <a:solidFill>
                            <a:srgbClr val="FF0000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Called with 1 in times.</a:t>
                      </a:r>
                    </a:p>
                    <a:p>
                      <a:r>
                        <a:rPr lang="en-US" sz="1800" i="1" kern="1200" dirty="0">
                          <a:solidFill>
                            <a:srgbClr val="FF0000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A recursive function.</a:t>
                      </a:r>
                    </a:p>
                    <a:p>
                      <a:r>
                        <a:rPr lang="en-US" sz="1800" i="1" kern="1200" dirty="0">
                          <a:solidFill>
                            <a:srgbClr val="FF0000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Called with 0 in times.</a:t>
                      </a:r>
                    </a:p>
                    <a:p>
                      <a:r>
                        <a:rPr lang="en-US" sz="1800" i="1" kern="1200" dirty="0">
                          <a:solidFill>
                            <a:srgbClr val="FF0000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Returning with 0</a:t>
                      </a:r>
                    </a:p>
                    <a:p>
                      <a:r>
                        <a:rPr lang="en-US" sz="1800" i="1" kern="1200" dirty="0">
                          <a:solidFill>
                            <a:srgbClr val="FF0000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Returning with 1</a:t>
                      </a:r>
                    </a:p>
                    <a:p>
                      <a:r>
                        <a:rPr lang="en-US" sz="1800" i="1" kern="1200" dirty="0">
                          <a:solidFill>
                            <a:srgbClr val="FF0000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Returning with 2</a:t>
                      </a:r>
                    </a:p>
                    <a:p>
                      <a:r>
                        <a:rPr lang="en-US" sz="1800" i="1" kern="1200" dirty="0">
                          <a:solidFill>
                            <a:srgbClr val="FF0000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Returning with 3</a:t>
                      </a:r>
                    </a:p>
                    <a:p>
                      <a:r>
                        <a:rPr lang="en-US" sz="1800" i="1" kern="1200" dirty="0">
                          <a:solidFill>
                            <a:srgbClr val="FF0000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Returning with 4</a:t>
                      </a:r>
                    </a:p>
                    <a:p>
                      <a:r>
                        <a:rPr lang="en-US" sz="1800" i="1" kern="1200" dirty="0">
                          <a:solidFill>
                            <a:srgbClr val="FF0000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Returning with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215708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4787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>
            <a:extLst>
              <a:ext uri="{FF2B5EF4-FFF2-40B4-BE49-F238E27FC236}">
                <a16:creationId xmlns:a16="http://schemas.microsoft.com/office/drawing/2014/main" id="{3F3B1B92-D54B-A46F-3796-5B6E30203D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9709" y="3023874"/>
            <a:ext cx="3585295" cy="325564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8DD77349-6ADE-99FE-8E04-12919EE5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5B2B92C-44DF-B41D-C67A-EBF175DF52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41EB2F1-D26A-D7C9-E9AC-B63BE629A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6D16430-53D3-47E5-F4B8-B441E710D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55F4528-163C-1FA9-2A64-19D803F5D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 fontScale="90000"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Solving Problems with Recursion – Binary Search</a:t>
            </a:r>
            <a:endParaRPr lang="en-US" sz="3000" b="1" dirty="0">
              <a:solidFill>
                <a:srgbClr val="FFFFFF"/>
              </a:solidFill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792997B-61AE-7625-2C4D-1BF7A0667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510" y="1901347"/>
            <a:ext cx="5211040" cy="1121858"/>
          </a:xfrm>
        </p:spPr>
        <p:txBody>
          <a:bodyPr>
            <a:noAutofit/>
          </a:bodyPr>
          <a:lstStyle/>
          <a:p>
            <a:pPr algn="l"/>
            <a:r>
              <a:rPr lang="en-MY" sz="1800" dirty="0"/>
              <a:t>A problem can be solved with recursion if it can be broken down into successive smaller problems that are identical to the overall problem.</a:t>
            </a:r>
          </a:p>
          <a:p>
            <a:pPr algn="l"/>
            <a:endParaRPr lang="en-MY" sz="1800" dirty="0"/>
          </a:p>
          <a:p>
            <a:pPr algn="l"/>
            <a:endParaRPr lang="en-MY" sz="1800" dirty="0"/>
          </a:p>
          <a:p>
            <a:pPr algn="l"/>
            <a:endParaRPr lang="en-MY" sz="1800" dirty="0"/>
          </a:p>
          <a:p>
            <a:pPr algn="l"/>
            <a:endParaRPr lang="en-MY" sz="1800" dirty="0"/>
          </a:p>
          <a:p>
            <a:pPr lvl="2"/>
            <a:endParaRPr lang="en-MY" sz="1800" b="0" i="0" u="none" strike="noStrike" baseline="0" dirty="0">
              <a:latin typeface="SabonLTStd-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20E4DC-F19F-55CC-C19E-56A83BEC3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nn-NO">
                <a:solidFill>
                  <a:schemeClr val="tx1">
                    <a:lumMod val="50000"/>
                    <a:lumOff val="50000"/>
                  </a:schemeClr>
                </a:solidFill>
              </a:rPr>
              <a:t>masarvghadi@usm.my for UOW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4B9548-4903-DF53-9E3E-FA8288D24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0CA44C7-9DEF-494D-9EBF-CD8FA9A95986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3705FB8-06F5-5978-C21D-346CE32A3B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867" y="3023205"/>
            <a:ext cx="3604447" cy="322072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BA2886A-E1C6-FB81-599F-A4A04E769CFB}"/>
              </a:ext>
            </a:extLst>
          </p:cNvPr>
          <p:cNvSpPr txBox="1"/>
          <p:nvPr/>
        </p:nvSpPr>
        <p:spPr>
          <a:xfrm>
            <a:off x="6096000" y="1901347"/>
            <a:ext cx="5211040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Any </a:t>
            </a:r>
            <a:r>
              <a:rPr lang="en-MY" dirty="0"/>
              <a:t>problem that can be solved recursively can also be solved iteratively, using a loop.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3BA42DE-49A6-2F68-2D1B-87315D1F8046}"/>
              </a:ext>
            </a:extLst>
          </p:cNvPr>
          <p:cNvSpPr txBox="1"/>
          <p:nvPr/>
        </p:nvSpPr>
        <p:spPr>
          <a:xfrm>
            <a:off x="586510" y="2916314"/>
            <a:ext cx="565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1st</a:t>
            </a:r>
            <a:endParaRPr lang="en-MY" sz="1400" dirty="0">
              <a:solidFill>
                <a:srgbClr val="FF0000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4F7CA38-2DD9-203B-C3B5-68DD622463DC}"/>
              </a:ext>
            </a:extLst>
          </p:cNvPr>
          <p:cNvCxnSpPr/>
          <p:nvPr/>
        </p:nvCxnSpPr>
        <p:spPr>
          <a:xfrm>
            <a:off x="982946" y="3136900"/>
            <a:ext cx="444500" cy="3683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A9F616F-53FB-21FE-CDDF-1513B74F7249}"/>
              </a:ext>
            </a:extLst>
          </p:cNvPr>
          <p:cNvSpPr txBox="1"/>
          <p:nvPr/>
        </p:nvSpPr>
        <p:spPr>
          <a:xfrm>
            <a:off x="5155548" y="2895387"/>
            <a:ext cx="565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last</a:t>
            </a:r>
            <a:endParaRPr lang="en-MY" sz="1400" dirty="0">
              <a:solidFill>
                <a:srgbClr val="FF0000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3B7DBF7-E8D9-BA10-D02F-43848B945A1A}"/>
              </a:ext>
            </a:extLst>
          </p:cNvPr>
          <p:cNvCxnSpPr>
            <a:cxnSpLocks/>
          </p:cNvCxnSpPr>
          <p:nvPr/>
        </p:nvCxnSpPr>
        <p:spPr>
          <a:xfrm flipH="1">
            <a:off x="4697696" y="3207418"/>
            <a:ext cx="571500" cy="2596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6EC1E1C-094E-B95D-EDD0-DB22EEF2E85B}"/>
              </a:ext>
            </a:extLst>
          </p:cNvPr>
          <p:cNvSpPr txBox="1"/>
          <p:nvPr/>
        </p:nvSpPr>
        <p:spPr>
          <a:xfrm>
            <a:off x="6783441" y="2813225"/>
            <a:ext cx="565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1st</a:t>
            </a:r>
            <a:endParaRPr lang="en-MY" sz="1400" dirty="0">
              <a:solidFill>
                <a:srgbClr val="FF0000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15DBDE1-8974-CFE4-969D-8B06F6696298}"/>
              </a:ext>
            </a:extLst>
          </p:cNvPr>
          <p:cNvCxnSpPr/>
          <p:nvPr/>
        </p:nvCxnSpPr>
        <p:spPr>
          <a:xfrm>
            <a:off x="7179877" y="3033811"/>
            <a:ext cx="444500" cy="3683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E503F3D-52D3-F14B-6AB6-BEBCB39D287C}"/>
              </a:ext>
            </a:extLst>
          </p:cNvPr>
          <p:cNvSpPr txBox="1"/>
          <p:nvPr/>
        </p:nvSpPr>
        <p:spPr>
          <a:xfrm>
            <a:off x="10741890" y="2869987"/>
            <a:ext cx="565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last</a:t>
            </a:r>
            <a:endParaRPr lang="en-MY" sz="1400" dirty="0">
              <a:solidFill>
                <a:srgbClr val="FF0000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BAF5319-F7F9-4EDB-A801-54C3D0F56E05}"/>
              </a:ext>
            </a:extLst>
          </p:cNvPr>
          <p:cNvCxnSpPr>
            <a:cxnSpLocks/>
          </p:cNvCxnSpPr>
          <p:nvPr/>
        </p:nvCxnSpPr>
        <p:spPr>
          <a:xfrm flipH="1">
            <a:off x="10284038" y="3182018"/>
            <a:ext cx="571500" cy="2596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66CD85C-33CF-14EB-69D3-6C55766017CA}"/>
              </a:ext>
            </a:extLst>
          </p:cNvPr>
          <p:cNvSpPr txBox="1"/>
          <p:nvPr/>
        </p:nvSpPr>
        <p:spPr>
          <a:xfrm>
            <a:off x="8293286" y="3633633"/>
            <a:ext cx="565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1st</a:t>
            </a:r>
            <a:endParaRPr lang="en-MY" sz="1400" dirty="0">
              <a:solidFill>
                <a:srgbClr val="FF0000"/>
              </a:solidFill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C10374D-981F-C6DC-E506-8F7AFCD7094A}"/>
              </a:ext>
            </a:extLst>
          </p:cNvPr>
          <p:cNvCxnSpPr>
            <a:cxnSpLocks/>
          </p:cNvCxnSpPr>
          <p:nvPr/>
        </p:nvCxnSpPr>
        <p:spPr>
          <a:xfrm>
            <a:off x="8702260" y="3864596"/>
            <a:ext cx="424778" cy="2222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CF6B4B4-96C1-8309-767A-496DCB2761AD}"/>
              </a:ext>
            </a:extLst>
          </p:cNvPr>
          <p:cNvSpPr txBox="1"/>
          <p:nvPr/>
        </p:nvSpPr>
        <p:spPr>
          <a:xfrm>
            <a:off x="10788650" y="3556819"/>
            <a:ext cx="565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last</a:t>
            </a:r>
            <a:endParaRPr lang="en-MY" sz="1400" dirty="0">
              <a:solidFill>
                <a:srgbClr val="FF0000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82F266F-A510-B005-6923-66F6DFDCD545}"/>
              </a:ext>
            </a:extLst>
          </p:cNvPr>
          <p:cNvCxnSpPr>
            <a:cxnSpLocks/>
          </p:cNvCxnSpPr>
          <p:nvPr/>
        </p:nvCxnSpPr>
        <p:spPr>
          <a:xfrm flipH="1">
            <a:off x="10330798" y="3868850"/>
            <a:ext cx="571500" cy="2596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E5BD653-77CF-7E4A-AAEF-EEF72168A892}"/>
              </a:ext>
            </a:extLst>
          </p:cNvPr>
          <p:cNvSpPr txBox="1"/>
          <p:nvPr/>
        </p:nvSpPr>
        <p:spPr>
          <a:xfrm>
            <a:off x="9002036" y="4316968"/>
            <a:ext cx="565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1st</a:t>
            </a:r>
            <a:endParaRPr lang="en-MY" sz="1400" dirty="0">
              <a:solidFill>
                <a:srgbClr val="FF0000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D216D57-C54A-78E9-42E1-2740CD0B6A24}"/>
              </a:ext>
            </a:extLst>
          </p:cNvPr>
          <p:cNvCxnSpPr>
            <a:cxnSpLocks/>
          </p:cNvCxnSpPr>
          <p:nvPr/>
        </p:nvCxnSpPr>
        <p:spPr>
          <a:xfrm>
            <a:off x="9411010" y="4547931"/>
            <a:ext cx="424778" cy="2222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0B595D43-6612-24DC-CF8A-C6BD85640647}"/>
              </a:ext>
            </a:extLst>
          </p:cNvPr>
          <p:cNvSpPr txBox="1"/>
          <p:nvPr/>
        </p:nvSpPr>
        <p:spPr>
          <a:xfrm>
            <a:off x="10788650" y="4220340"/>
            <a:ext cx="565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last</a:t>
            </a:r>
            <a:endParaRPr lang="en-MY" sz="1400" dirty="0">
              <a:solidFill>
                <a:srgbClr val="FF0000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9E5677C-21CC-0F46-F56E-7AE1B20A84AE}"/>
              </a:ext>
            </a:extLst>
          </p:cNvPr>
          <p:cNvCxnSpPr>
            <a:cxnSpLocks/>
          </p:cNvCxnSpPr>
          <p:nvPr/>
        </p:nvCxnSpPr>
        <p:spPr>
          <a:xfrm flipH="1">
            <a:off x="10330798" y="4532371"/>
            <a:ext cx="571500" cy="2596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9D0C8D2-656E-BC72-DE41-431FF4CB1C68}"/>
              </a:ext>
            </a:extLst>
          </p:cNvPr>
          <p:cNvSpPr txBox="1"/>
          <p:nvPr/>
        </p:nvSpPr>
        <p:spPr>
          <a:xfrm>
            <a:off x="2326410" y="3625104"/>
            <a:ext cx="565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1st</a:t>
            </a:r>
            <a:endParaRPr lang="en-MY" sz="1400" dirty="0">
              <a:solidFill>
                <a:srgbClr val="FF0000"/>
              </a:solidFill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03132CB-7DE0-E898-47D4-B3FBA6B8ED9A}"/>
              </a:ext>
            </a:extLst>
          </p:cNvPr>
          <p:cNvCxnSpPr/>
          <p:nvPr/>
        </p:nvCxnSpPr>
        <p:spPr>
          <a:xfrm>
            <a:off x="2722846" y="3845690"/>
            <a:ext cx="444500" cy="3683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F55CFD1-4D82-114E-E3BA-D99A6565816C}"/>
              </a:ext>
            </a:extLst>
          </p:cNvPr>
          <p:cNvSpPr txBox="1"/>
          <p:nvPr/>
        </p:nvSpPr>
        <p:spPr>
          <a:xfrm>
            <a:off x="5138645" y="3476358"/>
            <a:ext cx="565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last</a:t>
            </a:r>
            <a:endParaRPr lang="en-MY" sz="1400" dirty="0">
              <a:solidFill>
                <a:srgbClr val="FF0000"/>
              </a:solidFill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92652DE-CF1A-BFAB-B418-6EBE87B4D3BC}"/>
              </a:ext>
            </a:extLst>
          </p:cNvPr>
          <p:cNvCxnSpPr>
            <a:cxnSpLocks/>
          </p:cNvCxnSpPr>
          <p:nvPr/>
        </p:nvCxnSpPr>
        <p:spPr>
          <a:xfrm flipH="1">
            <a:off x="4680793" y="3788389"/>
            <a:ext cx="571500" cy="2596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F4417AB-598D-46AE-5EAF-324FC49C4DBC}"/>
              </a:ext>
            </a:extLst>
          </p:cNvPr>
          <p:cNvSpPr txBox="1"/>
          <p:nvPr/>
        </p:nvSpPr>
        <p:spPr>
          <a:xfrm>
            <a:off x="5126783" y="4074093"/>
            <a:ext cx="565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last</a:t>
            </a:r>
            <a:endParaRPr lang="en-MY" sz="1400" dirty="0">
              <a:solidFill>
                <a:srgbClr val="FF0000"/>
              </a:solidFill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CB806F4-05B6-424B-3B24-B85E794EB240}"/>
              </a:ext>
            </a:extLst>
          </p:cNvPr>
          <p:cNvCxnSpPr>
            <a:cxnSpLocks/>
          </p:cNvCxnSpPr>
          <p:nvPr/>
        </p:nvCxnSpPr>
        <p:spPr>
          <a:xfrm flipH="1">
            <a:off x="4668931" y="4386124"/>
            <a:ext cx="571500" cy="2596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FD65CA42-30BE-6F8D-6124-6DFC4BB5882C}"/>
              </a:ext>
            </a:extLst>
          </p:cNvPr>
          <p:cNvSpPr txBox="1"/>
          <p:nvPr/>
        </p:nvSpPr>
        <p:spPr>
          <a:xfrm>
            <a:off x="3117755" y="4231596"/>
            <a:ext cx="565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1st</a:t>
            </a:r>
            <a:endParaRPr lang="en-MY" sz="1400" dirty="0">
              <a:solidFill>
                <a:srgbClr val="FF0000"/>
              </a:solidFill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2C31FCE-BA52-8419-51EE-52263281E166}"/>
              </a:ext>
            </a:extLst>
          </p:cNvPr>
          <p:cNvCxnSpPr/>
          <p:nvPr/>
        </p:nvCxnSpPr>
        <p:spPr>
          <a:xfrm>
            <a:off x="3514191" y="4452182"/>
            <a:ext cx="444500" cy="3683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B218D82-93DA-8EE5-BF11-3B659335A21F}"/>
              </a:ext>
            </a:extLst>
          </p:cNvPr>
          <p:cNvSpPr txBox="1"/>
          <p:nvPr/>
        </p:nvSpPr>
        <p:spPr>
          <a:xfrm>
            <a:off x="3570853" y="4772291"/>
            <a:ext cx="565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1st</a:t>
            </a:r>
            <a:endParaRPr lang="en-MY" sz="1400" dirty="0">
              <a:solidFill>
                <a:srgbClr val="FF0000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27E67EB-8D15-C46A-90FD-03596D795725}"/>
              </a:ext>
            </a:extLst>
          </p:cNvPr>
          <p:cNvCxnSpPr/>
          <p:nvPr/>
        </p:nvCxnSpPr>
        <p:spPr>
          <a:xfrm>
            <a:off x="3967289" y="4992877"/>
            <a:ext cx="444500" cy="3683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644936E1-F73C-A0DD-53D4-31BE8A38834B}"/>
              </a:ext>
            </a:extLst>
          </p:cNvPr>
          <p:cNvSpPr txBox="1"/>
          <p:nvPr/>
        </p:nvSpPr>
        <p:spPr>
          <a:xfrm>
            <a:off x="5252293" y="4821314"/>
            <a:ext cx="565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last</a:t>
            </a:r>
            <a:endParaRPr lang="en-MY" sz="1400" dirty="0">
              <a:solidFill>
                <a:srgbClr val="FF0000"/>
              </a:solidFill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5AE30C5-5C24-E9F4-F280-67B5CACE147A}"/>
              </a:ext>
            </a:extLst>
          </p:cNvPr>
          <p:cNvCxnSpPr>
            <a:cxnSpLocks/>
          </p:cNvCxnSpPr>
          <p:nvPr/>
        </p:nvCxnSpPr>
        <p:spPr>
          <a:xfrm flipH="1">
            <a:off x="4794441" y="5133345"/>
            <a:ext cx="571500" cy="2596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49BEA3E0-7FB3-3494-59B8-746232282E00}"/>
              </a:ext>
            </a:extLst>
          </p:cNvPr>
          <p:cNvSpPr txBox="1"/>
          <p:nvPr/>
        </p:nvSpPr>
        <p:spPr>
          <a:xfrm>
            <a:off x="10741890" y="4931956"/>
            <a:ext cx="565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last</a:t>
            </a:r>
            <a:endParaRPr lang="en-MY" sz="1400" dirty="0">
              <a:solidFill>
                <a:srgbClr val="FF0000"/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7BEE6BD-DFA1-03B3-63D6-35F56CA06456}"/>
              </a:ext>
            </a:extLst>
          </p:cNvPr>
          <p:cNvCxnSpPr>
            <a:cxnSpLocks/>
          </p:cNvCxnSpPr>
          <p:nvPr/>
        </p:nvCxnSpPr>
        <p:spPr>
          <a:xfrm flipH="1">
            <a:off x="10284038" y="5243987"/>
            <a:ext cx="571500" cy="2596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09F440C3-9052-AFD3-C1AE-91902D646C3E}"/>
              </a:ext>
            </a:extLst>
          </p:cNvPr>
          <p:cNvSpPr txBox="1"/>
          <p:nvPr/>
        </p:nvSpPr>
        <p:spPr>
          <a:xfrm>
            <a:off x="9243274" y="4990578"/>
            <a:ext cx="565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1st</a:t>
            </a:r>
            <a:endParaRPr lang="en-MY" sz="1400" dirty="0">
              <a:solidFill>
                <a:srgbClr val="FF0000"/>
              </a:solidFill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E2DC16E-76C7-FC3D-70DB-3AADBDF25C50}"/>
              </a:ext>
            </a:extLst>
          </p:cNvPr>
          <p:cNvCxnSpPr>
            <a:cxnSpLocks/>
          </p:cNvCxnSpPr>
          <p:nvPr/>
        </p:nvCxnSpPr>
        <p:spPr>
          <a:xfrm>
            <a:off x="9652248" y="5221541"/>
            <a:ext cx="424778" cy="2222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371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/>
      <p:bldP spid="22" grpId="0"/>
      <p:bldP spid="24" grpId="0"/>
      <p:bldP spid="27" grpId="0"/>
      <p:bldP spid="31" grpId="0"/>
      <p:bldP spid="33" grpId="0"/>
      <p:bldP spid="35" grpId="0"/>
      <p:bldP spid="39" grpId="0"/>
      <p:bldP spid="41" grpId="0"/>
      <p:bldP spid="43" grpId="0"/>
      <p:bldP spid="45" grpId="0"/>
      <p:bldP spid="47" grpId="0"/>
      <p:bldP spid="49" grpId="0"/>
      <p:bldP spid="51" grpId="0"/>
      <p:bldP spid="53" grpId="0"/>
      <p:bldP spid="55" grpId="0"/>
      <p:bldP spid="59" grpId="0"/>
      <p:bldP spid="6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DD77349-6ADE-99FE-8E04-12919EE5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5B2B92C-44DF-B41D-C67A-EBF175DF52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41EB2F1-D26A-D7C9-E9AC-B63BE629A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6D16430-53D3-47E5-F4B8-B441E710D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55F4528-163C-1FA9-2A64-19D803F5D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pPr algn="l"/>
            <a:r>
              <a:rPr lang="en-US" b="1" dirty="0">
                <a:solidFill>
                  <a:srgbClr val="FFFFFF"/>
                </a:solidFill>
              </a:rPr>
              <a:t>Recursive Binary Search Function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792997B-61AE-7625-2C4D-1BF7A0667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509" y="1744020"/>
            <a:ext cx="11018981" cy="423015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endParaRPr lang="en-US" sz="1800" b="1" dirty="0">
              <a:latin typeface="SabonLTStd-Roman"/>
            </a:endParaRPr>
          </a:p>
          <a:p>
            <a:pPr marL="0" indent="0" algn="l">
              <a:buNone/>
            </a:pPr>
            <a:r>
              <a:rPr lang="en-US" sz="2400" b="1" dirty="0">
                <a:latin typeface="SabonLTStd-Roman"/>
              </a:rPr>
              <a:t>Algorithm</a:t>
            </a:r>
          </a:p>
          <a:p>
            <a:pPr marL="0" indent="0" algn="l">
              <a:buNone/>
            </a:pPr>
            <a:endParaRPr lang="en-US" sz="1800" b="1" dirty="0">
              <a:latin typeface="SabonLTStd-Roman"/>
            </a:endParaRPr>
          </a:p>
          <a:p>
            <a:pPr algn="l"/>
            <a:r>
              <a:rPr lang="en-MY" sz="2400" dirty="0">
                <a:latin typeface="SabonLTStd-Roman"/>
              </a:rPr>
              <a:t>If array[middle] equals the search value, then the value is found.</a:t>
            </a:r>
          </a:p>
          <a:p>
            <a:pPr algn="l"/>
            <a:endParaRPr lang="en-MY" sz="1800" b="0" i="0" u="none" strike="noStrike" baseline="0" dirty="0">
              <a:latin typeface="Courier10PitchBT-Roman"/>
            </a:endParaRPr>
          </a:p>
          <a:p>
            <a:r>
              <a:rPr lang="en-MY" sz="2400" dirty="0">
                <a:latin typeface="SabonLTStd-Roman"/>
              </a:rPr>
              <a:t>Else, if array[middle] is less than the search value, perform a binary search on the upper half of the array.</a:t>
            </a:r>
          </a:p>
          <a:p>
            <a:pPr algn="l"/>
            <a:endParaRPr lang="en-MY" sz="1800" b="0" i="0" u="none" strike="noStrike" baseline="0" dirty="0">
              <a:latin typeface="Courier10PitchBT-Roman"/>
            </a:endParaRPr>
          </a:p>
          <a:p>
            <a:r>
              <a:rPr lang="en-MY" sz="2400" dirty="0">
                <a:latin typeface="SabonLTStd-Roman"/>
              </a:rPr>
              <a:t>Else, if array[middle] is greater than the search value, perform a binary search on the lower half of the array.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20E4DC-F19F-55CC-C19E-56A83BEC3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nn-NO">
                <a:solidFill>
                  <a:schemeClr val="tx1">
                    <a:lumMod val="50000"/>
                    <a:lumOff val="50000"/>
                  </a:schemeClr>
                </a:solidFill>
              </a:rPr>
              <a:t>masarvghadi@usm.my for UOW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4B9548-4903-DF53-9E3E-FA8288D24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0CA44C7-9DEF-494D-9EBF-CD8FA9A95986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862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DD77349-6ADE-99FE-8E04-12919EE5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5B2B92C-44DF-B41D-C67A-EBF175DF52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41EB2F1-D26A-D7C9-E9AC-B63BE629A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6D16430-53D3-47E5-F4B8-B441E710D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55F4528-163C-1FA9-2A64-19D803F5D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pPr algn="l"/>
            <a:r>
              <a:rPr lang="en-US" b="1" dirty="0">
                <a:solidFill>
                  <a:srgbClr val="FFFFFF"/>
                </a:solidFill>
              </a:rPr>
              <a:t>Recursive Binary Search Function </a:t>
            </a:r>
            <a:r>
              <a:rPr lang="en-US" sz="3000" b="1" dirty="0">
                <a:solidFill>
                  <a:srgbClr val="FFFFFF"/>
                </a:solidFill>
              </a:rPr>
              <a:t>(Cont.)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792997B-61AE-7625-2C4D-1BF7A0667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509" y="1744020"/>
            <a:ext cx="11018981" cy="423015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latin typeface="SabonLTStd-Roman"/>
              </a:rPr>
              <a:t>Code</a:t>
            </a:r>
          </a:p>
          <a:p>
            <a:pPr marL="0" indent="0" algn="l">
              <a:buNone/>
            </a:pPr>
            <a:endParaRPr lang="en-US" sz="1800" b="1" dirty="0">
              <a:latin typeface="SabonLTStd-Roman"/>
            </a:endParaRPr>
          </a:p>
          <a:p>
            <a:pPr marL="0" indent="0" algn="l">
              <a:spcBef>
                <a:spcPts val="0"/>
              </a:spcBef>
              <a:buNone/>
            </a:pPr>
            <a:r>
              <a:rPr lang="en-MY" sz="1800" i="1" dirty="0">
                <a:latin typeface="Courier10PitchBT-Roman"/>
              </a:rPr>
              <a:t>int </a:t>
            </a:r>
            <a:r>
              <a:rPr lang="en-MY" sz="1800" i="1" dirty="0" err="1">
                <a:latin typeface="Courier10PitchBT-Roman"/>
              </a:rPr>
              <a:t>binarySearch</a:t>
            </a:r>
            <a:r>
              <a:rPr lang="en-MY" sz="1800" i="1" dirty="0">
                <a:latin typeface="Courier10PitchBT-Roman"/>
              </a:rPr>
              <a:t>(int array[], int first, int last, int value)</a:t>
            </a:r>
            <a:r>
              <a:rPr lang="en-US" sz="1800" i="1" dirty="0">
                <a:latin typeface="Courier10PitchBT-Roman"/>
              </a:rPr>
              <a:t>{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MY" sz="1800" i="1" dirty="0">
                <a:latin typeface="Courier10PitchBT-Roman"/>
              </a:rPr>
              <a:t>   int middle; 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US" sz="1800" i="1" dirty="0">
                <a:latin typeface="Courier10PitchBT-Roman"/>
              </a:rPr>
              <a:t>   if (first &gt; last)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US" sz="1800" i="1" dirty="0">
                <a:latin typeface="Courier10PitchBT-Roman"/>
              </a:rPr>
              <a:t>      return −1;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US" sz="1800" i="1" dirty="0">
                <a:latin typeface="Courier10PitchBT-Roman"/>
              </a:rPr>
              <a:t>   middle = (first + last) / 2;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US" sz="1800" i="1" dirty="0">
                <a:latin typeface="Courier10PitchBT-Roman"/>
              </a:rPr>
              <a:t>   if (array[middle] == value)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US" sz="1800" i="1" dirty="0">
                <a:latin typeface="Courier10PitchBT-Roman"/>
              </a:rPr>
              <a:t>      return middle;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US" sz="1800" i="1" dirty="0">
                <a:latin typeface="Courier10PitchBT-Roman"/>
              </a:rPr>
              <a:t>   if (array[middle] &lt; value)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MY" sz="1800" i="1" dirty="0">
                <a:latin typeface="Courier10PitchBT-Roman"/>
              </a:rPr>
              <a:t>      return </a:t>
            </a:r>
            <a:r>
              <a:rPr lang="en-MY" sz="1800" i="1" dirty="0" err="1">
                <a:latin typeface="Courier10PitchBT-Roman"/>
              </a:rPr>
              <a:t>binarySearch</a:t>
            </a:r>
            <a:r>
              <a:rPr lang="en-MY" sz="1800" i="1" dirty="0">
                <a:latin typeface="Courier10PitchBT-Roman"/>
              </a:rPr>
              <a:t>(array, middle+1,last,value);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US" sz="1800" i="1" dirty="0">
                <a:latin typeface="Courier10PitchBT-Roman"/>
              </a:rPr>
              <a:t>   else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MY" sz="1800" i="1" dirty="0">
                <a:latin typeface="Courier10PitchBT-Roman"/>
              </a:rPr>
              <a:t>      return </a:t>
            </a:r>
            <a:r>
              <a:rPr lang="en-MY" sz="1800" i="1" dirty="0" err="1">
                <a:latin typeface="Courier10PitchBT-Roman"/>
              </a:rPr>
              <a:t>binarySearch</a:t>
            </a:r>
            <a:r>
              <a:rPr lang="en-MY" sz="1800" i="1" dirty="0">
                <a:latin typeface="Courier10PitchBT-Roman"/>
              </a:rPr>
              <a:t>(array, first,middle-1,value);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US" sz="1800" i="1" dirty="0">
                <a:latin typeface="Courier10PitchBT-Roman"/>
              </a:rPr>
              <a:t>}</a:t>
            </a:r>
            <a:endParaRPr lang="en-MY" sz="1800" i="1" dirty="0">
              <a:latin typeface="Courier10PitchBT-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20E4DC-F19F-55CC-C19E-56A83BEC3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nn-NO">
                <a:solidFill>
                  <a:schemeClr val="tx1">
                    <a:lumMod val="50000"/>
                    <a:lumOff val="50000"/>
                  </a:schemeClr>
                </a:solidFill>
              </a:rPr>
              <a:t>masarvghadi@usm.my for UOW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4B9548-4903-DF53-9E3E-FA8288D24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0CA44C7-9DEF-494D-9EBF-CD8FA9A95986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202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F4CC44-DF7D-268B-2E0C-40CDC24DE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DE68DF0-1F66-55D9-A139-8136A7E29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93DACA2-FD83-636A-0916-6F52C0B3F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F005B4-1D48-C648-0854-4F48790CC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14448D-B1E3-0FC4-6EB1-77579A064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6C5AC2-DA5C-FD41-694E-BF5E7D3BB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pPr algn="l"/>
            <a:r>
              <a:rPr lang="en-US" b="1" dirty="0">
                <a:solidFill>
                  <a:srgbClr val="FFFFFF"/>
                </a:solidFill>
              </a:rPr>
              <a:t>Iterative Binary Search Function</a:t>
            </a:r>
            <a:endParaRPr lang="en-US" sz="3000" b="1" dirty="0">
              <a:solidFill>
                <a:srgbClr val="FFFFFF"/>
              </a:solidFill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4258ED86-78C3-F492-1CE8-ADE43CFAE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509" y="1744020"/>
            <a:ext cx="11018981" cy="423015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latin typeface="SabonLTStd-Roman"/>
              </a:rPr>
              <a:t>Code</a:t>
            </a:r>
          </a:p>
          <a:p>
            <a:pPr marL="0" indent="0" algn="l">
              <a:buNone/>
            </a:pPr>
            <a:endParaRPr lang="en-US" sz="1800" b="1" dirty="0">
              <a:latin typeface="SabonLTStd-Roman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i="1" dirty="0">
                <a:latin typeface="Courier10PitchBT-Roman"/>
              </a:rPr>
              <a:t>int </a:t>
            </a:r>
            <a:r>
              <a:rPr lang="en-US" sz="1800" i="1" dirty="0" err="1">
                <a:latin typeface="Courier10PitchBT-Roman"/>
              </a:rPr>
              <a:t>binarySearch</a:t>
            </a:r>
            <a:r>
              <a:rPr lang="en-US" sz="1800" i="1" dirty="0">
                <a:latin typeface="Courier10PitchBT-Roman"/>
              </a:rPr>
              <a:t>(int array[], int first, int last, int value){</a:t>
            </a:r>
            <a:br>
              <a:rPr lang="en-US" sz="1800" i="1" dirty="0">
                <a:latin typeface="Courier10PitchBT-Roman"/>
              </a:rPr>
            </a:br>
            <a:r>
              <a:rPr lang="en-US" sz="1800" i="1" dirty="0">
                <a:latin typeface="Courier10PitchBT-Roman"/>
              </a:rPr>
              <a:t>   while (first &lt;= last){</a:t>
            </a:r>
            <a:br>
              <a:rPr lang="en-US" sz="1800" i="1" dirty="0">
                <a:latin typeface="Courier10PitchBT-Roman"/>
              </a:rPr>
            </a:br>
            <a:r>
              <a:rPr lang="en-US" sz="1800" i="1" dirty="0">
                <a:latin typeface="Courier10PitchBT-Roman"/>
              </a:rPr>
              <a:t>      int middle = (first + last) / 2;</a:t>
            </a:r>
            <a:br>
              <a:rPr lang="en-US" sz="1800" i="1" dirty="0">
                <a:latin typeface="Courier10PitchBT-Roman"/>
              </a:rPr>
            </a:br>
            <a:br>
              <a:rPr lang="en-US" sz="1800" i="1" dirty="0">
                <a:latin typeface="Courier10PitchBT-Roman"/>
              </a:rPr>
            </a:br>
            <a:r>
              <a:rPr lang="en-US" sz="1800" i="1" dirty="0">
                <a:latin typeface="Courier10PitchBT-Roman"/>
              </a:rPr>
              <a:t>      if (array[middle] == value)</a:t>
            </a:r>
            <a:br>
              <a:rPr lang="en-US" sz="1800" i="1" dirty="0">
                <a:latin typeface="Courier10PitchBT-Roman"/>
              </a:rPr>
            </a:br>
            <a:r>
              <a:rPr lang="en-US" sz="1800" i="1" dirty="0">
                <a:latin typeface="Courier10PitchBT-Roman"/>
              </a:rPr>
              <a:t>         return middle;</a:t>
            </a:r>
            <a:br>
              <a:rPr lang="en-US" sz="1800" i="1" dirty="0">
                <a:latin typeface="Courier10PitchBT-Roman"/>
              </a:rPr>
            </a:br>
            <a:r>
              <a:rPr lang="en-US" sz="1800" i="1" dirty="0">
                <a:latin typeface="Courier10PitchBT-Roman"/>
              </a:rPr>
              <a:t>      else if (array[middle] &lt; value)</a:t>
            </a:r>
            <a:br>
              <a:rPr lang="en-US" sz="1800" i="1" dirty="0">
                <a:latin typeface="Courier10PitchBT-Roman"/>
              </a:rPr>
            </a:br>
            <a:r>
              <a:rPr lang="en-US" sz="1800" i="1" dirty="0">
                <a:latin typeface="Courier10PitchBT-Roman"/>
              </a:rPr>
              <a:t>         first = middle + 1;</a:t>
            </a:r>
            <a:br>
              <a:rPr lang="en-US" sz="1800" i="1" dirty="0">
                <a:latin typeface="Courier10PitchBT-Roman"/>
              </a:rPr>
            </a:br>
            <a:r>
              <a:rPr lang="en-US" sz="1800" i="1" dirty="0">
                <a:latin typeface="Courier10PitchBT-Roman"/>
              </a:rPr>
              <a:t>      else</a:t>
            </a:r>
            <a:br>
              <a:rPr lang="en-US" sz="1800" i="1" dirty="0">
                <a:latin typeface="Courier10PitchBT-Roman"/>
              </a:rPr>
            </a:br>
            <a:r>
              <a:rPr lang="en-US" sz="1800" i="1" dirty="0">
                <a:latin typeface="Courier10PitchBT-Roman"/>
              </a:rPr>
              <a:t>         last = middle - 1;</a:t>
            </a:r>
            <a:br>
              <a:rPr lang="en-US" sz="1800" i="1" dirty="0">
                <a:latin typeface="Courier10PitchBT-Roman"/>
              </a:rPr>
            </a:br>
            <a:r>
              <a:rPr lang="en-US" sz="1800" i="1" dirty="0">
                <a:latin typeface="Courier10PitchBT-Roman"/>
              </a:rPr>
              <a:t>   }</a:t>
            </a:r>
            <a:br>
              <a:rPr lang="en-US" sz="1800" i="1" dirty="0">
                <a:latin typeface="Courier10PitchBT-Roman"/>
              </a:rPr>
            </a:br>
            <a:br>
              <a:rPr lang="en-US" sz="1800" i="1" dirty="0">
                <a:latin typeface="Courier10PitchBT-Roman"/>
              </a:rPr>
            </a:br>
            <a:r>
              <a:rPr lang="en-US" sz="1800" i="1" dirty="0">
                <a:latin typeface="Courier10PitchBT-Roman"/>
              </a:rPr>
              <a:t>   return -1;</a:t>
            </a:r>
            <a:br>
              <a:rPr lang="en-US" sz="1800" i="1" dirty="0">
                <a:latin typeface="Courier10PitchBT-Roman"/>
              </a:rPr>
            </a:br>
            <a:r>
              <a:rPr lang="en-US" sz="1800" i="1" dirty="0">
                <a:latin typeface="Courier10PitchBT-Roman"/>
              </a:rPr>
              <a:t>}</a:t>
            </a:r>
            <a:endParaRPr lang="en-MY" sz="1800" i="1" dirty="0">
              <a:latin typeface="Courier10PitchBT-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173C89-0B26-3CE9-B3CE-32C240498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nn-NO">
                <a:solidFill>
                  <a:schemeClr val="tx1">
                    <a:lumMod val="50000"/>
                    <a:lumOff val="50000"/>
                  </a:schemeClr>
                </a:solidFill>
              </a:rPr>
              <a:t>masarvghadi@usm.my for UOW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1E44F-B4BE-CF11-3462-CA37BBF83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0CA44C7-9DEF-494D-9EBF-CD8FA9A95986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7118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1D872B-9DD8-AD89-CDE2-79C4719DF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2BB4101-FBD7-AE86-29A4-34AC86408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52BBC2C-5052-8858-9A2F-45F61E7F52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5956711-671C-E68C-A646-35B8DCEBCB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C3FAB07-9476-8DE3-7D8C-3059F458B1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5E98966-77CF-3A16-36C4-D70A8F4D0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Solving Problems with Recursion </a:t>
            </a:r>
            <a:r>
              <a:rPr lang="en-US" sz="3000" b="1" dirty="0">
                <a:solidFill>
                  <a:srgbClr val="FFFFFF"/>
                </a:solidFill>
              </a:rPr>
              <a:t>(cont.)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5FD79B9-F86A-E201-F349-0046470B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510" y="1901347"/>
            <a:ext cx="3999037" cy="4230152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In fact, </a:t>
            </a:r>
            <a:r>
              <a:rPr lang="en-MY" sz="1800" dirty="0"/>
              <a:t>recursive algorithms are usually less efficient than iterative algorithms.</a:t>
            </a:r>
          </a:p>
          <a:p>
            <a:pPr lvl="1"/>
            <a:r>
              <a:rPr lang="en-MY" sz="1800" dirty="0">
                <a:latin typeface="SabonLTStd-Roman"/>
              </a:rPr>
              <a:t>F</a:t>
            </a:r>
            <a:r>
              <a:rPr lang="en-MY" sz="1800" b="0" i="0" u="none" strike="noStrike" baseline="0" dirty="0">
                <a:latin typeface="SabonLTStd-Roman"/>
              </a:rPr>
              <a:t>unction calls impose overhead to the system</a:t>
            </a:r>
          </a:p>
          <a:p>
            <a:pPr lvl="2"/>
            <a:r>
              <a:rPr lang="en-MY" sz="1800" b="0" i="0" u="none" strike="noStrike" baseline="0" dirty="0">
                <a:latin typeface="SabonLTStd-Roman"/>
              </a:rPr>
              <a:t>allocating memory for parameters and local variables</a:t>
            </a:r>
          </a:p>
          <a:p>
            <a:pPr lvl="2"/>
            <a:r>
              <a:rPr lang="en-US" sz="1800" b="0" i="0" u="none" strike="noStrike" baseline="0" dirty="0">
                <a:latin typeface="SabonLTStd-Roman"/>
              </a:rPr>
              <a:t>storing the </a:t>
            </a:r>
            <a:r>
              <a:rPr lang="en-MY" sz="1800" b="0" i="0" u="none" strike="noStrike" baseline="0" dirty="0">
                <a:latin typeface="SabonLTStd-Roman"/>
              </a:rPr>
              <a:t>address of the program location where control returns after the function terminates.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C8905B-51DC-D24A-24AE-D9B1F91C1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nn-NO">
                <a:solidFill>
                  <a:schemeClr val="tx1">
                    <a:lumMod val="50000"/>
                    <a:lumOff val="50000"/>
                  </a:schemeClr>
                </a:solidFill>
              </a:rPr>
              <a:t>masarvghadi@usm.my for UOW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33CA2F-B445-316A-072F-6F367D3C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0CA44C7-9DEF-494D-9EBF-CD8FA9A95986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4698C5-4A0D-0860-2911-130D2FE735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7813" y="1630869"/>
            <a:ext cx="7143239" cy="475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19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BCC9BC-E99E-BA82-8CC0-5B1CE4470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0F1E7DF-F0BD-712E-0001-8D56226A0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8016514-D38D-A801-0D69-15DF231FB7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6DE8E-114F-A1D6-297B-00ABBE7A9E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044D441-D298-9002-05B0-E256386F59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3C8225F-7C02-DD94-7243-E2A31DBBC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Solving Problems with Recursion </a:t>
            </a:r>
            <a:r>
              <a:rPr lang="en-US" sz="3000" b="1" dirty="0">
                <a:solidFill>
                  <a:srgbClr val="FFFFFF"/>
                </a:solidFill>
              </a:rPr>
              <a:t>(cont.)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3769D1F-E149-BDEB-721F-4C3D45F08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510" y="1901347"/>
            <a:ext cx="3789063" cy="4230152"/>
          </a:xfrm>
        </p:spPr>
        <p:txBody>
          <a:bodyPr>
            <a:noAutofit/>
          </a:bodyPr>
          <a:lstStyle/>
          <a:p>
            <a:r>
              <a:rPr lang="en-MY" sz="1800" b="0" i="0" u="none" strike="noStrike" baseline="0" dirty="0">
                <a:latin typeface="SabonLTStd-Roman"/>
              </a:rPr>
              <a:t>Some repetitive problems, however, are more easily solved with recursion than with iteration.</a:t>
            </a:r>
          </a:p>
          <a:p>
            <a:endParaRPr lang="en-MY" sz="1800" dirty="0">
              <a:latin typeface="SabonLTStd-Roman"/>
            </a:endParaRPr>
          </a:p>
          <a:p>
            <a:endParaRPr lang="en-MY" sz="1800" b="0" i="0" u="none" strike="noStrike" baseline="0" dirty="0">
              <a:latin typeface="SabonLTStd-Roman"/>
            </a:endParaRPr>
          </a:p>
          <a:p>
            <a:endParaRPr lang="en-MY" sz="1800" dirty="0">
              <a:latin typeface="SabonLTStd-Roman"/>
            </a:endParaRPr>
          </a:p>
          <a:p>
            <a:endParaRPr lang="en-MY" sz="1800" b="0" i="0" u="none" strike="noStrike" baseline="0" dirty="0">
              <a:latin typeface="SabonLTStd-Roman"/>
            </a:endParaRPr>
          </a:p>
          <a:p>
            <a:endParaRPr lang="en-MY" sz="1800" b="0" i="0" u="none" strike="noStrike" baseline="0" dirty="0">
              <a:latin typeface="SabonLTStd-Roman"/>
            </a:endParaRPr>
          </a:p>
          <a:p>
            <a:pPr algn="l"/>
            <a:r>
              <a:rPr lang="en-US" sz="1800" b="0" i="0" u="none" strike="noStrike" baseline="0" dirty="0">
                <a:latin typeface="SabonLTStd-Roman"/>
              </a:rPr>
              <a:t>The programmer </a:t>
            </a:r>
            <a:r>
              <a:rPr lang="en-MY" sz="1800" b="0" i="0" u="none" strike="noStrike" baseline="0" dirty="0">
                <a:latin typeface="SabonLTStd-Roman"/>
              </a:rPr>
              <a:t>might be able to design a recursive algorithm faster.</a:t>
            </a:r>
            <a:endParaRPr lang="en-US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242B1E-385C-42E6-01C4-AACDBC2A4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nn-NO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masarvghadi@usm.my for UOW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AE53A4-41A7-99F4-BF07-AD8060F8C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0CA44C7-9DEF-494D-9EBF-CD8FA9A95986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56E61D-143D-0290-6CB3-8E663741D5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401" y="1675097"/>
            <a:ext cx="6834292" cy="4556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61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DD77349-6ADE-99FE-8E04-12919EE5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5B2B92C-44DF-B41D-C67A-EBF175DF52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41EB2F1-D26A-D7C9-E9AC-B63BE629A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6D16430-53D3-47E5-F4B8-B441E710D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55F4528-163C-1FA9-2A64-19D803F5D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Recursion Rules</a:t>
            </a:r>
            <a:endParaRPr lang="en-US" sz="3000" b="1" dirty="0">
              <a:solidFill>
                <a:srgbClr val="FFFFFF"/>
              </a:solidFill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792997B-61AE-7625-2C4D-1BF7A0667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509" y="1941985"/>
            <a:ext cx="6017491" cy="4230152"/>
          </a:xfrm>
        </p:spPr>
        <p:txBody>
          <a:bodyPr>
            <a:noAutofit/>
          </a:bodyPr>
          <a:lstStyle/>
          <a:p>
            <a:pPr algn="l"/>
            <a:r>
              <a:rPr lang="en-MY" sz="1800" b="0" i="0" u="none" strike="noStrike" baseline="0" dirty="0">
                <a:latin typeface="SabonLTStd-Roman"/>
              </a:rPr>
              <a:t>If the problem can be solved now, without recursion, then the function solves it and </a:t>
            </a:r>
            <a:r>
              <a:rPr lang="en-US" sz="1800" b="0" i="0" u="none" strike="noStrike" baseline="0" dirty="0">
                <a:latin typeface="SabonLTStd-Roman"/>
              </a:rPr>
              <a:t>returns.</a:t>
            </a:r>
          </a:p>
          <a:p>
            <a:pPr algn="l"/>
            <a:endParaRPr lang="en-US" sz="1800" dirty="0">
              <a:latin typeface="SabonLTStd-Roman"/>
            </a:endParaRPr>
          </a:p>
          <a:p>
            <a:pPr algn="l"/>
            <a:r>
              <a:rPr lang="en-MY" sz="1800" b="0" i="0" u="none" strike="noStrike" baseline="0" dirty="0">
                <a:latin typeface="SabonLTStd-Roman"/>
              </a:rPr>
              <a:t>If the problem cannot be solved now, then the function reduces it to a smaller but similar problem and calls itself to solve the smaller problem.</a:t>
            </a:r>
          </a:p>
          <a:p>
            <a:pPr algn="l"/>
            <a:endParaRPr lang="en-MY" sz="1800" dirty="0">
              <a:latin typeface="SabonLTStd-Roman"/>
            </a:endParaRPr>
          </a:p>
          <a:p>
            <a:pPr algn="l"/>
            <a:r>
              <a:rPr lang="en-MY" sz="1800" b="1" dirty="0">
                <a:latin typeface="SabonLTStd-Roman"/>
              </a:rPr>
              <a:t>Base Case: </a:t>
            </a:r>
            <a:r>
              <a:rPr lang="en-MY" sz="1800" b="0" i="0" u="none" strike="noStrike" baseline="0" dirty="0">
                <a:latin typeface="SabonLTStd-Roman"/>
              </a:rPr>
              <a:t>identifying at least one case in which the problem can </a:t>
            </a:r>
            <a:r>
              <a:rPr lang="en-US" sz="1800" b="0" i="0" u="none" strike="noStrike" baseline="0" dirty="0">
                <a:latin typeface="SabonLTStd-Roman"/>
              </a:rPr>
              <a:t>be solved without recursion.</a:t>
            </a:r>
          </a:p>
          <a:p>
            <a:pPr algn="l"/>
            <a:r>
              <a:rPr lang="en-US" sz="1800" b="1" dirty="0">
                <a:latin typeface="SabonLTStd-Roman"/>
              </a:rPr>
              <a:t>Recursive Case: </a:t>
            </a:r>
            <a:r>
              <a:rPr lang="en-US" sz="1800" b="0" i="0" u="none" strike="noStrike" baseline="0" dirty="0">
                <a:latin typeface="SabonLTStd-Roman"/>
              </a:rPr>
              <a:t>determining a way </a:t>
            </a:r>
            <a:r>
              <a:rPr lang="en-MY" sz="1800" b="0" i="0" u="none" strike="noStrike" baseline="0" dirty="0">
                <a:latin typeface="SabonLTStd-Roman"/>
              </a:rPr>
              <a:t>to solve the problem in all other circumstances using recursion.</a:t>
            </a:r>
          </a:p>
          <a:p>
            <a:pPr algn="l"/>
            <a:endParaRPr lang="en-MY" sz="1800" dirty="0">
              <a:latin typeface="SabonLTStd-Roman"/>
            </a:endParaRPr>
          </a:p>
          <a:p>
            <a:pPr algn="l"/>
            <a:r>
              <a:rPr lang="en-MY" sz="1800" dirty="0">
                <a:latin typeface="SabonLTStd-Roman"/>
              </a:rPr>
              <a:t>The recursive case will continue until one of the base cases are met.</a:t>
            </a:r>
            <a:endParaRPr lang="en-US" sz="1800" dirty="0">
              <a:latin typeface="SabonLTStd-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20E4DC-F19F-55CC-C19E-56A83BEC3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nn-NO">
                <a:solidFill>
                  <a:schemeClr val="tx1">
                    <a:lumMod val="50000"/>
                    <a:lumOff val="50000"/>
                  </a:schemeClr>
                </a:solidFill>
              </a:rPr>
              <a:t>masarvghadi@usm.my for UOW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4B9548-4903-DF53-9E3E-FA8288D24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0CA44C7-9DEF-494D-9EBF-CD8FA9A95986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16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710BE3-001A-2A21-D748-28D36ED8082A}"/>
              </a:ext>
            </a:extLst>
          </p:cNvPr>
          <p:cNvSpPr txBox="1"/>
          <p:nvPr/>
        </p:nvSpPr>
        <p:spPr>
          <a:xfrm>
            <a:off x="7720781" y="3892550"/>
            <a:ext cx="292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is/are the base case(s) in recursive binary search?</a:t>
            </a:r>
            <a:endParaRPr lang="en-MY" b="1" dirty="0"/>
          </a:p>
        </p:txBody>
      </p:sp>
    </p:spTree>
    <p:extLst>
      <p:ext uri="{BB962C8B-B14F-4D97-AF65-F5344CB8AC3E}">
        <p14:creationId xmlns:p14="http://schemas.microsoft.com/office/powerpoint/2010/main" val="1815279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A7F395-498F-8156-BE0F-5CEA1D133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2013493-013C-A848-EB38-9F01864080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BA2F97C-45C0-E11F-B116-2A4E12B5A0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12BCDAD-F0C5-497F-F493-7151A19A8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2902CA7-0FE6-8C0E-52DD-D0666AD30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01261CE-BCF9-7418-307A-C714336A6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Recursion Rules</a:t>
            </a:r>
            <a:endParaRPr lang="en-US" sz="3000" b="1" dirty="0">
              <a:solidFill>
                <a:srgbClr val="FFFFFF"/>
              </a:solidFill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690801E-7426-FEA0-782D-26387EBE0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509" y="1941985"/>
            <a:ext cx="6017491" cy="4230152"/>
          </a:xfrm>
        </p:spPr>
        <p:txBody>
          <a:bodyPr>
            <a:noAutofit/>
          </a:bodyPr>
          <a:lstStyle/>
          <a:p>
            <a:pPr algn="l"/>
            <a:r>
              <a:rPr lang="en-MY" sz="1800" b="0" i="0" u="none" strike="noStrike" baseline="0" dirty="0">
                <a:latin typeface="SabonLTStd-Roman"/>
              </a:rPr>
              <a:t>If the problem can be solved now, without recursion, then the function solves it and </a:t>
            </a:r>
            <a:r>
              <a:rPr lang="en-US" sz="1800" b="0" i="0" u="none" strike="noStrike" baseline="0" dirty="0">
                <a:latin typeface="SabonLTStd-Roman"/>
              </a:rPr>
              <a:t>returns.</a:t>
            </a:r>
          </a:p>
          <a:p>
            <a:pPr algn="l"/>
            <a:endParaRPr lang="en-US" sz="1800" dirty="0">
              <a:latin typeface="SabonLTStd-Roman"/>
            </a:endParaRPr>
          </a:p>
          <a:p>
            <a:pPr algn="l"/>
            <a:r>
              <a:rPr lang="en-MY" sz="1800" b="0" i="0" u="none" strike="noStrike" baseline="0" dirty="0">
                <a:latin typeface="SabonLTStd-Roman"/>
              </a:rPr>
              <a:t>If the problem cannot be solved now, then the function reduces it to a smaller but similar problem and calls itself to solve the smaller problem.</a:t>
            </a:r>
          </a:p>
          <a:p>
            <a:pPr algn="l"/>
            <a:endParaRPr lang="en-MY" sz="1800" dirty="0">
              <a:latin typeface="SabonLTStd-Roman"/>
            </a:endParaRPr>
          </a:p>
          <a:p>
            <a:pPr algn="l"/>
            <a:r>
              <a:rPr lang="en-MY" sz="1800" b="1" dirty="0">
                <a:latin typeface="SabonLTStd-Roman"/>
              </a:rPr>
              <a:t>Base Case: </a:t>
            </a:r>
            <a:r>
              <a:rPr lang="en-MY" sz="1800" b="0" i="0" u="none" strike="noStrike" baseline="0" dirty="0">
                <a:latin typeface="SabonLTStd-Roman"/>
              </a:rPr>
              <a:t>identifying at least one case in which the problem can </a:t>
            </a:r>
            <a:r>
              <a:rPr lang="en-US" sz="1800" b="0" i="0" u="none" strike="noStrike" baseline="0" dirty="0">
                <a:latin typeface="SabonLTStd-Roman"/>
              </a:rPr>
              <a:t>be solved without recursion.</a:t>
            </a:r>
          </a:p>
          <a:p>
            <a:pPr algn="l"/>
            <a:r>
              <a:rPr lang="en-US" sz="1800" b="1" dirty="0">
                <a:latin typeface="SabonLTStd-Roman"/>
              </a:rPr>
              <a:t>Recursive Case: </a:t>
            </a:r>
            <a:r>
              <a:rPr lang="en-US" sz="1800" b="0" i="0" u="none" strike="noStrike" baseline="0" dirty="0">
                <a:latin typeface="SabonLTStd-Roman"/>
              </a:rPr>
              <a:t>determining a way </a:t>
            </a:r>
            <a:r>
              <a:rPr lang="en-MY" sz="1800" b="0" i="0" u="none" strike="noStrike" baseline="0" dirty="0">
                <a:latin typeface="SabonLTStd-Roman"/>
              </a:rPr>
              <a:t>to solve the problem in all other circumstances using recursion.</a:t>
            </a:r>
          </a:p>
          <a:p>
            <a:pPr algn="l"/>
            <a:endParaRPr lang="en-MY" sz="1800" dirty="0">
              <a:latin typeface="SabonLTStd-Roman"/>
            </a:endParaRPr>
          </a:p>
          <a:p>
            <a:pPr algn="l"/>
            <a:r>
              <a:rPr lang="en-MY" sz="1800" dirty="0">
                <a:latin typeface="SabonLTStd-Roman"/>
              </a:rPr>
              <a:t>The recursive case will continue until one of the base cases are met.</a:t>
            </a:r>
            <a:endParaRPr lang="en-US" sz="1800" dirty="0">
              <a:latin typeface="SabonLTStd-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A935C0-D88D-CA4B-F4DC-9711651B2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nn-NO">
                <a:solidFill>
                  <a:schemeClr val="tx1">
                    <a:lumMod val="50000"/>
                    <a:lumOff val="50000"/>
                  </a:schemeClr>
                </a:solidFill>
              </a:rPr>
              <a:t>masarvghadi@usm.my for UOW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E6B6F7-7D50-D152-9087-1A5A508CF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0CA44C7-9DEF-494D-9EBF-CD8FA9A95986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17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60339E-A367-E027-5B2A-F91BC76A9BE4}"/>
              </a:ext>
            </a:extLst>
          </p:cNvPr>
          <p:cNvSpPr txBox="1"/>
          <p:nvPr/>
        </p:nvSpPr>
        <p:spPr>
          <a:xfrm>
            <a:off x="7784281" y="3771900"/>
            <a:ext cx="2921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is/are the base case(s) in recursive binary search?</a:t>
            </a:r>
          </a:p>
          <a:p>
            <a:r>
              <a:rPr lang="en-US" b="1"/>
              <a:t>They </a:t>
            </a:r>
            <a:r>
              <a:rPr lang="en-US" b="1" dirty="0"/>
              <a:t>are:</a:t>
            </a:r>
          </a:p>
          <a:p>
            <a:r>
              <a:rPr lang="en-MY" dirty="0">
                <a:solidFill>
                  <a:srgbClr val="FF0000"/>
                </a:solidFill>
              </a:rPr>
              <a:t>array[middle] == value</a:t>
            </a:r>
          </a:p>
          <a:p>
            <a:r>
              <a:rPr lang="en-MY" b="1" dirty="0"/>
              <a:t>&amp;</a:t>
            </a:r>
          </a:p>
          <a:p>
            <a:r>
              <a:rPr lang="en-MY" dirty="0">
                <a:solidFill>
                  <a:srgbClr val="FF0000"/>
                </a:solidFill>
              </a:rPr>
              <a:t>first &gt; last</a:t>
            </a:r>
            <a:endParaRPr lang="en-MY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7317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DD77349-6ADE-99FE-8E04-12919EE5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5B2B92C-44DF-B41D-C67A-EBF175DF52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41EB2F1-D26A-D7C9-E9AC-B63BE629A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6D16430-53D3-47E5-F4B8-B441E710D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55F4528-163C-1FA9-2A64-19D803F5D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Recursion Types</a:t>
            </a:r>
            <a:endParaRPr lang="en-US" sz="3000" b="1" dirty="0">
              <a:solidFill>
                <a:srgbClr val="FFFFFF"/>
              </a:solidFill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792997B-61AE-7625-2C4D-1BF7A0667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6" y="1941985"/>
            <a:ext cx="4430598" cy="4230152"/>
          </a:xfrm>
        </p:spPr>
        <p:txBody>
          <a:bodyPr>
            <a:noAutofit/>
          </a:bodyPr>
          <a:lstStyle/>
          <a:p>
            <a:pPr algn="l"/>
            <a:r>
              <a:rPr lang="en-US" sz="1800" b="1" i="0" u="none" strike="noStrike" baseline="0" dirty="0">
                <a:latin typeface="SabonLTStd-Roman"/>
              </a:rPr>
              <a:t>Direct</a:t>
            </a:r>
          </a:p>
          <a:p>
            <a:pPr lvl="1"/>
            <a:r>
              <a:rPr lang="en-US" sz="1800" dirty="0">
                <a:latin typeface="SabonLTStd-Roman"/>
              </a:rPr>
              <a:t>A function calls itself</a:t>
            </a:r>
          </a:p>
          <a:p>
            <a:pPr lvl="1"/>
            <a:endParaRPr lang="en-US" sz="1800" b="1" dirty="0">
              <a:latin typeface="SabonLTStd-Roman"/>
            </a:endParaRPr>
          </a:p>
          <a:p>
            <a:pPr lvl="1"/>
            <a:endParaRPr lang="en-US" sz="1800" b="1" dirty="0">
              <a:latin typeface="SabonLTStd-Roman"/>
            </a:endParaRPr>
          </a:p>
          <a:p>
            <a:r>
              <a:rPr lang="en-US" sz="1800" b="1" dirty="0">
                <a:latin typeface="SabonLTStd-Roman"/>
              </a:rPr>
              <a:t>Indirect</a:t>
            </a:r>
          </a:p>
          <a:p>
            <a:pPr lvl="1"/>
            <a:r>
              <a:rPr lang="en-US" sz="1800" dirty="0">
                <a:latin typeface="SabonLTStd-Roman"/>
              </a:rPr>
              <a:t>Function A calls function B, and function B calls function A.</a:t>
            </a:r>
          </a:p>
          <a:p>
            <a:pPr lvl="1"/>
            <a:r>
              <a:rPr lang="en-US" sz="1800" dirty="0">
                <a:latin typeface="SabonLTStd-Roman"/>
              </a:rPr>
              <a:t>Function A calls function B, function B calls function c . . .  and finally the last function calls function A.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20E4DC-F19F-55CC-C19E-56A83BEC3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nn-NO">
                <a:solidFill>
                  <a:schemeClr val="tx1">
                    <a:lumMod val="50000"/>
                    <a:lumOff val="50000"/>
                  </a:schemeClr>
                </a:solidFill>
              </a:rPr>
              <a:t>masarvghadi@usm.my for UOW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4B9548-4903-DF53-9E3E-FA8288D24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0CA44C7-9DEF-494D-9EBF-CD8FA9A95986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18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6937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DD77349-6ADE-99FE-8E04-12919EE5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5B2B92C-44DF-B41D-C67A-EBF175DF52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41EB2F1-D26A-D7C9-E9AC-B63BE629A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6D16430-53D3-47E5-F4B8-B441E710D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55F4528-163C-1FA9-2A64-19D803F5D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Factorial</a:t>
            </a:r>
            <a:endParaRPr lang="en-US" sz="3000" b="1" dirty="0">
              <a:solidFill>
                <a:srgbClr val="FFFFFF"/>
              </a:solidFill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792997B-61AE-7625-2C4D-1BF7A0667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509" y="1744020"/>
            <a:ext cx="11018981" cy="4230152"/>
          </a:xfrm>
        </p:spPr>
        <p:txBody>
          <a:bodyPr>
            <a:noAutofit/>
          </a:bodyPr>
          <a:lstStyle/>
          <a:p>
            <a:pPr algn="l"/>
            <a:r>
              <a:rPr lang="en-MY" sz="1800" b="0" i="0" u="none" strike="noStrike" baseline="0" dirty="0">
                <a:latin typeface="SabonLTStd-Roman"/>
              </a:rPr>
              <a:t>The factorial of a non-negative number can be defined by the following rules:</a:t>
            </a:r>
          </a:p>
          <a:p>
            <a:pPr algn="l"/>
            <a:endParaRPr lang="en-MY" sz="1800" dirty="0">
              <a:latin typeface="SabonLTStd-Roman"/>
            </a:endParaRPr>
          </a:p>
          <a:p>
            <a:pPr marL="0" indent="0" algn="l">
              <a:buNone/>
            </a:pPr>
            <a:r>
              <a:rPr lang="en-MY" sz="1800" i="1" dirty="0">
                <a:latin typeface="Courier10PitchBT-Roman"/>
              </a:rPr>
              <a:t>	If n = 0 then n!  1</a:t>
            </a:r>
          </a:p>
          <a:p>
            <a:pPr marL="0" indent="0" algn="l">
              <a:buNone/>
            </a:pPr>
            <a:r>
              <a:rPr lang="pt-BR" sz="1800" i="1" dirty="0">
                <a:latin typeface="Courier10PitchBT-Roman"/>
              </a:rPr>
              <a:t>	If n &gt; 0 then n!  1 </a:t>
            </a:r>
            <a:r>
              <a:rPr lang="en-US" sz="1200" dirty="0">
                <a:latin typeface="SabonLTStd-Roman"/>
                <a:sym typeface="Webdings" panose="05030102010509060703" pitchFamily="18" charset="2"/>
              </a:rPr>
              <a:t></a:t>
            </a:r>
            <a:r>
              <a:rPr lang="pt-BR" sz="1800" i="1" dirty="0">
                <a:latin typeface="Courier10PitchBT-Roman"/>
              </a:rPr>
              <a:t> 2 </a:t>
            </a:r>
            <a:r>
              <a:rPr lang="en-US" sz="1200" dirty="0">
                <a:latin typeface="SabonLTStd-Roman"/>
                <a:sym typeface="Webdings" panose="05030102010509060703" pitchFamily="18" charset="2"/>
              </a:rPr>
              <a:t></a:t>
            </a:r>
            <a:r>
              <a:rPr lang="pt-BR" sz="1800" i="1" dirty="0">
                <a:latin typeface="Courier10PitchBT-Roman"/>
              </a:rPr>
              <a:t> 3 </a:t>
            </a:r>
            <a:r>
              <a:rPr lang="en-US" sz="1200" dirty="0">
                <a:latin typeface="SabonLTStd-Roman"/>
                <a:sym typeface="Webdings" panose="05030102010509060703" pitchFamily="18" charset="2"/>
              </a:rPr>
              <a:t></a:t>
            </a:r>
            <a:r>
              <a:rPr lang="pt-BR" sz="1800" i="1" dirty="0">
                <a:latin typeface="Courier10PitchBT-Roman"/>
              </a:rPr>
              <a:t> … </a:t>
            </a:r>
            <a:r>
              <a:rPr lang="en-US" sz="1200" dirty="0">
                <a:latin typeface="SabonLTStd-Roman"/>
                <a:sym typeface="Webdings" panose="05030102010509060703" pitchFamily="18" charset="2"/>
              </a:rPr>
              <a:t></a:t>
            </a:r>
            <a:r>
              <a:rPr lang="pt-BR" sz="1800" i="1" dirty="0">
                <a:latin typeface="Courier10PitchBT-Roman"/>
              </a:rPr>
              <a:t> n</a:t>
            </a:r>
            <a:endParaRPr lang="en-MY" sz="1800" i="1" dirty="0">
              <a:latin typeface="Courier10PitchBT-Roman"/>
            </a:endParaRPr>
          </a:p>
          <a:p>
            <a:pPr algn="l"/>
            <a:endParaRPr lang="en-US" sz="1800" dirty="0">
              <a:latin typeface="SabonLTStd-Roman"/>
            </a:endParaRPr>
          </a:p>
          <a:p>
            <a:pPr marL="0" indent="0" algn="l">
              <a:buNone/>
            </a:pPr>
            <a:r>
              <a:rPr lang="en-US" sz="1800" i="1" dirty="0">
                <a:latin typeface="Courier10PitchBT-Roman"/>
              </a:rPr>
              <a:t>	If n = 0 then factorial(n)  1</a:t>
            </a:r>
          </a:p>
          <a:p>
            <a:pPr marL="0" indent="0" algn="l">
              <a:buNone/>
            </a:pPr>
            <a:r>
              <a:rPr lang="pt-BR" sz="1800" i="1" dirty="0">
                <a:latin typeface="Courier10PitchBT-Roman"/>
              </a:rPr>
              <a:t>	If n &gt; 0 then factorial(n-1)  1 </a:t>
            </a:r>
            <a:r>
              <a:rPr lang="en-US" sz="1200" dirty="0">
                <a:latin typeface="SabonLTStd-Roman"/>
                <a:sym typeface="Webdings" panose="05030102010509060703" pitchFamily="18" charset="2"/>
              </a:rPr>
              <a:t></a:t>
            </a:r>
            <a:r>
              <a:rPr lang="pt-BR" sz="1800" i="1" dirty="0">
                <a:latin typeface="Courier10PitchBT-Roman"/>
              </a:rPr>
              <a:t> 2 </a:t>
            </a:r>
            <a:r>
              <a:rPr lang="en-US" sz="1200" dirty="0">
                <a:latin typeface="SabonLTStd-Roman"/>
                <a:sym typeface="Webdings" panose="05030102010509060703" pitchFamily="18" charset="2"/>
              </a:rPr>
              <a:t></a:t>
            </a:r>
            <a:r>
              <a:rPr lang="pt-BR" sz="1800" i="1" dirty="0">
                <a:latin typeface="Courier10PitchBT-Roman"/>
              </a:rPr>
              <a:t> 3 </a:t>
            </a:r>
            <a:r>
              <a:rPr lang="en-US" sz="1200" dirty="0">
                <a:latin typeface="SabonLTStd-Roman"/>
                <a:sym typeface="Webdings" panose="05030102010509060703" pitchFamily="18" charset="2"/>
              </a:rPr>
              <a:t></a:t>
            </a:r>
            <a:r>
              <a:rPr lang="pt-BR" sz="1800" i="1" dirty="0">
                <a:latin typeface="Courier10PitchBT-Roman"/>
              </a:rPr>
              <a:t> … </a:t>
            </a:r>
            <a:r>
              <a:rPr lang="en-US" sz="1200" dirty="0">
                <a:latin typeface="SabonLTStd-Roman"/>
                <a:sym typeface="Webdings" panose="05030102010509060703" pitchFamily="18" charset="2"/>
              </a:rPr>
              <a:t></a:t>
            </a:r>
            <a:r>
              <a:rPr lang="pt-BR" sz="1800" i="1" dirty="0">
                <a:latin typeface="Courier10PitchBT-Roman"/>
              </a:rPr>
              <a:t> n</a:t>
            </a:r>
            <a:endParaRPr lang="en-MY" sz="1800" i="1" dirty="0">
              <a:latin typeface="Courier10PitchBT-Roman"/>
            </a:endParaRPr>
          </a:p>
          <a:p>
            <a:pPr marL="0" indent="0" algn="l">
              <a:buNone/>
            </a:pPr>
            <a:endParaRPr lang="en-MY" sz="1800" dirty="0">
              <a:latin typeface="SabonLTStd-Roman"/>
            </a:endParaRPr>
          </a:p>
          <a:p>
            <a:pPr marL="0" indent="0" algn="l">
              <a:buNone/>
            </a:pPr>
            <a:r>
              <a:rPr lang="en-US" sz="1800" i="1" dirty="0">
                <a:latin typeface="Courier10PitchBT-Roman"/>
              </a:rPr>
              <a:t>factorial(6)</a:t>
            </a:r>
            <a:r>
              <a:rPr lang="en-US" sz="1800" b="0" i="0" u="none" strike="noStrike" baseline="0" dirty="0">
                <a:latin typeface="SabonLTStd-Roman"/>
              </a:rPr>
              <a:t> = </a:t>
            </a:r>
            <a:r>
              <a:rPr lang="en-US" sz="1800" i="1" dirty="0">
                <a:latin typeface="Courier10PitchBT-Roman"/>
              </a:rPr>
              <a:t>1</a:t>
            </a:r>
            <a:r>
              <a:rPr lang="en-US" sz="1800" b="0" i="0" u="none" strike="noStrike" baseline="0" dirty="0">
                <a:latin typeface="SabonLTStd-Roman"/>
              </a:rPr>
              <a:t> </a:t>
            </a:r>
            <a:r>
              <a:rPr lang="en-US" sz="1200" dirty="0">
                <a:latin typeface="SabonLTStd-Roman"/>
                <a:sym typeface="Webdings" panose="05030102010509060703" pitchFamily="18" charset="2"/>
              </a:rPr>
              <a:t></a:t>
            </a:r>
            <a:r>
              <a:rPr lang="en-US" sz="1800" b="0" i="0" u="none" strike="noStrike" baseline="0" dirty="0">
                <a:latin typeface="MathematicalPi-One"/>
              </a:rPr>
              <a:t> </a:t>
            </a:r>
            <a:r>
              <a:rPr lang="en-US" sz="1800" i="1" dirty="0">
                <a:latin typeface="Courier10PitchBT-Roman"/>
              </a:rPr>
              <a:t>2</a:t>
            </a:r>
            <a:r>
              <a:rPr lang="en-US" sz="1800" b="0" i="0" u="none" strike="noStrike" baseline="0" dirty="0">
                <a:latin typeface="SabonLTStd-Roman"/>
              </a:rPr>
              <a:t> </a:t>
            </a:r>
            <a:r>
              <a:rPr lang="en-US" sz="1200" dirty="0">
                <a:latin typeface="SabonLTStd-Roman"/>
                <a:sym typeface="Webdings" panose="05030102010509060703" pitchFamily="18" charset="2"/>
              </a:rPr>
              <a:t></a:t>
            </a:r>
            <a:r>
              <a:rPr lang="en-US" sz="1800" b="0" i="0" u="none" strike="noStrike" baseline="0" dirty="0">
                <a:latin typeface="MathematicalPi-One"/>
              </a:rPr>
              <a:t> </a:t>
            </a:r>
            <a:r>
              <a:rPr lang="en-US" sz="1800" i="1" dirty="0">
                <a:latin typeface="Courier10PitchBT-Roman"/>
              </a:rPr>
              <a:t>3</a:t>
            </a:r>
            <a:r>
              <a:rPr lang="en-US" sz="1800" b="0" i="0" u="none" strike="noStrike" baseline="0" dirty="0">
                <a:latin typeface="SabonLTStd-Roman"/>
              </a:rPr>
              <a:t> </a:t>
            </a:r>
            <a:r>
              <a:rPr lang="en-US" sz="1200" dirty="0">
                <a:latin typeface="SabonLTStd-Roman"/>
                <a:sym typeface="Webdings" panose="05030102010509060703" pitchFamily="18" charset="2"/>
              </a:rPr>
              <a:t></a:t>
            </a:r>
            <a:r>
              <a:rPr lang="en-US" sz="1800" b="0" i="0" u="none" strike="noStrike" baseline="0" dirty="0">
                <a:latin typeface="MathematicalPi-One"/>
              </a:rPr>
              <a:t> </a:t>
            </a:r>
            <a:r>
              <a:rPr lang="en-US" sz="1800" i="1" dirty="0">
                <a:latin typeface="Courier10PitchBT-Roman"/>
              </a:rPr>
              <a:t>4</a:t>
            </a:r>
            <a:r>
              <a:rPr lang="en-US" sz="1800" b="0" i="0" u="none" strike="noStrike" baseline="0" dirty="0">
                <a:latin typeface="SabonLTStd-Roman"/>
              </a:rPr>
              <a:t> </a:t>
            </a:r>
            <a:r>
              <a:rPr lang="en-US" sz="1200" dirty="0">
                <a:latin typeface="SabonLTStd-Roman"/>
                <a:sym typeface="Webdings" panose="05030102010509060703" pitchFamily="18" charset="2"/>
              </a:rPr>
              <a:t></a:t>
            </a:r>
            <a:r>
              <a:rPr lang="en-US" sz="1800" b="0" i="0" u="none" strike="noStrike" baseline="0" dirty="0">
                <a:latin typeface="MathematicalPi-One"/>
              </a:rPr>
              <a:t> </a:t>
            </a:r>
            <a:r>
              <a:rPr lang="en-US" sz="1800" i="1" dirty="0">
                <a:latin typeface="Courier10PitchBT-Roman"/>
              </a:rPr>
              <a:t>5</a:t>
            </a:r>
            <a:r>
              <a:rPr lang="en-US" sz="1800" b="0" i="0" u="none" strike="noStrike" baseline="0" dirty="0">
                <a:latin typeface="SabonLTStd-Roman"/>
              </a:rPr>
              <a:t> </a:t>
            </a:r>
            <a:r>
              <a:rPr lang="en-US" sz="1200" i="0" u="none" strike="noStrike" baseline="0" dirty="0">
                <a:latin typeface="SabonLTStd-Roman"/>
                <a:sym typeface="Webdings" panose="05030102010509060703" pitchFamily="18" charset="2"/>
              </a:rPr>
              <a:t></a:t>
            </a:r>
            <a:r>
              <a:rPr lang="en-US" sz="1800" b="0" i="0" u="none" strike="noStrike" baseline="0" dirty="0">
                <a:latin typeface="MathematicalPi-One"/>
              </a:rPr>
              <a:t> </a:t>
            </a:r>
            <a:r>
              <a:rPr lang="en-US" sz="1800" i="1" dirty="0">
                <a:latin typeface="Courier10PitchBT-Roman"/>
              </a:rPr>
              <a:t>6</a:t>
            </a:r>
          </a:p>
          <a:p>
            <a:pPr marL="0" indent="0" algn="l">
              <a:buNone/>
            </a:pPr>
            <a:endParaRPr lang="en-US" sz="1800" i="1" dirty="0">
              <a:latin typeface="Courier10PitchBT-Roman"/>
            </a:endParaRPr>
          </a:p>
          <a:p>
            <a:pPr marL="0" indent="0" algn="l">
              <a:buNone/>
            </a:pPr>
            <a:r>
              <a:rPr lang="en-US" sz="1800" i="1" dirty="0">
                <a:latin typeface="Courier10PitchBT-Roman"/>
              </a:rPr>
              <a:t>	If n = 0 then factorial(n) = 1</a:t>
            </a:r>
          </a:p>
          <a:p>
            <a:pPr marL="0" indent="0" algn="l">
              <a:buNone/>
            </a:pPr>
            <a:r>
              <a:rPr lang="pt-BR" sz="1800" i="1" dirty="0">
                <a:latin typeface="Courier10PitchBT-Roman"/>
              </a:rPr>
              <a:t>	If n &gt; 0 then factorial(n) = n </a:t>
            </a:r>
            <a:r>
              <a:rPr lang="en-US" sz="1200" dirty="0">
                <a:latin typeface="SabonLTStd-Roman"/>
                <a:sym typeface="Webdings" panose="05030102010509060703" pitchFamily="18" charset="2"/>
              </a:rPr>
              <a:t></a:t>
            </a:r>
            <a:r>
              <a:rPr lang="pt-BR" sz="1800" i="1" dirty="0">
                <a:latin typeface="Courier10PitchBT-Roman"/>
              </a:rPr>
              <a:t> factorial(n - 1)</a:t>
            </a:r>
            <a:endParaRPr lang="en-US" sz="1800" i="1" dirty="0">
              <a:latin typeface="Courier10PitchBT-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20E4DC-F19F-55CC-C19E-56A83BEC3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nn-NO">
                <a:solidFill>
                  <a:schemeClr val="tx1">
                    <a:lumMod val="50000"/>
                    <a:lumOff val="50000"/>
                  </a:schemeClr>
                </a:solidFill>
              </a:rPr>
              <a:t>masarvghadi@usm.my for UOW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4B9548-4903-DF53-9E3E-FA8288D24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0CA44C7-9DEF-494D-9EBF-CD8FA9A95986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19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5101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DD77349-6ADE-99FE-8E04-12919EE5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5B2B92C-44DF-B41D-C67A-EBF175DF52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41EB2F1-D26A-D7C9-E9AC-B63BE629A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6D16430-53D3-47E5-F4B8-B441E710D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55F4528-163C-1FA9-2A64-19D803F5D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Factorial </a:t>
            </a:r>
            <a:r>
              <a:rPr lang="en-US" sz="3000" b="1" dirty="0">
                <a:solidFill>
                  <a:srgbClr val="FFFFFF"/>
                </a:solidFill>
              </a:rPr>
              <a:t>(Cont.)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792997B-61AE-7625-2C4D-1BF7A0667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509" y="1744020"/>
            <a:ext cx="11018981" cy="423015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endParaRPr lang="en-US" sz="1800" i="1" dirty="0">
              <a:latin typeface="Courier10PitchBT-Roman"/>
            </a:endParaRPr>
          </a:p>
          <a:p>
            <a:pPr marL="0" indent="0" algn="l">
              <a:buNone/>
            </a:pPr>
            <a:r>
              <a:rPr lang="en-US" sz="1800" i="1" dirty="0">
                <a:latin typeface="Courier10PitchBT-Roman"/>
              </a:rPr>
              <a:t>int factorial(int n)</a:t>
            </a:r>
          </a:p>
          <a:p>
            <a:pPr marL="0" indent="0" algn="l">
              <a:buNone/>
            </a:pPr>
            <a:r>
              <a:rPr lang="en-US" sz="1800" i="1" dirty="0">
                <a:latin typeface="Courier10PitchBT-Roman"/>
              </a:rPr>
              <a:t>{</a:t>
            </a:r>
          </a:p>
          <a:p>
            <a:pPr marL="0" indent="0" algn="l">
              <a:buNone/>
            </a:pPr>
            <a:r>
              <a:rPr lang="en-US" sz="1800" i="1" dirty="0">
                <a:latin typeface="Courier10PitchBT-Roman"/>
              </a:rPr>
              <a:t>   if (n == 0)</a:t>
            </a:r>
          </a:p>
          <a:p>
            <a:pPr marL="0" indent="0" algn="l">
              <a:buNone/>
            </a:pPr>
            <a:r>
              <a:rPr lang="en-MY" sz="1800" i="1" dirty="0">
                <a:latin typeface="Courier10PitchBT-Roman"/>
              </a:rPr>
              <a:t>      </a:t>
            </a:r>
            <a:r>
              <a:rPr lang="en-MY" sz="1800" b="1" i="1" dirty="0">
                <a:solidFill>
                  <a:srgbClr val="FF0000"/>
                </a:solidFill>
                <a:latin typeface="Courier10PitchBT-Roman"/>
              </a:rPr>
              <a:t>return 1</a:t>
            </a:r>
            <a:r>
              <a:rPr lang="en-MY" sz="1800" i="1" dirty="0">
                <a:latin typeface="Courier10PitchBT-Roman"/>
              </a:rPr>
              <a:t>;</a:t>
            </a:r>
          </a:p>
          <a:p>
            <a:pPr marL="0" indent="0" algn="l">
              <a:buNone/>
            </a:pPr>
            <a:r>
              <a:rPr lang="en-US" sz="1800" i="1" dirty="0">
                <a:latin typeface="Courier10PitchBT-Roman"/>
              </a:rPr>
              <a:t>   else</a:t>
            </a:r>
          </a:p>
          <a:p>
            <a:pPr marL="0" indent="0" algn="l">
              <a:buNone/>
            </a:pPr>
            <a:r>
              <a:rPr lang="pt-BR" sz="1800" i="1" dirty="0">
                <a:latin typeface="Courier10PitchBT-Roman"/>
              </a:rPr>
              <a:t>   </a:t>
            </a:r>
            <a:r>
              <a:rPr lang="pt-BR" sz="1800" b="1" i="1" dirty="0">
                <a:solidFill>
                  <a:srgbClr val="FF0000"/>
                </a:solidFill>
                <a:latin typeface="Courier10PitchBT-Roman"/>
              </a:rPr>
              <a:t>return n * factorial(n − 1);</a:t>
            </a:r>
            <a:endParaRPr lang="pt-BR" sz="1800" i="1" dirty="0">
              <a:latin typeface="Courier10PitchBT-Roman"/>
            </a:endParaRPr>
          </a:p>
          <a:p>
            <a:pPr marL="0" indent="0" algn="l">
              <a:buNone/>
            </a:pPr>
            <a:r>
              <a:rPr lang="en-US" sz="1800" i="1" dirty="0">
                <a:latin typeface="Courier10PitchBT-Roman"/>
              </a:rPr>
              <a:t>}</a:t>
            </a:r>
            <a:endParaRPr lang="en-MY" sz="1800" i="1" dirty="0">
              <a:latin typeface="Courier10PitchBT-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20E4DC-F19F-55CC-C19E-56A83BEC3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nn-NO">
                <a:solidFill>
                  <a:schemeClr val="tx1">
                    <a:lumMod val="50000"/>
                    <a:lumOff val="50000"/>
                  </a:schemeClr>
                </a:solidFill>
              </a:rPr>
              <a:t>masarvghadi@usm.my for UOW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4B9548-4903-DF53-9E3E-FA8288D24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0CA44C7-9DEF-494D-9EBF-CD8FA9A95986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20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D613DB-00F3-2E65-D5E3-C75A9FC9D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702" y="1744020"/>
            <a:ext cx="4335641" cy="4747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394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DD77349-6ADE-99FE-8E04-12919EE5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5B2B92C-44DF-B41D-C67A-EBF175DF52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41EB2F1-D26A-D7C9-E9AC-B63BE629A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6D16430-53D3-47E5-F4B8-B441E710D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55F4528-163C-1FA9-2A64-19D803F5D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Character Finder</a:t>
            </a:r>
            <a:endParaRPr lang="en-US" sz="3000" b="1" dirty="0">
              <a:solidFill>
                <a:srgbClr val="FFFFFF"/>
              </a:solidFill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792997B-61AE-7625-2C4D-1BF7A0667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509" y="1744020"/>
            <a:ext cx="11018981" cy="423015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MY" sz="1800" i="1" dirty="0">
                <a:latin typeface="Courier10PitchBT-Roman"/>
              </a:rPr>
              <a:t>int </a:t>
            </a:r>
            <a:r>
              <a:rPr lang="en-MY" sz="1800" i="1" dirty="0" err="1">
                <a:latin typeface="Courier10PitchBT-Roman"/>
              </a:rPr>
              <a:t>numChars</a:t>
            </a:r>
            <a:r>
              <a:rPr lang="en-MY" sz="1800" i="1" dirty="0">
                <a:latin typeface="Courier10PitchBT-Roman"/>
              </a:rPr>
              <a:t>(char search, string str, int subscript)</a:t>
            </a:r>
            <a:r>
              <a:rPr lang="en-US" sz="1800" i="1" dirty="0">
                <a:latin typeface="Courier10PitchBT-Roman"/>
              </a:rPr>
              <a:t>{</a:t>
            </a:r>
          </a:p>
          <a:p>
            <a:pPr marL="0" indent="0" algn="l">
              <a:buNone/>
            </a:pPr>
            <a:r>
              <a:rPr lang="en-MY" sz="1800" i="1" dirty="0">
                <a:latin typeface="Courier10PitchBT-Roman"/>
              </a:rPr>
              <a:t>   if (</a:t>
            </a:r>
            <a:r>
              <a:rPr lang="en-MY" sz="1800" b="1" i="1" dirty="0">
                <a:solidFill>
                  <a:srgbClr val="FF0000"/>
                </a:solidFill>
                <a:latin typeface="Courier10PitchBT-Roman"/>
              </a:rPr>
              <a:t>subscript &gt;= </a:t>
            </a:r>
            <a:r>
              <a:rPr lang="en-MY" sz="1800" b="1" i="1" dirty="0" err="1">
                <a:solidFill>
                  <a:srgbClr val="FF0000"/>
                </a:solidFill>
                <a:latin typeface="Courier10PitchBT-Roman"/>
              </a:rPr>
              <a:t>str.length</a:t>
            </a:r>
            <a:r>
              <a:rPr lang="en-MY" sz="1800" b="1" i="1" dirty="0">
                <a:solidFill>
                  <a:srgbClr val="FF0000"/>
                </a:solidFill>
                <a:latin typeface="Courier10PitchBT-Roman"/>
              </a:rPr>
              <a:t>()</a:t>
            </a:r>
            <a:r>
              <a:rPr lang="en-MY" sz="1800" i="1" dirty="0">
                <a:latin typeface="Courier10PitchBT-Roman"/>
              </a:rPr>
              <a:t>)</a:t>
            </a:r>
            <a:r>
              <a:rPr lang="en-US" sz="1800" i="1" dirty="0">
                <a:latin typeface="Courier10PitchBT-Roman"/>
              </a:rPr>
              <a:t>   {</a:t>
            </a:r>
          </a:p>
          <a:p>
            <a:pPr marL="0" indent="0" algn="l">
              <a:buNone/>
            </a:pPr>
            <a:r>
              <a:rPr lang="en-US" sz="1800" i="1" dirty="0">
                <a:latin typeface="Courier10PitchBT-Roman"/>
              </a:rPr>
              <a:t>      return 0;</a:t>
            </a:r>
          </a:p>
          <a:p>
            <a:pPr marL="0" indent="0" algn="l">
              <a:buNone/>
            </a:pPr>
            <a:r>
              <a:rPr lang="en-US" sz="1800" i="1" dirty="0">
                <a:latin typeface="Courier10PitchBT-Roman"/>
              </a:rPr>
              <a:t>   }</a:t>
            </a:r>
          </a:p>
          <a:p>
            <a:pPr marL="0" indent="0" algn="l">
              <a:buNone/>
            </a:pPr>
            <a:r>
              <a:rPr lang="en-MY" sz="1800" i="1" dirty="0">
                <a:latin typeface="Courier10PitchBT-Roman"/>
              </a:rPr>
              <a:t>   else if (str[subscript] == search)</a:t>
            </a:r>
            <a:r>
              <a:rPr lang="en-US" sz="1800" i="1" dirty="0">
                <a:latin typeface="Courier10PitchBT-Roman"/>
              </a:rPr>
              <a:t>{</a:t>
            </a:r>
          </a:p>
          <a:p>
            <a:pPr marL="0" indent="0" algn="l">
              <a:buNone/>
            </a:pPr>
            <a:r>
              <a:rPr lang="en-MY" sz="1800" i="1" dirty="0">
                <a:latin typeface="Courier10PitchBT-Roman"/>
              </a:rPr>
              <a:t>      </a:t>
            </a:r>
            <a:r>
              <a:rPr lang="en-MY" sz="1800" b="1" i="1" dirty="0">
                <a:solidFill>
                  <a:srgbClr val="FF0000"/>
                </a:solidFill>
                <a:latin typeface="Courier10PitchBT-Roman"/>
              </a:rPr>
              <a:t>return 1 + </a:t>
            </a:r>
            <a:r>
              <a:rPr lang="en-MY" sz="1800" b="1" i="1" dirty="0" err="1">
                <a:solidFill>
                  <a:srgbClr val="FF0000"/>
                </a:solidFill>
                <a:latin typeface="Courier10PitchBT-Roman"/>
              </a:rPr>
              <a:t>numChars</a:t>
            </a:r>
            <a:r>
              <a:rPr lang="en-MY" sz="1800" b="1" i="1" dirty="0">
                <a:solidFill>
                  <a:srgbClr val="FF0000"/>
                </a:solidFill>
                <a:latin typeface="Courier10PitchBT-Roman"/>
              </a:rPr>
              <a:t>(search, str, subscript+1);</a:t>
            </a:r>
          </a:p>
          <a:p>
            <a:pPr marL="0" indent="0" algn="l">
              <a:buNone/>
            </a:pPr>
            <a:r>
              <a:rPr lang="en-US" sz="1800" i="1" dirty="0">
                <a:latin typeface="Courier10PitchBT-Roman"/>
              </a:rPr>
              <a:t>   }</a:t>
            </a:r>
          </a:p>
          <a:p>
            <a:pPr marL="0" indent="0" algn="l">
              <a:buNone/>
            </a:pPr>
            <a:r>
              <a:rPr lang="en-US" sz="1800" i="1" dirty="0">
                <a:latin typeface="Courier10PitchBT-Roman"/>
              </a:rPr>
              <a:t>   else{</a:t>
            </a:r>
          </a:p>
          <a:p>
            <a:pPr marL="0" indent="0" algn="l">
              <a:buNone/>
            </a:pPr>
            <a:r>
              <a:rPr lang="en-MY" sz="1800" i="1" dirty="0">
                <a:latin typeface="Courier10PitchBT-Roman"/>
              </a:rPr>
              <a:t>      </a:t>
            </a:r>
            <a:r>
              <a:rPr lang="en-MY" sz="1800" b="1" i="1" dirty="0">
                <a:solidFill>
                  <a:srgbClr val="FF0000"/>
                </a:solidFill>
                <a:latin typeface="Courier10PitchBT-Roman"/>
              </a:rPr>
              <a:t>return </a:t>
            </a:r>
            <a:r>
              <a:rPr lang="en-MY" sz="1800" b="1" i="1" dirty="0" err="1">
                <a:solidFill>
                  <a:srgbClr val="FF0000"/>
                </a:solidFill>
                <a:latin typeface="Courier10PitchBT-Roman"/>
              </a:rPr>
              <a:t>numChars</a:t>
            </a:r>
            <a:r>
              <a:rPr lang="en-MY" sz="1800" b="1" i="1" dirty="0">
                <a:solidFill>
                  <a:srgbClr val="FF0000"/>
                </a:solidFill>
                <a:latin typeface="Courier10PitchBT-Roman"/>
              </a:rPr>
              <a:t>(search, str, subscript+1);</a:t>
            </a:r>
          </a:p>
          <a:p>
            <a:pPr marL="0" indent="0" algn="l">
              <a:buNone/>
            </a:pPr>
            <a:r>
              <a:rPr lang="en-US" sz="1800" i="1" dirty="0">
                <a:latin typeface="Courier10PitchBT-Roman"/>
              </a:rPr>
              <a:t>  }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urier10PitchBT-Roman"/>
              </a:rPr>
              <a:t>}</a:t>
            </a:r>
            <a:endParaRPr lang="en-MY" sz="1800" i="1" dirty="0">
              <a:latin typeface="Courier10PitchBT-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20E4DC-F19F-55CC-C19E-56A83BEC3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nn-NO">
                <a:solidFill>
                  <a:schemeClr val="tx1">
                    <a:lumMod val="50000"/>
                    <a:lumOff val="50000"/>
                  </a:schemeClr>
                </a:solidFill>
              </a:rPr>
              <a:t>masarvghadi@usm.my for UOW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4B9548-4903-DF53-9E3E-FA8288D24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0CA44C7-9DEF-494D-9EBF-CD8FA9A95986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21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8420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DD77349-6ADE-99FE-8E04-12919EE5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5B2B92C-44DF-B41D-C67A-EBF175DF52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41EB2F1-D26A-D7C9-E9AC-B63BE629A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6D16430-53D3-47E5-F4B8-B441E710D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55F4528-163C-1FA9-2A64-19D803F5D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pPr algn="l"/>
            <a:r>
              <a:rPr lang="en-US" b="1" dirty="0">
                <a:solidFill>
                  <a:srgbClr val="FFFFFF"/>
                </a:solidFill>
              </a:rPr>
              <a:t>Greatest Common Divisor (GCD)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792997B-61AE-7625-2C4D-1BF7A0667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509" y="1744020"/>
            <a:ext cx="11018981" cy="423015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s-ES" sz="1800" i="1" dirty="0">
                <a:latin typeface="Courier10PitchBT-Roman"/>
              </a:rPr>
              <a:t>	</a:t>
            </a:r>
            <a:endParaRPr lang="en-MY" sz="1800" i="1" dirty="0">
              <a:latin typeface="Courier10PitchBT-Roman"/>
            </a:endParaRPr>
          </a:p>
          <a:p>
            <a:pPr marL="0" indent="0" algn="l">
              <a:buNone/>
            </a:pPr>
            <a:r>
              <a:rPr lang="fr-FR" sz="1800" b="0" i="0" u="none" strike="noStrike" baseline="0" dirty="0">
                <a:latin typeface="Courier10PitchBT-Roman"/>
              </a:rPr>
              <a:t>	</a:t>
            </a:r>
          </a:p>
          <a:p>
            <a:pPr marL="0" indent="0" algn="l">
              <a:buNone/>
            </a:pPr>
            <a:r>
              <a:rPr lang="fr-FR" sz="1800" dirty="0">
                <a:latin typeface="Courier10PitchBT-Roman"/>
              </a:rPr>
              <a:t>	</a:t>
            </a:r>
            <a:endParaRPr lang="en-MY" sz="1800" i="1" dirty="0">
              <a:latin typeface="Courier10PitchBT-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20E4DC-F19F-55CC-C19E-56A83BEC3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nn-NO">
                <a:solidFill>
                  <a:schemeClr val="tx1">
                    <a:lumMod val="50000"/>
                    <a:lumOff val="50000"/>
                  </a:schemeClr>
                </a:solidFill>
              </a:rPr>
              <a:t>masarvghadi@usm.my for UOW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4B9548-4903-DF53-9E3E-FA8288D24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0CA44C7-9DEF-494D-9EBF-CD8FA9A95986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22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4813657-3E38-440A-3B63-779785A63A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099723"/>
              </p:ext>
            </p:extLst>
          </p:nvPr>
        </p:nvGraphicFramePr>
        <p:xfrm>
          <a:off x="857444" y="2577050"/>
          <a:ext cx="10477110" cy="2931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84379">
                  <a:extLst>
                    <a:ext uri="{9D8B030D-6E8A-4147-A177-3AD203B41FA5}">
                      <a16:colId xmlns:a16="http://schemas.microsoft.com/office/drawing/2014/main" val="3217493714"/>
                    </a:ext>
                  </a:extLst>
                </a:gridCol>
                <a:gridCol w="4292731">
                  <a:extLst>
                    <a:ext uri="{9D8B030D-6E8A-4147-A177-3AD203B41FA5}">
                      <a16:colId xmlns:a16="http://schemas.microsoft.com/office/drawing/2014/main" val="2466212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Algorithm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023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s-ES" sz="1800" i="1" dirty="0">
                        <a:latin typeface="Courier10PitchBT-Roman"/>
                      </a:endParaRPr>
                    </a:p>
                    <a:p>
                      <a:pPr marL="0" indent="0" algn="l">
                        <a:buNone/>
                      </a:pPr>
                      <a:endParaRPr lang="es-ES" sz="1800" i="1" dirty="0">
                        <a:latin typeface="Courier10PitchBT-Roman"/>
                      </a:endParaRPr>
                    </a:p>
                    <a:p>
                      <a:pPr marL="0" indent="0" algn="l">
                        <a:buNone/>
                      </a:pPr>
                      <a:endParaRPr lang="es-ES" sz="1800" i="1" dirty="0">
                        <a:latin typeface="Courier10PitchBT-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s-ES" sz="1800" i="1" dirty="0" err="1">
                          <a:latin typeface="Courier10PitchBT-Roman"/>
                        </a:rPr>
                        <a:t>gcd</a:t>
                      </a:r>
                      <a:r>
                        <a:rPr lang="es-ES" sz="1800" i="1" dirty="0">
                          <a:latin typeface="Courier10PitchBT-Roman"/>
                        </a:rPr>
                        <a:t>( x , y ) = y;	</a:t>
                      </a:r>
                      <a:r>
                        <a:rPr lang="es-ES" sz="1800" b="1" i="1" dirty="0" err="1">
                          <a:solidFill>
                            <a:srgbClr val="FF0000"/>
                          </a:solidFill>
                          <a:latin typeface="Courier10PitchBT-Roman"/>
                        </a:rPr>
                        <a:t>if</a:t>
                      </a:r>
                      <a:r>
                        <a:rPr lang="es-ES" sz="1800" b="1" i="1" dirty="0">
                          <a:solidFill>
                            <a:srgbClr val="FF0000"/>
                          </a:solidFill>
                          <a:latin typeface="Courier10PitchBT-Roman"/>
                        </a:rPr>
                        <a:t> y divides x </a:t>
                      </a:r>
                      <a:r>
                        <a:rPr lang="es-ES" sz="1800" b="1" i="1" dirty="0" err="1">
                          <a:solidFill>
                            <a:srgbClr val="FF0000"/>
                          </a:solidFill>
                          <a:latin typeface="Courier10PitchBT-Roman"/>
                        </a:rPr>
                        <a:t>evenly</a:t>
                      </a:r>
                      <a:endParaRPr lang="es-ES" sz="1800" b="1" i="1" dirty="0">
                        <a:solidFill>
                          <a:srgbClr val="FF0000"/>
                        </a:solidFill>
                        <a:latin typeface="Courier10PitchBT-Roman"/>
                      </a:endParaRPr>
                    </a:p>
                    <a:p>
                      <a:pPr marL="0" indent="0" algn="l">
                        <a:buNone/>
                      </a:pPr>
                      <a:endParaRPr lang="en-MY" sz="1800" b="1" i="1" dirty="0">
                        <a:solidFill>
                          <a:srgbClr val="FF0000"/>
                        </a:solidFill>
                        <a:latin typeface="Courier10PitchBT-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MY" sz="1800" i="1" kern="1200" dirty="0" err="1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gcd</a:t>
                      </a:r>
                      <a:r>
                        <a:rPr lang="en-MY" sz="1800" i="1" kern="1200" dirty="0">
                          <a:solidFill>
                            <a:schemeClr val="tx1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( y , remainder of x / y );</a:t>
                      </a:r>
                      <a:r>
                        <a:rPr lang="en-MY" sz="1800" i="1" dirty="0">
                          <a:latin typeface="Courier10PitchBT-Roman"/>
                        </a:rPr>
                        <a:t>	</a:t>
                      </a:r>
                      <a:r>
                        <a:rPr lang="en-MY" sz="1800" b="1" i="1" kern="1200" dirty="0">
                          <a:solidFill>
                            <a:srgbClr val="FF0000"/>
                          </a:solidFill>
                          <a:latin typeface="Courier10PitchBT-Roman"/>
                          <a:ea typeface="+mn-ea"/>
                          <a:cs typeface="+mn-cs"/>
                        </a:rPr>
                        <a:t>otherwise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fr-FR" sz="1800" b="0" i="0" u="none" strike="noStrike" baseline="0" dirty="0">
                        <a:latin typeface="Courier10PitchBT-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fr-FR" sz="1800" b="0" i="0" u="none" strike="noStrike" baseline="0" dirty="0" err="1">
                          <a:latin typeface="Courier10PitchBT-Roman"/>
                        </a:rPr>
                        <a:t>int</a:t>
                      </a:r>
                      <a:r>
                        <a:rPr lang="fr-FR" sz="1800" b="0" i="0" u="none" strike="noStrike" baseline="0" dirty="0">
                          <a:latin typeface="Courier10PitchBT-Roman"/>
                        </a:rPr>
                        <a:t> </a:t>
                      </a:r>
                      <a:r>
                        <a:rPr lang="fr-FR" sz="1800" b="0" i="0" u="none" strike="noStrike" baseline="0" dirty="0" err="1">
                          <a:latin typeface="Courier10PitchBT-Roman"/>
                        </a:rPr>
                        <a:t>gcd</a:t>
                      </a:r>
                      <a:r>
                        <a:rPr lang="fr-FR" sz="1800" b="0" i="0" u="none" strike="noStrike" baseline="0" dirty="0">
                          <a:latin typeface="Courier10PitchBT-Roman"/>
                        </a:rPr>
                        <a:t>(</a:t>
                      </a:r>
                      <a:r>
                        <a:rPr lang="fr-FR" sz="1800" b="0" i="0" u="none" strike="noStrike" baseline="0" dirty="0" err="1">
                          <a:latin typeface="Courier10PitchBT-Roman"/>
                        </a:rPr>
                        <a:t>int</a:t>
                      </a:r>
                      <a:r>
                        <a:rPr lang="fr-FR" sz="1800" b="0" i="0" u="none" strike="noStrike" baseline="0" dirty="0">
                          <a:latin typeface="Courier10PitchBT-Roman"/>
                        </a:rPr>
                        <a:t> x, </a:t>
                      </a:r>
                      <a:r>
                        <a:rPr lang="fr-FR" sz="1800" b="0" i="0" u="none" strike="noStrike" baseline="0" dirty="0" err="1">
                          <a:latin typeface="Courier10PitchBT-Roman"/>
                        </a:rPr>
                        <a:t>int</a:t>
                      </a:r>
                      <a:r>
                        <a:rPr lang="fr-FR" sz="1800" b="0" i="0" u="none" strike="noStrike" baseline="0" dirty="0">
                          <a:latin typeface="Courier10PitchBT-Roman"/>
                        </a:rPr>
                        <a:t> y)</a:t>
                      </a:r>
                      <a:endParaRPr lang="en-US" sz="1800" dirty="0">
                        <a:solidFill>
                          <a:srgbClr val="000000"/>
                        </a:solidFill>
                        <a:latin typeface="Courier10PitchBT-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latin typeface="Courier10PitchBT-Roman"/>
                        </a:rPr>
                        <a:t>{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MY" sz="1800" b="0" i="0" u="none" strike="noStrike" baseline="0" dirty="0">
                          <a:solidFill>
                            <a:srgbClr val="000000"/>
                          </a:solidFill>
                          <a:latin typeface="Courier10PitchBT-Roman"/>
                        </a:rPr>
                        <a:t>   if (x % y == 0)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MY" sz="1800" b="0" i="0" u="none" strike="noStrike" baseline="0" dirty="0">
                          <a:solidFill>
                            <a:srgbClr val="000000"/>
                          </a:solidFill>
                          <a:latin typeface="Courier10PitchBT-Roman"/>
                        </a:rPr>
                        <a:t>      </a:t>
                      </a:r>
                      <a:r>
                        <a:rPr lang="en-MY" sz="1800" b="1" i="0" u="none" strike="noStrike" baseline="0" dirty="0">
                          <a:solidFill>
                            <a:srgbClr val="FF0000"/>
                          </a:solidFill>
                          <a:latin typeface="Courier10PitchBT-Roman"/>
                        </a:rPr>
                        <a:t>return y;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latin typeface="Courier10PitchBT-Roman"/>
                        </a:rPr>
                        <a:t>   else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latin typeface="Courier10PitchBT-Roman"/>
                        </a:rPr>
                        <a:t>      </a:t>
                      </a:r>
                      <a:r>
                        <a:rPr lang="en-US" sz="1800" b="1" i="0" u="none" strike="noStrike" baseline="0" dirty="0">
                          <a:solidFill>
                            <a:srgbClr val="FF0000"/>
                          </a:solidFill>
                          <a:latin typeface="Courier10PitchBT-Roman"/>
                        </a:rPr>
                        <a:t>return </a:t>
                      </a:r>
                      <a:r>
                        <a:rPr lang="en-US" sz="1800" b="1" i="0" u="none" strike="noStrike" baseline="0" dirty="0" err="1">
                          <a:solidFill>
                            <a:srgbClr val="FF0000"/>
                          </a:solidFill>
                          <a:latin typeface="Courier10PitchBT-Roman"/>
                        </a:rPr>
                        <a:t>gcd</a:t>
                      </a:r>
                      <a:r>
                        <a:rPr lang="en-US" sz="1800" b="1" i="0" u="none" strike="noStrike" baseline="0" dirty="0">
                          <a:solidFill>
                            <a:srgbClr val="FF0000"/>
                          </a:solidFill>
                          <a:latin typeface="Courier10PitchBT-Roman"/>
                        </a:rPr>
                        <a:t>(y, x % y)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latin typeface="Courier10PitchBT-Roman"/>
                        </a:rPr>
                        <a:t>}</a:t>
                      </a:r>
                      <a:endParaRPr lang="en-MY" sz="1800" i="1" dirty="0">
                        <a:latin typeface="Courier10PitchBT-Roman"/>
                      </a:endParaRP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6567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76819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44DD630C-A938-3158-7D4A-CB60EC05A2B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295252"/>
          <a:ext cx="10506456" cy="38769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EE992F5-7132-678C-A9EE-34332ECC6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masarvghadi@usm.my for UOW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E988B8-5DE9-3C3B-1B53-186B0364E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44C7-9DEF-494D-9EBF-CD8FA9A9598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341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22301</TotalTime>
  <Words>1819</Words>
  <Application>Microsoft Office PowerPoint</Application>
  <PresentationFormat>Widescreen</PresentationFormat>
  <Paragraphs>304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Aptos</vt:lpstr>
      <vt:lpstr>Arial</vt:lpstr>
      <vt:lpstr>Calibri</vt:lpstr>
      <vt:lpstr>Calibri Light</vt:lpstr>
      <vt:lpstr>Courier10PitchBT-Roman</vt:lpstr>
      <vt:lpstr>MathematicalPi-One</vt:lpstr>
      <vt:lpstr>SabonLTStd-Italic</vt:lpstr>
      <vt:lpstr>SabonLTStd-Roman</vt:lpstr>
      <vt:lpstr>Wingdings</vt:lpstr>
      <vt:lpstr>Office Theme</vt:lpstr>
      <vt:lpstr> Topic 8   Recursion   Dr. Mohammad Ali Sarvghadi</vt:lpstr>
      <vt:lpstr>PowerPoint Presentation</vt:lpstr>
      <vt:lpstr>Introduction to Recursion</vt:lpstr>
      <vt:lpstr>Introduction to Recursion (Cont.)</vt:lpstr>
      <vt:lpstr>Introduction to Recursion (Cont.)</vt:lpstr>
      <vt:lpstr>Stack Mechanism</vt:lpstr>
      <vt:lpstr>Introduction to Recursion (Cont.)</vt:lpstr>
      <vt:lpstr>Introduction to Recursion (Cont.)</vt:lpstr>
      <vt:lpstr>Introduction to Recursion (Cont.)</vt:lpstr>
      <vt:lpstr>Solving Problems with Recursion – Binary Search</vt:lpstr>
      <vt:lpstr>Recursive Binary Search Function</vt:lpstr>
      <vt:lpstr>Recursive Binary Search Function (Cont.)</vt:lpstr>
      <vt:lpstr>Iterative Binary Search Function</vt:lpstr>
      <vt:lpstr>Solving Problems with Recursion (cont.)</vt:lpstr>
      <vt:lpstr>Solving Problems with Recursion (cont.)</vt:lpstr>
      <vt:lpstr>Recursion Rules</vt:lpstr>
      <vt:lpstr>Recursion Rules</vt:lpstr>
      <vt:lpstr>Recursion Types</vt:lpstr>
      <vt:lpstr>Factorial</vt:lpstr>
      <vt:lpstr>Factorial (Cont.)</vt:lpstr>
      <vt:lpstr>Character Finder</vt:lpstr>
      <vt:lpstr>Greatest Common Divisor (GCD)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Topic 5. (Part 2)    Software Process Assessment and Improvement   Dr. Mohammad ali sarvghadi</dc:title>
  <dc:creator>tinkol110 tinkol110</dc:creator>
  <cp:lastModifiedBy>tinkol110 tinkol110</cp:lastModifiedBy>
  <cp:revision>1354</cp:revision>
  <dcterms:created xsi:type="dcterms:W3CDTF">2023-12-20T05:55:40Z</dcterms:created>
  <dcterms:modified xsi:type="dcterms:W3CDTF">2026-05-11T01:38:22Z</dcterms:modified>
</cp:coreProperties>
</file>